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 seconds</a:t>
            </a:r>
          </a:p>
          <a:p>
            <a:r>
              <a:t>KEY MESSAGE: This is an evidence-based evaluation of Codex 5.4 as an advisor.</a:t>
            </a:r>
          </a:p>
          <a:p>
            <a:r>
              <a:t>SHOW IF ASKED: backup slide 27 (claim-to-evidence map)</a:t>
            </a:r>
          </a:p>
          <a:p>
            <a:r>
              <a:t>APPENDIX: Appendix M</a:t>
            </a:r>
          </a:p>
          <a:p/>
          <a:p>
            <a:r>
              <a:t>SCRIPT:</a:t>
            </a:r>
          </a:p>
          <a:p>
            <a:r>
              <a:t>Good morning. I evaluate whether ChatGPT, used through Codex 5.4, can help improve an existing financial accounting API. The model suggests changes; I review and apply selected ones; SonarQube, OWASP ZAP, and JMeter show what the measured results support.</a:t>
            </a:r>
          </a:p>
          <a:p/>
          <a:p>
            <a:r>
              <a:t>SOURCE: Current full report title page and Abstract.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a:t>
            </a:r>
          </a:p>
          <a:p>
            <a:r>
              <a:t>KEY MESSAGE: The results are mixed: code quality improved, security has one remaining alert, and core speed missed its target.</a:t>
            </a:r>
          </a:p>
          <a:p>
            <a:r>
              <a:t>SHOW IF ASKED: backup slides 29-31 (three measured outcomes)</a:t>
            </a:r>
          </a:p>
          <a:p>
            <a:r>
              <a:t>APPENDIX: Appendices E-G and M</a:t>
            </a:r>
          </a:p>
          <a:p/>
          <a:p>
            <a:r>
              <a:t>SCRIPT:</a:t>
            </a:r>
          </a:p>
          <a:p>
            <a:r>
              <a:t>Here is the result first. SonarQube issues fell from 17 to zero. ZAP's selected checks passed, but the API scan still had one Medium alert because the local site used HTTP. JMeter response times at 100 and 500 simulated users were above our study limits. Soak and spike improved, but they are separate tests.</a:t>
            </a:r>
          </a:p>
          <a:p/>
          <a:p>
            <a:r>
              <a:t>SOURCE: Current report Table 4.5 and Appendix M.</a:t>
            </a:r>
          </a:p>
          <a:p>
            <a:r>
              <a:t>CAUTION: Do not claim that the 50, 100, or 500 VU core p95 values improved; all three increased.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a:t>
            </a:r>
          </a:p>
          <a:p>
            <a:r>
              <a:t>KEY MESSAGE: Code, security, and speed need different checks.</a:t>
            </a:r>
          </a:p>
          <a:p>
            <a:r>
              <a:t>SHOW IF ASKED: backup slides 29-31 (the three risks)</a:t>
            </a:r>
          </a:p>
          <a:p>
            <a:r>
              <a:t>APPENDIX: Appendices E-G</a:t>
            </a:r>
          </a:p>
          <a:p/>
          <a:p>
            <a:r>
              <a:t>SCRIPT:</a:t>
            </a:r>
          </a:p>
          <a:p>
            <a:r>
              <a:t>A program can have confusing code, unsafe web settings, and slow requests at the same time. One tool cannot check all three. I used SonarQube to read code, ZAP to test the running API, and JMeter to send load. I also ran tests to check that accounting behavior still worked.</a:t>
            </a:r>
          </a:p>
          <a:p/>
          <a:p>
            <a:r>
              <a:t>SOURCE: Current report Chapter 1 and §3.1.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65 seconds</a:t>
            </a:r>
          </a:p>
          <a:p>
            <a:r>
              <a:t>KEY MESSAGE: I ask one measurable question for each tool.</a:t>
            </a:r>
          </a:p>
          <a:p>
            <a:r>
              <a:t>SHOW IF ASKED: backup slides 29-31 (one answer per tool)</a:t>
            </a:r>
          </a:p>
          <a:p>
            <a:r>
              <a:t>APPENDIX: Appendix M</a:t>
            </a:r>
          </a:p>
          <a:p/>
          <a:p>
            <a:r>
              <a:t>SCRIPT:</a:t>
            </a:r>
          </a:p>
          <a:p>
            <a:r>
              <a:t>First, did the code warnings decrease, and did coverage or complexity get worse? Second, did security alerts decrease, and what remained? Third, did the API stay within the response-time limits at the three user counts? I answer each question with the tool's before-and-after result, not with an AI opinion.</a:t>
            </a:r>
          </a:p>
          <a:p/>
          <a:p>
            <a:r>
              <a:t>SOURCE: Current report §1.5 and Table 4.1.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70 seconds</a:t>
            </a:r>
          </a:p>
          <a:p>
            <a:r>
              <a:t>KEY MESSAGE: All comparisons use the same accounting API.</a:t>
            </a:r>
          </a:p>
          <a:p>
            <a:r>
              <a:t>SHOW IF ASKED: backup slides 34 and 42-44 (API behavior)</a:t>
            </a:r>
          </a:p>
          <a:p>
            <a:r>
              <a:t>APPENDIX: Appendices B-D, H, and J</a:t>
            </a:r>
          </a:p>
          <a:p/>
          <a:p>
            <a:r>
              <a:t>SCRIPT:</a:t>
            </a:r>
          </a:p>
          <a:p>
            <a:r>
              <a:t>This API has login, four user roles, accounts, journal entries, reports, and an audit log. It uses a local SQL Server database. I compared a baseline with changed versions of this same API. The web screenshots later show that the app can be used; those screenshots are not JMeter performance measurements.</a:t>
            </a:r>
          </a:p>
          <a:p/>
          <a:p>
            <a:r>
              <a:t>SOURCE: Current report §§3.1-3.2, Table 3.3, Figures 4.2-4.7.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70 seconds</a:t>
            </a:r>
          </a:p>
          <a:p>
            <a:r>
              <a:t>KEY MESSAGE: Each tool's change has its own branch.</a:t>
            </a:r>
          </a:p>
          <a:p>
            <a:r>
              <a:t>SHOW IF ASKED: backup slide 28 (branch details)</a:t>
            </a:r>
          </a:p>
          <a:p>
            <a:r>
              <a:t>APPENDIX: Appendix A</a:t>
            </a:r>
          </a:p>
          <a:p/>
          <a:p>
            <a:r>
              <a:t>SCRIPT:</a:t>
            </a:r>
          </a:p>
          <a:p>
            <a:r>
              <a:t>I used one saved baseline version as the starting point. I put the code-quality, security, and performance changes on separate branches. That lets me compare each changed version with the same starting code, one tool at a time. The exact technical references are available in Appendix A if the committee wants them.</a:t>
            </a:r>
          </a:p>
          <a:p/>
          <a:p>
            <a:r>
              <a:t>SOURCE: Current report Appendix A and Table 3.1.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70 seconds</a:t>
            </a:r>
          </a:p>
          <a:p>
            <a:r>
              <a:t>KEY MESSAGE: A suggestion must be checked before it becomes a result.</a:t>
            </a:r>
          </a:p>
          <a:p>
            <a:r>
              <a:t>SHOW IF ASKED: backup slides 28 and 32-33 (source and tests)</a:t>
            </a:r>
          </a:p>
          <a:p>
            <a:r>
              <a:t>APPENDIX: Appendices A, E-G, I, and K</a:t>
            </a:r>
          </a:p>
          <a:p/>
          <a:p>
            <a:r>
              <a:t>SCRIPT:</a:t>
            </a:r>
          </a:p>
          <a:p>
            <a:r>
              <a:t>First I saved the baseline result. Next I gave Codex a specific tool warning and the relevant code. Then I reviewed the suggested edit, ran tests, and ran the same tool again. Finally I compared the new number with the baseline and the study rule. A patch that looks good is not automatically a success.</a:t>
            </a:r>
          </a:p>
          <a:p/>
          <a:p>
            <a:r>
              <a:t>SOURCE: Current report §3.1.1 and Figures 3.1-3.4.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a:t>
            </a:r>
          </a:p>
          <a:p>
            <a:r>
              <a:t>KEY MESSAGE: The 120 accounts are seeded test data, not customer records.</a:t>
            </a:r>
          </a:p>
          <a:p>
            <a:r>
              <a:t>SHOW IF ASKED: next slide 9 (seed and run records)</a:t>
            </a:r>
          </a:p>
          <a:p>
            <a:r>
              <a:t>APPENDIX: Appendix H; Tables 3.10-3.11</a:t>
            </a:r>
          </a:p>
          <a:p/>
          <a:p>
            <a:r>
              <a:t>SCRIPT:</a:t>
            </a:r>
          </a:p>
          <a:p>
            <a:r>
              <a:t>The test scripts created 120 accounts and 30,000 journal entries. At least 5,000 entries were posted, so the report endpoints had data to process. This is not a screenshot of 120 individual accounts: the count is recorded in the run record. We used one local computer and one fresh run per branch, so the result is limited to this setup.</a:t>
            </a:r>
          </a:p>
          <a:p/>
          <a:p>
            <a:r>
              <a:t>SOURCE: Next slide 9; branch-verification.json dataset counts; current report Tables 3.10-3.11 and Appendix 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40 seconds</a:t>
            </a:r>
          </a:p>
          <a:p>
            <a:r>
              <a:t>KEY MESSAGE: The seed settings and the run record agree on the dataset size.</a:t>
            </a:r>
          </a:p>
          <a:p>
            <a:r>
              <a:t>SHOW IF ASKED: backup slide 27 (evidence map)</a:t>
            </a:r>
          </a:p>
          <a:p>
            <a:r>
              <a:t>APPENDIX: Appendix H</a:t>
            </a:r>
          </a:p>
          <a:p/>
          <a:p>
            <a:r>
              <a:t>SCRIPT:</a:t>
            </a:r>
          </a:p>
          <a:p>
            <a:r>
              <a:t>I used the repository seed script to request 120 accounts, 30,000 journal entries, and at least 5,000 posted entries. The run record on the right reports those same counts. I omit the local demo credential from this excerpt. Appendix H has the fuller seed explanation.</a:t>
            </a:r>
          </a:p>
          <a:p/>
          <a:p>
            <a:r>
              <a:t>SOURCE: Appendix H; current report Tables 3.10-3.11; branch-verification.json and scripts/phase4/seed-test-data.ps1.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70 seconds</a:t>
            </a:r>
          </a:p>
          <a:p>
            <a:r>
              <a:t>KEY MESSAGE: Each tool has a rule, but the measured numbers still matter.</a:t>
            </a:r>
          </a:p>
          <a:p>
            <a:r>
              <a:t>SHOW IF ASKED: backup slides 29-31 (results and rules)</a:t>
            </a:r>
          </a:p>
          <a:p>
            <a:r>
              <a:t>APPENDIX: Appendices K and M</a:t>
            </a:r>
          </a:p>
          <a:p/>
          <a:p>
            <a:r>
              <a:t>SCRIPT:</a:t>
            </a:r>
          </a:p>
          <a:p>
            <a:r>
              <a:t>I named 100 simulated users the peak scenario and 500 the heavier-load scenario in the test plan. This was not a measured peak from real customers. The study set p95 targets of 500 milliseconds and 1,200 milliseconds respectively. Those numbers are study choices, not universal standards. I compare the after-fix result with each target and still report the actual time, so the committee can see more than a pass/fail label.</a:t>
            </a:r>
          </a:p>
          <a:p/>
          <a:p>
            <a:r>
              <a:t>SOURCE: Current report Table 4.1 and §4.1; Document/JMETER_ZAP_TEST_PLAN.md §4.6.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70 seconds</a:t>
            </a:r>
          </a:p>
          <a:p>
            <a:r>
              <a:t>KEY MESSAGE: Codex suggested changes; I checked and measured them.</a:t>
            </a:r>
          </a:p>
          <a:p>
            <a:r>
              <a:t>SHOW IF ASKED: slide 15; backup slides 32-33 (before/after code)</a:t>
            </a:r>
          </a:p>
          <a:p>
            <a:r>
              <a:t>APPENDIX: Appendices E-G, I, and K</a:t>
            </a:r>
          </a:p>
          <a:p/>
          <a:p>
            <a:r>
              <a:t>SCRIPT:</a:t>
            </a:r>
          </a:p>
          <a:p>
            <a:r>
              <a:t>Here is one example. SonarQube flagged a controller with eight query parameters. I showed Codex that warning and the relevant code. It suggested a request DTO. I reviewed the edit, ran tests, and scanned the changed branch again. SonarQube issues went from 17 to zero. I followed the same check-again process for ZAP and JMeter, including the JMeter target that was not met.</a:t>
            </a:r>
          </a:p>
          <a:p/>
          <a:p>
            <a:r>
              <a:t>SOURCE: Current report §§3.1.3-3.1.4, Appendices I and 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70 seconds</a:t>
            </a:r>
          </a:p>
          <a:p>
            <a:r>
              <a:t>KEY MESSAGE: The three branches changed different parts of the API.</a:t>
            </a:r>
          </a:p>
          <a:p>
            <a:r>
              <a:t>SHOW IF ASKED: slide 15; backup slides 32-33 (actual changes)</a:t>
            </a:r>
          </a:p>
          <a:p>
            <a:r>
              <a:t>APPENDIX: Appendices E-G</a:t>
            </a:r>
          </a:p>
          <a:p/>
          <a:p>
            <a:r>
              <a:t>SCRIPT:</a:t>
            </a:r>
          </a:p>
          <a:p>
            <a:r>
              <a:t>For code quality, I replaced eight controller parameters with one request object. For security, I put security headers before Swagger. For performance, I added ledger caching and stopped saving a new report snapshot on that read path. These are the code changes I made; the next slides show whether the measurements improved.</a:t>
            </a:r>
          </a:p>
          <a:p/>
          <a:p>
            <a:r>
              <a:t>SOURCE: Current report Table 4.3 and Appendices E-G.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80 seconds</a:t>
            </a:r>
          </a:p>
          <a:p>
            <a:r>
              <a:t>KEY MESSAGE: The measurable SonarQube improvement is 17 distinct issues to zero.</a:t>
            </a:r>
          </a:p>
          <a:p>
            <a:r>
              <a:t>SHOW IF ASKED: next slides 14-15 (scan and code proof)</a:t>
            </a:r>
          </a:p>
          <a:p>
            <a:r>
              <a:t>APPENDIX: Appendices E and L</a:t>
            </a:r>
          </a:p>
          <a:p/>
          <a:p>
            <a:r>
              <a:t>SCRIPT:</a:t>
            </a:r>
          </a:p>
          <a:p>
            <a:r>
              <a:t>SonarQube reported 17 distinct issues before the code change and zero after it. Cyclomatic complexity is a rough count of the different decision paths through code, such as branches. Its total rose from 886 to 889, a small increase; that is not an improvement. Coverage also fell slightly from 74.4 to 74.3 percent. Both gate statuses say OK, but the saved gate records list no conditions, so I rely mainly on the issue count. The reliability, security, and maintainability labels overlap and are not extra issues to add to 17.</a:t>
            </a:r>
          </a:p>
          <a:p/>
          <a:p>
            <a:r>
              <a:t>SOURCE: Next slides 14-15; backup slides 29 and 35-36; SonarQube quality-gate.json and summary.json; current report Table 4.2, Appendices E and L.</a:t>
            </a:r>
          </a:p>
          <a:p>
            <a:r>
              <a:t>CAUTION: The full report lists OK/OK; explain that the captured gate response has an empty conditions list.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a:t>
            </a:r>
          </a:p>
          <a:p>
            <a:r>
              <a:t>KEY MESSAGE: Both dashboards say OK, but the issue count is the useful comparison.</a:t>
            </a:r>
          </a:p>
          <a:p>
            <a:r>
              <a:t>SHOW IF ASKED: next slide 15; backup slides 29 and 35-36</a:t>
            </a:r>
          </a:p>
          <a:p>
            <a:r>
              <a:t>APPENDIX: Appendix L, Figures L.1-L.4</a:t>
            </a:r>
          </a:p>
          <a:p/>
          <a:p>
            <a:r>
              <a:t>SCRIPT:</a:t>
            </a:r>
          </a:p>
          <a:p>
            <a:r>
              <a:t>If asked why both Quality Gates passed, point out that the saved gate files show OK with an empty list of conditions on each branch. That status therefore did not distinguish the scans. The baseline had 17 distinct issues; the changed branch had zero. Coverage moved from 74.4 to 74.3 percent, so I show that small decrease too. These are screenshots of the tool, not a new chart I made.</a:t>
            </a:r>
          </a:p>
          <a:p/>
          <a:p>
            <a:r>
              <a:t>SOURCE: Next slide 15; backup slides 29 and 35-36; Appendix L Figures L.1-L.4; sonar/baseline and remediation quality-gate.json.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 seconds</a:t>
            </a:r>
          </a:p>
          <a:p>
            <a:r>
              <a:t>KEY MESSAGE: These two code excerpts show what changed, but they do not stand for all 17 issues.</a:t>
            </a:r>
          </a:p>
          <a:p>
            <a:r>
              <a:t>SHOW IF ASKED: backup slide 32 (larger S107 example)</a:t>
            </a:r>
          </a:p>
          <a:p>
            <a:r>
              <a:t>APPENDIX: Appendix E, Listings E.1-E.2</a:t>
            </a:r>
          </a:p>
          <a:p/>
          <a:p>
            <a:r>
              <a:t>SCRIPT:</a:t>
            </a:r>
          </a:p>
          <a:p>
            <a:r>
              <a:t>Here are two representative before-and-after changes I reviewed. The S107 controller action passed eight query values separately; after the change it accepts one query object. The S6966 startup call changed from app.Run to await app.RunAsync. Appendix E shows fuller excerpts. The SonarQube issue lists on the preceding slide and in backup show the measured 17-to-zero result.</a:t>
            </a:r>
          </a:p>
          <a:p/>
          <a:p>
            <a:r>
              <a:t>SOURCE: Appendix E Listings E.1-E.2; backup slide 32 for the larger S107 example; Appendix L Figures L.2 and L.4 for the issue lists.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55 seconds</a:t>
            </a:r>
          </a:p>
          <a:p>
            <a:r>
              <a:t>KEY MESSAGE: The passive scan improved, but it is only one view of security.</a:t>
            </a:r>
          </a:p>
          <a:p>
            <a:r>
              <a:t>SHOW IF ASKED: next slide 17 (fresh ZAP proof)</a:t>
            </a:r>
          </a:p>
          <a:p>
            <a:r>
              <a:t>APPENDIX: Appendices F and M</a:t>
            </a:r>
          </a:p>
          <a:p/>
          <a:p>
            <a:r>
              <a:t>SCRIPT:</a:t>
            </a:r>
          </a:p>
          <a:p>
            <a:r>
              <a:t>I am showing the passive scan before and after the changes. This scan observes normal responses and their headers; it does not sign in. In the upper screenshot, ZAP reports three Medium and six Low alert types. In the lower screenshot, both counts are zero. These are screenshots of report cards rendered from my current raw ZAP scan data. They are not a claim that the protected API is free of alerts. I will show that separate scan on the next slide.</a:t>
            </a:r>
          </a:p>
          <a:p/>
          <a:p>
            <a:r>
              <a:t>SOURCE: Next slide 17; backup slide 30; current report §4.3; Appendix F; fresh passive raw ZAP JSON and summaries.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65 seconds</a:t>
            </a:r>
          </a:p>
          <a:p>
            <a:r>
              <a:t>KEY MESSAGE: The signed-in scan improved, but it did not clear every raw alert.</a:t>
            </a:r>
          </a:p>
          <a:p>
            <a:r>
              <a:t>SHOW IF ASKED: backup slide 30 (raw ZAP counts)</a:t>
            </a:r>
          </a:p>
          <a:p>
            <a:r>
              <a:t>APPENDIX: Appendix F</a:t>
            </a:r>
          </a:p>
          <a:p/>
          <a:p>
            <a:r>
              <a:t>SCRIPT:</a:t>
            </a:r>
          </a:p>
          <a:p>
            <a:r>
              <a:t>I am showing the signed-in API scan before and after the changes. Unlike the passive scan, this test signs in and exercises protected routes. Low alert types fell from three to zero, while Medium stayed at one. The remaining alert is called HTTP Only Site: my local scan target was served over HTTP. The selected security rules passed, but that pass result is different from saying every raw alert disappeared. I would need a working HTTPS endpoint and another scan before calling this Medium alert cleared. These screenshots were rendered from the current raw ZAP scan data; the raw counts and the alert are in Appendix F.</a:t>
            </a:r>
          </a:p>
          <a:p/>
          <a:p>
            <a:r>
              <a:t>SOURCE: Backup slide 30; current report §4.3; Appendix F and Appendix M; fresh API raw ZAP JSON, summaries, alert 10106.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a:t>
            </a:r>
          </a:p>
          <a:p>
            <a:r>
              <a:t>KEY MESSAGE: User count and response-time percentile are different things.</a:t>
            </a:r>
          </a:p>
          <a:p>
            <a:r>
              <a:t>SHOW IF ASKED: backup slides 31 and 37-41 (JMeter profiles)</a:t>
            </a:r>
          </a:p>
          <a:p>
            <a:r>
              <a:t>APPENDIX: Appendices K and L</a:t>
            </a:r>
          </a:p>
          <a:p/>
          <a:p>
            <a:r>
              <a:t>SCRIPT:</a:t>
            </a:r>
          </a:p>
          <a:p>
            <a:r>
              <a:t>VU means simulated users. The 50, 100, and 500 VU tests use different user counts; 100 VU is only the planned peak scenario, not a measured customer peak. Soak keeps traffic going for a long time. Spike sends a sudden burst. p95 is a time in milliseconds: 95 percent of requests finish at or below it. Soak and spike are extra tests; they do not replace the three core user-count checks.</a:t>
            </a:r>
          </a:p>
          <a:p/>
          <a:p>
            <a:r>
              <a:t>SOURCE: Current report §§3.8 and 4.4, Appendix 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seconds</a:t>
            </a:r>
          </a:p>
          <a:p>
            <a:r>
              <a:t>KEY MESSAGE: The code changes did not meet the core speed target; the precise cause is unknown.</a:t>
            </a:r>
          </a:p>
          <a:p>
            <a:r>
              <a:t>SHOW IF ASKED: next slides 20-21 (native 100/500 VU dashboards)</a:t>
            </a:r>
          </a:p>
          <a:p>
            <a:r>
              <a:t>APPENDIX: Appendices G, K, L, and N</a:t>
            </a:r>
          </a:p>
          <a:p/>
          <a:p>
            <a:r>
              <a:t>SCRIPT:</a:t>
            </a:r>
          </a:p>
          <a:p>
            <a:r>
              <a:t>The performance branch cached account-ledger data and stopped saving a new report snapshot on that read path. These changes were intended to reduce repeated work. JMeter measured response times, throughput, and errors. At 100 and 500 simulated users, the p95 response times were higher after the change and exceeded our study limits. CPU, memory, database-query, and cache-hit measurements were outside this study's measured scope, so I can report the slowdown but cannot identify one cause for it.</a:t>
            </a:r>
          </a:p>
          <a:p/>
          <a:p>
            <a:r>
              <a:t>SOURCE: Next slides 20-21 for native JMeter proof; backup slide 33 and Appendix G for the code; Appendix N for the measurement limits.</a:t>
            </a:r>
          </a:p>
          <a:p>
            <a:r>
              <a:t>CAUTION: Do not say caching or the host caused the slowdown; the evidence does not isolate either cause.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40 seconds</a:t>
            </a:r>
          </a:p>
          <a:p>
            <a:r>
              <a:t>KEY MESSAGE: At 100 VU, the after-fix p95 exceeded the study limit.</a:t>
            </a:r>
          </a:p>
          <a:p>
            <a:r>
              <a:t>SHOW IF ASKED: backup slide 38 (larger 100 VU dashboard)</a:t>
            </a:r>
          </a:p>
          <a:p>
            <a:r>
              <a:t>APPENDIX: Appendix L, Figures L.10 and L.15</a:t>
            </a:r>
          </a:p>
          <a:p/>
          <a:p>
            <a:r>
              <a:t>SCRIPT:</a:t>
            </a:r>
          </a:p>
          <a:p>
            <a:r>
              <a:t>These are the native JMeter statistics views for 100 VU. Point to the Total row and the 95th-percentile column. It changed from 255.9 to 1146.9 milliseconds; the study limit was 500 milliseconds. The screenshots show the measured time, while the test rule supplies the not-met judgment. They do not establish why the code ran slower.</a:t>
            </a:r>
          </a:p>
          <a:p/>
          <a:p>
            <a:r>
              <a:t>SOURCE: Appendix L Figures L.10 and L.15; fresh JMeter summary.json; Document/JMETER_ZAP_TEST_PLAN.md §4.6.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40 seconds</a:t>
            </a:r>
          </a:p>
          <a:p>
            <a:r>
              <a:t>KEY MESSAGE: At 500 VU, the after-fix p95 exceeded the study limit.</a:t>
            </a:r>
          </a:p>
          <a:p>
            <a:r>
              <a:t>SHOW IF ASKED: backup slide 39 (larger 500 VU dashboard)</a:t>
            </a:r>
          </a:p>
          <a:p>
            <a:r>
              <a:t>APPENDIX: Appendix L, Figures L.11 and L.16</a:t>
            </a:r>
          </a:p>
          <a:p/>
          <a:p>
            <a:r>
              <a:t>SCRIPT:</a:t>
            </a:r>
          </a:p>
          <a:p>
            <a:r>
              <a:t>These are the native JMeter statistics views for 500 VU. Point to the Total row and the 95th-percentile column. It changed from 106 to 1547.95 milliseconds; the study limit was 1,200 milliseconds. The screenshots show the measured time, while the test rule supplies the not-met judgment. They do not establish why the code ran slower.</a:t>
            </a:r>
          </a:p>
          <a:p/>
          <a:p>
            <a:r>
              <a:t>SOURCE: Appendix L Figures L.11 and L.16; fresh JMeter summary.json; Document/JMETER_ZAP_TEST_PLAN.md §4.6.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 seconds</a:t>
            </a:r>
          </a:p>
          <a:p>
            <a:r>
              <a:t>KEY MESSAGE: Exactly which measurements improved differs by test shape.</a:t>
            </a:r>
          </a:p>
          <a:p>
            <a:r>
              <a:t>SHOW IF ASKED: backup slides 31 and 40-41 (soak and spike)</a:t>
            </a:r>
          </a:p>
          <a:p>
            <a:r>
              <a:t>APPENDIX: Appendix L, Figures L.12-L.13 and L.17-L.18</a:t>
            </a:r>
          </a:p>
          <a:p/>
          <a:p>
            <a:r>
              <a:t>SCRIPT:</a:t>
            </a:r>
          </a:p>
          <a:p>
            <a:r>
              <a:t>At 50, 100, and 500 simulated users, the total p95 response time got worse after the change; none of those core p95 results improved. In the long soak test, total p95 and p99 were lower, but average response time rose and throughput fell. In the sudden spike test, p95, p99, and average response time were lower, throughput increased, and the error rate fell to zero. I call the evidence mixed because these gains are specific to soak and spike, while the primary user-count speed targets were not met.</a:t>
            </a:r>
          </a:p>
          <a:p/>
          <a:p>
            <a:r>
              <a:t>SOURCE: Fresh JMeter baseline/remediation summary.json; current report §4.4.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70 seconds</a:t>
            </a:r>
          </a:p>
          <a:p>
            <a:r>
              <a:t>KEY MESSAGE: One report endpoint improved in one test and slowed in another.</a:t>
            </a:r>
          </a:p>
          <a:p>
            <a:r>
              <a:t>SHOW IF ASKED: backup slides 33 and 40-41 (mixed endpoint behavior)</a:t>
            </a:r>
          </a:p>
          <a:p>
            <a:r>
              <a:t>APPENDIX: Appendix G; Table 4.4</a:t>
            </a:r>
          </a:p>
          <a:p/>
          <a:p>
            <a:r>
              <a:t>SCRIPT:</a:t>
            </a:r>
          </a:p>
          <a:p>
            <a:r>
              <a:t>The GET /reports/account-ledger endpoint got slower during the long soak test: p95 rose from about 742 to 3,826 milliseconds. During the sudden spike test it improved, from about 50.3 seconds to 12.9 seconds. This does not tell us why. It shows that I cannot claim every report request became faster under every workload.</a:t>
            </a:r>
          </a:p>
          <a:p/>
          <a:p>
            <a:r>
              <a:t>SOURCE: Current report Table 4.4 and Appendix 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70 seconds</a:t>
            </a:r>
          </a:p>
          <a:p>
            <a:r>
              <a:t>KEY MESSAGE: These are app screens, not speed-test results.</a:t>
            </a:r>
          </a:p>
          <a:p>
            <a:r>
              <a:t>SHOW IF ASKED: backup slides 42-44 (browser views)</a:t>
            </a:r>
          </a:p>
          <a:p>
            <a:r>
              <a:t>APPENDIX: Appendix J; Figures 4.2-4.7</a:t>
            </a:r>
          </a:p>
          <a:p/>
          <a:p>
            <a:r>
              <a:t>SCRIPT:</a:t>
            </a:r>
          </a:p>
          <a:p>
            <a:r>
              <a:t>The pictures show the admin dashboard and a journal entry whose debit and credit lines balance. They help demonstrate that I can use the API through the web app. They do not show how fast the API is. For performance evidence, use backup slide 31 or the JMeter dashboards on slides 37-41.</a:t>
            </a:r>
          </a:p>
          <a:p/>
          <a:p>
            <a:r>
              <a:t>SOURCE: Current report §4.6 and Figures 4.2-4.7.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80 seconds</a:t>
            </a:r>
          </a:p>
          <a:p>
            <a:r>
              <a:t>KEY MESSAGE: The study does not support a blanket claim that everything improved.</a:t>
            </a:r>
          </a:p>
          <a:p>
            <a:r>
              <a:t>SHOW IF ASKED: backup slides 29-31 (outcome details)</a:t>
            </a:r>
          </a:p>
          <a:p>
            <a:r>
              <a:t>APPENDIX: Appendices M and N</a:t>
            </a:r>
          </a:p>
          <a:p/>
          <a:p>
            <a:r>
              <a:t>SCRIPT:</a:t>
            </a:r>
          </a:p>
          <a:p>
            <a:r>
              <a:t>Code warnings fell from 17 to zero, although coverage fell a little and complexity rose. ZAP's selected checks passed, but the local HTTP alert stayed. JMeter missed the main 100- and 500-user speed targets even though soak and spike improved. This is one API on one computer with one fresh run per branch. We did not save CPU and memory readings for those runs, so I would repeat the tests before claiming the result applies elsewhere.</a:t>
            </a:r>
          </a:p>
          <a:p/>
          <a:p>
            <a:r>
              <a:t>SOURCE: Current report Table 4.5 and Appendix 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80 seconds</a:t>
            </a:r>
          </a:p>
          <a:p>
            <a:r>
              <a:t>KEY MESSAGE: The contribution is a way to check AI suggestions, including when they do not work.</a:t>
            </a:r>
          </a:p>
          <a:p>
            <a:r>
              <a:t>SHOW IF ASKED: backup slide 27 (where every claim is checked)</a:t>
            </a:r>
          </a:p>
          <a:p>
            <a:r>
              <a:t>APPENDIX: Appendices A, M, and N</a:t>
            </a:r>
          </a:p>
          <a:p/>
          <a:p>
            <a:r>
              <a:t>SCRIPT:</a:t>
            </a:r>
          </a:p>
          <a:p>
            <a:r>
              <a:t>Codex helped me propose code changes. I reviewed them, and the original tools measured the results. Code warnings reached zero and selected security checks passed, but the main performance target was not met. My contribution is the traceable process and this honest mixed result, not a claim that ChatGPT always improves an API. Thank you; I welcome questions.</a:t>
            </a:r>
          </a:p>
          <a:p/>
          <a:p>
            <a:r>
              <a:t>SOURCE: Current report Chapter 5 and Appendices A-N.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evidence map.</a:t>
            </a:r>
          </a:p>
          <a:p/>
          <a:p>
            <a:r>
              <a:t>SCRIPT:</a:t>
            </a:r>
          </a:p>
          <a:p>
            <a:r>
              <a:t>Start with the claim in the left column. The middle column names the raw result file; the right column names the report section. The first row confirms the 120 seeded accounts used by the tests.</a:t>
            </a:r>
          </a:p>
          <a:p/>
          <a:p>
            <a:r>
              <a:t>SOURCE: branch-verification.json dataset counts; current report Appendices A-N.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branch provenance.</a:t>
            </a:r>
          </a:p>
          <a:p/>
          <a:p>
            <a:r>
              <a:t>SCRIPT:</a:t>
            </a:r>
          </a:p>
          <a:p>
            <a:r>
              <a:t>Open this slide if asked for proof. Point to the relevant number or code change, then name the source shown on the slide.</a:t>
            </a:r>
          </a:p>
          <a:p/>
          <a:p>
            <a:r>
              <a:t>SOURCE: Current report Appendix A and Table 3.1.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full fresh SonarQube metrics.</a:t>
            </a:r>
          </a:p>
          <a:p/>
          <a:p>
            <a:r>
              <a:t>SCRIPT:</a:t>
            </a:r>
          </a:p>
          <a:p>
            <a:r>
              <a:t>Point to Total unique issues: 17 before, zero after. The gate status is OK on both, but no gate conditions were saved, so do not use that status alone to claim improvement. Coverage slipped by 0.1 percentage point.</a:t>
            </a:r>
          </a:p>
          <a:p/>
          <a:p>
            <a:r>
              <a:t>SOURCE: Current report Table 4.2; fresh SonarQube summary.json and quality-gate.json.</a:t>
            </a:r>
          </a:p>
          <a:p>
            <a:r>
              <a:t>CAUTION: * MQR impacts overlap; do not sum them as unique issues. Both saved gate files have an empty conditions list.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full fresh ZAP outcomes.</a:t>
            </a:r>
          </a:p>
          <a:p/>
          <a:p>
            <a:r>
              <a:t>SCRIPT:</a:t>
            </a:r>
          </a:p>
          <a:p>
            <a:r>
              <a:t>Point to the Auth API after-fix row: Medium is still one, while Low is zero. The Medium is HTTP Only Site because the local scan used HTTP. The configured rule gate passed, but this raw alert was not cleared; an HTTPS retest is needed.</a:t>
            </a:r>
          </a:p>
          <a:p/>
          <a:p>
            <a:r>
              <a:t>SOURCE: Current report §4.3 and fresh ZAP summary.json.</a:t>
            </a:r>
          </a:p>
          <a:p>
            <a:r>
              <a:t>CAUTION: Configured gate PASS does not mean every raw API Medium alert cleared.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full fresh JMeter matrix.</a:t>
            </a:r>
          </a:p>
          <a:p/>
          <a:p>
            <a:r>
              <a:t>SCRIPT:</a:t>
            </a:r>
          </a:p>
          <a:p>
            <a:r>
              <a:t>Point to the 100- and 500-VU rows. Their after-fix p95 values are higher than before and exceed the study limits, so the core target was not met. Soak and spike have lower p95 after the fix, but those are separate tests.</a:t>
            </a:r>
          </a:p>
          <a:p/>
          <a:p>
            <a:r>
              <a:t>SOURCE: Fresh JMeter baseline/remediation summary.json and current report §4.4.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S107 controller DTO change.</a:t>
            </a:r>
          </a:p>
          <a:p/>
          <a:p>
            <a:r>
              <a:t>SCRIPT:</a:t>
            </a:r>
          </a:p>
          <a:p>
            <a:r>
              <a:t>Open this slide if asked for proof. Point to the relevant number or code change, then name the source shown on the slide.</a:t>
            </a:r>
          </a:p>
          <a:p/>
          <a:p>
            <a:r>
              <a:t>SOURCE: Current report Listing E.1, Table 4.3, Appendix 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security and performance source paths.</a:t>
            </a:r>
          </a:p>
          <a:p/>
          <a:p>
            <a:r>
              <a:t>SCRIPT:</a:t>
            </a:r>
          </a:p>
          <a:p>
            <a:r>
              <a:t>The left side shows the security-header change. The right side shows my performance attempt: cache ledger data and avoid a report snapshot write on this read path. This proves the change was made, not that it made the API faster. For speed numbers, open backup slide 31 and dashboards 38-39.</a:t>
            </a:r>
          </a:p>
          <a:p/>
          <a:p>
            <a:r>
              <a:t>SOURCE: Current report Appendices F and 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authorization and accounting evidence.</a:t>
            </a:r>
          </a:p>
          <a:p/>
          <a:p>
            <a:r>
              <a:t>SCRIPT:</a:t>
            </a:r>
          </a:p>
          <a:p>
            <a:r>
              <a:t>Open this slide if asked for proof. Point to the relevant number or code change, then name the source shown on the slide.</a:t>
            </a:r>
          </a:p>
          <a:p/>
          <a:p>
            <a:r>
              <a:t>SOURCE: Current report Appendices C, D, I and Figures 4.2-4.7.</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SonarQube overview · baseline vs remediation.</a:t>
            </a:r>
          </a:p>
          <a:p/>
          <a:p>
            <a:r>
              <a:t>SCRIPT:</a:t>
            </a:r>
          </a:p>
          <a:p>
            <a:r>
              <a:t>The two current screenshots show different issue counts: 17 before and zero after. Both show Quality Gate OK, but the saved gate files contain no conditions. Do not present OK/OK as the evidence of improvement; use the issue counts and disclose that coverage fell slightly.</a:t>
            </a:r>
          </a:p>
          <a:p/>
          <a:p>
            <a:r>
              <a:t>SOURCE: Appendix L Figures L.1 and L.3</a:t>
            </a:r>
          </a:p>
          <a:p>
            <a:r>
              <a:t>CAUTION: Capture classification: fresh-reproduction. Baseline origin/baseline-v0.1 @ 7a0469d9, run 20260922-183352; remediation origin/baseline-sonarqube-v1 @ a2279bcb, run 20260922-183352.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SonarQube issues · baseline vs remediation.</a:t>
            </a:r>
          </a:p>
          <a:p/>
          <a:p>
            <a:r>
              <a:t>SCRIPT:</a:t>
            </a:r>
          </a:p>
          <a:p>
            <a:r>
              <a:t>Point to the issue list: the baseline has 17 distinct findings and the changed branch has zero. These are the direct issue-count views; the gate status is separate.</a:t>
            </a:r>
          </a:p>
          <a:p/>
          <a:p>
            <a:r>
              <a:t>SOURCE: Appendix L Figures L.2 and L.4</a:t>
            </a:r>
          </a:p>
          <a:p>
            <a:r>
              <a:t>CAUTION: Capture classification: fresh-reproduction. Baseline origin/baseline-v0.1 @ 7a0469d9, run 20260922-183352; remediation origin/baseline-sonarqube-v1 @ a2279bcb, run 20260922-183352.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JMeter 50 VU · baseline vs remediation.</a:t>
            </a:r>
          </a:p>
          <a:p/>
          <a:p>
            <a:r>
              <a:t>SCRIPT:</a:t>
            </a:r>
          </a:p>
          <a:p>
            <a:r>
              <a:t>At 50 simulated users, total p95 rose from 33 to 199.9 milliseconds. It is slower after the code change, even though it stayed below this study's 300-millisecond limit.</a:t>
            </a:r>
          </a:p>
          <a:p/>
          <a:p>
            <a:r>
              <a:t>SOURCE: Appendix L Figures L.9 and L.14; fresh JMeter summary.json</a:t>
            </a:r>
          </a:p>
          <a:p>
            <a:r>
              <a:t>CAUTION: Capture classification: fresh-reproduction. Baseline origin/baseline-v0.1 @ 7a0469d9, run baseline-20260922-192730; remediation origin/baseline-jmeter-v1 @ 78b08b62, run remediation-20260922-200712.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JMeter 100 VU · baseline vs remediation.</a:t>
            </a:r>
          </a:p>
          <a:p/>
          <a:p>
            <a:r>
              <a:t>SCRIPT:</a:t>
            </a:r>
          </a:p>
          <a:p>
            <a:r>
              <a:t>In the Total row, find the 95th-percentile response time. At 100 VU, it rose from 255.9 to 1146.9 milliseconds. The after-fix value is above this study's 500-millisecond limit, so the core target was not met. This is a measurement, not proof of what caused the slowdown.</a:t>
            </a:r>
          </a:p>
          <a:p/>
          <a:p>
            <a:r>
              <a:t>SOURCE: Appendix L Figures L.10 and L.15; fresh JMeter summary.json</a:t>
            </a:r>
          </a:p>
          <a:p>
            <a:r>
              <a:t>CAUTION: Capture classification: fresh-reproduction. Baseline origin/baseline-v0.1 @ 7a0469d9, run baseline-20260922-192730; remediation origin/baseline-jmeter-v1 @ 78b08b62, run remediation-20260922-200712.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JMeter 500 VU · baseline vs remediation.</a:t>
            </a:r>
          </a:p>
          <a:p/>
          <a:p>
            <a:r>
              <a:t>SCRIPT:</a:t>
            </a:r>
          </a:p>
          <a:p>
            <a:r>
              <a:t>In the Total row, find the 95th-percentile response time. At 500 VU, it rose from 106 to 1547.95 milliseconds. The after-fix value is above this study's 1200-millisecond limit, so the core target was not met. This is a measurement, not proof of what caused the slowdown.</a:t>
            </a:r>
          </a:p>
          <a:p/>
          <a:p>
            <a:r>
              <a:t>SOURCE: Appendix L Figures L.11 and L.16; fresh JMeter summary.json</a:t>
            </a:r>
          </a:p>
          <a:p>
            <a:r>
              <a:t>CAUTION: Capture classification: fresh-reproduction. Baseline origin/baseline-v0.1 @ 7a0469d9, run baseline-20260922-192730; remediation origin/baseline-jmeter-v1 @ 78b08b62, run remediation-20260922-200712.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JMeter soak · baseline vs remediation.</a:t>
            </a:r>
          </a:p>
          <a:p/>
          <a:p>
            <a:r>
              <a:t>SCRIPT:</a:t>
            </a:r>
          </a:p>
          <a:p>
            <a:r>
              <a:t>This long steady soak test had a lower total p95 after the change: 443.95 to 171 milliseconds. That is an improvement for this test only. It does not change the unmet 100- and 500-user core targets on slide 31.</a:t>
            </a:r>
          </a:p>
          <a:p/>
          <a:p>
            <a:r>
              <a:t>SOURCE: Appendix L Figures L.12 and L.17; fresh JMeter summary.json</a:t>
            </a:r>
          </a:p>
          <a:p>
            <a:r>
              <a:t>CAUTION: Capture classification: fresh-reproduction. Baseline origin/baseline-v0.1 @ 7a0469d9, run baseline-20260922-192730; remediation origin/baseline-jmeter-v1 @ 78b08b62, run remediation-20260922-200712.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JMeter spike · baseline vs remediation.</a:t>
            </a:r>
          </a:p>
          <a:p/>
          <a:p>
            <a:r>
              <a:t>SCRIPT:</a:t>
            </a:r>
          </a:p>
          <a:p>
            <a:r>
              <a:t>This sudden spike test had a lower total p95 after the change: 33401.8 to 4730.85 milliseconds. That is an improvement for this test only. It does not change the unmet 100- and 500-user core targets on slide 31.</a:t>
            </a:r>
          </a:p>
          <a:p/>
          <a:p>
            <a:r>
              <a:t>SOURCE: Appendix L Figures L.13 and L.18; fresh JMeter summary.json</a:t>
            </a:r>
          </a:p>
          <a:p>
            <a:r>
              <a:t>CAUTION: Capture classification: fresh-reproduction. Baseline origin/baseline-v0.1 @ 7a0469d9, run baseline-20260922-192730; remediation origin/baseline-jmeter-v1 @ 78b08b62, run remediation-20260922-200712.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App screens—not load-test data.</a:t>
            </a:r>
          </a:p>
          <a:p/>
          <a:p>
            <a:r>
              <a:t>SCRIPT:</a:t>
            </a:r>
          </a:p>
          <a:p>
            <a:r>
              <a:t>These pictures show that I can use the application and see its accounting screens. They do not measure speed. For JMeter response times, open backup slide 31 or dashboards 37-41.</a:t>
            </a:r>
          </a:p>
          <a:p/>
          <a:p>
            <a:r>
              <a:t>SOURCE: Current report Figures 4.2 and 4.3</a:t>
            </a:r>
          </a:p>
          <a:p>
            <a:r>
              <a:t>CAUTION: These are browser workflow captures; visible live application counts are not JMeter benchmark metrics.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Application: audit and role restrictions.</a:t>
            </a:r>
          </a:p>
          <a:p/>
          <a:p>
            <a:r>
              <a:t>SCRIPT:</a:t>
            </a:r>
          </a:p>
          <a:p>
            <a:r>
              <a:t>These pictures show that I can use the application and see its accounting screens. They do not measure speed. For JMeter response times, open backup slide 31 or dashboards 37-41.</a:t>
            </a:r>
          </a:p>
          <a:p/>
          <a:p>
            <a:r>
              <a:t>SOURCE: Current report Figures 4.4 and 4.5</a:t>
            </a:r>
          </a:p>
          <a:p>
            <a:r>
              <a:t>CAUTION: These are browser workflow captures; visible live application counts are not JMeter benchmark metrics.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 seconds</a:t>
            </a:r>
          </a:p>
          <a:p>
            <a:r>
              <a:t>KEY MESSAGE: Backup evidence: Application: evidence and balanced journal lines.</a:t>
            </a:r>
          </a:p>
          <a:p/>
          <a:p>
            <a:r>
              <a:t>SCRIPT:</a:t>
            </a:r>
          </a:p>
          <a:p>
            <a:r>
              <a:t>These pictures show that I can use the application and see its accounting screens. They do not measure speed. For JMeter response times, open backup slide 31 or dashboards 37-41.</a:t>
            </a:r>
          </a:p>
          <a:p/>
          <a:p>
            <a:r>
              <a:t>SOURCE: Current report Figures 4.6 and 4.7</a:t>
            </a:r>
          </a:p>
          <a:p>
            <a:r>
              <a:t>CAUTION: These are browser workflow captures; visible live application counts are not JMeter benchmark metrics.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1.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2.png"/><Relationship Id="rId4"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10789920" cy="292608"/>
          </a:xfrm>
          <a:prstGeom prst="rect">
            <a:avLst/>
          </a:prstGeom>
          <a:noFill/>
        </p:spPr>
        <p:txBody>
          <a:bodyPr wrap="square" lIns="18288" rIns="18288" tIns="18288" bIns="18288" anchor="ctr">
            <a:spAutoFit/>
          </a:bodyPr>
          <a:lstStyle/>
          <a:p>
            <a:pPr algn="l">
              <a:spcBef>
                <a:spcPts val="0"/>
              </a:spcBef>
              <a:spcAft>
                <a:spcPts val="0"/>
              </a:spcAft>
            </a:pPr>
            <a:r>
              <a:rPr sz="1500" b="1">
                <a:solidFill>
                  <a:srgbClr val="0F676D"/>
                </a:solidFill>
                <a:latin typeface="Arial"/>
              </a:rPr>
              <a:t>FINAL THESIS DEFENSE</a:t>
            </a:r>
          </a:p>
        </p:txBody>
      </p:sp>
      <p:sp>
        <p:nvSpPr>
          <p:cNvPr id="4" name="TextBox 3"/>
          <p:cNvSpPr txBox="1"/>
          <p:nvPr/>
        </p:nvSpPr>
        <p:spPr>
          <a:xfrm>
            <a:off x="658368" y="1115568"/>
            <a:ext cx="10771632" cy="1920240"/>
          </a:xfrm>
          <a:prstGeom prst="rect">
            <a:avLst/>
          </a:prstGeom>
          <a:noFill/>
        </p:spPr>
        <p:txBody>
          <a:bodyPr wrap="square" lIns="18288" rIns="18288" tIns="18288" bIns="18288" anchor="t">
            <a:spAutoFit/>
          </a:bodyPr>
          <a:lstStyle/>
          <a:p>
            <a:pPr algn="l">
              <a:spcBef>
                <a:spcPts val="0"/>
              </a:spcBef>
              <a:spcAft>
                <a:spcPts val="0"/>
              </a:spcAft>
            </a:pPr>
            <a:r>
              <a:rPr sz="3100" b="1">
                <a:solidFill>
                  <a:srgbClr val="252B33"/>
                </a:solidFill>
                <a:latin typeface="Arial"/>
              </a:rPr>
              <a:t>Evaluating ChatGPT for Security, Performance, and Code-Quality Improvement of a Financial Accounting REST API: A Branch-Isolated Baseline Study</a:t>
            </a:r>
          </a:p>
        </p:txBody>
      </p:sp>
      <p:cxnSp>
        <p:nvCxnSpPr>
          <p:cNvPr id="5" name="Connector 4"/>
          <p:cNvCxnSpPr/>
          <p:nvPr/>
        </p:nvCxnSpPr>
        <p:spPr>
          <a:xfrm>
            <a:off x="658368" y="3246120"/>
            <a:ext cx="10789920" cy="0"/>
          </a:xfrm>
          <a:prstGeom prst="line">
            <a:avLst/>
          </a:prstGeom>
          <a:ln w="25400">
            <a:solidFill>
              <a:srgbClr val="0F676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3593592"/>
            <a:ext cx="8686800" cy="411480"/>
          </a:xfrm>
          <a:prstGeom prst="rect">
            <a:avLst/>
          </a:prstGeom>
          <a:noFill/>
        </p:spPr>
        <p:txBody>
          <a:bodyPr wrap="square" lIns="18288" rIns="18288" tIns="18288" bIns="18288" anchor="ctr">
            <a:spAutoFit/>
          </a:bodyPr>
          <a:lstStyle/>
          <a:p>
            <a:pPr algn="l">
              <a:spcBef>
                <a:spcPts val="0"/>
              </a:spcBef>
              <a:spcAft>
                <a:spcPts val="0"/>
              </a:spcAft>
            </a:pPr>
            <a:r>
              <a:rPr sz="2300" b="1">
                <a:solidFill>
                  <a:srgbClr val="252B33"/>
                </a:solidFill>
                <a:latin typeface="Arial"/>
              </a:rPr>
              <a:t>Zaw Ye Htut Ko  |  G6519692</a:t>
            </a:r>
          </a:p>
        </p:txBody>
      </p:sp>
      <p:sp>
        <p:nvSpPr>
          <p:cNvPr id="7" name="TextBox 6"/>
          <p:cNvSpPr txBox="1"/>
          <p:nvPr/>
        </p:nvSpPr>
        <p:spPr>
          <a:xfrm>
            <a:off x="658368" y="4133087"/>
            <a:ext cx="10332720" cy="320040"/>
          </a:xfrm>
          <a:prstGeom prst="rect">
            <a:avLst/>
          </a:prstGeom>
          <a:noFill/>
        </p:spPr>
        <p:txBody>
          <a:bodyPr wrap="square" lIns="18288" rIns="18288" tIns="18288" bIns="18288" anchor="ctr">
            <a:spAutoFit/>
          </a:bodyPr>
          <a:lstStyle/>
          <a:p>
            <a:pPr algn="l">
              <a:spcBef>
                <a:spcPts val="0"/>
              </a:spcBef>
              <a:spcAft>
                <a:spcPts val="0"/>
              </a:spcAft>
            </a:pPr>
            <a:r>
              <a:rPr sz="1800" b="0">
                <a:solidFill>
                  <a:srgbClr val="5B6874"/>
                </a:solidFill>
                <a:latin typeface="Arial"/>
              </a:rPr>
              <a:t>Master of Science in Information Technology  |  Assumption University</a:t>
            </a:r>
          </a:p>
        </p:txBody>
      </p:sp>
      <p:sp>
        <p:nvSpPr>
          <p:cNvPr id="8" name="TextBox 7"/>
          <p:cNvSpPr txBox="1"/>
          <p:nvPr/>
        </p:nvSpPr>
        <p:spPr>
          <a:xfrm>
            <a:off x="658368" y="4617720"/>
            <a:ext cx="9966960" cy="310896"/>
          </a:xfrm>
          <a:prstGeom prst="rect">
            <a:avLst/>
          </a:prstGeom>
          <a:noFill/>
        </p:spPr>
        <p:txBody>
          <a:bodyPr wrap="square" lIns="18288" rIns="18288" tIns="18288" bIns="18288" anchor="ctr">
            <a:spAutoFit/>
          </a:bodyPr>
          <a:lstStyle/>
          <a:p>
            <a:pPr algn="l">
              <a:spcBef>
                <a:spcPts val="0"/>
              </a:spcBef>
              <a:spcAft>
                <a:spcPts val="0"/>
              </a:spcAft>
            </a:pPr>
            <a:r>
              <a:rPr sz="1800" b="0">
                <a:solidFill>
                  <a:srgbClr val="5B6874"/>
                </a:solidFill>
                <a:latin typeface="Arial"/>
              </a:rPr>
              <a:t>Advisor: Asst. Prof. Dr. Darun Kesrarat</a:t>
            </a:r>
          </a:p>
        </p:txBody>
      </p:sp>
      <p:sp>
        <p:nvSpPr>
          <p:cNvPr id="9" name="Rounded Rectangle 8"/>
          <p:cNvSpPr/>
          <p:nvPr/>
        </p:nvSpPr>
        <p:spPr>
          <a:xfrm>
            <a:off x="658368" y="5669280"/>
            <a:ext cx="10771632" cy="603504"/>
          </a:xfrm>
          <a:prstGeom prst="roundRect">
            <a:avLst/>
          </a:prstGeom>
          <a:solidFill>
            <a:srgbClr val="E7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760720"/>
            <a:ext cx="10332720" cy="393192"/>
          </a:xfrm>
          <a:prstGeom prst="rect">
            <a:avLst/>
          </a:prstGeom>
          <a:noFill/>
        </p:spPr>
        <p:txBody>
          <a:bodyPr wrap="square" lIns="18288" rIns="18288" tIns="18288" bIns="18288" anchor="ctr">
            <a:spAutoFit/>
          </a:bodyPr>
          <a:lstStyle/>
          <a:p>
            <a:pPr algn="l">
              <a:spcBef>
                <a:spcPts val="0"/>
              </a:spcBef>
              <a:spcAft>
                <a:spcPts val="0"/>
              </a:spcAft>
            </a:pPr>
            <a:r>
              <a:rPr sz="1900" b="1">
                <a:solidFill>
                  <a:srgbClr val="0F676D"/>
                </a:solidFill>
                <a:latin typeface="Arial"/>
              </a:rPr>
              <a:t>One existing API · one shared baseline · three independent measurements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0F676D"/>
                </a:solidFill>
                <a:latin typeface="Arial"/>
              </a:rPr>
              <a:t>OPENING</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The fresh evidence is mixed</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§4.5; Table 4.5; Appendix M</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0F676D"/>
                </a:solidFill>
                <a:latin typeface="Arial"/>
              </a:rPr>
              <a:t>2</a:t>
            </a:r>
          </a:p>
        </p:txBody>
      </p:sp>
      <p:sp>
        <p:nvSpPr>
          <p:cNvPr id="9" name="Rounded Rectangle 8"/>
          <p:cNvSpPr/>
          <p:nvPr/>
        </p:nvSpPr>
        <p:spPr>
          <a:xfrm>
            <a:off x="713232" y="1426464"/>
            <a:ext cx="3456432" cy="1115568"/>
          </a:xfrm>
          <a:prstGeom prst="roundRect">
            <a:avLst/>
          </a:prstGeom>
          <a:solidFill>
            <a:srgbClr val="E8F7EE"/>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536192"/>
            <a:ext cx="3127248" cy="201168"/>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5B6874"/>
                </a:solidFill>
                <a:latin typeface="Arial"/>
              </a:rPr>
              <a:t>STATIC QUALITY</a:t>
            </a:r>
          </a:p>
        </p:txBody>
      </p:sp>
      <p:sp>
        <p:nvSpPr>
          <p:cNvPr id="11" name="TextBox 10"/>
          <p:cNvSpPr txBox="1"/>
          <p:nvPr/>
        </p:nvSpPr>
        <p:spPr>
          <a:xfrm>
            <a:off x="877824" y="1783080"/>
            <a:ext cx="3127248" cy="411480"/>
          </a:xfrm>
          <a:prstGeom prst="rect">
            <a:avLst/>
          </a:prstGeom>
          <a:noFill/>
        </p:spPr>
        <p:txBody>
          <a:bodyPr wrap="square" lIns="18288" rIns="18288" tIns="18288" bIns="18288" anchor="ctr">
            <a:spAutoFit/>
          </a:bodyPr>
          <a:lstStyle/>
          <a:p>
            <a:pPr algn="l">
              <a:spcBef>
                <a:spcPts val="0"/>
              </a:spcBef>
              <a:spcAft>
                <a:spcPts val="0"/>
              </a:spcAft>
            </a:pPr>
            <a:r>
              <a:rPr sz="2500" b="1">
                <a:solidFill>
                  <a:srgbClr val="246F46"/>
                </a:solidFill>
                <a:latin typeface="Arial"/>
              </a:rPr>
              <a:t>17 to 0</a:t>
            </a:r>
          </a:p>
        </p:txBody>
      </p:sp>
      <p:sp>
        <p:nvSpPr>
          <p:cNvPr id="12" name="TextBox 11"/>
          <p:cNvSpPr txBox="1"/>
          <p:nvPr/>
        </p:nvSpPr>
        <p:spPr>
          <a:xfrm>
            <a:off x="877824" y="2276856"/>
            <a:ext cx="3127248" cy="164592"/>
          </a:xfrm>
          <a:prstGeom prst="rect">
            <a:avLst/>
          </a:prstGeom>
          <a:noFill/>
        </p:spPr>
        <p:txBody>
          <a:bodyPr wrap="square" lIns="18288" rIns="18288" tIns="18288" bIns="18288" anchor="ctr">
            <a:spAutoFit/>
          </a:bodyPr>
          <a:lstStyle/>
          <a:p>
            <a:pPr algn="l">
              <a:spcBef>
                <a:spcPts val="0"/>
              </a:spcBef>
              <a:spcAft>
                <a:spcPts val="0"/>
              </a:spcAft>
            </a:pPr>
            <a:r>
              <a:rPr sz="1100" b="0">
                <a:solidFill>
                  <a:srgbClr val="5B6874"/>
                </a:solidFill>
                <a:latin typeface="Arial"/>
              </a:rPr>
              <a:t>Unique SonarQube issues</a:t>
            </a:r>
          </a:p>
        </p:txBody>
      </p:sp>
      <p:sp>
        <p:nvSpPr>
          <p:cNvPr id="13" name="Rounded Rectangle 12"/>
          <p:cNvSpPr/>
          <p:nvPr/>
        </p:nvSpPr>
        <p:spPr>
          <a:xfrm>
            <a:off x="4370832" y="1426464"/>
            <a:ext cx="3456432" cy="1115568"/>
          </a:xfrm>
          <a:prstGeom prst="roundRect">
            <a:avLst/>
          </a:prstGeom>
          <a:solidFill>
            <a:srgbClr val="FFF6E7"/>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1536192"/>
            <a:ext cx="3127248" cy="201168"/>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5B6874"/>
                </a:solidFill>
                <a:latin typeface="Arial"/>
              </a:rPr>
              <a:t>SECURITY</a:t>
            </a:r>
          </a:p>
        </p:txBody>
      </p:sp>
      <p:sp>
        <p:nvSpPr>
          <p:cNvPr id="15" name="TextBox 14"/>
          <p:cNvSpPr txBox="1"/>
          <p:nvPr/>
        </p:nvSpPr>
        <p:spPr>
          <a:xfrm>
            <a:off x="4535424" y="1783080"/>
            <a:ext cx="3127248" cy="411480"/>
          </a:xfrm>
          <a:prstGeom prst="rect">
            <a:avLst/>
          </a:prstGeom>
          <a:noFill/>
        </p:spPr>
        <p:txBody>
          <a:bodyPr wrap="square" lIns="18288" rIns="18288" tIns="18288" bIns="18288" anchor="ctr">
            <a:spAutoFit/>
          </a:bodyPr>
          <a:lstStyle/>
          <a:p>
            <a:pPr algn="l">
              <a:spcBef>
                <a:spcPts val="0"/>
              </a:spcBef>
              <a:spcAft>
                <a:spcPts val="0"/>
              </a:spcAft>
            </a:pPr>
            <a:r>
              <a:rPr sz="2500" b="1">
                <a:solidFill>
                  <a:srgbClr val="BE7414"/>
                </a:solidFill>
                <a:latin typeface="Arial"/>
              </a:rPr>
              <a:t>Gate PASS</a:t>
            </a:r>
          </a:p>
        </p:txBody>
      </p:sp>
      <p:sp>
        <p:nvSpPr>
          <p:cNvPr id="16" name="TextBox 15"/>
          <p:cNvSpPr txBox="1"/>
          <p:nvPr/>
        </p:nvSpPr>
        <p:spPr>
          <a:xfrm>
            <a:off x="4535424" y="2276856"/>
            <a:ext cx="3127248" cy="164592"/>
          </a:xfrm>
          <a:prstGeom prst="rect">
            <a:avLst/>
          </a:prstGeom>
          <a:noFill/>
        </p:spPr>
        <p:txBody>
          <a:bodyPr wrap="square" lIns="18288" rIns="18288" tIns="18288" bIns="18288" anchor="ctr">
            <a:spAutoFit/>
          </a:bodyPr>
          <a:lstStyle/>
          <a:p>
            <a:pPr algn="l">
              <a:spcBef>
                <a:spcPts val="0"/>
              </a:spcBef>
              <a:spcAft>
                <a:spcPts val="0"/>
              </a:spcAft>
            </a:pPr>
            <a:r>
              <a:rPr sz="1100" b="0">
                <a:solidFill>
                  <a:srgbClr val="5B6874"/>
                </a:solidFill>
                <a:latin typeface="Arial"/>
              </a:rPr>
              <a:t>One raw API Medium remains</a:t>
            </a:r>
          </a:p>
        </p:txBody>
      </p:sp>
      <p:sp>
        <p:nvSpPr>
          <p:cNvPr id="17" name="Rounded Rectangle 16"/>
          <p:cNvSpPr/>
          <p:nvPr/>
        </p:nvSpPr>
        <p:spPr>
          <a:xfrm>
            <a:off x="8028431" y="1426464"/>
            <a:ext cx="3456432" cy="1115568"/>
          </a:xfrm>
          <a:prstGeom prst="roundRect">
            <a:avLst/>
          </a:prstGeom>
          <a:solidFill>
            <a:srgbClr val="FDEFF0"/>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3023" y="1536192"/>
            <a:ext cx="3127248" cy="201168"/>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5B6874"/>
                </a:solidFill>
                <a:latin typeface="Arial"/>
              </a:rPr>
              <a:t>PERFORMANCE</a:t>
            </a:r>
          </a:p>
        </p:txBody>
      </p:sp>
      <p:sp>
        <p:nvSpPr>
          <p:cNvPr id="19" name="TextBox 18"/>
          <p:cNvSpPr txBox="1"/>
          <p:nvPr/>
        </p:nvSpPr>
        <p:spPr>
          <a:xfrm>
            <a:off x="8193023" y="1783080"/>
            <a:ext cx="3127248" cy="411480"/>
          </a:xfrm>
          <a:prstGeom prst="rect">
            <a:avLst/>
          </a:prstGeom>
          <a:noFill/>
        </p:spPr>
        <p:txBody>
          <a:bodyPr wrap="square" lIns="18288" rIns="18288" tIns="18288" bIns="18288" anchor="ctr">
            <a:spAutoFit/>
          </a:bodyPr>
          <a:lstStyle/>
          <a:p>
            <a:pPr algn="l">
              <a:spcBef>
                <a:spcPts val="0"/>
              </a:spcBef>
              <a:spcAft>
                <a:spcPts val="0"/>
              </a:spcAft>
            </a:pPr>
            <a:r>
              <a:rPr sz="2500" b="1">
                <a:solidFill>
                  <a:srgbClr val="B3373D"/>
                </a:solidFill>
                <a:latin typeface="Arial"/>
              </a:rPr>
              <a:t>Target not met</a:t>
            </a:r>
          </a:p>
        </p:txBody>
      </p:sp>
      <p:sp>
        <p:nvSpPr>
          <p:cNvPr id="20" name="TextBox 19"/>
          <p:cNvSpPr txBox="1"/>
          <p:nvPr/>
        </p:nvSpPr>
        <p:spPr>
          <a:xfrm>
            <a:off x="8193023" y="2276856"/>
            <a:ext cx="3127248" cy="164592"/>
          </a:xfrm>
          <a:prstGeom prst="rect">
            <a:avLst/>
          </a:prstGeom>
          <a:noFill/>
        </p:spPr>
        <p:txBody>
          <a:bodyPr wrap="square" lIns="18288" rIns="18288" tIns="18288" bIns="18288" anchor="ctr">
            <a:spAutoFit/>
          </a:bodyPr>
          <a:lstStyle/>
          <a:p>
            <a:pPr algn="l">
              <a:spcBef>
                <a:spcPts val="0"/>
              </a:spcBef>
              <a:spcAft>
                <a:spcPts val="0"/>
              </a:spcAft>
            </a:pPr>
            <a:r>
              <a:rPr sz="1100" b="0">
                <a:solidFill>
                  <a:srgbClr val="5B6874"/>
                </a:solidFill>
                <a:latin typeface="Arial"/>
              </a:rPr>
              <a:t>100 and 500 VU exceed limits</a:t>
            </a:r>
          </a:p>
        </p:txBody>
      </p:sp>
      <p:sp>
        <p:nvSpPr>
          <p:cNvPr id="21" name="Rounded Rectangle 20"/>
          <p:cNvSpPr/>
          <p:nvPr/>
        </p:nvSpPr>
        <p:spPr>
          <a:xfrm>
            <a:off x="713232" y="2999232"/>
            <a:ext cx="10771632" cy="2414016"/>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3310128"/>
            <a:ext cx="9966960" cy="329184"/>
          </a:xfrm>
          <a:prstGeom prst="rect">
            <a:avLst/>
          </a:prstGeom>
          <a:noFill/>
        </p:spPr>
        <p:txBody>
          <a:bodyPr wrap="square" lIns="18288" rIns="18288" tIns="18288" bIns="18288" anchor="ctr">
            <a:spAutoFit/>
          </a:bodyPr>
          <a:lstStyle/>
          <a:p>
            <a:pPr algn="l">
              <a:spcBef>
                <a:spcPts val="0"/>
              </a:spcBef>
              <a:spcAft>
                <a:spcPts val="0"/>
              </a:spcAft>
            </a:pPr>
            <a:r>
              <a:rPr sz="2000" b="1">
                <a:solidFill>
                  <a:srgbClr val="0F676D"/>
                </a:solidFill>
                <a:latin typeface="Arial"/>
              </a:rPr>
              <a:t>Defensible conclusion</a:t>
            </a:r>
          </a:p>
        </p:txBody>
      </p:sp>
      <p:sp>
        <p:nvSpPr>
          <p:cNvPr id="23" name="TextBox 22"/>
          <p:cNvSpPr txBox="1"/>
          <p:nvPr/>
        </p:nvSpPr>
        <p:spPr>
          <a:xfrm>
            <a:off x="960120" y="3749039"/>
            <a:ext cx="9966960" cy="1188720"/>
          </a:xfrm>
          <a:prstGeom prst="rect">
            <a:avLst/>
          </a:prstGeom>
          <a:noFill/>
        </p:spPr>
        <p:txBody>
          <a:bodyPr wrap="square" lIns="18288" rIns="18288" tIns="18288" bIns="18288" anchor="ctr">
            <a:spAutoFit/>
          </a:bodyPr>
          <a:lstStyle/>
          <a:p>
            <a:pPr algn="l">
              <a:spcBef>
                <a:spcPts val="0"/>
              </a:spcBef>
              <a:spcAft>
                <a:spcPts val="0"/>
              </a:spcAft>
            </a:pPr>
            <a:r>
              <a:rPr sz="2300" b="0">
                <a:solidFill>
                  <a:srgbClr val="252B33"/>
                </a:solidFill>
                <a:latin typeface="Arial"/>
              </a:rPr>
              <a:t>ChatGPT-guided remediation closed the fresh static issues and passed the configured ZAP gate. It did not meet the predefined core performance target, despite lower soak and spike p95 values.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4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24466C"/>
                </a:solidFill>
                <a:latin typeface="Arial"/>
              </a:rPr>
              <a:t>PROBLEM</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One financial API has three different risks</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§§1.1-1.4 and §3.1</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24466C"/>
                </a:solidFill>
                <a:latin typeface="Arial"/>
              </a:rPr>
              <a:t>3</a:t>
            </a:r>
          </a:p>
        </p:txBody>
      </p:sp>
      <p:sp>
        <p:nvSpPr>
          <p:cNvPr id="9" name="Rounded Rectangle 8"/>
          <p:cNvSpPr/>
          <p:nvPr/>
        </p:nvSpPr>
        <p:spPr>
          <a:xfrm>
            <a:off x="713232" y="1572768"/>
            <a:ext cx="3456432" cy="3337560"/>
          </a:xfrm>
          <a:prstGeom prst="roundRect">
            <a:avLst/>
          </a:prstGeom>
          <a:solidFill>
            <a:srgbClr val="E7F6F6"/>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 y="1572768"/>
            <a:ext cx="91440" cy="333756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1920240"/>
            <a:ext cx="2971800" cy="457200"/>
          </a:xfrm>
          <a:prstGeom prst="rect">
            <a:avLst/>
          </a:prstGeom>
          <a:noFill/>
        </p:spPr>
        <p:txBody>
          <a:bodyPr wrap="square" lIns="18288" rIns="18288" tIns="18288" bIns="18288" anchor="ctr">
            <a:spAutoFit/>
          </a:bodyPr>
          <a:lstStyle/>
          <a:p>
            <a:pPr algn="l">
              <a:spcBef>
                <a:spcPts val="0"/>
              </a:spcBef>
              <a:spcAft>
                <a:spcPts val="0"/>
              </a:spcAft>
            </a:pPr>
            <a:r>
              <a:rPr sz="2400" b="1">
                <a:solidFill>
                  <a:srgbClr val="0F676D"/>
                </a:solidFill>
                <a:latin typeface="Arial"/>
              </a:rPr>
              <a:t>Maintainability</a:t>
            </a:r>
          </a:p>
        </p:txBody>
      </p:sp>
      <p:sp>
        <p:nvSpPr>
          <p:cNvPr id="12" name="TextBox 11"/>
          <p:cNvSpPr txBox="1"/>
          <p:nvPr/>
        </p:nvSpPr>
        <p:spPr>
          <a:xfrm>
            <a:off x="941832" y="2688336"/>
            <a:ext cx="2926080" cy="1572768"/>
          </a:xfrm>
          <a:prstGeom prst="rect">
            <a:avLst/>
          </a:prstGeom>
          <a:noFill/>
        </p:spPr>
        <p:txBody>
          <a:bodyPr wrap="square" lIns="18288" rIns="18288" tIns="18288" bIns="18288" anchor="ctr">
            <a:spAutoFit/>
          </a:bodyPr>
          <a:lstStyle/>
          <a:p>
            <a:pPr algn="l">
              <a:spcBef>
                <a:spcPts val="0"/>
              </a:spcBef>
              <a:spcAft>
                <a:spcPts val="0"/>
              </a:spcAft>
            </a:pPr>
            <a:r>
              <a:rPr sz="2100" b="0">
                <a:solidFill>
                  <a:srgbClr val="252B33"/>
                </a:solidFill>
                <a:latin typeface="Arial"/>
              </a:rPr>
              <a:t>Code smells, complex controller signatures, and repeated logic</a:t>
            </a:r>
          </a:p>
        </p:txBody>
      </p:sp>
      <p:sp>
        <p:nvSpPr>
          <p:cNvPr id="13" name="Rounded Rectangle 12"/>
          <p:cNvSpPr/>
          <p:nvPr/>
        </p:nvSpPr>
        <p:spPr>
          <a:xfrm>
            <a:off x="4370832" y="1572768"/>
            <a:ext cx="3456432" cy="3337560"/>
          </a:xfrm>
          <a:prstGeom prst="roundRect">
            <a:avLst/>
          </a:prstGeom>
          <a:solidFill>
            <a:srgbClr val="FDEFF0"/>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2" y="1572768"/>
            <a:ext cx="91440" cy="3337560"/>
          </a:xfrm>
          <a:prstGeom prst="rect">
            <a:avLst/>
          </a:prstGeom>
          <a:solidFill>
            <a:srgbClr val="B3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9432" y="1920240"/>
            <a:ext cx="2971800" cy="457200"/>
          </a:xfrm>
          <a:prstGeom prst="rect">
            <a:avLst/>
          </a:prstGeom>
          <a:noFill/>
        </p:spPr>
        <p:txBody>
          <a:bodyPr wrap="square" lIns="18288" rIns="18288" tIns="18288" bIns="18288" anchor="ctr">
            <a:spAutoFit/>
          </a:bodyPr>
          <a:lstStyle/>
          <a:p>
            <a:pPr algn="l">
              <a:spcBef>
                <a:spcPts val="0"/>
              </a:spcBef>
              <a:spcAft>
                <a:spcPts val="0"/>
              </a:spcAft>
            </a:pPr>
            <a:r>
              <a:rPr sz="2400" b="1">
                <a:solidFill>
                  <a:srgbClr val="B3373D"/>
                </a:solidFill>
                <a:latin typeface="Arial"/>
              </a:rPr>
              <a:t>Security</a:t>
            </a:r>
          </a:p>
        </p:txBody>
      </p:sp>
      <p:sp>
        <p:nvSpPr>
          <p:cNvPr id="16" name="TextBox 15"/>
          <p:cNvSpPr txBox="1"/>
          <p:nvPr/>
        </p:nvSpPr>
        <p:spPr>
          <a:xfrm>
            <a:off x="4599432" y="2688336"/>
            <a:ext cx="2926080" cy="1572768"/>
          </a:xfrm>
          <a:prstGeom prst="rect">
            <a:avLst/>
          </a:prstGeom>
          <a:noFill/>
        </p:spPr>
        <p:txBody>
          <a:bodyPr wrap="square" lIns="18288" rIns="18288" tIns="18288" bIns="18288" anchor="ctr">
            <a:spAutoFit/>
          </a:bodyPr>
          <a:lstStyle/>
          <a:p>
            <a:pPr algn="l">
              <a:spcBef>
                <a:spcPts val="0"/>
              </a:spcBef>
              <a:spcAft>
                <a:spcPts val="0"/>
              </a:spcAft>
            </a:pPr>
            <a:r>
              <a:rPr sz="2100" b="0">
                <a:solidFill>
                  <a:srgbClr val="252B33"/>
                </a:solidFill>
                <a:latin typeface="Arial"/>
              </a:rPr>
              <a:t>Headers, authorization boundaries, and scanner observations</a:t>
            </a:r>
          </a:p>
        </p:txBody>
      </p:sp>
      <p:sp>
        <p:nvSpPr>
          <p:cNvPr id="17" name="Rounded Rectangle 16"/>
          <p:cNvSpPr/>
          <p:nvPr/>
        </p:nvSpPr>
        <p:spPr>
          <a:xfrm>
            <a:off x="8028431" y="1572768"/>
            <a:ext cx="3456432" cy="3337560"/>
          </a:xfrm>
          <a:prstGeom prst="roundRect">
            <a:avLst/>
          </a:prstGeom>
          <a:solidFill>
            <a:srgbClr val="FFF6E7"/>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28431" y="1572768"/>
            <a:ext cx="91440" cy="3337560"/>
          </a:xfrm>
          <a:prstGeom prst="rect">
            <a:avLst/>
          </a:prstGeom>
          <a:solidFill>
            <a:srgbClr val="BE7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7031" y="1920240"/>
            <a:ext cx="2971800" cy="457200"/>
          </a:xfrm>
          <a:prstGeom prst="rect">
            <a:avLst/>
          </a:prstGeom>
          <a:noFill/>
        </p:spPr>
        <p:txBody>
          <a:bodyPr wrap="square" lIns="18288" rIns="18288" tIns="18288" bIns="18288" anchor="ctr">
            <a:spAutoFit/>
          </a:bodyPr>
          <a:lstStyle/>
          <a:p>
            <a:pPr algn="l">
              <a:spcBef>
                <a:spcPts val="0"/>
              </a:spcBef>
              <a:spcAft>
                <a:spcPts val="0"/>
              </a:spcAft>
            </a:pPr>
            <a:r>
              <a:rPr sz="2400" b="1">
                <a:solidFill>
                  <a:srgbClr val="BE7414"/>
                </a:solidFill>
                <a:latin typeface="Arial"/>
              </a:rPr>
              <a:t>Performance</a:t>
            </a:r>
          </a:p>
        </p:txBody>
      </p:sp>
      <p:sp>
        <p:nvSpPr>
          <p:cNvPr id="20" name="TextBox 19"/>
          <p:cNvSpPr txBox="1"/>
          <p:nvPr/>
        </p:nvSpPr>
        <p:spPr>
          <a:xfrm>
            <a:off x="8257031" y="2688336"/>
            <a:ext cx="2926080" cy="1572768"/>
          </a:xfrm>
          <a:prstGeom prst="rect">
            <a:avLst/>
          </a:prstGeom>
          <a:noFill/>
        </p:spPr>
        <p:txBody>
          <a:bodyPr wrap="square" lIns="18288" rIns="18288" tIns="18288" bIns="18288" anchor="ctr">
            <a:spAutoFit/>
          </a:bodyPr>
          <a:lstStyle/>
          <a:p>
            <a:pPr algn="l">
              <a:spcBef>
                <a:spcPts val="0"/>
              </a:spcBef>
              <a:spcAft>
                <a:spcPts val="0"/>
              </a:spcAft>
            </a:pPr>
            <a:r>
              <a:rPr sz="2100" b="0">
                <a:solidFill>
                  <a:srgbClr val="252B33"/>
                </a:solidFill>
                <a:latin typeface="Arial"/>
              </a:rPr>
              <a:t>Tail latency, throughput, errors, and sustained load</a:t>
            </a:r>
          </a:p>
        </p:txBody>
      </p:sp>
      <p:sp>
        <p:nvSpPr>
          <p:cNvPr id="21" name="TextBox 20"/>
          <p:cNvSpPr txBox="1"/>
          <p:nvPr/>
        </p:nvSpPr>
        <p:spPr>
          <a:xfrm>
            <a:off x="713232" y="5340096"/>
            <a:ext cx="10789920" cy="502920"/>
          </a:xfrm>
          <a:prstGeom prst="rect">
            <a:avLst/>
          </a:prstGeom>
          <a:noFill/>
        </p:spPr>
        <p:txBody>
          <a:bodyPr wrap="square" lIns="18288" rIns="18288" tIns="18288" bIns="18288" anchor="ctr">
            <a:spAutoFit/>
          </a:bodyPr>
          <a:lstStyle/>
          <a:p>
            <a:pPr algn="l">
              <a:spcBef>
                <a:spcPts val="0"/>
              </a:spcBef>
              <a:spcAft>
                <a:spcPts val="0"/>
              </a:spcAft>
            </a:pPr>
            <a:r>
              <a:rPr sz="2400" b="1">
                <a:solidFill>
                  <a:srgbClr val="252B33"/>
                </a:solidFill>
                <a:latin typeface="Arial"/>
              </a:rPr>
              <a:t>No one scanner can stand in for all three dimensions.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4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24466C"/>
                </a:solidFill>
                <a:latin typeface="Arial"/>
              </a:rPr>
              <a:t>PROBLEM</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Three questions, three independent answers</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§1.5 and Table 4.1</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24466C"/>
                </a:solidFill>
                <a:latin typeface="Arial"/>
              </a:rPr>
              <a:t>4</a:t>
            </a:r>
          </a:p>
        </p:txBody>
      </p:sp>
      <p:sp>
        <p:nvSpPr>
          <p:cNvPr id="9" name="Rounded Rectangle 8"/>
          <p:cNvSpPr/>
          <p:nvPr/>
        </p:nvSpPr>
        <p:spPr>
          <a:xfrm>
            <a:off x="731520" y="1408176"/>
            <a:ext cx="10725912" cy="1216152"/>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08176"/>
            <a:ext cx="1188720" cy="1216152"/>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773936"/>
            <a:ext cx="877824" cy="402336"/>
          </a:xfrm>
          <a:prstGeom prst="rect">
            <a:avLst/>
          </a:prstGeom>
          <a:noFill/>
        </p:spPr>
        <p:txBody>
          <a:bodyPr wrap="square" lIns="18288" rIns="18288" tIns="18288" bIns="18288" anchor="ctr">
            <a:spAutoFit/>
          </a:bodyPr>
          <a:lstStyle/>
          <a:p>
            <a:pPr algn="ctr">
              <a:spcBef>
                <a:spcPts val="0"/>
              </a:spcBef>
              <a:spcAft>
                <a:spcPts val="0"/>
              </a:spcAft>
            </a:pPr>
            <a:r>
              <a:rPr sz="2400" b="1">
                <a:solidFill>
                  <a:srgbClr val="FFFFFF"/>
                </a:solidFill>
                <a:latin typeface="Arial"/>
              </a:rPr>
              <a:t>RQ1</a:t>
            </a:r>
          </a:p>
        </p:txBody>
      </p:sp>
      <p:sp>
        <p:nvSpPr>
          <p:cNvPr id="12" name="TextBox 11"/>
          <p:cNvSpPr txBox="1"/>
          <p:nvPr/>
        </p:nvSpPr>
        <p:spPr>
          <a:xfrm>
            <a:off x="2176272" y="1627632"/>
            <a:ext cx="8961120" cy="768096"/>
          </a:xfrm>
          <a:prstGeom prst="rect">
            <a:avLst/>
          </a:prstGeom>
          <a:noFill/>
        </p:spPr>
        <p:txBody>
          <a:bodyPr wrap="square" lIns="18288" rIns="18288" tIns="18288" bIns="18288" anchor="ctr">
            <a:spAutoFit/>
          </a:bodyPr>
          <a:lstStyle/>
          <a:p>
            <a:pPr algn="l">
              <a:spcBef>
                <a:spcPts val="0"/>
              </a:spcBef>
              <a:spcAft>
                <a:spcPts val="0"/>
              </a:spcAft>
            </a:pPr>
            <a:r>
              <a:rPr sz="2200" b="0">
                <a:solidFill>
                  <a:srgbClr val="252B33"/>
                </a:solidFill>
                <a:latin typeface="Arial"/>
              </a:rPr>
              <a:t>Can static issues be closed without material control-metric regression?</a:t>
            </a:r>
          </a:p>
        </p:txBody>
      </p:sp>
      <p:sp>
        <p:nvSpPr>
          <p:cNvPr id="13" name="Rounded Rectangle 12"/>
          <p:cNvSpPr/>
          <p:nvPr/>
        </p:nvSpPr>
        <p:spPr>
          <a:xfrm>
            <a:off x="731520" y="2889504"/>
            <a:ext cx="10725912" cy="1216152"/>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889504"/>
            <a:ext cx="1188720" cy="1216152"/>
          </a:xfrm>
          <a:prstGeom prst="rect">
            <a:avLst/>
          </a:prstGeom>
          <a:solidFill>
            <a:srgbClr val="B3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3255264"/>
            <a:ext cx="877824" cy="402336"/>
          </a:xfrm>
          <a:prstGeom prst="rect">
            <a:avLst/>
          </a:prstGeom>
          <a:noFill/>
        </p:spPr>
        <p:txBody>
          <a:bodyPr wrap="square" lIns="18288" rIns="18288" tIns="18288" bIns="18288" anchor="ctr">
            <a:spAutoFit/>
          </a:bodyPr>
          <a:lstStyle/>
          <a:p>
            <a:pPr algn="ctr">
              <a:spcBef>
                <a:spcPts val="0"/>
              </a:spcBef>
              <a:spcAft>
                <a:spcPts val="0"/>
              </a:spcAft>
            </a:pPr>
            <a:r>
              <a:rPr sz="2400" b="1">
                <a:solidFill>
                  <a:srgbClr val="FFFFFF"/>
                </a:solidFill>
                <a:latin typeface="Arial"/>
              </a:rPr>
              <a:t>RQ2</a:t>
            </a:r>
          </a:p>
        </p:txBody>
      </p:sp>
      <p:sp>
        <p:nvSpPr>
          <p:cNvPr id="16" name="TextBox 15"/>
          <p:cNvSpPr txBox="1"/>
          <p:nvPr/>
        </p:nvSpPr>
        <p:spPr>
          <a:xfrm>
            <a:off x="2176272" y="3108960"/>
            <a:ext cx="8961120" cy="768096"/>
          </a:xfrm>
          <a:prstGeom prst="rect">
            <a:avLst/>
          </a:prstGeom>
          <a:noFill/>
        </p:spPr>
        <p:txBody>
          <a:bodyPr wrap="square" lIns="18288" rIns="18288" tIns="18288" bIns="18288" anchor="ctr">
            <a:spAutoFit/>
          </a:bodyPr>
          <a:lstStyle/>
          <a:p>
            <a:pPr algn="l">
              <a:spcBef>
                <a:spcPts val="0"/>
              </a:spcBef>
              <a:spcAft>
                <a:spcPts val="0"/>
              </a:spcAft>
            </a:pPr>
            <a:r>
              <a:rPr sz="2200" b="0">
                <a:solidFill>
                  <a:srgbClr val="252B33"/>
                </a:solidFill>
                <a:latin typeface="Arial"/>
              </a:rPr>
              <a:t>Can configured security alerts be cleared and residual raw alerts disclosed?</a:t>
            </a:r>
          </a:p>
        </p:txBody>
      </p:sp>
      <p:sp>
        <p:nvSpPr>
          <p:cNvPr id="17" name="Rounded Rectangle 16"/>
          <p:cNvSpPr/>
          <p:nvPr/>
        </p:nvSpPr>
        <p:spPr>
          <a:xfrm>
            <a:off x="731520" y="4370832"/>
            <a:ext cx="10725912" cy="1216152"/>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370832"/>
            <a:ext cx="1188720" cy="1216152"/>
          </a:xfrm>
          <a:prstGeom prst="rect">
            <a:avLst/>
          </a:prstGeom>
          <a:solidFill>
            <a:srgbClr val="BE7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 y="4736592"/>
            <a:ext cx="877824" cy="402336"/>
          </a:xfrm>
          <a:prstGeom prst="rect">
            <a:avLst/>
          </a:prstGeom>
          <a:noFill/>
        </p:spPr>
        <p:txBody>
          <a:bodyPr wrap="square" lIns="18288" rIns="18288" tIns="18288" bIns="18288" anchor="ctr">
            <a:spAutoFit/>
          </a:bodyPr>
          <a:lstStyle/>
          <a:p>
            <a:pPr algn="ctr">
              <a:spcBef>
                <a:spcPts val="0"/>
              </a:spcBef>
              <a:spcAft>
                <a:spcPts val="0"/>
              </a:spcAft>
            </a:pPr>
            <a:r>
              <a:rPr sz="2400" b="1">
                <a:solidFill>
                  <a:srgbClr val="FFFFFF"/>
                </a:solidFill>
                <a:latin typeface="Arial"/>
              </a:rPr>
              <a:t>RQ3</a:t>
            </a:r>
          </a:p>
        </p:txBody>
      </p:sp>
      <p:sp>
        <p:nvSpPr>
          <p:cNvPr id="20" name="TextBox 19"/>
          <p:cNvSpPr txBox="1"/>
          <p:nvPr/>
        </p:nvSpPr>
        <p:spPr>
          <a:xfrm>
            <a:off x="2176272" y="4590288"/>
            <a:ext cx="8961120" cy="768096"/>
          </a:xfrm>
          <a:prstGeom prst="rect">
            <a:avLst/>
          </a:prstGeom>
          <a:noFill/>
        </p:spPr>
        <p:txBody>
          <a:bodyPr wrap="square" lIns="18288" rIns="18288" tIns="18288" bIns="18288" anchor="ctr">
            <a:spAutoFit/>
          </a:bodyPr>
          <a:lstStyle/>
          <a:p>
            <a:pPr algn="l">
              <a:spcBef>
                <a:spcPts val="0"/>
              </a:spcBef>
              <a:spcAft>
                <a:spcPts val="0"/>
              </a:spcAft>
            </a:pPr>
            <a:r>
              <a:rPr sz="2200" b="0">
                <a:solidFill>
                  <a:srgbClr val="252B33"/>
                </a:solidFill>
                <a:latin typeface="Arial"/>
              </a:rPr>
              <a:t>Can latency targets pass under core load as well as stress profiles?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0F676D"/>
                </a:solidFill>
                <a:latin typeface="Arial"/>
              </a:rPr>
              <a:t>METHOD</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The study tested one existing accounting API</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§§3.1-3.2; Table 3.3</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0F676D"/>
                </a:solidFill>
                <a:latin typeface="Arial"/>
              </a:rPr>
              <a:t>5</a:t>
            </a:r>
          </a:p>
        </p:txBody>
      </p:sp>
      <p:sp>
        <p:nvSpPr>
          <p:cNvPr id="9" name="Rounded Rectangle 8"/>
          <p:cNvSpPr/>
          <p:nvPr/>
        </p:nvSpPr>
        <p:spPr>
          <a:xfrm>
            <a:off x="731520" y="1417320"/>
            <a:ext cx="3749039" cy="4416552"/>
          </a:xfrm>
          <a:prstGeom prst="roundRect">
            <a:avLst/>
          </a:prstGeom>
          <a:solidFill>
            <a:srgbClr val="EBF3FB"/>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1719072"/>
            <a:ext cx="3218688" cy="457200"/>
          </a:xfrm>
          <a:prstGeom prst="rect">
            <a:avLst/>
          </a:prstGeom>
          <a:noFill/>
        </p:spPr>
        <p:txBody>
          <a:bodyPr wrap="square" lIns="18288" rIns="18288" tIns="18288" bIns="18288" anchor="ctr">
            <a:spAutoFit/>
          </a:bodyPr>
          <a:lstStyle/>
          <a:p>
            <a:pPr algn="l">
              <a:spcBef>
                <a:spcPts val="0"/>
              </a:spcBef>
              <a:spcAft>
                <a:spcPts val="0"/>
              </a:spcAft>
            </a:pPr>
            <a:r>
              <a:rPr sz="2700" b="1">
                <a:solidFill>
                  <a:srgbClr val="24466C"/>
                </a:solidFill>
                <a:latin typeface="Arial"/>
              </a:rPr>
              <a:t>ASP.NET Core 8</a:t>
            </a:r>
          </a:p>
        </p:txBody>
      </p:sp>
      <p:sp>
        <p:nvSpPr>
          <p:cNvPr id="11" name="TextBox 10"/>
          <p:cNvSpPr txBox="1"/>
          <p:nvPr/>
        </p:nvSpPr>
        <p:spPr>
          <a:xfrm>
            <a:off x="996696" y="2386584"/>
            <a:ext cx="3218688" cy="2414016"/>
          </a:xfrm>
          <a:prstGeom prst="rect">
            <a:avLst/>
          </a:prstGeom>
          <a:noFill/>
        </p:spPr>
        <p:txBody>
          <a:bodyPr wrap="square" lIns="18288" rIns="18288" tIns="18288" bIns="18288" anchor="ctr">
            <a:spAutoFit/>
          </a:bodyPr>
          <a:lstStyle/>
          <a:p>
            <a:pPr algn="l">
              <a:spcBef>
                <a:spcPts val="0"/>
              </a:spcBef>
              <a:spcAft>
                <a:spcPts val="0"/>
              </a:spcAft>
            </a:pPr>
            <a:r>
              <a:rPr sz="2200" b="0">
                <a:solidFill>
                  <a:srgbClr val="252B33"/>
                </a:solidFill>
                <a:latin typeface="Arial"/>
              </a:rPr>
              <a:t>SQL Server financial database
JWT authentication · RBAC
Double-entry posting · audit log</a:t>
            </a:r>
          </a:p>
        </p:txBody>
      </p:sp>
      <p:sp>
        <p:nvSpPr>
          <p:cNvPr id="12" name="TextBox 11"/>
          <p:cNvSpPr txBox="1"/>
          <p:nvPr/>
        </p:nvSpPr>
        <p:spPr>
          <a:xfrm>
            <a:off x="996696" y="5129784"/>
            <a:ext cx="3182112" cy="438912"/>
          </a:xfrm>
          <a:prstGeom prst="rect">
            <a:avLst/>
          </a:prstGeom>
          <a:noFill/>
        </p:spPr>
        <p:txBody>
          <a:bodyPr wrap="square" lIns="18288" rIns="18288" tIns="18288" bIns="18288" anchor="ctr">
            <a:spAutoFit/>
          </a:bodyPr>
          <a:lstStyle/>
          <a:p>
            <a:pPr algn="l">
              <a:spcBef>
                <a:spcPts val="0"/>
              </a:spcBef>
              <a:spcAft>
                <a:spcPts val="0"/>
              </a:spcAft>
            </a:pPr>
            <a:r>
              <a:rPr sz="1500" b="0">
                <a:solidFill>
                  <a:srgbClr val="5B6874"/>
                </a:solidFill>
                <a:latin typeface="Arial"/>
              </a:rPr>
              <a:t>Four roles: Admin, FinanceManager, User, Auditor</a:t>
            </a:r>
          </a:p>
        </p:txBody>
      </p:sp>
      <p:sp>
        <p:nvSpPr>
          <p:cNvPr id="13" name="Rounded Rectangle 12"/>
          <p:cNvSpPr/>
          <p:nvPr/>
        </p:nvSpPr>
        <p:spPr>
          <a:xfrm>
            <a:off x="4681728" y="1417320"/>
            <a:ext cx="6766560" cy="4416552"/>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46904" y="1700784"/>
            <a:ext cx="6245352" cy="384048"/>
          </a:xfrm>
          <a:prstGeom prst="rect">
            <a:avLst/>
          </a:prstGeom>
          <a:noFill/>
        </p:spPr>
        <p:txBody>
          <a:bodyPr wrap="square" lIns="18288" rIns="18288" tIns="18288" bIns="18288" anchor="ctr">
            <a:spAutoFit/>
          </a:bodyPr>
          <a:lstStyle/>
          <a:p>
            <a:pPr algn="l">
              <a:spcBef>
                <a:spcPts val="0"/>
              </a:spcBef>
              <a:spcAft>
                <a:spcPts val="0"/>
              </a:spcAft>
            </a:pPr>
            <a:r>
              <a:rPr sz="2200" b="1">
                <a:solidFill>
                  <a:srgbClr val="0F676D"/>
                </a:solidFill>
                <a:latin typeface="Arial"/>
              </a:rPr>
              <a:t>Endpoint groups exercised</a:t>
            </a:r>
          </a:p>
        </p:txBody>
      </p:sp>
      <p:sp>
        <p:nvSpPr>
          <p:cNvPr id="15" name="Rounded Rectangle 14"/>
          <p:cNvSpPr/>
          <p:nvPr/>
        </p:nvSpPr>
        <p:spPr>
          <a:xfrm>
            <a:off x="4956048" y="2377440"/>
            <a:ext cx="109728" cy="109728"/>
          </a:xfrm>
          <a:prstGeom prst="round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0" y="2267712"/>
            <a:ext cx="5824728" cy="621792"/>
          </a:xfrm>
          <a:prstGeom prst="rect">
            <a:avLst/>
          </a:prstGeom>
          <a:noFill/>
        </p:spPr>
        <p:txBody>
          <a:bodyPr wrap="square" lIns="18288" rIns="18288" tIns="18288" bIns="18288" anchor="ctr">
            <a:spAutoFit/>
          </a:bodyPr>
          <a:lstStyle/>
          <a:p>
            <a:pPr algn="l">
              <a:spcBef>
                <a:spcPts val="0"/>
              </a:spcBef>
              <a:spcAft>
                <a:spcPts val="0"/>
              </a:spcAft>
            </a:pPr>
            <a:r>
              <a:rPr sz="2000" b="0">
                <a:solidFill>
                  <a:srgbClr val="252B33"/>
                </a:solidFill>
                <a:latin typeface="Arial"/>
              </a:rPr>
              <a:t>Authentication and users</a:t>
            </a:r>
          </a:p>
        </p:txBody>
      </p:sp>
      <p:sp>
        <p:nvSpPr>
          <p:cNvPr id="17" name="Rounded Rectangle 16"/>
          <p:cNvSpPr/>
          <p:nvPr/>
        </p:nvSpPr>
        <p:spPr>
          <a:xfrm>
            <a:off x="4956048" y="3017520"/>
            <a:ext cx="109728" cy="109728"/>
          </a:xfrm>
          <a:prstGeom prst="round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0" y="2907791"/>
            <a:ext cx="5824728" cy="621792"/>
          </a:xfrm>
          <a:prstGeom prst="rect">
            <a:avLst/>
          </a:prstGeom>
          <a:noFill/>
        </p:spPr>
        <p:txBody>
          <a:bodyPr wrap="square" lIns="18288" rIns="18288" tIns="18288" bIns="18288" anchor="ctr">
            <a:spAutoFit/>
          </a:bodyPr>
          <a:lstStyle/>
          <a:p>
            <a:pPr algn="l">
              <a:spcBef>
                <a:spcPts val="0"/>
              </a:spcBef>
              <a:spcAft>
                <a:spcPts val="0"/>
              </a:spcAft>
            </a:pPr>
            <a:r>
              <a:rPr sz="2000" b="0">
                <a:solidFill>
                  <a:srgbClr val="252B33"/>
                </a:solidFill>
                <a:latin typeface="Arial"/>
              </a:rPr>
              <a:t>Accounts and periods</a:t>
            </a:r>
          </a:p>
        </p:txBody>
      </p:sp>
      <p:sp>
        <p:nvSpPr>
          <p:cNvPr id="19" name="Rounded Rectangle 18"/>
          <p:cNvSpPr/>
          <p:nvPr/>
        </p:nvSpPr>
        <p:spPr>
          <a:xfrm>
            <a:off x="4956048" y="3657600"/>
            <a:ext cx="109728" cy="109728"/>
          </a:xfrm>
          <a:prstGeom prst="round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2080" y="3547872"/>
            <a:ext cx="5824728" cy="621792"/>
          </a:xfrm>
          <a:prstGeom prst="rect">
            <a:avLst/>
          </a:prstGeom>
          <a:noFill/>
        </p:spPr>
        <p:txBody>
          <a:bodyPr wrap="square" lIns="18288" rIns="18288" tIns="18288" bIns="18288" anchor="ctr">
            <a:spAutoFit/>
          </a:bodyPr>
          <a:lstStyle/>
          <a:p>
            <a:pPr algn="l">
              <a:spcBef>
                <a:spcPts val="0"/>
              </a:spcBef>
              <a:spcAft>
                <a:spcPts val="0"/>
              </a:spcAft>
            </a:pPr>
            <a:r>
              <a:rPr sz="2000" b="0">
                <a:solidFill>
                  <a:srgbClr val="252B33"/>
                </a:solidFill>
                <a:latin typeface="Arial"/>
              </a:rPr>
              <a:t>Journal entries and bulk posting</a:t>
            </a:r>
          </a:p>
        </p:txBody>
      </p:sp>
      <p:sp>
        <p:nvSpPr>
          <p:cNvPr id="21" name="Rounded Rectangle 20"/>
          <p:cNvSpPr/>
          <p:nvPr/>
        </p:nvSpPr>
        <p:spPr>
          <a:xfrm>
            <a:off x="4956048" y="4297680"/>
            <a:ext cx="109728" cy="109728"/>
          </a:xfrm>
          <a:prstGeom prst="round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80" y="4187952"/>
            <a:ext cx="5824728" cy="621792"/>
          </a:xfrm>
          <a:prstGeom prst="rect">
            <a:avLst/>
          </a:prstGeom>
          <a:noFill/>
        </p:spPr>
        <p:txBody>
          <a:bodyPr wrap="square" lIns="18288" rIns="18288" tIns="18288" bIns="18288" anchor="ctr">
            <a:spAutoFit/>
          </a:bodyPr>
          <a:lstStyle/>
          <a:p>
            <a:pPr algn="l">
              <a:spcBef>
                <a:spcPts val="0"/>
              </a:spcBef>
              <a:spcAft>
                <a:spcPts val="0"/>
              </a:spcAft>
            </a:pPr>
            <a:r>
              <a:rPr sz="2000" b="0">
                <a:solidFill>
                  <a:srgbClr val="252B33"/>
                </a:solidFill>
                <a:latin typeface="Arial"/>
              </a:rPr>
              <a:t>Financial reports</a:t>
            </a:r>
          </a:p>
        </p:txBody>
      </p:sp>
      <p:sp>
        <p:nvSpPr>
          <p:cNvPr id="23" name="Rounded Rectangle 22"/>
          <p:cNvSpPr/>
          <p:nvPr/>
        </p:nvSpPr>
        <p:spPr>
          <a:xfrm>
            <a:off x="4956048" y="4937759"/>
            <a:ext cx="109728" cy="109728"/>
          </a:xfrm>
          <a:prstGeom prst="round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12080" y="4828031"/>
            <a:ext cx="5824728" cy="621792"/>
          </a:xfrm>
          <a:prstGeom prst="rect">
            <a:avLst/>
          </a:prstGeom>
          <a:noFill/>
        </p:spPr>
        <p:txBody>
          <a:bodyPr wrap="square" lIns="18288" rIns="18288" tIns="18288" bIns="18288" anchor="ctr">
            <a:spAutoFit/>
          </a:bodyPr>
          <a:lstStyle/>
          <a:p>
            <a:pPr algn="l">
              <a:spcBef>
                <a:spcPts val="0"/>
              </a:spcBef>
              <a:spcAft>
                <a:spcPts val="0"/>
              </a:spcAft>
            </a:pPr>
            <a:r>
              <a:rPr sz="2000" b="0">
                <a:solidFill>
                  <a:srgbClr val="252B33"/>
                </a:solidFill>
                <a:latin typeface="Arial"/>
              </a:rPr>
              <a:t>Audit logs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0F676D"/>
                </a:solidFill>
                <a:latin typeface="Arial"/>
              </a:rPr>
              <a:t>METHOD</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Every remediation branch starts from one baseline</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Table 3.1 and Appendix A</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0F676D"/>
                </a:solidFill>
                <a:latin typeface="Arial"/>
              </a:rPr>
              <a:t>6</a:t>
            </a:r>
          </a:p>
        </p:txBody>
      </p:sp>
      <p:sp>
        <p:nvSpPr>
          <p:cNvPr id="9" name="Rounded Rectangle 8"/>
          <p:cNvSpPr/>
          <p:nvPr/>
        </p:nvSpPr>
        <p:spPr>
          <a:xfrm>
            <a:off x="4251960" y="1325880"/>
            <a:ext cx="3685032" cy="1115568"/>
          </a:xfrm>
          <a:prstGeom prst="roundRect">
            <a:avLst/>
          </a:prstGeom>
          <a:solidFill>
            <a:srgbClr val="EBF3FB"/>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16552" y="1435607"/>
            <a:ext cx="3355848" cy="201168"/>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5B6874"/>
                </a:solidFill>
                <a:latin typeface="Arial"/>
              </a:rPr>
              <a:t>COMMON STARTING POINT</a:t>
            </a:r>
          </a:p>
        </p:txBody>
      </p:sp>
      <p:sp>
        <p:nvSpPr>
          <p:cNvPr id="11" name="TextBox 10"/>
          <p:cNvSpPr txBox="1"/>
          <p:nvPr/>
        </p:nvSpPr>
        <p:spPr>
          <a:xfrm>
            <a:off x="4416552" y="1682495"/>
            <a:ext cx="3355848" cy="411480"/>
          </a:xfrm>
          <a:prstGeom prst="rect">
            <a:avLst/>
          </a:prstGeom>
          <a:noFill/>
        </p:spPr>
        <p:txBody>
          <a:bodyPr wrap="square" lIns="18288" rIns="18288" tIns="18288" bIns="18288" anchor="ctr">
            <a:spAutoFit/>
          </a:bodyPr>
          <a:lstStyle/>
          <a:p>
            <a:pPr algn="l">
              <a:spcBef>
                <a:spcPts val="0"/>
              </a:spcBef>
              <a:spcAft>
                <a:spcPts val="0"/>
              </a:spcAft>
            </a:pPr>
            <a:r>
              <a:rPr sz="2500" b="1">
                <a:solidFill>
                  <a:srgbClr val="24466C"/>
                </a:solidFill>
                <a:latin typeface="Arial"/>
              </a:rPr>
              <a:t>baseline-v0.1</a:t>
            </a:r>
          </a:p>
        </p:txBody>
      </p:sp>
      <p:sp>
        <p:nvSpPr>
          <p:cNvPr id="12" name="TextBox 11"/>
          <p:cNvSpPr txBox="1"/>
          <p:nvPr/>
        </p:nvSpPr>
        <p:spPr>
          <a:xfrm>
            <a:off x="4416552" y="2176272"/>
            <a:ext cx="3355848" cy="164592"/>
          </a:xfrm>
          <a:prstGeom prst="rect">
            <a:avLst/>
          </a:prstGeom>
          <a:noFill/>
        </p:spPr>
        <p:txBody>
          <a:bodyPr wrap="square" lIns="18288" rIns="18288" tIns="18288" bIns="18288" anchor="ctr">
            <a:spAutoFit/>
          </a:bodyPr>
          <a:lstStyle/>
          <a:p>
            <a:pPr algn="l">
              <a:spcBef>
                <a:spcPts val="0"/>
              </a:spcBef>
              <a:spcAft>
                <a:spcPts val="0"/>
              </a:spcAft>
            </a:pPr>
            <a:r>
              <a:rPr sz="1100" b="0">
                <a:solidFill>
                  <a:srgbClr val="5B6874"/>
                </a:solidFill>
                <a:latin typeface="Arial"/>
              </a:rPr>
              <a:t>Code before the changes</a:t>
            </a:r>
          </a:p>
        </p:txBody>
      </p:sp>
      <p:cxnSp>
        <p:nvCxnSpPr>
          <p:cNvPr id="13" name="Connector 12"/>
          <p:cNvCxnSpPr/>
          <p:nvPr/>
        </p:nvCxnSpPr>
        <p:spPr>
          <a:xfrm flipH="1">
            <a:off x="2468880" y="2450592"/>
            <a:ext cx="3630168" cy="566928"/>
          </a:xfrm>
          <a:prstGeom prst="line">
            <a:avLst/>
          </a:prstGeom>
          <a:ln w="25400">
            <a:solidFill>
              <a:srgbClr val="0F676D"/>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1520" y="3054096"/>
            <a:ext cx="3474720" cy="192024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054096"/>
            <a:ext cx="91440" cy="192024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3319272"/>
            <a:ext cx="3035808" cy="384048"/>
          </a:xfrm>
          <a:prstGeom prst="rect">
            <a:avLst/>
          </a:prstGeom>
          <a:noFill/>
        </p:spPr>
        <p:txBody>
          <a:bodyPr wrap="square" lIns="18288" rIns="18288" tIns="18288" bIns="18288" anchor="ctr">
            <a:spAutoFit/>
          </a:bodyPr>
          <a:lstStyle/>
          <a:p>
            <a:pPr algn="l">
              <a:spcBef>
                <a:spcPts val="0"/>
              </a:spcBef>
              <a:spcAft>
                <a:spcPts val="0"/>
              </a:spcAft>
            </a:pPr>
            <a:r>
              <a:rPr sz="2200" b="1">
                <a:solidFill>
                  <a:srgbClr val="0F676D"/>
                </a:solidFill>
                <a:latin typeface="Arial"/>
              </a:rPr>
              <a:t>SonarQube</a:t>
            </a:r>
          </a:p>
        </p:txBody>
      </p:sp>
      <p:sp>
        <p:nvSpPr>
          <p:cNvPr id="17" name="TextBox 16"/>
          <p:cNvSpPr txBox="1"/>
          <p:nvPr/>
        </p:nvSpPr>
        <p:spPr>
          <a:xfrm>
            <a:off x="932688" y="3822191"/>
            <a:ext cx="3035808" cy="347472"/>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252B33"/>
                </a:solidFill>
                <a:latin typeface="Arial"/>
              </a:rPr>
              <a:t>baseline-sonarqube-v1</a:t>
            </a:r>
          </a:p>
        </p:txBody>
      </p:sp>
      <p:sp>
        <p:nvSpPr>
          <p:cNvPr id="18" name="TextBox 17"/>
          <p:cNvSpPr txBox="1"/>
          <p:nvPr/>
        </p:nvSpPr>
        <p:spPr>
          <a:xfrm>
            <a:off x="932688" y="4334256"/>
            <a:ext cx="3035808" cy="256032"/>
          </a:xfrm>
          <a:prstGeom prst="rect">
            <a:avLst/>
          </a:prstGeom>
          <a:noFill/>
        </p:spPr>
        <p:txBody>
          <a:bodyPr wrap="square" lIns="18288" rIns="18288" tIns="18288" bIns="18288" anchor="ctr">
            <a:spAutoFit/>
          </a:bodyPr>
          <a:lstStyle/>
          <a:p>
            <a:pPr algn="l">
              <a:spcBef>
                <a:spcPts val="0"/>
              </a:spcBef>
              <a:spcAft>
                <a:spcPts val="0"/>
              </a:spcAft>
            </a:pPr>
            <a:r>
              <a:rPr sz="1300" b="0">
                <a:solidFill>
                  <a:srgbClr val="5B6874"/>
                </a:solidFill>
                <a:latin typeface="Arial"/>
              </a:rPr>
              <a:t>Compared with the same baseline</a:t>
            </a:r>
          </a:p>
        </p:txBody>
      </p:sp>
      <p:cxnSp>
        <p:nvCxnSpPr>
          <p:cNvPr id="19" name="Connector 18"/>
          <p:cNvCxnSpPr/>
          <p:nvPr/>
        </p:nvCxnSpPr>
        <p:spPr>
          <a:xfrm>
            <a:off x="6099048" y="2450592"/>
            <a:ext cx="9144" cy="566928"/>
          </a:xfrm>
          <a:prstGeom prst="line">
            <a:avLst/>
          </a:prstGeom>
          <a:ln w="25400">
            <a:solidFill>
              <a:srgbClr val="B3373D"/>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370832" y="3054096"/>
            <a:ext cx="3474720" cy="192024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70832" y="3054096"/>
            <a:ext cx="91440" cy="1920240"/>
          </a:xfrm>
          <a:prstGeom prst="rect">
            <a:avLst/>
          </a:prstGeom>
          <a:solidFill>
            <a:srgbClr val="B3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3319272"/>
            <a:ext cx="3035808" cy="384048"/>
          </a:xfrm>
          <a:prstGeom prst="rect">
            <a:avLst/>
          </a:prstGeom>
          <a:noFill/>
        </p:spPr>
        <p:txBody>
          <a:bodyPr wrap="square" lIns="18288" rIns="18288" tIns="18288" bIns="18288" anchor="ctr">
            <a:spAutoFit/>
          </a:bodyPr>
          <a:lstStyle/>
          <a:p>
            <a:pPr algn="l">
              <a:spcBef>
                <a:spcPts val="0"/>
              </a:spcBef>
              <a:spcAft>
                <a:spcPts val="0"/>
              </a:spcAft>
            </a:pPr>
            <a:r>
              <a:rPr sz="2200" b="1">
                <a:solidFill>
                  <a:srgbClr val="B3373D"/>
                </a:solidFill>
                <a:latin typeface="Arial"/>
              </a:rPr>
              <a:t>OWASP ZAP</a:t>
            </a:r>
          </a:p>
        </p:txBody>
      </p:sp>
      <p:sp>
        <p:nvSpPr>
          <p:cNvPr id="23" name="TextBox 22"/>
          <p:cNvSpPr txBox="1"/>
          <p:nvPr/>
        </p:nvSpPr>
        <p:spPr>
          <a:xfrm>
            <a:off x="4572000" y="3822191"/>
            <a:ext cx="3035808" cy="347472"/>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252B33"/>
                </a:solidFill>
                <a:latin typeface="Arial"/>
              </a:rPr>
              <a:t>baseline-zap-v1</a:t>
            </a:r>
          </a:p>
        </p:txBody>
      </p:sp>
      <p:sp>
        <p:nvSpPr>
          <p:cNvPr id="24" name="TextBox 23"/>
          <p:cNvSpPr txBox="1"/>
          <p:nvPr/>
        </p:nvSpPr>
        <p:spPr>
          <a:xfrm>
            <a:off x="4572000" y="4334256"/>
            <a:ext cx="3035808" cy="256032"/>
          </a:xfrm>
          <a:prstGeom prst="rect">
            <a:avLst/>
          </a:prstGeom>
          <a:noFill/>
        </p:spPr>
        <p:txBody>
          <a:bodyPr wrap="square" lIns="18288" rIns="18288" tIns="18288" bIns="18288" anchor="ctr">
            <a:spAutoFit/>
          </a:bodyPr>
          <a:lstStyle/>
          <a:p>
            <a:pPr algn="l">
              <a:spcBef>
                <a:spcPts val="0"/>
              </a:spcBef>
              <a:spcAft>
                <a:spcPts val="0"/>
              </a:spcAft>
            </a:pPr>
            <a:r>
              <a:rPr sz="1300" b="0">
                <a:solidFill>
                  <a:srgbClr val="5B6874"/>
                </a:solidFill>
                <a:latin typeface="Arial"/>
              </a:rPr>
              <a:t>Compared with the same baseline</a:t>
            </a:r>
          </a:p>
        </p:txBody>
      </p:sp>
      <p:cxnSp>
        <p:nvCxnSpPr>
          <p:cNvPr id="25" name="Connector 24"/>
          <p:cNvCxnSpPr/>
          <p:nvPr/>
        </p:nvCxnSpPr>
        <p:spPr>
          <a:xfrm>
            <a:off x="6099048" y="2450592"/>
            <a:ext cx="3648456" cy="566928"/>
          </a:xfrm>
          <a:prstGeom prst="line">
            <a:avLst/>
          </a:prstGeom>
          <a:ln w="25400">
            <a:solidFill>
              <a:srgbClr val="BE7414"/>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010144" y="3054096"/>
            <a:ext cx="3474720" cy="192024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10144" y="3054096"/>
            <a:ext cx="91440" cy="1920240"/>
          </a:xfrm>
          <a:prstGeom prst="rect">
            <a:avLst/>
          </a:prstGeom>
          <a:solidFill>
            <a:srgbClr val="BE7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1312" y="3319272"/>
            <a:ext cx="3035808" cy="384048"/>
          </a:xfrm>
          <a:prstGeom prst="rect">
            <a:avLst/>
          </a:prstGeom>
          <a:noFill/>
        </p:spPr>
        <p:txBody>
          <a:bodyPr wrap="square" lIns="18288" rIns="18288" tIns="18288" bIns="18288" anchor="ctr">
            <a:spAutoFit/>
          </a:bodyPr>
          <a:lstStyle/>
          <a:p>
            <a:pPr algn="l">
              <a:spcBef>
                <a:spcPts val="0"/>
              </a:spcBef>
              <a:spcAft>
                <a:spcPts val="0"/>
              </a:spcAft>
            </a:pPr>
            <a:r>
              <a:rPr sz="2200" b="1">
                <a:solidFill>
                  <a:srgbClr val="BE7414"/>
                </a:solidFill>
                <a:latin typeface="Arial"/>
              </a:rPr>
              <a:t>JMeter</a:t>
            </a:r>
          </a:p>
        </p:txBody>
      </p:sp>
      <p:sp>
        <p:nvSpPr>
          <p:cNvPr id="29" name="TextBox 28"/>
          <p:cNvSpPr txBox="1"/>
          <p:nvPr/>
        </p:nvSpPr>
        <p:spPr>
          <a:xfrm>
            <a:off x="8211312" y="3822191"/>
            <a:ext cx="3035808" cy="347472"/>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252B33"/>
                </a:solidFill>
                <a:latin typeface="Arial"/>
              </a:rPr>
              <a:t>baseline-jmeter-v1</a:t>
            </a:r>
          </a:p>
        </p:txBody>
      </p:sp>
      <p:sp>
        <p:nvSpPr>
          <p:cNvPr id="30" name="TextBox 29"/>
          <p:cNvSpPr txBox="1"/>
          <p:nvPr/>
        </p:nvSpPr>
        <p:spPr>
          <a:xfrm>
            <a:off x="8211312" y="4334256"/>
            <a:ext cx="3035808" cy="256032"/>
          </a:xfrm>
          <a:prstGeom prst="rect">
            <a:avLst/>
          </a:prstGeom>
          <a:noFill/>
        </p:spPr>
        <p:txBody>
          <a:bodyPr wrap="square" lIns="18288" rIns="18288" tIns="18288" bIns="18288" anchor="ctr">
            <a:spAutoFit/>
          </a:bodyPr>
          <a:lstStyle/>
          <a:p>
            <a:pPr algn="l">
              <a:spcBef>
                <a:spcPts val="0"/>
              </a:spcBef>
              <a:spcAft>
                <a:spcPts val="0"/>
              </a:spcAft>
            </a:pPr>
            <a:r>
              <a:rPr sz="1300" b="0">
                <a:solidFill>
                  <a:srgbClr val="5B6874"/>
                </a:solidFill>
                <a:latin typeface="Arial"/>
              </a:rPr>
              <a:t>Compared with the same baseline</a:t>
            </a:r>
          </a:p>
        </p:txBody>
      </p:sp>
      <p:sp>
        <p:nvSpPr>
          <p:cNvPr id="31" name="TextBox 30"/>
          <p:cNvSpPr txBox="1"/>
          <p:nvPr/>
        </p:nvSpPr>
        <p:spPr>
          <a:xfrm>
            <a:off x="731520" y="5449824"/>
            <a:ext cx="10789920" cy="457200"/>
          </a:xfrm>
          <a:prstGeom prst="rect">
            <a:avLst/>
          </a:prstGeom>
          <a:noFill/>
        </p:spPr>
        <p:txBody>
          <a:bodyPr wrap="square" lIns="18288" rIns="18288" tIns="18288" bIns="18288" anchor="ctr">
            <a:spAutoFit/>
          </a:bodyPr>
          <a:lstStyle/>
          <a:p>
            <a:pPr algn="l">
              <a:spcBef>
                <a:spcPts val="0"/>
              </a:spcBef>
              <a:spcAft>
                <a:spcPts val="0"/>
              </a:spcAft>
            </a:pPr>
            <a:r>
              <a:rPr sz="1900" b="0">
                <a:solidFill>
                  <a:srgbClr val="252B33"/>
                </a:solidFill>
                <a:latin typeface="Arial"/>
              </a:rPr>
              <a:t>Compare each changed branch with the same starting code—one tool at a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0F676D"/>
                </a:solidFill>
                <a:latin typeface="Arial"/>
              </a:rPr>
              <a:t>METHOD</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Four phases turn suggestions into evidence</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§3.1.1; Figures 3.1-3.4</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0F676D"/>
                </a:solidFill>
                <a:latin typeface="Arial"/>
              </a:rPr>
              <a:t>7</a:t>
            </a:r>
          </a:p>
        </p:txBody>
      </p:sp>
      <p:sp>
        <p:nvSpPr>
          <p:cNvPr id="9" name="Rounded Rectangle 8"/>
          <p:cNvSpPr/>
          <p:nvPr/>
        </p:nvSpPr>
        <p:spPr>
          <a:xfrm>
            <a:off x="694944" y="1673352"/>
            <a:ext cx="2660904" cy="333756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901952"/>
            <a:ext cx="731520" cy="521207"/>
          </a:xfrm>
          <a:prstGeom prst="rect">
            <a:avLst/>
          </a:prstGeom>
          <a:noFill/>
        </p:spPr>
        <p:txBody>
          <a:bodyPr wrap="square" lIns="18288" rIns="18288" tIns="18288" bIns="18288" anchor="ctr">
            <a:spAutoFit/>
          </a:bodyPr>
          <a:lstStyle/>
          <a:p>
            <a:pPr algn="l">
              <a:spcBef>
                <a:spcPts val="0"/>
              </a:spcBef>
              <a:spcAft>
                <a:spcPts val="0"/>
              </a:spcAft>
            </a:pPr>
            <a:r>
              <a:rPr sz="3000" b="1">
                <a:solidFill>
                  <a:srgbClr val="0F676D"/>
                </a:solidFill>
                <a:latin typeface="Arial"/>
              </a:rPr>
              <a:t>01</a:t>
            </a:r>
          </a:p>
        </p:txBody>
      </p:sp>
      <p:sp>
        <p:nvSpPr>
          <p:cNvPr id="11" name="TextBox 10"/>
          <p:cNvSpPr txBox="1"/>
          <p:nvPr/>
        </p:nvSpPr>
        <p:spPr>
          <a:xfrm>
            <a:off x="877824" y="2660904"/>
            <a:ext cx="2267712" cy="640080"/>
          </a:xfrm>
          <a:prstGeom prst="rect">
            <a:avLst/>
          </a:prstGeom>
          <a:noFill/>
        </p:spPr>
        <p:txBody>
          <a:bodyPr wrap="square" lIns="18288" rIns="18288" tIns="18288" bIns="18288" anchor="ctr">
            <a:spAutoFit/>
          </a:bodyPr>
          <a:lstStyle/>
          <a:p>
            <a:pPr algn="l">
              <a:spcBef>
                <a:spcPts val="0"/>
              </a:spcBef>
              <a:spcAft>
                <a:spcPts val="0"/>
              </a:spcAft>
            </a:pPr>
            <a:r>
              <a:rPr sz="2000" b="1">
                <a:solidFill>
                  <a:srgbClr val="252B33"/>
                </a:solidFill>
                <a:latin typeface="Arial"/>
              </a:rPr>
              <a:t>Capture baseline</a:t>
            </a:r>
          </a:p>
        </p:txBody>
      </p:sp>
      <p:sp>
        <p:nvSpPr>
          <p:cNvPr id="12" name="TextBox 11"/>
          <p:cNvSpPr txBox="1"/>
          <p:nvPr/>
        </p:nvSpPr>
        <p:spPr>
          <a:xfrm>
            <a:off x="877824" y="3547872"/>
            <a:ext cx="2267712" cy="1060704"/>
          </a:xfrm>
          <a:prstGeom prst="rect">
            <a:avLst/>
          </a:prstGeom>
          <a:noFill/>
        </p:spPr>
        <p:txBody>
          <a:bodyPr wrap="square" lIns="18288" rIns="18288" tIns="18288" bIns="18288" anchor="ctr">
            <a:spAutoFit/>
          </a:bodyPr>
          <a:lstStyle/>
          <a:p>
            <a:pPr algn="l">
              <a:spcBef>
                <a:spcPts val="0"/>
              </a:spcBef>
              <a:spcAft>
                <a:spcPts val="0"/>
              </a:spcAft>
            </a:pPr>
            <a:r>
              <a:rPr sz="1700" b="0">
                <a:solidFill>
                  <a:srgbClr val="5B6874"/>
                </a:solidFill>
                <a:latin typeface="Arial"/>
              </a:rPr>
              <a:t>Freeze code, dataset, and raw tool output</a:t>
            </a:r>
          </a:p>
        </p:txBody>
      </p:sp>
      <p:sp>
        <p:nvSpPr>
          <p:cNvPr id="13" name="Rounded Rectangle 12"/>
          <p:cNvSpPr/>
          <p:nvPr/>
        </p:nvSpPr>
        <p:spPr>
          <a:xfrm>
            <a:off x="3557015" y="1673352"/>
            <a:ext cx="2660904" cy="333756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39896" y="1901952"/>
            <a:ext cx="731520" cy="521207"/>
          </a:xfrm>
          <a:prstGeom prst="rect">
            <a:avLst/>
          </a:prstGeom>
          <a:noFill/>
        </p:spPr>
        <p:txBody>
          <a:bodyPr wrap="square" lIns="18288" rIns="18288" tIns="18288" bIns="18288" anchor="ctr">
            <a:spAutoFit/>
          </a:bodyPr>
          <a:lstStyle/>
          <a:p>
            <a:pPr algn="l">
              <a:spcBef>
                <a:spcPts val="0"/>
              </a:spcBef>
              <a:spcAft>
                <a:spcPts val="0"/>
              </a:spcAft>
            </a:pPr>
            <a:r>
              <a:rPr sz="3000" b="1">
                <a:solidFill>
                  <a:srgbClr val="0F676D"/>
                </a:solidFill>
                <a:latin typeface="Arial"/>
              </a:rPr>
              <a:t>02</a:t>
            </a:r>
          </a:p>
        </p:txBody>
      </p:sp>
      <p:sp>
        <p:nvSpPr>
          <p:cNvPr id="15" name="TextBox 14"/>
          <p:cNvSpPr txBox="1"/>
          <p:nvPr/>
        </p:nvSpPr>
        <p:spPr>
          <a:xfrm>
            <a:off x="3739896" y="2660904"/>
            <a:ext cx="2267712" cy="640080"/>
          </a:xfrm>
          <a:prstGeom prst="rect">
            <a:avLst/>
          </a:prstGeom>
          <a:noFill/>
        </p:spPr>
        <p:txBody>
          <a:bodyPr wrap="square" lIns="18288" rIns="18288" tIns="18288" bIns="18288" anchor="ctr">
            <a:spAutoFit/>
          </a:bodyPr>
          <a:lstStyle/>
          <a:p>
            <a:pPr algn="l">
              <a:spcBef>
                <a:spcPts val="0"/>
              </a:spcBef>
              <a:spcAft>
                <a:spcPts val="0"/>
              </a:spcAft>
            </a:pPr>
            <a:r>
              <a:rPr sz="2000" b="1">
                <a:solidFill>
                  <a:srgbClr val="252B33"/>
                </a:solidFill>
                <a:latin typeface="Arial"/>
              </a:rPr>
              <a:t>Propose bounded fix</a:t>
            </a:r>
          </a:p>
        </p:txBody>
      </p:sp>
      <p:sp>
        <p:nvSpPr>
          <p:cNvPr id="16" name="TextBox 15"/>
          <p:cNvSpPr txBox="1"/>
          <p:nvPr/>
        </p:nvSpPr>
        <p:spPr>
          <a:xfrm>
            <a:off x="3739896" y="3547872"/>
            <a:ext cx="2267712" cy="1060704"/>
          </a:xfrm>
          <a:prstGeom prst="rect">
            <a:avLst/>
          </a:prstGeom>
          <a:noFill/>
        </p:spPr>
        <p:txBody>
          <a:bodyPr wrap="square" lIns="18288" rIns="18288" tIns="18288" bIns="18288" anchor="ctr">
            <a:spAutoFit/>
          </a:bodyPr>
          <a:lstStyle/>
          <a:p>
            <a:pPr algn="l">
              <a:spcBef>
                <a:spcPts val="0"/>
              </a:spcBef>
              <a:spcAft>
                <a:spcPts val="0"/>
              </a:spcAft>
            </a:pPr>
            <a:r>
              <a:rPr sz="1700" b="0">
                <a:solidFill>
                  <a:srgbClr val="5B6874"/>
                </a:solidFill>
                <a:latin typeface="Arial"/>
              </a:rPr>
              <a:t>Give Codex the finding, source context, and constraints</a:t>
            </a:r>
          </a:p>
        </p:txBody>
      </p:sp>
      <p:sp>
        <p:nvSpPr>
          <p:cNvPr id="17" name="Rounded Rectangle 16"/>
          <p:cNvSpPr/>
          <p:nvPr/>
        </p:nvSpPr>
        <p:spPr>
          <a:xfrm>
            <a:off x="6419088" y="1673352"/>
            <a:ext cx="2660904" cy="333756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1968" y="1901952"/>
            <a:ext cx="731520" cy="521207"/>
          </a:xfrm>
          <a:prstGeom prst="rect">
            <a:avLst/>
          </a:prstGeom>
          <a:noFill/>
        </p:spPr>
        <p:txBody>
          <a:bodyPr wrap="square" lIns="18288" rIns="18288" tIns="18288" bIns="18288" anchor="ctr">
            <a:spAutoFit/>
          </a:bodyPr>
          <a:lstStyle/>
          <a:p>
            <a:pPr algn="l">
              <a:spcBef>
                <a:spcPts val="0"/>
              </a:spcBef>
              <a:spcAft>
                <a:spcPts val="0"/>
              </a:spcAft>
            </a:pPr>
            <a:r>
              <a:rPr sz="3000" b="1">
                <a:solidFill>
                  <a:srgbClr val="0F676D"/>
                </a:solidFill>
                <a:latin typeface="Arial"/>
              </a:rPr>
              <a:t>03</a:t>
            </a:r>
          </a:p>
        </p:txBody>
      </p:sp>
      <p:sp>
        <p:nvSpPr>
          <p:cNvPr id="19" name="TextBox 18"/>
          <p:cNvSpPr txBox="1"/>
          <p:nvPr/>
        </p:nvSpPr>
        <p:spPr>
          <a:xfrm>
            <a:off x="6601968" y="2660904"/>
            <a:ext cx="2267712" cy="640080"/>
          </a:xfrm>
          <a:prstGeom prst="rect">
            <a:avLst/>
          </a:prstGeom>
          <a:noFill/>
        </p:spPr>
        <p:txBody>
          <a:bodyPr wrap="square" lIns="18288" rIns="18288" tIns="18288" bIns="18288" anchor="ctr">
            <a:spAutoFit/>
          </a:bodyPr>
          <a:lstStyle/>
          <a:p>
            <a:pPr algn="l">
              <a:spcBef>
                <a:spcPts val="0"/>
              </a:spcBef>
              <a:spcAft>
                <a:spcPts val="0"/>
              </a:spcAft>
            </a:pPr>
            <a:r>
              <a:rPr sz="2000" b="1">
                <a:solidFill>
                  <a:srgbClr val="252B33"/>
                </a:solidFill>
                <a:latin typeface="Arial"/>
              </a:rPr>
              <a:t>Review and re-test</a:t>
            </a:r>
          </a:p>
        </p:txBody>
      </p:sp>
      <p:sp>
        <p:nvSpPr>
          <p:cNvPr id="20" name="TextBox 19"/>
          <p:cNvSpPr txBox="1"/>
          <p:nvPr/>
        </p:nvSpPr>
        <p:spPr>
          <a:xfrm>
            <a:off x="6601968" y="3547872"/>
            <a:ext cx="2267712" cy="1060704"/>
          </a:xfrm>
          <a:prstGeom prst="rect">
            <a:avLst/>
          </a:prstGeom>
          <a:noFill/>
        </p:spPr>
        <p:txBody>
          <a:bodyPr wrap="square" lIns="18288" rIns="18288" tIns="18288" bIns="18288" anchor="ctr">
            <a:spAutoFit/>
          </a:bodyPr>
          <a:lstStyle/>
          <a:p>
            <a:pPr algn="l">
              <a:spcBef>
                <a:spcPts val="0"/>
              </a:spcBef>
              <a:spcAft>
                <a:spcPts val="0"/>
              </a:spcAft>
            </a:pPr>
            <a:r>
              <a:rPr sz="1700" b="0">
                <a:solidFill>
                  <a:srgbClr val="5B6874"/>
                </a:solidFill>
                <a:latin typeface="Arial"/>
              </a:rPr>
              <a:t>I review, run tests, and rerun the same tool</a:t>
            </a:r>
          </a:p>
        </p:txBody>
      </p:sp>
      <p:sp>
        <p:nvSpPr>
          <p:cNvPr id="21" name="Rounded Rectangle 20"/>
          <p:cNvSpPr/>
          <p:nvPr/>
        </p:nvSpPr>
        <p:spPr>
          <a:xfrm>
            <a:off x="9281160" y="1673352"/>
            <a:ext cx="2660904" cy="333756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64040" y="1901952"/>
            <a:ext cx="731520" cy="521207"/>
          </a:xfrm>
          <a:prstGeom prst="rect">
            <a:avLst/>
          </a:prstGeom>
          <a:noFill/>
        </p:spPr>
        <p:txBody>
          <a:bodyPr wrap="square" lIns="18288" rIns="18288" tIns="18288" bIns="18288" anchor="ctr">
            <a:spAutoFit/>
          </a:bodyPr>
          <a:lstStyle/>
          <a:p>
            <a:pPr algn="l">
              <a:spcBef>
                <a:spcPts val="0"/>
              </a:spcBef>
              <a:spcAft>
                <a:spcPts val="0"/>
              </a:spcAft>
            </a:pPr>
            <a:r>
              <a:rPr sz="3000" b="1">
                <a:solidFill>
                  <a:srgbClr val="0F676D"/>
                </a:solidFill>
                <a:latin typeface="Arial"/>
              </a:rPr>
              <a:t>04</a:t>
            </a:r>
          </a:p>
        </p:txBody>
      </p:sp>
      <p:sp>
        <p:nvSpPr>
          <p:cNvPr id="23" name="TextBox 22"/>
          <p:cNvSpPr txBox="1"/>
          <p:nvPr/>
        </p:nvSpPr>
        <p:spPr>
          <a:xfrm>
            <a:off x="9464040" y="2660904"/>
            <a:ext cx="2267712" cy="640080"/>
          </a:xfrm>
          <a:prstGeom prst="rect">
            <a:avLst/>
          </a:prstGeom>
          <a:noFill/>
        </p:spPr>
        <p:txBody>
          <a:bodyPr wrap="square" lIns="18288" rIns="18288" tIns="18288" bIns="18288" anchor="ctr">
            <a:spAutoFit/>
          </a:bodyPr>
          <a:lstStyle/>
          <a:p>
            <a:pPr algn="l">
              <a:spcBef>
                <a:spcPts val="0"/>
              </a:spcBef>
              <a:spcAft>
                <a:spcPts val="0"/>
              </a:spcAft>
            </a:pPr>
            <a:r>
              <a:rPr sz="2000" b="1">
                <a:solidFill>
                  <a:srgbClr val="252B33"/>
                </a:solidFill>
                <a:latin typeface="Arial"/>
              </a:rPr>
              <a:t>Compare and report</a:t>
            </a:r>
          </a:p>
        </p:txBody>
      </p:sp>
      <p:sp>
        <p:nvSpPr>
          <p:cNvPr id="24" name="TextBox 23"/>
          <p:cNvSpPr txBox="1"/>
          <p:nvPr/>
        </p:nvSpPr>
        <p:spPr>
          <a:xfrm>
            <a:off x="9464040" y="3547872"/>
            <a:ext cx="2267712" cy="1060704"/>
          </a:xfrm>
          <a:prstGeom prst="rect">
            <a:avLst/>
          </a:prstGeom>
          <a:noFill/>
        </p:spPr>
        <p:txBody>
          <a:bodyPr wrap="square" lIns="18288" rIns="18288" tIns="18288" bIns="18288" anchor="ctr">
            <a:spAutoFit/>
          </a:bodyPr>
          <a:lstStyle/>
          <a:p>
            <a:pPr algn="l">
              <a:spcBef>
                <a:spcPts val="0"/>
              </a:spcBef>
              <a:spcAft>
                <a:spcPts val="0"/>
              </a:spcAft>
            </a:pPr>
            <a:r>
              <a:rPr sz="1700" b="0">
                <a:solidFill>
                  <a:srgbClr val="5B6874"/>
                </a:solidFill>
                <a:latin typeface="Arial"/>
              </a:rPr>
              <a:t>Apply gates; disclose residuals and unmet targets</a:t>
            </a:r>
          </a:p>
        </p:txBody>
      </p:sp>
      <p:sp>
        <p:nvSpPr>
          <p:cNvPr id="25" name="TextBox 24"/>
          <p:cNvSpPr txBox="1"/>
          <p:nvPr/>
        </p:nvSpPr>
        <p:spPr>
          <a:xfrm>
            <a:off x="713232" y="5468112"/>
            <a:ext cx="10789920" cy="457200"/>
          </a:xfrm>
          <a:prstGeom prst="rect">
            <a:avLst/>
          </a:prstGeom>
          <a:noFill/>
        </p:spPr>
        <p:txBody>
          <a:bodyPr wrap="square" lIns="18288" rIns="18288" tIns="18288" bIns="18288" anchor="ctr">
            <a:spAutoFit/>
          </a:bodyPr>
          <a:lstStyle/>
          <a:p>
            <a:pPr algn="l">
              <a:spcBef>
                <a:spcPts val="0"/>
              </a:spcBef>
              <a:spcAft>
                <a:spcPts val="0"/>
              </a:spcAft>
            </a:pPr>
            <a:r>
              <a:rPr sz="2300" b="1">
                <a:solidFill>
                  <a:srgbClr val="0F676D"/>
                </a:solidFill>
                <a:latin typeface="Arial"/>
              </a:rPr>
              <a:t>The model does not approve its own output.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0F676D"/>
                </a:solidFill>
                <a:latin typeface="Arial"/>
              </a:rPr>
              <a:t>METHOD</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One local setup and a seeded dataset</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Tables 3.2 and 3.11; Appendix H</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0F676D"/>
                </a:solidFill>
                <a:latin typeface="Arial"/>
              </a:rPr>
              <a:t>8</a:t>
            </a:r>
          </a:p>
        </p:txBody>
      </p:sp>
      <p:sp>
        <p:nvSpPr>
          <p:cNvPr id="9" name="Rounded Rectangle 8"/>
          <p:cNvSpPr/>
          <p:nvPr/>
        </p:nvSpPr>
        <p:spPr>
          <a:xfrm>
            <a:off x="713232" y="1444752"/>
            <a:ext cx="3447288" cy="1115568"/>
          </a:xfrm>
          <a:prstGeom prst="roundRect">
            <a:avLst/>
          </a:prstGeom>
          <a:solidFill>
            <a:srgbClr val="EBF3FB"/>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554480"/>
            <a:ext cx="3118104" cy="201168"/>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5B6874"/>
                </a:solidFill>
                <a:latin typeface="Arial"/>
              </a:rPr>
              <a:t>ACCOUNTS</a:t>
            </a:r>
          </a:p>
        </p:txBody>
      </p:sp>
      <p:sp>
        <p:nvSpPr>
          <p:cNvPr id="11" name="TextBox 10"/>
          <p:cNvSpPr txBox="1"/>
          <p:nvPr/>
        </p:nvSpPr>
        <p:spPr>
          <a:xfrm>
            <a:off x="877824" y="1801368"/>
            <a:ext cx="3118104" cy="411480"/>
          </a:xfrm>
          <a:prstGeom prst="rect">
            <a:avLst/>
          </a:prstGeom>
          <a:noFill/>
        </p:spPr>
        <p:txBody>
          <a:bodyPr wrap="square" lIns="18288" rIns="18288" tIns="18288" bIns="18288" anchor="ctr">
            <a:spAutoFit/>
          </a:bodyPr>
          <a:lstStyle/>
          <a:p>
            <a:pPr algn="l">
              <a:spcBef>
                <a:spcPts val="0"/>
              </a:spcBef>
              <a:spcAft>
                <a:spcPts val="0"/>
              </a:spcAft>
            </a:pPr>
            <a:r>
              <a:rPr sz="2500" b="1">
                <a:solidFill>
                  <a:srgbClr val="24466C"/>
                </a:solidFill>
                <a:latin typeface="Arial"/>
              </a:rPr>
              <a:t>120</a:t>
            </a:r>
          </a:p>
        </p:txBody>
      </p:sp>
      <p:sp>
        <p:nvSpPr>
          <p:cNvPr id="12" name="TextBox 11"/>
          <p:cNvSpPr txBox="1"/>
          <p:nvPr/>
        </p:nvSpPr>
        <p:spPr>
          <a:xfrm>
            <a:off x="877824" y="2295144"/>
            <a:ext cx="3118104" cy="164592"/>
          </a:xfrm>
          <a:prstGeom prst="rect">
            <a:avLst/>
          </a:prstGeom>
          <a:noFill/>
        </p:spPr>
        <p:txBody>
          <a:bodyPr wrap="square" lIns="18288" rIns="18288" tIns="18288" bIns="18288" anchor="ctr">
            <a:spAutoFit/>
          </a:bodyPr>
          <a:lstStyle/>
          <a:p>
            <a:pPr algn="l">
              <a:spcBef>
                <a:spcPts val="0"/>
              </a:spcBef>
              <a:spcAft>
                <a:spcPts val="0"/>
              </a:spcAft>
            </a:pPr>
            <a:r>
              <a:rPr sz="1100" b="0">
                <a:solidFill>
                  <a:srgbClr val="5B6874"/>
                </a:solidFill>
                <a:latin typeface="Arial"/>
              </a:rPr>
              <a:t>Seeded count in run record</a:t>
            </a:r>
          </a:p>
        </p:txBody>
      </p:sp>
      <p:sp>
        <p:nvSpPr>
          <p:cNvPr id="13" name="Rounded Rectangle 12"/>
          <p:cNvSpPr/>
          <p:nvPr/>
        </p:nvSpPr>
        <p:spPr>
          <a:xfrm>
            <a:off x="4370832" y="1444752"/>
            <a:ext cx="3447288" cy="1115568"/>
          </a:xfrm>
          <a:prstGeom prst="roundRect">
            <a:avLst/>
          </a:prstGeom>
          <a:solidFill>
            <a:srgbClr val="EBF3FB"/>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1554480"/>
            <a:ext cx="3118104" cy="201168"/>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5B6874"/>
                </a:solidFill>
                <a:latin typeface="Arial"/>
              </a:rPr>
              <a:t>JOURNAL ENTRIES</a:t>
            </a:r>
          </a:p>
        </p:txBody>
      </p:sp>
      <p:sp>
        <p:nvSpPr>
          <p:cNvPr id="15" name="TextBox 14"/>
          <p:cNvSpPr txBox="1"/>
          <p:nvPr/>
        </p:nvSpPr>
        <p:spPr>
          <a:xfrm>
            <a:off x="4535424" y="1801368"/>
            <a:ext cx="3118104" cy="411480"/>
          </a:xfrm>
          <a:prstGeom prst="rect">
            <a:avLst/>
          </a:prstGeom>
          <a:noFill/>
        </p:spPr>
        <p:txBody>
          <a:bodyPr wrap="square" lIns="18288" rIns="18288" tIns="18288" bIns="18288" anchor="ctr">
            <a:spAutoFit/>
          </a:bodyPr>
          <a:lstStyle/>
          <a:p>
            <a:pPr algn="l">
              <a:spcBef>
                <a:spcPts val="0"/>
              </a:spcBef>
              <a:spcAft>
                <a:spcPts val="0"/>
              </a:spcAft>
            </a:pPr>
            <a:r>
              <a:rPr sz="2500" b="1">
                <a:solidFill>
                  <a:srgbClr val="24466C"/>
                </a:solidFill>
                <a:latin typeface="Arial"/>
              </a:rPr>
              <a:t>30,000</a:t>
            </a:r>
          </a:p>
        </p:txBody>
      </p:sp>
      <p:sp>
        <p:nvSpPr>
          <p:cNvPr id="16" name="TextBox 15"/>
          <p:cNvSpPr txBox="1"/>
          <p:nvPr/>
        </p:nvSpPr>
        <p:spPr>
          <a:xfrm>
            <a:off x="4535424" y="2295144"/>
            <a:ext cx="3118104" cy="164592"/>
          </a:xfrm>
          <a:prstGeom prst="rect">
            <a:avLst/>
          </a:prstGeom>
          <a:noFill/>
        </p:spPr>
        <p:txBody>
          <a:bodyPr wrap="square" lIns="18288" rIns="18288" tIns="18288" bIns="18288" anchor="ctr">
            <a:spAutoFit/>
          </a:bodyPr>
          <a:lstStyle/>
          <a:p>
            <a:pPr algn="l">
              <a:spcBef>
                <a:spcPts val="0"/>
              </a:spcBef>
              <a:spcAft>
                <a:spcPts val="0"/>
              </a:spcAft>
            </a:pPr>
            <a:r>
              <a:rPr sz="1100" b="0">
                <a:solidFill>
                  <a:srgbClr val="5B6874"/>
                </a:solidFill>
                <a:latin typeface="Arial"/>
              </a:rPr>
              <a:t>At least 5,000 posted</a:t>
            </a:r>
          </a:p>
        </p:txBody>
      </p:sp>
      <p:sp>
        <p:nvSpPr>
          <p:cNvPr id="17" name="Rounded Rectangle 16"/>
          <p:cNvSpPr/>
          <p:nvPr/>
        </p:nvSpPr>
        <p:spPr>
          <a:xfrm>
            <a:off x="8028431" y="1444752"/>
            <a:ext cx="3447288" cy="1115568"/>
          </a:xfrm>
          <a:prstGeom prst="roundRect">
            <a:avLst/>
          </a:prstGeom>
          <a:solidFill>
            <a:srgbClr val="EBF3FB"/>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3023" y="1554480"/>
            <a:ext cx="3118104" cy="201168"/>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5B6874"/>
                </a:solidFill>
                <a:latin typeface="Arial"/>
              </a:rPr>
              <a:t>TEST HOST</a:t>
            </a:r>
          </a:p>
        </p:txBody>
      </p:sp>
      <p:sp>
        <p:nvSpPr>
          <p:cNvPr id="19" name="TextBox 18"/>
          <p:cNvSpPr txBox="1"/>
          <p:nvPr/>
        </p:nvSpPr>
        <p:spPr>
          <a:xfrm>
            <a:off x="8193023" y="1801368"/>
            <a:ext cx="3118104" cy="411480"/>
          </a:xfrm>
          <a:prstGeom prst="rect">
            <a:avLst/>
          </a:prstGeom>
          <a:noFill/>
        </p:spPr>
        <p:txBody>
          <a:bodyPr wrap="square" lIns="18288" rIns="18288" tIns="18288" bIns="18288" anchor="ctr">
            <a:spAutoFit/>
          </a:bodyPr>
          <a:lstStyle/>
          <a:p>
            <a:pPr algn="l">
              <a:spcBef>
                <a:spcPts val="0"/>
              </a:spcBef>
              <a:spcAft>
                <a:spcPts val="0"/>
              </a:spcAft>
            </a:pPr>
            <a:r>
              <a:rPr sz="2500" b="1">
                <a:solidFill>
                  <a:srgbClr val="24466C"/>
                </a:solidFill>
                <a:latin typeface="Arial"/>
              </a:rPr>
              <a:t>Windows 11</a:t>
            </a:r>
          </a:p>
        </p:txBody>
      </p:sp>
      <p:sp>
        <p:nvSpPr>
          <p:cNvPr id="20" name="TextBox 19"/>
          <p:cNvSpPr txBox="1"/>
          <p:nvPr/>
        </p:nvSpPr>
        <p:spPr>
          <a:xfrm>
            <a:off x="8193023" y="2295144"/>
            <a:ext cx="3118104" cy="164592"/>
          </a:xfrm>
          <a:prstGeom prst="rect">
            <a:avLst/>
          </a:prstGeom>
          <a:noFill/>
        </p:spPr>
        <p:txBody>
          <a:bodyPr wrap="square" lIns="18288" rIns="18288" tIns="18288" bIns="18288" anchor="ctr">
            <a:spAutoFit/>
          </a:bodyPr>
          <a:lstStyle/>
          <a:p>
            <a:pPr algn="l">
              <a:spcBef>
                <a:spcPts val="0"/>
              </a:spcBef>
              <a:spcAft>
                <a:spcPts val="0"/>
              </a:spcAft>
            </a:pPr>
            <a:r>
              <a:rPr sz="1100" b="0">
                <a:solidFill>
                  <a:srgbClr val="5B6874"/>
                </a:solidFill>
                <a:latin typeface="Arial"/>
              </a:rPr>
              <a:t>.NET 8 · local SQL Server</a:t>
            </a:r>
          </a:p>
        </p:txBody>
      </p:sp>
      <p:sp>
        <p:nvSpPr>
          <p:cNvPr id="21" name="Rounded Rectangle 20"/>
          <p:cNvSpPr/>
          <p:nvPr/>
        </p:nvSpPr>
        <p:spPr>
          <a:xfrm>
            <a:off x="713232" y="2990088"/>
            <a:ext cx="10762488" cy="224028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264408"/>
            <a:ext cx="10104120" cy="384048"/>
          </a:xfrm>
          <a:prstGeom prst="rect">
            <a:avLst/>
          </a:prstGeom>
          <a:noFill/>
        </p:spPr>
        <p:txBody>
          <a:bodyPr wrap="square" lIns="18288" rIns="18288" tIns="18288" bIns="18288" anchor="ctr">
            <a:spAutoFit/>
          </a:bodyPr>
          <a:lstStyle/>
          <a:p>
            <a:pPr algn="l">
              <a:spcBef>
                <a:spcPts val="0"/>
              </a:spcBef>
              <a:spcAft>
                <a:spcPts val="0"/>
              </a:spcAft>
            </a:pPr>
            <a:r>
              <a:rPr sz="2100" b="1">
                <a:solidFill>
                  <a:srgbClr val="0F676D"/>
                </a:solidFill>
                <a:latin typeface="Arial"/>
              </a:rPr>
              <a:t>Tool versions in the fresh reproduction</a:t>
            </a:r>
          </a:p>
        </p:txBody>
      </p:sp>
      <p:sp>
        <p:nvSpPr>
          <p:cNvPr id="23" name="TextBox 22"/>
          <p:cNvSpPr txBox="1"/>
          <p:nvPr/>
        </p:nvSpPr>
        <p:spPr>
          <a:xfrm>
            <a:off x="969264" y="3858768"/>
            <a:ext cx="10094976" cy="548640"/>
          </a:xfrm>
          <a:prstGeom prst="rect">
            <a:avLst/>
          </a:prstGeom>
          <a:noFill/>
        </p:spPr>
        <p:txBody>
          <a:bodyPr wrap="square" lIns="18288" rIns="18288" tIns="18288" bIns="18288" anchor="ctr">
            <a:spAutoFit/>
          </a:bodyPr>
          <a:lstStyle/>
          <a:p>
            <a:pPr algn="l">
              <a:spcBef>
                <a:spcPts val="0"/>
              </a:spcBef>
              <a:spcAft>
                <a:spcPts val="0"/>
              </a:spcAft>
            </a:pPr>
            <a:r>
              <a:rPr sz="2400" b="1">
                <a:solidFill>
                  <a:srgbClr val="252B33"/>
                </a:solidFill>
                <a:latin typeface="Arial"/>
              </a:rPr>
              <a:t>SonarQube 26.7     |     OWASP ZAP 2.17     |     Apache JMeter 5.5</a:t>
            </a:r>
          </a:p>
        </p:txBody>
      </p:sp>
      <p:sp>
        <p:nvSpPr>
          <p:cNvPr id="24" name="TextBox 23"/>
          <p:cNvSpPr txBox="1"/>
          <p:nvPr/>
        </p:nvSpPr>
        <p:spPr>
          <a:xfrm>
            <a:off x="969264" y="4599432"/>
            <a:ext cx="10094976" cy="320040"/>
          </a:xfrm>
          <a:prstGeom prst="rect">
            <a:avLst/>
          </a:prstGeom>
          <a:noFill/>
        </p:spPr>
        <p:txBody>
          <a:bodyPr wrap="square" lIns="18288" rIns="18288" tIns="18288" bIns="18288" anchor="ctr">
            <a:spAutoFit/>
          </a:bodyPr>
          <a:lstStyle/>
          <a:p>
            <a:pPr algn="l">
              <a:spcBef>
                <a:spcPts val="0"/>
              </a:spcBef>
              <a:spcAft>
                <a:spcPts val="0"/>
              </a:spcAft>
            </a:pPr>
            <a:r>
              <a:rPr sz="1700" b="0">
                <a:solidFill>
                  <a:srgbClr val="5B6874"/>
                </a:solidFill>
                <a:latin typeface="Arial"/>
              </a:rPr>
              <a:t>The next slide shows the seed settings and recorded counts (Appendix 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0F676D"/>
                </a:solidFill>
                <a:latin typeface="Arial"/>
              </a:rPr>
              <a:t>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Where the 120-account count comes from</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Appendix H; Tables 3.10-3.11; branch-verification.json</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0F676D"/>
                </a:solidFill>
                <a:latin typeface="Arial"/>
              </a:rPr>
              <a:t>9</a:t>
            </a:r>
          </a:p>
        </p:txBody>
      </p:sp>
      <p:sp>
        <p:nvSpPr>
          <p:cNvPr id="9" name="Rounded Rectangle 8"/>
          <p:cNvSpPr/>
          <p:nvPr/>
        </p:nvSpPr>
        <p:spPr>
          <a:xfrm>
            <a:off x="731520" y="1444752"/>
            <a:ext cx="5166360" cy="420624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1444752"/>
            <a:ext cx="5166360" cy="420624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1746504"/>
            <a:ext cx="4663440" cy="365760"/>
          </a:xfrm>
          <a:prstGeom prst="rect">
            <a:avLst/>
          </a:prstGeom>
          <a:noFill/>
        </p:spPr>
        <p:txBody>
          <a:bodyPr wrap="square" lIns="18288" rIns="18288" tIns="18288" bIns="18288" anchor="ctr">
            <a:spAutoFit/>
          </a:bodyPr>
          <a:lstStyle/>
          <a:p>
            <a:pPr algn="l">
              <a:spcBef>
                <a:spcPts val="0"/>
              </a:spcBef>
              <a:spcAft>
                <a:spcPts val="0"/>
              </a:spcAft>
            </a:pPr>
            <a:r>
              <a:rPr sz="2100" b="1">
                <a:solidFill>
                  <a:srgbClr val="0F676D"/>
                </a:solidFill>
                <a:latin typeface="Arial"/>
              </a:rPr>
              <a:t>Seed script settings</a:t>
            </a:r>
          </a:p>
        </p:txBody>
      </p:sp>
      <p:sp>
        <p:nvSpPr>
          <p:cNvPr id="12" name="TextBox 11"/>
          <p:cNvSpPr txBox="1"/>
          <p:nvPr/>
        </p:nvSpPr>
        <p:spPr>
          <a:xfrm>
            <a:off x="987552" y="2212848"/>
            <a:ext cx="4663440" cy="384048"/>
          </a:xfrm>
          <a:prstGeom prst="rect">
            <a:avLst/>
          </a:prstGeom>
          <a:noFill/>
        </p:spPr>
        <p:txBody>
          <a:bodyPr wrap="square" lIns="18288" rIns="18288" tIns="18288" bIns="18288" anchor="ctr">
            <a:spAutoFit/>
          </a:bodyPr>
          <a:lstStyle/>
          <a:p>
            <a:pPr algn="l">
              <a:spcBef>
                <a:spcPts val="0"/>
              </a:spcBef>
              <a:spcAft>
                <a:spcPts val="0"/>
              </a:spcAft>
            </a:pPr>
            <a:r>
              <a:rPr sz="1500" b="0">
                <a:solidFill>
                  <a:srgbClr val="5B6874"/>
                </a:solidFill>
                <a:latin typeface="Courier New"/>
              </a:rPr>
              <a:t>scripts/phase4/seed-test-data.ps1</a:t>
            </a:r>
          </a:p>
        </p:txBody>
      </p:sp>
      <p:sp>
        <p:nvSpPr>
          <p:cNvPr id="13" name="TextBox 12"/>
          <p:cNvSpPr txBox="1"/>
          <p:nvPr/>
        </p:nvSpPr>
        <p:spPr>
          <a:xfrm>
            <a:off x="987552" y="2788920"/>
            <a:ext cx="4645152" cy="1947672"/>
          </a:xfrm>
          <a:prstGeom prst="rect">
            <a:avLst/>
          </a:prstGeom>
          <a:noFill/>
        </p:spPr>
        <p:txBody>
          <a:bodyPr wrap="square" lIns="18288" rIns="18288" tIns="18288" bIns="18288" anchor="t">
            <a:spAutoFit/>
          </a:bodyPr>
          <a:lstStyle/>
          <a:p>
            <a:pPr algn="l">
              <a:spcBef>
                <a:spcPts val="0"/>
              </a:spcBef>
              <a:spcAft>
                <a:spcPts val="0"/>
              </a:spcAft>
            </a:pPr>
            <a:r>
              <a:rPr sz="1900" b="0">
                <a:solidFill>
                  <a:srgbClr val="252B33"/>
                </a:solidFill>
                <a:latin typeface="Courier New"/>
              </a:rPr>
              <a:t>AccountCount = 120
JournalEntryCount = 30000
MinimumPostedEntries = 5000</a:t>
            </a:r>
          </a:p>
        </p:txBody>
      </p:sp>
      <p:sp>
        <p:nvSpPr>
          <p:cNvPr id="14" name="TextBox 13"/>
          <p:cNvSpPr txBox="1"/>
          <p:nvPr/>
        </p:nvSpPr>
        <p:spPr>
          <a:xfrm>
            <a:off x="6510528" y="1746504"/>
            <a:ext cx="4663440" cy="365760"/>
          </a:xfrm>
          <a:prstGeom prst="rect">
            <a:avLst/>
          </a:prstGeom>
          <a:noFill/>
        </p:spPr>
        <p:txBody>
          <a:bodyPr wrap="square" lIns="18288" rIns="18288" tIns="18288" bIns="18288" anchor="ctr">
            <a:spAutoFit/>
          </a:bodyPr>
          <a:lstStyle/>
          <a:p>
            <a:pPr algn="l">
              <a:spcBef>
                <a:spcPts val="0"/>
              </a:spcBef>
              <a:spcAft>
                <a:spcPts val="0"/>
              </a:spcAft>
            </a:pPr>
            <a:r>
              <a:rPr sz="2100" b="1">
                <a:solidFill>
                  <a:srgbClr val="0F676D"/>
                </a:solidFill>
                <a:latin typeface="Arial"/>
              </a:rPr>
              <a:t>Recorded in the run</a:t>
            </a:r>
          </a:p>
        </p:txBody>
      </p:sp>
      <p:sp>
        <p:nvSpPr>
          <p:cNvPr id="15" name="TextBox 14"/>
          <p:cNvSpPr txBox="1"/>
          <p:nvPr/>
        </p:nvSpPr>
        <p:spPr>
          <a:xfrm>
            <a:off x="6510528" y="2212848"/>
            <a:ext cx="4663440" cy="640080"/>
          </a:xfrm>
          <a:prstGeom prst="rect">
            <a:avLst/>
          </a:prstGeom>
          <a:noFill/>
        </p:spPr>
        <p:txBody>
          <a:bodyPr wrap="square" lIns="18288" rIns="18288" tIns="18288" bIns="18288" anchor="ctr">
            <a:spAutoFit/>
          </a:bodyPr>
          <a:lstStyle/>
          <a:p>
            <a:pPr algn="l">
              <a:spcBef>
                <a:spcPts val="0"/>
              </a:spcBef>
              <a:spcAft>
                <a:spcPts val="0"/>
              </a:spcAft>
            </a:pPr>
            <a:r>
              <a:rPr sz="1300" b="0">
                <a:solidFill>
                  <a:srgbClr val="5B6874"/>
                </a:solidFill>
                <a:latin typeface="Courier New"/>
              </a:rPr>
              <a:t>docs/appendix/verification-runs/research/branch-verification.json</a:t>
            </a:r>
          </a:p>
        </p:txBody>
      </p:sp>
      <p:sp>
        <p:nvSpPr>
          <p:cNvPr id="16" name="TextBox 15"/>
          <p:cNvSpPr txBox="1"/>
          <p:nvPr/>
        </p:nvSpPr>
        <p:spPr>
          <a:xfrm>
            <a:off x="6510528" y="2880360"/>
            <a:ext cx="4645152" cy="1856231"/>
          </a:xfrm>
          <a:prstGeom prst="rect">
            <a:avLst/>
          </a:prstGeom>
          <a:noFill/>
        </p:spPr>
        <p:txBody>
          <a:bodyPr wrap="square" lIns="18288" rIns="18288" tIns="18288" bIns="18288" anchor="t">
            <a:spAutoFit/>
          </a:bodyPr>
          <a:lstStyle/>
          <a:p>
            <a:pPr algn="l">
              <a:spcBef>
                <a:spcPts val="0"/>
              </a:spcBef>
              <a:spcAft>
                <a:spcPts val="0"/>
              </a:spcAft>
            </a:pPr>
            <a:r>
              <a:rPr sz="1900" b="0">
                <a:solidFill>
                  <a:srgbClr val="252B33"/>
                </a:solidFill>
                <a:latin typeface="Courier New"/>
              </a:rPr>
              <a:t>accounts: 120
journalEntries: 30,000
postedEntries: 5,000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0F676D"/>
                </a:solidFill>
                <a:latin typeface="Arial"/>
              </a:rPr>
              <a:t>METHOD</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Outcomes were judged by tool-specific measures</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Table 4.1 and §4.1</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0F676D"/>
                </a:solidFill>
                <a:latin typeface="Arial"/>
              </a:rPr>
              <a:t>10</a:t>
            </a:r>
          </a:p>
        </p:txBody>
      </p:sp>
      <p:graphicFrame>
        <p:nvGraphicFramePr>
          <p:cNvPr id="9" name="Table 8"/>
          <p:cNvGraphicFramePr>
            <a:graphicFrameLocks noGrp="1"/>
          </p:cNvGraphicFramePr>
          <p:nvPr/>
        </p:nvGraphicFramePr>
        <p:xfrm>
          <a:off x="731520" y="1444752"/>
          <a:ext cx="10716767" cy="3474720"/>
        </p:xfrm>
        <a:graphic>
          <a:graphicData uri="http://schemas.openxmlformats.org/drawingml/2006/table">
            <a:tbl>
              <a:tblPr firstRow="1" bandRow="1">
                <a:tableStyleId>{5C22544A-7EE6-4342-B048-85BDC9FD1C3A}</a:tableStyleId>
              </a:tblPr>
              <a:tblGrid>
                <a:gridCol w="2250521"/>
                <a:gridCol w="4822545"/>
                <a:gridCol w="3643701"/>
              </a:tblGrid>
              <a:tr h="694944">
                <a:tc>
                  <a:txBody>
                    <a:bodyPr/>
                    <a:lstStyle/>
                    <a:p>
                      <a:pPr algn="l">
                        <a:spcAft>
                          <a:spcPts val="0"/>
                        </a:spcAft>
                      </a:pPr>
                      <a:r>
                        <a:rPr sz="1700" b="1">
                          <a:solidFill>
                            <a:srgbClr val="FFFFFF"/>
                          </a:solidFill>
                          <a:latin typeface="Arial"/>
                        </a:rPr>
                        <a:t>Area</a:t>
                      </a:r>
                    </a:p>
                  </a:txBody>
                  <a:tcPr marL="109728" marR="91440" marT="36576" marB="36576">
                    <a:solidFill>
                      <a:srgbClr val="252B33"/>
                    </a:solidFill>
                  </a:tcPr>
                </a:tc>
                <a:tc>
                  <a:txBody>
                    <a:bodyPr/>
                    <a:lstStyle/>
                    <a:p>
                      <a:pPr algn="l">
                        <a:spcAft>
                          <a:spcPts val="0"/>
                        </a:spcAft>
                      </a:pPr>
                      <a:r>
                        <a:rPr sz="1700" b="1">
                          <a:solidFill>
                            <a:srgbClr val="FFFFFF"/>
                          </a:solidFill>
                          <a:latin typeface="Arial"/>
                        </a:rPr>
                        <a:t>Primary decision</a:t>
                      </a:r>
                    </a:p>
                  </a:txBody>
                  <a:tcPr marL="109728" marR="91440" marT="36576" marB="36576">
                    <a:solidFill>
                      <a:srgbClr val="252B33"/>
                    </a:solidFill>
                  </a:tcPr>
                </a:tc>
                <a:tc>
                  <a:txBody>
                    <a:bodyPr/>
                    <a:lstStyle/>
                    <a:p>
                      <a:pPr algn="l">
                        <a:spcAft>
                          <a:spcPts val="0"/>
                        </a:spcAft>
                      </a:pPr>
                      <a:r>
                        <a:rPr sz="1700" b="1">
                          <a:solidFill>
                            <a:srgbClr val="FFFFFF"/>
                          </a:solidFill>
                          <a:latin typeface="Arial"/>
                        </a:rPr>
                        <a:t>Control metric</a:t>
                      </a:r>
                    </a:p>
                  </a:txBody>
                  <a:tcPr marL="109728" marR="91440" marT="36576" marB="36576">
                    <a:solidFill>
                      <a:srgbClr val="252B33"/>
                    </a:solidFill>
                  </a:tcPr>
                </a:tc>
              </a:tr>
              <a:tr h="694944">
                <a:tc>
                  <a:txBody>
                    <a:bodyPr/>
                    <a:lstStyle/>
                    <a:p>
                      <a:pPr algn="l">
                        <a:spcAft>
                          <a:spcPts val="0"/>
                        </a:spcAft>
                      </a:pPr>
                      <a:r>
                        <a:rPr sz="1700" b="0">
                          <a:solidFill>
                            <a:srgbClr val="252B33"/>
                          </a:solidFill>
                          <a:latin typeface="Arial"/>
                        </a:rPr>
                        <a:t>SonarQube</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Compare unique issues; show gate status</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Coverage and complexity disclosed</a:t>
                      </a:r>
                    </a:p>
                  </a:txBody>
                  <a:tcPr marL="109728" marR="91440" marT="36576" marB="36576">
                    <a:solidFill>
                      <a:srgbClr val="FFFFFF"/>
                    </a:solidFill>
                  </a:tcPr>
                </a:tc>
              </a:tr>
              <a:tr h="694944">
                <a:tc>
                  <a:txBody>
                    <a:bodyPr/>
                    <a:lstStyle/>
                    <a:p>
                      <a:pPr algn="l">
                        <a:spcAft>
                          <a:spcPts val="0"/>
                        </a:spcAft>
                      </a:pPr>
                      <a:r>
                        <a:rPr sz="1700" b="0">
                          <a:solidFill>
                            <a:srgbClr val="252B33"/>
                          </a:solidFill>
                          <a:latin typeface="Arial"/>
                        </a:rPr>
                        <a:t>OWASP ZAP</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Configured-rule gate; report raw alerts</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Residual HTTP-only observation disclosed</a:t>
                      </a:r>
                    </a:p>
                  </a:txBody>
                  <a:tcPr marL="109728" marR="91440" marT="36576" marB="36576">
                    <a:solidFill>
                      <a:srgbClr val="F7F9FC"/>
                    </a:solidFill>
                  </a:tcPr>
                </a:tc>
              </a:tr>
              <a:tr h="694944">
                <a:tc>
                  <a:txBody>
                    <a:bodyPr/>
                    <a:lstStyle/>
                    <a:p>
                      <a:pPr algn="l">
                        <a:spcAft>
                          <a:spcPts val="0"/>
                        </a:spcAft>
                      </a:pPr>
                      <a:r>
                        <a:rPr sz="1700" b="0">
                          <a:solidFill>
                            <a:srgbClr val="252B33"/>
                          </a:solidFill>
                          <a:latin typeface="Arial"/>
                        </a:rPr>
                        <a:t>JMeter</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50/100/500 VU core gate</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100 VU ≤500 ms; 500 VU ≤1200 ms</a:t>
                      </a:r>
                    </a:p>
                  </a:txBody>
                  <a:tcPr marL="109728" marR="91440" marT="36576" marB="36576">
                    <a:solidFill>
                      <a:srgbClr val="FFFFFF"/>
                    </a:solidFill>
                  </a:tcPr>
                </a:tc>
              </a:tr>
              <a:tr h="694944">
                <a:tc>
                  <a:txBody>
                    <a:bodyPr/>
                    <a:lstStyle/>
                    <a:p>
                      <a:pPr algn="l">
                        <a:spcAft>
                          <a:spcPts val="0"/>
                        </a:spcAft>
                      </a:pPr>
                      <a:r>
                        <a:rPr sz="1700" b="0">
                          <a:solidFill>
                            <a:srgbClr val="252B33"/>
                          </a:solidFill>
                          <a:latin typeface="Arial"/>
                        </a:rPr>
                        <a:t>Regression</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Focused tests and role checks</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Accounting and authorization preserved</a:t>
                      </a:r>
                    </a:p>
                  </a:txBody>
                  <a:tcPr marL="109728" marR="91440" marT="36576" marB="36576">
                    <a:solidFill>
                      <a:srgbClr val="F7F9FC"/>
                    </a:solidFill>
                  </a:tcPr>
                </a:tc>
              </a:tr>
            </a:tbl>
          </a:graphicData>
        </a:graphic>
      </p:graphicFrame>
      <p:sp>
        <p:nvSpPr>
          <p:cNvPr id="10" name="Rounded Rectangle 9"/>
          <p:cNvSpPr/>
          <p:nvPr/>
        </p:nvSpPr>
        <p:spPr>
          <a:xfrm>
            <a:off x="731520" y="5138928"/>
            <a:ext cx="10716768" cy="877824"/>
          </a:xfrm>
          <a:prstGeom prst="roundRect">
            <a:avLst/>
          </a:prstGeom>
          <a:solidFill>
            <a:srgbClr val="FF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5266944"/>
            <a:ext cx="10222992" cy="640080"/>
          </a:xfrm>
          <a:prstGeom prst="rect">
            <a:avLst/>
          </a:prstGeom>
          <a:noFill/>
        </p:spPr>
        <p:txBody>
          <a:bodyPr wrap="square" lIns="18288" rIns="18288" tIns="18288" bIns="18288" anchor="ctr">
            <a:spAutoFit/>
          </a:bodyPr>
          <a:lstStyle/>
          <a:p>
            <a:pPr algn="l">
              <a:spcBef>
                <a:spcPts val="0"/>
              </a:spcBef>
              <a:spcAft>
                <a:spcPts val="0"/>
              </a:spcAft>
            </a:pPr>
            <a:r>
              <a:rPr sz="1800" b="1">
                <a:solidFill>
                  <a:srgbClr val="BE7414"/>
                </a:solidFill>
                <a:latin typeface="Arial"/>
              </a:rPr>
              <a:t>Study scenarios: 100 VU = planned peak; 500 VU = heavier load. These are not measured production traffic.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0F676D"/>
                </a:solidFill>
                <a:latin typeface="Arial"/>
              </a:rPr>
              <a:t>METHOD</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From a tool warning to a measured result</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§§3.1.3-3.1.4; Appendices I and K</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0F676D"/>
                </a:solidFill>
                <a:latin typeface="Arial"/>
              </a:rPr>
              <a:t>11</a:t>
            </a:r>
          </a:p>
        </p:txBody>
      </p:sp>
      <p:sp>
        <p:nvSpPr>
          <p:cNvPr id="9" name="Rounded Rectangle 8"/>
          <p:cNvSpPr/>
          <p:nvPr/>
        </p:nvSpPr>
        <p:spPr>
          <a:xfrm>
            <a:off x="713232" y="2148840"/>
            <a:ext cx="1709928" cy="1133856"/>
          </a:xfrm>
          <a:prstGeom prst="roundRect">
            <a:avLst/>
          </a:prstGeom>
          <a:solidFill>
            <a:srgbClr val="E7F6F6"/>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2313432"/>
            <a:ext cx="1472184" cy="813816"/>
          </a:xfrm>
          <a:prstGeom prst="rect">
            <a:avLst/>
          </a:prstGeom>
          <a:noFill/>
        </p:spPr>
        <p:txBody>
          <a:bodyPr wrap="square" lIns="18288" rIns="18288" tIns="18288" bIns="18288" anchor="ctr">
            <a:spAutoFit/>
          </a:bodyPr>
          <a:lstStyle/>
          <a:p>
            <a:pPr algn="ctr">
              <a:spcBef>
                <a:spcPts val="0"/>
              </a:spcBef>
              <a:spcAft>
                <a:spcPts val="0"/>
              </a:spcAft>
            </a:pPr>
            <a:r>
              <a:rPr sz="1700" b="1">
                <a:solidFill>
                  <a:srgbClr val="0F676D"/>
                </a:solidFill>
                <a:latin typeface="Arial"/>
              </a:rPr>
              <a:t>Tool finding</a:t>
            </a:r>
          </a:p>
        </p:txBody>
      </p:sp>
      <p:sp>
        <p:nvSpPr>
          <p:cNvPr id="11" name="TextBox 10"/>
          <p:cNvSpPr txBox="1"/>
          <p:nvPr/>
        </p:nvSpPr>
        <p:spPr>
          <a:xfrm>
            <a:off x="2432304" y="2432304"/>
            <a:ext cx="182880" cy="274320"/>
          </a:xfrm>
          <a:prstGeom prst="rect">
            <a:avLst/>
          </a:prstGeom>
          <a:noFill/>
        </p:spPr>
        <p:txBody>
          <a:bodyPr wrap="square" lIns="18288" rIns="18288" tIns="18288" bIns="18288" anchor="ctr">
            <a:spAutoFit/>
          </a:bodyPr>
          <a:lstStyle/>
          <a:p>
            <a:pPr algn="l">
              <a:spcBef>
                <a:spcPts val="0"/>
              </a:spcBef>
              <a:spcAft>
                <a:spcPts val="0"/>
              </a:spcAft>
            </a:pPr>
            <a:r>
              <a:rPr sz="2100" b="1">
                <a:solidFill>
                  <a:srgbClr val="5B6874"/>
                </a:solidFill>
                <a:latin typeface="Arial"/>
              </a:rPr>
              <a:t>→</a:t>
            </a:r>
          </a:p>
        </p:txBody>
      </p:sp>
      <p:sp>
        <p:nvSpPr>
          <p:cNvPr id="12" name="Rounded Rectangle 11"/>
          <p:cNvSpPr/>
          <p:nvPr/>
        </p:nvSpPr>
        <p:spPr>
          <a:xfrm>
            <a:off x="2615184" y="2148840"/>
            <a:ext cx="1709928" cy="1133856"/>
          </a:xfrm>
          <a:prstGeom prst="roundRect">
            <a:avLst/>
          </a:prstGeom>
          <a:solidFill>
            <a:srgbClr val="E7F6F6"/>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34056" y="2313432"/>
            <a:ext cx="1472184" cy="813816"/>
          </a:xfrm>
          <a:prstGeom prst="rect">
            <a:avLst/>
          </a:prstGeom>
          <a:noFill/>
        </p:spPr>
        <p:txBody>
          <a:bodyPr wrap="square" lIns="18288" rIns="18288" tIns="18288" bIns="18288" anchor="ctr">
            <a:spAutoFit/>
          </a:bodyPr>
          <a:lstStyle/>
          <a:p>
            <a:pPr algn="ctr">
              <a:spcBef>
                <a:spcPts val="0"/>
              </a:spcBef>
              <a:spcAft>
                <a:spcPts val="0"/>
              </a:spcAft>
            </a:pPr>
            <a:r>
              <a:rPr sz="1700" b="1">
                <a:solidFill>
                  <a:srgbClr val="0F676D"/>
                </a:solidFill>
                <a:latin typeface="Arial"/>
              </a:rPr>
              <a:t>Relevant code</a:t>
            </a:r>
          </a:p>
        </p:txBody>
      </p:sp>
      <p:sp>
        <p:nvSpPr>
          <p:cNvPr id="14" name="TextBox 13"/>
          <p:cNvSpPr txBox="1"/>
          <p:nvPr/>
        </p:nvSpPr>
        <p:spPr>
          <a:xfrm>
            <a:off x="4334256" y="2432304"/>
            <a:ext cx="182880" cy="274320"/>
          </a:xfrm>
          <a:prstGeom prst="rect">
            <a:avLst/>
          </a:prstGeom>
          <a:noFill/>
        </p:spPr>
        <p:txBody>
          <a:bodyPr wrap="square" lIns="18288" rIns="18288" tIns="18288" bIns="18288" anchor="ctr">
            <a:spAutoFit/>
          </a:bodyPr>
          <a:lstStyle/>
          <a:p>
            <a:pPr algn="l">
              <a:spcBef>
                <a:spcPts val="0"/>
              </a:spcBef>
              <a:spcAft>
                <a:spcPts val="0"/>
              </a:spcAft>
            </a:pPr>
            <a:r>
              <a:rPr sz="2100" b="1">
                <a:solidFill>
                  <a:srgbClr val="5B6874"/>
                </a:solidFill>
                <a:latin typeface="Arial"/>
              </a:rPr>
              <a:t>→</a:t>
            </a:r>
          </a:p>
        </p:txBody>
      </p:sp>
      <p:sp>
        <p:nvSpPr>
          <p:cNvPr id="15" name="Rounded Rectangle 14"/>
          <p:cNvSpPr/>
          <p:nvPr/>
        </p:nvSpPr>
        <p:spPr>
          <a:xfrm>
            <a:off x="4517136" y="2148840"/>
            <a:ext cx="1709928" cy="1133856"/>
          </a:xfrm>
          <a:prstGeom prst="roundRect">
            <a:avLst/>
          </a:prstGeom>
          <a:solidFill>
            <a:srgbClr val="E7F6F6"/>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36008" y="2313432"/>
            <a:ext cx="1472184" cy="813816"/>
          </a:xfrm>
          <a:prstGeom prst="rect">
            <a:avLst/>
          </a:prstGeom>
          <a:noFill/>
        </p:spPr>
        <p:txBody>
          <a:bodyPr wrap="square" lIns="18288" rIns="18288" tIns="18288" bIns="18288" anchor="ctr">
            <a:spAutoFit/>
          </a:bodyPr>
          <a:lstStyle/>
          <a:p>
            <a:pPr algn="ctr">
              <a:spcBef>
                <a:spcPts val="0"/>
              </a:spcBef>
              <a:spcAft>
                <a:spcPts val="0"/>
              </a:spcAft>
            </a:pPr>
            <a:r>
              <a:rPr sz="1700" b="1">
                <a:solidFill>
                  <a:srgbClr val="0F676D"/>
                </a:solidFill>
                <a:latin typeface="Arial"/>
              </a:rPr>
              <a:t>Suggested edit</a:t>
            </a:r>
          </a:p>
        </p:txBody>
      </p:sp>
      <p:sp>
        <p:nvSpPr>
          <p:cNvPr id="17" name="TextBox 16"/>
          <p:cNvSpPr txBox="1"/>
          <p:nvPr/>
        </p:nvSpPr>
        <p:spPr>
          <a:xfrm>
            <a:off x="6236208" y="2432304"/>
            <a:ext cx="182880" cy="274320"/>
          </a:xfrm>
          <a:prstGeom prst="rect">
            <a:avLst/>
          </a:prstGeom>
          <a:noFill/>
        </p:spPr>
        <p:txBody>
          <a:bodyPr wrap="square" lIns="18288" rIns="18288" tIns="18288" bIns="18288" anchor="ctr">
            <a:spAutoFit/>
          </a:bodyPr>
          <a:lstStyle/>
          <a:p>
            <a:pPr algn="l">
              <a:spcBef>
                <a:spcPts val="0"/>
              </a:spcBef>
              <a:spcAft>
                <a:spcPts val="0"/>
              </a:spcAft>
            </a:pPr>
            <a:r>
              <a:rPr sz="2100" b="1">
                <a:solidFill>
                  <a:srgbClr val="5B6874"/>
                </a:solidFill>
                <a:latin typeface="Arial"/>
              </a:rPr>
              <a:t>→</a:t>
            </a:r>
          </a:p>
        </p:txBody>
      </p:sp>
      <p:sp>
        <p:nvSpPr>
          <p:cNvPr id="18" name="Rounded Rectangle 17"/>
          <p:cNvSpPr/>
          <p:nvPr/>
        </p:nvSpPr>
        <p:spPr>
          <a:xfrm>
            <a:off x="6419088" y="2148840"/>
            <a:ext cx="1709928" cy="1133856"/>
          </a:xfrm>
          <a:prstGeom prst="roundRect">
            <a:avLst/>
          </a:prstGeom>
          <a:solidFill>
            <a:srgbClr val="E8F7EE"/>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2313432"/>
            <a:ext cx="1472184" cy="813816"/>
          </a:xfrm>
          <a:prstGeom prst="rect">
            <a:avLst/>
          </a:prstGeom>
          <a:noFill/>
        </p:spPr>
        <p:txBody>
          <a:bodyPr wrap="square" lIns="18288" rIns="18288" tIns="18288" bIns="18288" anchor="ctr">
            <a:spAutoFit/>
          </a:bodyPr>
          <a:lstStyle/>
          <a:p>
            <a:pPr algn="ctr">
              <a:spcBef>
                <a:spcPts val="0"/>
              </a:spcBef>
              <a:spcAft>
                <a:spcPts val="0"/>
              </a:spcAft>
            </a:pPr>
            <a:r>
              <a:rPr sz="1700" b="1">
                <a:solidFill>
                  <a:srgbClr val="246F46"/>
                </a:solidFill>
                <a:latin typeface="Arial"/>
              </a:rPr>
              <a:t>I check</a:t>
            </a:r>
          </a:p>
        </p:txBody>
      </p:sp>
      <p:sp>
        <p:nvSpPr>
          <p:cNvPr id="20" name="TextBox 19"/>
          <p:cNvSpPr txBox="1"/>
          <p:nvPr/>
        </p:nvSpPr>
        <p:spPr>
          <a:xfrm>
            <a:off x="8138160" y="2432304"/>
            <a:ext cx="182880" cy="274320"/>
          </a:xfrm>
          <a:prstGeom prst="rect">
            <a:avLst/>
          </a:prstGeom>
          <a:noFill/>
        </p:spPr>
        <p:txBody>
          <a:bodyPr wrap="square" lIns="18288" rIns="18288" tIns="18288" bIns="18288" anchor="ctr">
            <a:spAutoFit/>
          </a:bodyPr>
          <a:lstStyle/>
          <a:p>
            <a:pPr algn="l">
              <a:spcBef>
                <a:spcPts val="0"/>
              </a:spcBef>
              <a:spcAft>
                <a:spcPts val="0"/>
              </a:spcAft>
            </a:pPr>
            <a:r>
              <a:rPr sz="2100" b="1">
                <a:solidFill>
                  <a:srgbClr val="5B6874"/>
                </a:solidFill>
                <a:latin typeface="Arial"/>
              </a:rPr>
              <a:t>→</a:t>
            </a:r>
          </a:p>
        </p:txBody>
      </p:sp>
      <p:sp>
        <p:nvSpPr>
          <p:cNvPr id="21" name="Rounded Rectangle 20"/>
          <p:cNvSpPr/>
          <p:nvPr/>
        </p:nvSpPr>
        <p:spPr>
          <a:xfrm>
            <a:off x="8321040" y="2148840"/>
            <a:ext cx="1709928" cy="1133856"/>
          </a:xfrm>
          <a:prstGeom prst="roundRect">
            <a:avLst/>
          </a:prstGeom>
          <a:solidFill>
            <a:srgbClr val="E8F7EE"/>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9912" y="2313432"/>
            <a:ext cx="1472184" cy="813816"/>
          </a:xfrm>
          <a:prstGeom prst="rect">
            <a:avLst/>
          </a:prstGeom>
          <a:noFill/>
        </p:spPr>
        <p:txBody>
          <a:bodyPr wrap="square" lIns="18288" rIns="18288" tIns="18288" bIns="18288" anchor="ctr">
            <a:spAutoFit/>
          </a:bodyPr>
          <a:lstStyle/>
          <a:p>
            <a:pPr algn="ctr">
              <a:spcBef>
                <a:spcPts val="0"/>
              </a:spcBef>
              <a:spcAft>
                <a:spcPts val="0"/>
              </a:spcAft>
            </a:pPr>
            <a:r>
              <a:rPr sz="1700" b="1">
                <a:solidFill>
                  <a:srgbClr val="246F46"/>
                </a:solidFill>
                <a:latin typeface="Arial"/>
              </a:rPr>
              <a:t>I run tests</a:t>
            </a:r>
          </a:p>
        </p:txBody>
      </p:sp>
      <p:sp>
        <p:nvSpPr>
          <p:cNvPr id="23" name="TextBox 22"/>
          <p:cNvSpPr txBox="1"/>
          <p:nvPr/>
        </p:nvSpPr>
        <p:spPr>
          <a:xfrm>
            <a:off x="10040112" y="2432304"/>
            <a:ext cx="182880" cy="274320"/>
          </a:xfrm>
          <a:prstGeom prst="rect">
            <a:avLst/>
          </a:prstGeom>
          <a:noFill/>
        </p:spPr>
        <p:txBody>
          <a:bodyPr wrap="square" lIns="18288" rIns="18288" tIns="18288" bIns="18288" anchor="ctr">
            <a:spAutoFit/>
          </a:bodyPr>
          <a:lstStyle/>
          <a:p>
            <a:pPr algn="l">
              <a:spcBef>
                <a:spcPts val="0"/>
              </a:spcBef>
              <a:spcAft>
                <a:spcPts val="0"/>
              </a:spcAft>
            </a:pPr>
            <a:r>
              <a:rPr sz="2100" b="1">
                <a:solidFill>
                  <a:srgbClr val="5B6874"/>
                </a:solidFill>
                <a:latin typeface="Arial"/>
              </a:rPr>
              <a:t>→</a:t>
            </a:r>
          </a:p>
        </p:txBody>
      </p:sp>
      <p:sp>
        <p:nvSpPr>
          <p:cNvPr id="24" name="Rounded Rectangle 23"/>
          <p:cNvSpPr/>
          <p:nvPr/>
        </p:nvSpPr>
        <p:spPr>
          <a:xfrm>
            <a:off x="10222992" y="2148840"/>
            <a:ext cx="1709928" cy="1133856"/>
          </a:xfrm>
          <a:prstGeom prst="roundRect">
            <a:avLst/>
          </a:prstGeom>
          <a:solidFill>
            <a:srgbClr val="E8F7EE"/>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41864" y="2313432"/>
            <a:ext cx="1472184" cy="813816"/>
          </a:xfrm>
          <a:prstGeom prst="rect">
            <a:avLst/>
          </a:prstGeom>
          <a:noFill/>
        </p:spPr>
        <p:txBody>
          <a:bodyPr wrap="square" lIns="18288" rIns="18288" tIns="18288" bIns="18288" anchor="ctr">
            <a:spAutoFit/>
          </a:bodyPr>
          <a:lstStyle/>
          <a:p>
            <a:pPr algn="ctr">
              <a:spcBef>
                <a:spcPts val="0"/>
              </a:spcBef>
              <a:spcAft>
                <a:spcPts val="0"/>
              </a:spcAft>
            </a:pPr>
            <a:r>
              <a:rPr sz="1700" b="1">
                <a:solidFill>
                  <a:srgbClr val="246F46"/>
                </a:solidFill>
                <a:latin typeface="Arial"/>
              </a:rPr>
              <a:t>Measure again</a:t>
            </a:r>
          </a:p>
        </p:txBody>
      </p:sp>
      <p:sp>
        <p:nvSpPr>
          <p:cNvPr id="26" name="Rounded Rectangle 25"/>
          <p:cNvSpPr/>
          <p:nvPr/>
        </p:nvSpPr>
        <p:spPr>
          <a:xfrm>
            <a:off x="1097280" y="3822191"/>
            <a:ext cx="9985248" cy="1225296"/>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08176" y="4087368"/>
            <a:ext cx="9363456" cy="704088"/>
          </a:xfrm>
          <a:prstGeom prst="rect">
            <a:avLst/>
          </a:prstGeom>
          <a:noFill/>
        </p:spPr>
        <p:txBody>
          <a:bodyPr wrap="square" lIns="18288" rIns="18288" tIns="18288" bIns="18288" anchor="ctr">
            <a:spAutoFit/>
          </a:bodyPr>
          <a:lstStyle/>
          <a:p>
            <a:pPr algn="ctr">
              <a:spcBef>
                <a:spcPts val="0"/>
              </a:spcBef>
              <a:spcAft>
                <a:spcPts val="0"/>
              </a:spcAft>
            </a:pPr>
            <a:r>
              <a:rPr sz="2200" b="1">
                <a:solidFill>
                  <a:srgbClr val="252B33"/>
                </a:solidFill>
                <a:latin typeface="Arial"/>
              </a:rPr>
              <a:t>An AI suggestion is not proof: I check it, then the same tool measures the result.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0F676D"/>
                </a:solidFill>
                <a:latin typeface="Arial"/>
              </a:rPr>
              <a:t>METHOD</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The three branches changed different code</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Table 4.3; Appendices E-G</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0F676D"/>
                </a:solidFill>
                <a:latin typeface="Arial"/>
              </a:rPr>
              <a:t>12</a:t>
            </a:r>
          </a:p>
        </p:txBody>
      </p:sp>
      <p:graphicFrame>
        <p:nvGraphicFramePr>
          <p:cNvPr id="9" name="Table 8"/>
          <p:cNvGraphicFramePr>
            <a:graphicFrameLocks noGrp="1"/>
          </p:cNvGraphicFramePr>
          <p:nvPr/>
        </p:nvGraphicFramePr>
        <p:xfrm>
          <a:off x="731520" y="1508760"/>
          <a:ext cx="10716767" cy="3273552"/>
        </p:xfrm>
        <a:graphic>
          <a:graphicData uri="http://schemas.openxmlformats.org/drawingml/2006/table">
            <a:tbl>
              <a:tblPr firstRow="1" bandRow="1">
                <a:tableStyleId>{5C22544A-7EE6-4342-B048-85BDC9FD1C3A}</a:tableStyleId>
              </a:tblPr>
              <a:tblGrid>
                <a:gridCol w="2143353"/>
                <a:gridCol w="4608210"/>
                <a:gridCol w="3965204"/>
              </a:tblGrid>
              <a:tr h="818388">
                <a:tc>
                  <a:txBody>
                    <a:bodyPr/>
                    <a:lstStyle/>
                    <a:p>
                      <a:pPr algn="l">
                        <a:spcAft>
                          <a:spcPts val="0"/>
                        </a:spcAft>
                      </a:pPr>
                      <a:r>
                        <a:rPr sz="1800" b="1">
                          <a:solidFill>
                            <a:srgbClr val="FFFFFF"/>
                          </a:solidFill>
                          <a:latin typeface="Arial"/>
                        </a:rPr>
                        <a:t>Track</a:t>
                      </a:r>
                    </a:p>
                  </a:txBody>
                  <a:tcPr marL="109728" marR="91440" marT="36576" marB="36576">
                    <a:solidFill>
                      <a:srgbClr val="252B33"/>
                    </a:solidFill>
                  </a:tcPr>
                </a:tc>
                <a:tc>
                  <a:txBody>
                    <a:bodyPr/>
                    <a:lstStyle/>
                    <a:p>
                      <a:pPr algn="l">
                        <a:spcAft>
                          <a:spcPts val="0"/>
                        </a:spcAft>
                      </a:pPr>
                      <a:r>
                        <a:rPr sz="1800" b="1">
                          <a:solidFill>
                            <a:srgbClr val="FFFFFF"/>
                          </a:solidFill>
                          <a:latin typeface="Arial"/>
                        </a:rPr>
                        <a:t>Representative change</a:t>
                      </a:r>
                    </a:p>
                  </a:txBody>
                  <a:tcPr marL="109728" marR="91440" marT="36576" marB="36576">
                    <a:solidFill>
                      <a:srgbClr val="252B33"/>
                    </a:solidFill>
                  </a:tcPr>
                </a:tc>
                <a:tc>
                  <a:txBody>
                    <a:bodyPr/>
                    <a:lstStyle/>
                    <a:p>
                      <a:pPr algn="l">
                        <a:spcAft>
                          <a:spcPts val="0"/>
                        </a:spcAft>
                      </a:pPr>
                      <a:r>
                        <a:rPr sz="1800" b="1">
                          <a:solidFill>
                            <a:srgbClr val="FFFFFF"/>
                          </a:solidFill>
                          <a:latin typeface="Arial"/>
                        </a:rPr>
                        <a:t>What it was meant to address</a:t>
                      </a:r>
                    </a:p>
                  </a:txBody>
                  <a:tcPr marL="109728" marR="91440" marT="36576" marB="36576">
                    <a:solidFill>
                      <a:srgbClr val="252B33"/>
                    </a:solidFill>
                  </a:tcPr>
                </a:tc>
              </a:tr>
              <a:tr h="818388">
                <a:tc>
                  <a:txBody>
                    <a:bodyPr/>
                    <a:lstStyle/>
                    <a:p>
                      <a:pPr algn="l">
                        <a:spcAft>
                          <a:spcPts val="0"/>
                        </a:spcAft>
                      </a:pPr>
                      <a:r>
                        <a:rPr sz="1800" b="0">
                          <a:solidFill>
                            <a:srgbClr val="252B33"/>
                          </a:solidFill>
                          <a:latin typeface="Arial"/>
                        </a:rPr>
                        <a:t>SonarQube</a:t>
                      </a:r>
                    </a:p>
                  </a:txBody>
                  <a:tcPr marL="109728" marR="91440" marT="36576" marB="36576">
                    <a:solidFill>
                      <a:srgbClr val="FFFFFF"/>
                    </a:solidFill>
                  </a:tcPr>
                </a:tc>
                <a:tc>
                  <a:txBody>
                    <a:bodyPr/>
                    <a:lstStyle/>
                    <a:p>
                      <a:pPr algn="l">
                        <a:spcAft>
                          <a:spcPts val="0"/>
                        </a:spcAft>
                      </a:pPr>
                      <a:r>
                        <a:rPr sz="1800" b="0">
                          <a:solidFill>
                            <a:srgbClr val="252B33"/>
                          </a:solidFill>
                          <a:latin typeface="Arial"/>
                        </a:rPr>
                        <a:t>Eight query parameters → JournalEntryQueryDto</a:t>
                      </a:r>
                    </a:p>
                  </a:txBody>
                  <a:tcPr marL="109728" marR="91440" marT="36576" marB="36576">
                    <a:solidFill>
                      <a:srgbClr val="FFFFFF"/>
                    </a:solidFill>
                  </a:tcPr>
                </a:tc>
                <a:tc>
                  <a:txBody>
                    <a:bodyPr/>
                    <a:lstStyle/>
                    <a:p>
                      <a:pPr algn="l">
                        <a:spcAft>
                          <a:spcPts val="0"/>
                        </a:spcAft>
                      </a:pPr>
                      <a:r>
                        <a:rPr sz="1800" b="0">
                          <a:solidFill>
                            <a:srgbClr val="252B33"/>
                          </a:solidFill>
                          <a:latin typeface="Arial"/>
                        </a:rPr>
                        <a:t>Controller maintainability finding S107</a:t>
                      </a:r>
                    </a:p>
                  </a:txBody>
                  <a:tcPr marL="109728" marR="91440" marT="36576" marB="36576">
                    <a:solidFill>
                      <a:srgbClr val="FFFFFF"/>
                    </a:solidFill>
                  </a:tcPr>
                </a:tc>
              </a:tr>
              <a:tr h="818388">
                <a:tc>
                  <a:txBody>
                    <a:bodyPr/>
                    <a:lstStyle/>
                    <a:p>
                      <a:pPr algn="l">
                        <a:spcAft>
                          <a:spcPts val="0"/>
                        </a:spcAft>
                      </a:pPr>
                      <a:r>
                        <a:rPr sz="1800" b="0">
                          <a:solidFill>
                            <a:srgbClr val="252B33"/>
                          </a:solidFill>
                          <a:latin typeface="Arial"/>
                        </a:rPr>
                        <a:t>ZAP</a:t>
                      </a:r>
                    </a:p>
                  </a:txBody>
                  <a:tcPr marL="109728" marR="91440" marT="36576" marB="36576">
                    <a:solidFill>
                      <a:srgbClr val="F7F9FC"/>
                    </a:solidFill>
                  </a:tcPr>
                </a:tc>
                <a:tc>
                  <a:txBody>
                    <a:bodyPr/>
                    <a:lstStyle/>
                    <a:p>
                      <a:pPr algn="l">
                        <a:spcAft>
                          <a:spcPts val="0"/>
                        </a:spcAft>
                      </a:pPr>
                      <a:r>
                        <a:rPr sz="1800" b="0">
                          <a:solidFill>
                            <a:srgbClr val="252B33"/>
                          </a:solidFill>
                          <a:latin typeface="Arial"/>
                        </a:rPr>
                        <a:t>SecurityHeadersMiddleware before Swagger</a:t>
                      </a:r>
                    </a:p>
                  </a:txBody>
                  <a:tcPr marL="109728" marR="91440" marT="36576" marB="36576">
                    <a:solidFill>
                      <a:srgbClr val="F7F9FC"/>
                    </a:solidFill>
                  </a:tcPr>
                </a:tc>
                <a:tc>
                  <a:txBody>
                    <a:bodyPr/>
                    <a:lstStyle/>
                    <a:p>
                      <a:pPr algn="l">
                        <a:spcAft>
                          <a:spcPts val="0"/>
                        </a:spcAft>
                      </a:pPr>
                      <a:r>
                        <a:rPr sz="1800" b="0">
                          <a:solidFill>
                            <a:srgbClr val="252B33"/>
                          </a:solidFill>
                          <a:latin typeface="Arial"/>
                        </a:rPr>
                        <a:t>Browser-facing security headers</a:t>
                      </a:r>
                    </a:p>
                  </a:txBody>
                  <a:tcPr marL="109728" marR="91440" marT="36576" marB="36576">
                    <a:solidFill>
                      <a:srgbClr val="F7F9FC"/>
                    </a:solidFill>
                  </a:tcPr>
                </a:tc>
              </a:tr>
              <a:tr h="818388">
                <a:tc>
                  <a:txBody>
                    <a:bodyPr/>
                    <a:lstStyle/>
                    <a:p>
                      <a:pPr algn="l">
                        <a:spcAft>
                          <a:spcPts val="0"/>
                        </a:spcAft>
                      </a:pPr>
                      <a:r>
                        <a:rPr sz="1800" b="0">
                          <a:solidFill>
                            <a:srgbClr val="252B33"/>
                          </a:solidFill>
                          <a:latin typeface="Arial"/>
                        </a:rPr>
                        <a:t>JMeter</a:t>
                      </a:r>
                    </a:p>
                  </a:txBody>
                  <a:tcPr marL="109728" marR="91440" marT="36576" marB="36576">
                    <a:solidFill>
                      <a:srgbClr val="FFFFFF"/>
                    </a:solidFill>
                  </a:tcPr>
                </a:tc>
                <a:tc>
                  <a:txBody>
                    <a:bodyPr/>
                    <a:lstStyle/>
                    <a:p>
                      <a:pPr algn="l">
                        <a:spcAft>
                          <a:spcPts val="0"/>
                        </a:spcAft>
                      </a:pPr>
                      <a:r>
                        <a:rPr sz="1800" b="0">
                          <a:solidFill>
                            <a:srgbClr val="252B33"/>
                          </a:solidFill>
                          <a:latin typeface="Arial"/>
                        </a:rPr>
                        <a:t>Cache ledger data; avoid repeated report snapshot writes</a:t>
                      </a:r>
                    </a:p>
                  </a:txBody>
                  <a:tcPr marL="109728" marR="91440" marT="36576" marB="36576">
                    <a:solidFill>
                      <a:srgbClr val="FFFFFF"/>
                    </a:solidFill>
                  </a:tcPr>
                </a:tc>
                <a:tc>
                  <a:txBody>
                    <a:bodyPr/>
                    <a:lstStyle/>
                    <a:p>
                      <a:pPr algn="l">
                        <a:spcAft>
                          <a:spcPts val="0"/>
                        </a:spcAft>
                      </a:pPr>
                      <a:r>
                        <a:rPr sz="1800" b="0">
                          <a:solidFill>
                            <a:srgbClr val="252B33"/>
                          </a:solidFill>
                          <a:latin typeface="Arial"/>
                        </a:rPr>
                        <a:t>Reduce repeated report and database work</a:t>
                      </a:r>
                    </a:p>
                  </a:txBody>
                  <a:tcPr marL="109728" marR="91440" marT="36576" marB="36576">
                    <a:solidFill>
                      <a:srgbClr val="FFFFFF"/>
                    </a:solidFill>
                  </a:tcPr>
                </a:tc>
              </a:tr>
            </a:tbl>
          </a:graphicData>
        </a:graphic>
      </p:graphicFrame>
      <p:sp>
        <p:nvSpPr>
          <p:cNvPr id="10" name="TextBox 9"/>
          <p:cNvSpPr txBox="1"/>
          <p:nvPr/>
        </p:nvSpPr>
        <p:spPr>
          <a:xfrm>
            <a:off x="758952" y="5166360"/>
            <a:ext cx="10716768" cy="457200"/>
          </a:xfrm>
          <a:prstGeom prst="rect">
            <a:avLst/>
          </a:prstGeom>
          <a:noFill/>
        </p:spPr>
        <p:txBody>
          <a:bodyPr wrap="square" lIns="18288" rIns="18288" tIns="18288" bIns="18288" anchor="ctr">
            <a:spAutoFit/>
          </a:bodyPr>
          <a:lstStyle/>
          <a:p>
            <a:pPr algn="l">
              <a:spcBef>
                <a:spcPts val="0"/>
              </a:spcBef>
              <a:spcAft>
                <a:spcPts val="0"/>
              </a:spcAft>
            </a:pPr>
            <a:r>
              <a:rPr sz="2000" b="1">
                <a:solidFill>
                  <a:srgbClr val="0F676D"/>
                </a:solidFill>
                <a:latin typeface="Arial"/>
              </a:rPr>
              <a:t>Mechanism and measured outcome are shown separately on the next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6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246F46"/>
                </a:solidFill>
                <a:latin typeface="Arial"/>
              </a:rPr>
              <a:t>RESULTS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SonarQube closed all 17 fresh issues</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§4.2; Table 4.2; Figures L.1-L.4</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246F46"/>
                </a:solidFill>
                <a:latin typeface="Arial"/>
              </a:rPr>
              <a:t>13</a:t>
            </a:r>
          </a:p>
        </p:txBody>
      </p:sp>
      <p:sp>
        <p:nvSpPr>
          <p:cNvPr id="9" name="Rounded Rectangle 8"/>
          <p:cNvSpPr/>
          <p:nvPr/>
        </p:nvSpPr>
        <p:spPr>
          <a:xfrm>
            <a:off x="731520" y="1371600"/>
            <a:ext cx="3438144" cy="1115568"/>
          </a:xfrm>
          <a:prstGeom prst="roundRect">
            <a:avLst/>
          </a:prstGeom>
          <a:solidFill>
            <a:srgbClr val="E8F7EE"/>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481328"/>
            <a:ext cx="3108960" cy="201168"/>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5B6874"/>
                </a:solidFill>
                <a:latin typeface="Arial"/>
              </a:rPr>
              <a:t>UNIQUE ISSUES</a:t>
            </a:r>
          </a:p>
        </p:txBody>
      </p:sp>
      <p:sp>
        <p:nvSpPr>
          <p:cNvPr id="11" name="TextBox 10"/>
          <p:cNvSpPr txBox="1"/>
          <p:nvPr/>
        </p:nvSpPr>
        <p:spPr>
          <a:xfrm>
            <a:off x="896112" y="1728216"/>
            <a:ext cx="3108960" cy="411480"/>
          </a:xfrm>
          <a:prstGeom prst="rect">
            <a:avLst/>
          </a:prstGeom>
          <a:noFill/>
        </p:spPr>
        <p:txBody>
          <a:bodyPr wrap="square" lIns="18288" rIns="18288" tIns="18288" bIns="18288" anchor="ctr">
            <a:spAutoFit/>
          </a:bodyPr>
          <a:lstStyle/>
          <a:p>
            <a:pPr algn="l">
              <a:spcBef>
                <a:spcPts val="0"/>
              </a:spcBef>
              <a:spcAft>
                <a:spcPts val="0"/>
              </a:spcAft>
            </a:pPr>
            <a:r>
              <a:rPr sz="2500" b="1">
                <a:solidFill>
                  <a:srgbClr val="246F46"/>
                </a:solidFill>
                <a:latin typeface="Arial"/>
              </a:rPr>
              <a:t>17 → 0</a:t>
            </a:r>
          </a:p>
        </p:txBody>
      </p:sp>
      <p:sp>
        <p:nvSpPr>
          <p:cNvPr id="12" name="TextBox 11"/>
          <p:cNvSpPr txBox="1"/>
          <p:nvPr/>
        </p:nvSpPr>
        <p:spPr>
          <a:xfrm>
            <a:off x="896112" y="2221992"/>
            <a:ext cx="3108960" cy="164592"/>
          </a:xfrm>
          <a:prstGeom prst="rect">
            <a:avLst/>
          </a:prstGeom>
          <a:noFill/>
        </p:spPr>
        <p:txBody>
          <a:bodyPr wrap="square" lIns="18288" rIns="18288" tIns="18288" bIns="18288" anchor="ctr">
            <a:spAutoFit/>
          </a:bodyPr>
          <a:lstStyle/>
          <a:p>
            <a:pPr algn="l">
              <a:spcBef>
                <a:spcPts val="0"/>
              </a:spcBef>
              <a:spcAft>
                <a:spcPts val="0"/>
              </a:spcAft>
            </a:pPr>
            <a:r>
              <a:rPr sz="1100" b="0">
                <a:solidFill>
                  <a:srgbClr val="5B6874"/>
                </a:solidFill>
                <a:latin typeface="Arial"/>
              </a:rPr>
              <a:t>Current run</a:t>
            </a:r>
          </a:p>
        </p:txBody>
      </p:sp>
      <p:sp>
        <p:nvSpPr>
          <p:cNvPr id="13" name="Rounded Rectangle 12"/>
          <p:cNvSpPr/>
          <p:nvPr/>
        </p:nvSpPr>
        <p:spPr>
          <a:xfrm>
            <a:off x="4370832" y="1371600"/>
            <a:ext cx="3438144" cy="1115568"/>
          </a:xfrm>
          <a:prstGeom prst="roundRect">
            <a:avLst/>
          </a:prstGeom>
          <a:solidFill>
            <a:srgbClr val="E8F7EE"/>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1481328"/>
            <a:ext cx="3108960" cy="201168"/>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5B6874"/>
                </a:solidFill>
                <a:latin typeface="Arial"/>
              </a:rPr>
              <a:t>QUALITY GATE</a:t>
            </a:r>
          </a:p>
        </p:txBody>
      </p:sp>
      <p:sp>
        <p:nvSpPr>
          <p:cNvPr id="15" name="TextBox 14"/>
          <p:cNvSpPr txBox="1"/>
          <p:nvPr/>
        </p:nvSpPr>
        <p:spPr>
          <a:xfrm>
            <a:off x="4535424" y="1728216"/>
            <a:ext cx="3108960" cy="411480"/>
          </a:xfrm>
          <a:prstGeom prst="rect">
            <a:avLst/>
          </a:prstGeom>
          <a:noFill/>
        </p:spPr>
        <p:txBody>
          <a:bodyPr wrap="square" lIns="18288" rIns="18288" tIns="18288" bIns="18288" anchor="ctr">
            <a:spAutoFit/>
          </a:bodyPr>
          <a:lstStyle/>
          <a:p>
            <a:pPr algn="l">
              <a:spcBef>
                <a:spcPts val="0"/>
              </a:spcBef>
              <a:spcAft>
                <a:spcPts val="0"/>
              </a:spcAft>
            </a:pPr>
            <a:r>
              <a:rPr sz="2500" b="1">
                <a:solidFill>
                  <a:srgbClr val="246F46"/>
                </a:solidFill>
                <a:latin typeface="Arial"/>
              </a:rPr>
              <a:t>OK → OK</a:t>
            </a:r>
          </a:p>
        </p:txBody>
      </p:sp>
      <p:sp>
        <p:nvSpPr>
          <p:cNvPr id="16" name="TextBox 15"/>
          <p:cNvSpPr txBox="1"/>
          <p:nvPr/>
        </p:nvSpPr>
        <p:spPr>
          <a:xfrm>
            <a:off x="4535424" y="2221992"/>
            <a:ext cx="3108960" cy="164592"/>
          </a:xfrm>
          <a:prstGeom prst="rect">
            <a:avLst/>
          </a:prstGeom>
          <a:noFill/>
        </p:spPr>
        <p:txBody>
          <a:bodyPr wrap="square" lIns="18288" rIns="18288" tIns="18288" bIns="18288" anchor="ctr">
            <a:spAutoFit/>
          </a:bodyPr>
          <a:lstStyle/>
          <a:p>
            <a:pPr algn="l">
              <a:spcBef>
                <a:spcPts val="0"/>
              </a:spcBef>
              <a:spcAft>
                <a:spcPts val="0"/>
              </a:spcAft>
            </a:pPr>
            <a:r>
              <a:rPr sz="1100" b="0">
                <a:solidFill>
                  <a:srgbClr val="5B6874"/>
                </a:solidFill>
                <a:latin typeface="Arial"/>
              </a:rPr>
              <a:t>No gate conditions recorded</a:t>
            </a:r>
          </a:p>
        </p:txBody>
      </p:sp>
      <p:sp>
        <p:nvSpPr>
          <p:cNvPr id="17" name="Rounded Rectangle 16"/>
          <p:cNvSpPr/>
          <p:nvPr/>
        </p:nvSpPr>
        <p:spPr>
          <a:xfrm>
            <a:off x="8010144" y="1371600"/>
            <a:ext cx="3438144" cy="1115568"/>
          </a:xfrm>
          <a:prstGeom prst="roundRect">
            <a:avLst/>
          </a:prstGeom>
          <a:solidFill>
            <a:srgbClr val="FFF6E7"/>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74736" y="1481328"/>
            <a:ext cx="3108960" cy="201168"/>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5B6874"/>
                </a:solidFill>
                <a:latin typeface="Arial"/>
              </a:rPr>
              <a:t>COVERAGE</a:t>
            </a:r>
          </a:p>
        </p:txBody>
      </p:sp>
      <p:sp>
        <p:nvSpPr>
          <p:cNvPr id="19" name="TextBox 18"/>
          <p:cNvSpPr txBox="1"/>
          <p:nvPr/>
        </p:nvSpPr>
        <p:spPr>
          <a:xfrm>
            <a:off x="8174736" y="1728216"/>
            <a:ext cx="3108960" cy="411480"/>
          </a:xfrm>
          <a:prstGeom prst="rect">
            <a:avLst/>
          </a:prstGeom>
          <a:noFill/>
        </p:spPr>
        <p:txBody>
          <a:bodyPr wrap="square" lIns="18288" rIns="18288" tIns="18288" bIns="18288" anchor="ctr">
            <a:spAutoFit/>
          </a:bodyPr>
          <a:lstStyle/>
          <a:p>
            <a:pPr algn="l">
              <a:spcBef>
                <a:spcPts val="0"/>
              </a:spcBef>
              <a:spcAft>
                <a:spcPts val="0"/>
              </a:spcAft>
            </a:pPr>
            <a:r>
              <a:rPr sz="2500" b="1">
                <a:solidFill>
                  <a:srgbClr val="BE7414"/>
                </a:solidFill>
                <a:latin typeface="Arial"/>
              </a:rPr>
              <a:t>74.4 → 74.3%</a:t>
            </a:r>
          </a:p>
        </p:txBody>
      </p:sp>
      <p:sp>
        <p:nvSpPr>
          <p:cNvPr id="20" name="TextBox 19"/>
          <p:cNvSpPr txBox="1"/>
          <p:nvPr/>
        </p:nvSpPr>
        <p:spPr>
          <a:xfrm>
            <a:off x="8174736" y="2221992"/>
            <a:ext cx="3108960" cy="164592"/>
          </a:xfrm>
          <a:prstGeom prst="rect">
            <a:avLst/>
          </a:prstGeom>
          <a:noFill/>
        </p:spPr>
        <p:txBody>
          <a:bodyPr wrap="square" lIns="18288" rIns="18288" tIns="18288" bIns="18288" anchor="ctr">
            <a:spAutoFit/>
          </a:bodyPr>
          <a:lstStyle/>
          <a:p>
            <a:pPr algn="l">
              <a:spcBef>
                <a:spcPts val="0"/>
              </a:spcBef>
              <a:spcAft>
                <a:spcPts val="0"/>
              </a:spcAft>
            </a:pPr>
            <a:r>
              <a:rPr sz="1100" b="0">
                <a:solidFill>
                  <a:srgbClr val="5B6874"/>
                </a:solidFill>
                <a:latin typeface="Arial"/>
              </a:rPr>
              <a:t>Down 0.1 percentage point</a:t>
            </a:r>
          </a:p>
        </p:txBody>
      </p:sp>
      <p:sp>
        <p:nvSpPr>
          <p:cNvPr id="21" name="Rounded Rectangle 20"/>
          <p:cNvSpPr/>
          <p:nvPr/>
        </p:nvSpPr>
        <p:spPr>
          <a:xfrm>
            <a:off x="731520" y="2871216"/>
            <a:ext cx="10716768" cy="210312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6696" y="3154680"/>
            <a:ext cx="9966960" cy="365760"/>
          </a:xfrm>
          <a:prstGeom prst="rect">
            <a:avLst/>
          </a:prstGeom>
          <a:noFill/>
        </p:spPr>
        <p:txBody>
          <a:bodyPr wrap="square" lIns="18288" rIns="18288" tIns="18288" bIns="18288" anchor="ctr">
            <a:spAutoFit/>
          </a:bodyPr>
          <a:lstStyle/>
          <a:p>
            <a:pPr algn="l">
              <a:spcBef>
                <a:spcPts val="0"/>
              </a:spcBef>
              <a:spcAft>
                <a:spcPts val="0"/>
              </a:spcAft>
            </a:pPr>
            <a:r>
              <a:rPr sz="2200" b="1">
                <a:solidFill>
                  <a:srgbClr val="0F676D"/>
                </a:solidFill>
                <a:latin typeface="Arial"/>
              </a:rPr>
              <a:t>Do not add impact counts together</a:t>
            </a:r>
          </a:p>
        </p:txBody>
      </p:sp>
      <p:sp>
        <p:nvSpPr>
          <p:cNvPr id="23" name="TextBox 22"/>
          <p:cNvSpPr txBox="1"/>
          <p:nvPr/>
        </p:nvSpPr>
        <p:spPr>
          <a:xfrm>
            <a:off x="996696" y="3657600"/>
            <a:ext cx="9948672" cy="758952"/>
          </a:xfrm>
          <a:prstGeom prst="rect">
            <a:avLst/>
          </a:prstGeom>
          <a:noFill/>
        </p:spPr>
        <p:txBody>
          <a:bodyPr wrap="square" lIns="18288" rIns="18288" tIns="18288" bIns="18288" anchor="ctr">
            <a:spAutoFit/>
          </a:bodyPr>
          <a:lstStyle/>
          <a:p>
            <a:pPr algn="l">
              <a:spcBef>
                <a:spcPts val="0"/>
              </a:spcBef>
              <a:spcAft>
                <a:spcPts val="0"/>
              </a:spcAft>
            </a:pPr>
            <a:r>
              <a:rPr sz="1900" b="0">
                <a:solidFill>
                  <a:srgbClr val="252B33"/>
                </a:solidFill>
                <a:latin typeface="Arial"/>
              </a:rPr>
              <a:t>The 17 findings had overlapping impacts: Reliability 2, Security 1, Maintainability 16. Complexity rose 886 → 889; duplication stayed 0.0%.</a:t>
            </a:r>
          </a:p>
        </p:txBody>
      </p:sp>
      <p:sp>
        <p:nvSpPr>
          <p:cNvPr id="24" name="TextBox 23"/>
          <p:cNvSpPr txBox="1"/>
          <p:nvPr/>
        </p:nvSpPr>
        <p:spPr>
          <a:xfrm>
            <a:off x="996696" y="4480560"/>
            <a:ext cx="9948672" cy="402336"/>
          </a:xfrm>
          <a:prstGeom prst="rect">
            <a:avLst/>
          </a:prstGeom>
          <a:noFill/>
        </p:spPr>
        <p:txBody>
          <a:bodyPr wrap="square" lIns="18288" rIns="18288" tIns="18288" bIns="18288" anchor="ctr">
            <a:spAutoFit/>
          </a:bodyPr>
          <a:lstStyle/>
          <a:p>
            <a:pPr algn="l">
              <a:spcBef>
                <a:spcPts val="0"/>
              </a:spcBef>
              <a:spcAft>
                <a:spcPts val="0"/>
              </a:spcAft>
            </a:pPr>
            <a:r>
              <a:rPr sz="1600" b="0">
                <a:solidFill>
                  <a:srgbClr val="5B6874"/>
                </a:solidFill>
                <a:latin typeface="Arial"/>
              </a:rPr>
              <a:t>Cyclomatic complexity counts possible decision paths through code; a higher count can need more tests.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6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246F46"/>
                </a:solidFill>
                <a:latin typeface="Arial"/>
              </a:rPr>
              <a:t>RESULTS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SonarQube issues changed; gate status did not</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capture · Appendix L, Figures L.1 and L.3</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246F46"/>
                </a:solidFill>
                <a:latin typeface="Arial"/>
              </a:rPr>
              <a:t>14</a:t>
            </a:r>
          </a:p>
        </p:txBody>
      </p:sp>
      <p:sp>
        <p:nvSpPr>
          <p:cNvPr id="9" name="TextBox 8"/>
          <p:cNvSpPr txBox="1"/>
          <p:nvPr/>
        </p:nvSpPr>
        <p:spPr>
          <a:xfrm>
            <a:off x="804672" y="1298448"/>
            <a:ext cx="5138928" cy="347472"/>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466C"/>
                </a:solidFill>
                <a:latin typeface="Arial"/>
              </a:rPr>
              <a:t>Baseline · commit 7a0469d9</a:t>
            </a:r>
          </a:p>
        </p:txBody>
      </p:sp>
      <p:sp>
        <p:nvSpPr>
          <p:cNvPr id="10" name="TextBox 9"/>
          <p:cNvSpPr txBox="1"/>
          <p:nvPr/>
        </p:nvSpPr>
        <p:spPr>
          <a:xfrm>
            <a:off x="6236208" y="1298448"/>
            <a:ext cx="5138928" cy="347472"/>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6F46"/>
                </a:solidFill>
                <a:latin typeface="Arial"/>
              </a:rPr>
              <a:t>Remediation · commit a2279bcb</a:t>
            </a:r>
          </a:p>
        </p:txBody>
      </p:sp>
      <p:pic>
        <p:nvPicPr>
          <p:cNvPr id="11" name="Picture 10" descr="sonarqube-baseline-overview.png"/>
          <p:cNvPicPr>
            <a:picLocks noChangeAspect="1"/>
          </p:cNvPicPr>
          <p:nvPr/>
        </p:nvPicPr>
        <p:blipFill>
          <a:blip r:embed="rId2"/>
          <a:stretch>
            <a:fillRect/>
          </a:stretch>
        </p:blipFill>
        <p:spPr>
          <a:xfrm>
            <a:off x="825703" y="1719072"/>
            <a:ext cx="5069433" cy="3520440"/>
          </a:xfrm>
          <a:prstGeom prst="rect">
            <a:avLst/>
          </a:prstGeom>
        </p:spPr>
      </p:pic>
      <p:sp>
        <p:nvSpPr>
          <p:cNvPr id="12" name="Rectangle 11"/>
          <p:cNvSpPr/>
          <p:nvPr/>
        </p:nvSpPr>
        <p:spPr>
          <a:xfrm>
            <a:off x="825703" y="1719072"/>
            <a:ext cx="5069433" cy="352044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onarqube-remediation-overview.png"/>
          <p:cNvPicPr>
            <a:picLocks noChangeAspect="1"/>
          </p:cNvPicPr>
          <p:nvPr/>
        </p:nvPicPr>
        <p:blipFill>
          <a:blip r:embed="rId3"/>
          <a:stretch>
            <a:fillRect/>
          </a:stretch>
        </p:blipFill>
        <p:spPr>
          <a:xfrm>
            <a:off x="6275527" y="1719072"/>
            <a:ext cx="5069433" cy="3520440"/>
          </a:xfrm>
          <a:prstGeom prst="rect">
            <a:avLst/>
          </a:prstGeom>
        </p:spPr>
      </p:pic>
      <p:sp>
        <p:nvSpPr>
          <p:cNvPr id="14" name="Rectangle 13"/>
          <p:cNvSpPr/>
          <p:nvPr/>
        </p:nvSpPr>
        <p:spPr>
          <a:xfrm>
            <a:off x="6275527" y="1719072"/>
            <a:ext cx="5069433" cy="352044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8096" y="5413248"/>
            <a:ext cx="10643616" cy="685800"/>
          </a:xfrm>
          <a:prstGeom prst="roundRect">
            <a:avLst/>
          </a:prstGeom>
          <a:solidFill>
            <a:srgbClr val="E8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5495544"/>
            <a:ext cx="10232136" cy="502920"/>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246F46"/>
                </a:solidFill>
                <a:latin typeface="Arial"/>
              </a:rPr>
              <a:t>Gate OK/OK has no recorded conditions; the measured improvement is 17 issues → 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6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246F46"/>
                </a:solidFill>
                <a:latin typeface="Arial"/>
              </a:rPr>
              <a:t>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Two SonarQube fixes in source code</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Appendix E, Listings E.1-E.2</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246F46"/>
                </a:solidFill>
                <a:latin typeface="Arial"/>
              </a:rPr>
              <a:t>15</a:t>
            </a:r>
          </a:p>
        </p:txBody>
      </p:sp>
      <p:sp>
        <p:nvSpPr>
          <p:cNvPr id="9" name="Rounded Rectangle 8"/>
          <p:cNvSpPr/>
          <p:nvPr/>
        </p:nvSpPr>
        <p:spPr>
          <a:xfrm>
            <a:off x="731520" y="1408176"/>
            <a:ext cx="5212080" cy="4471416"/>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36208" y="1408176"/>
            <a:ext cx="5212080" cy="4471416"/>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664208"/>
            <a:ext cx="4700016" cy="347472"/>
          </a:xfrm>
          <a:prstGeom prst="rect">
            <a:avLst/>
          </a:prstGeom>
          <a:noFill/>
        </p:spPr>
        <p:txBody>
          <a:bodyPr wrap="square" lIns="18288" rIns="18288" tIns="18288" bIns="18288" anchor="ctr">
            <a:spAutoFit/>
          </a:bodyPr>
          <a:lstStyle/>
          <a:p>
            <a:pPr algn="l">
              <a:spcBef>
                <a:spcPts val="0"/>
              </a:spcBef>
              <a:spcAft>
                <a:spcPts val="0"/>
              </a:spcAft>
            </a:pPr>
            <a:r>
              <a:rPr sz="1800" b="1">
                <a:solidFill>
                  <a:srgbClr val="B3373D"/>
                </a:solidFill>
                <a:latin typeface="Arial"/>
              </a:rPr>
              <a:t>BEFORE · shared baseline</a:t>
            </a:r>
          </a:p>
        </p:txBody>
      </p:sp>
      <p:sp>
        <p:nvSpPr>
          <p:cNvPr id="12" name="TextBox 11"/>
          <p:cNvSpPr txBox="1"/>
          <p:nvPr/>
        </p:nvSpPr>
        <p:spPr>
          <a:xfrm>
            <a:off x="6464808" y="1664208"/>
            <a:ext cx="4700016" cy="347472"/>
          </a:xfrm>
          <a:prstGeom prst="rect">
            <a:avLst/>
          </a:prstGeom>
          <a:noFill/>
        </p:spPr>
        <p:txBody>
          <a:bodyPr wrap="square" lIns="18288" rIns="18288" tIns="18288" bIns="18288" anchor="ctr">
            <a:spAutoFit/>
          </a:bodyPr>
          <a:lstStyle/>
          <a:p>
            <a:pPr algn="l">
              <a:spcBef>
                <a:spcPts val="0"/>
              </a:spcBef>
              <a:spcAft>
                <a:spcPts val="0"/>
              </a:spcAft>
            </a:pPr>
            <a:r>
              <a:rPr sz="1800" b="1">
                <a:solidFill>
                  <a:srgbClr val="246F46"/>
                </a:solidFill>
                <a:latin typeface="Arial"/>
              </a:rPr>
              <a:t>AFTER · SonarQube branch</a:t>
            </a:r>
          </a:p>
        </p:txBody>
      </p:sp>
      <p:sp>
        <p:nvSpPr>
          <p:cNvPr id="13" name="TextBox 12"/>
          <p:cNvSpPr txBox="1"/>
          <p:nvPr/>
        </p:nvSpPr>
        <p:spPr>
          <a:xfrm>
            <a:off x="960120" y="2176272"/>
            <a:ext cx="4700016" cy="310896"/>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5B6874"/>
                </a:solidFill>
                <a:latin typeface="Arial"/>
              </a:rPr>
              <a:t>S107: eight query inputs</a:t>
            </a:r>
          </a:p>
        </p:txBody>
      </p:sp>
      <p:sp>
        <p:nvSpPr>
          <p:cNvPr id="14" name="TextBox 13"/>
          <p:cNvSpPr txBox="1"/>
          <p:nvPr/>
        </p:nvSpPr>
        <p:spPr>
          <a:xfrm>
            <a:off x="6464808" y="2176272"/>
            <a:ext cx="4700016" cy="310896"/>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5B6874"/>
                </a:solidFill>
                <a:latin typeface="Arial"/>
              </a:rPr>
              <a:t>S107: one query DTO</a:t>
            </a:r>
          </a:p>
        </p:txBody>
      </p:sp>
      <p:sp>
        <p:nvSpPr>
          <p:cNvPr id="15" name="TextBox 14"/>
          <p:cNvSpPr txBox="1"/>
          <p:nvPr/>
        </p:nvSpPr>
        <p:spPr>
          <a:xfrm>
            <a:off x="960120" y="2615184"/>
            <a:ext cx="4690872" cy="1572768"/>
          </a:xfrm>
          <a:prstGeom prst="rect">
            <a:avLst/>
          </a:prstGeom>
          <a:noFill/>
        </p:spPr>
        <p:txBody>
          <a:bodyPr wrap="square" lIns="18288" rIns="18288" tIns="18288" bIns="18288" anchor="t">
            <a:spAutoFit/>
          </a:bodyPr>
          <a:lstStyle/>
          <a:p>
            <a:pPr algn="l">
              <a:spcBef>
                <a:spcPts val="0"/>
              </a:spcBef>
              <a:spcAft>
                <a:spcPts val="0"/>
              </a:spcAft>
            </a:pPr>
            <a:r>
              <a:rPr sz="1700" b="0">
                <a:solidFill>
                  <a:srgbClr val="252B33"/>
                </a:solidFill>
                <a:latin typeface="Courier New"/>
              </a:rPr>
              <a:t>GetPaged(
  from, to, status, accountId,
  search, page, pageSize, sort
)</a:t>
            </a:r>
          </a:p>
        </p:txBody>
      </p:sp>
      <p:sp>
        <p:nvSpPr>
          <p:cNvPr id="16" name="TextBox 15"/>
          <p:cNvSpPr txBox="1"/>
          <p:nvPr/>
        </p:nvSpPr>
        <p:spPr>
          <a:xfrm>
            <a:off x="6464808" y="2615184"/>
            <a:ext cx="4690872" cy="1572768"/>
          </a:xfrm>
          <a:prstGeom prst="rect">
            <a:avLst/>
          </a:prstGeom>
          <a:noFill/>
        </p:spPr>
        <p:txBody>
          <a:bodyPr wrap="square" lIns="18288" rIns="18288" tIns="18288" bIns="18288" anchor="t">
            <a:spAutoFit/>
          </a:bodyPr>
          <a:lstStyle/>
          <a:p>
            <a:pPr algn="l">
              <a:spcBef>
                <a:spcPts val="0"/>
              </a:spcBef>
              <a:spcAft>
                <a:spcPts val="0"/>
              </a:spcAft>
            </a:pPr>
            <a:r>
              <a:rPr sz="1700" b="0">
                <a:solidFill>
                  <a:srgbClr val="252B33"/>
                </a:solidFill>
                <a:latin typeface="Courier New"/>
              </a:rPr>
              <a:t>GetPaged(
  JournalEntryQueryDto query
)</a:t>
            </a:r>
          </a:p>
        </p:txBody>
      </p:sp>
      <p:sp>
        <p:nvSpPr>
          <p:cNvPr id="17" name="TextBox 16"/>
          <p:cNvSpPr txBox="1"/>
          <p:nvPr/>
        </p:nvSpPr>
        <p:spPr>
          <a:xfrm>
            <a:off x="960120" y="4443984"/>
            <a:ext cx="4700016" cy="283464"/>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5B6874"/>
                </a:solidFill>
                <a:latin typeface="Arial"/>
              </a:rPr>
              <a:t>S6966: host startup</a:t>
            </a:r>
          </a:p>
        </p:txBody>
      </p:sp>
      <p:sp>
        <p:nvSpPr>
          <p:cNvPr id="18" name="TextBox 17"/>
          <p:cNvSpPr txBox="1"/>
          <p:nvPr/>
        </p:nvSpPr>
        <p:spPr>
          <a:xfrm>
            <a:off x="6464808" y="4443984"/>
            <a:ext cx="4700016" cy="283464"/>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5B6874"/>
                </a:solidFill>
                <a:latin typeface="Arial"/>
              </a:rPr>
              <a:t>S6966: async host startup</a:t>
            </a:r>
          </a:p>
        </p:txBody>
      </p:sp>
      <p:sp>
        <p:nvSpPr>
          <p:cNvPr id="19" name="TextBox 18"/>
          <p:cNvSpPr txBox="1"/>
          <p:nvPr/>
        </p:nvSpPr>
        <p:spPr>
          <a:xfrm>
            <a:off x="960120" y="4882896"/>
            <a:ext cx="4690872" cy="502920"/>
          </a:xfrm>
          <a:prstGeom prst="rect">
            <a:avLst/>
          </a:prstGeom>
          <a:noFill/>
        </p:spPr>
        <p:txBody>
          <a:bodyPr wrap="square" lIns="18288" rIns="18288" tIns="18288" bIns="18288" anchor="ctr">
            <a:spAutoFit/>
          </a:bodyPr>
          <a:lstStyle/>
          <a:p>
            <a:pPr algn="l">
              <a:spcBef>
                <a:spcPts val="0"/>
              </a:spcBef>
              <a:spcAft>
                <a:spcPts val="0"/>
              </a:spcAft>
            </a:pPr>
            <a:r>
              <a:rPr sz="2000" b="0">
                <a:solidFill>
                  <a:srgbClr val="252B33"/>
                </a:solidFill>
                <a:latin typeface="Courier New"/>
              </a:rPr>
              <a:t>app.Run();</a:t>
            </a:r>
          </a:p>
        </p:txBody>
      </p:sp>
      <p:sp>
        <p:nvSpPr>
          <p:cNvPr id="20" name="TextBox 19"/>
          <p:cNvSpPr txBox="1"/>
          <p:nvPr/>
        </p:nvSpPr>
        <p:spPr>
          <a:xfrm>
            <a:off x="6464808" y="4882896"/>
            <a:ext cx="4690872" cy="502920"/>
          </a:xfrm>
          <a:prstGeom prst="rect">
            <a:avLst/>
          </a:prstGeom>
          <a:noFill/>
        </p:spPr>
        <p:txBody>
          <a:bodyPr wrap="square" lIns="18288" rIns="18288" tIns="18288" bIns="18288" anchor="ctr">
            <a:spAutoFit/>
          </a:bodyPr>
          <a:lstStyle/>
          <a:p>
            <a:pPr algn="l">
              <a:spcBef>
                <a:spcPts val="0"/>
              </a:spcBef>
              <a:spcAft>
                <a:spcPts val="0"/>
              </a:spcAft>
            </a:pPr>
            <a:r>
              <a:rPr sz="2000" b="0">
                <a:solidFill>
                  <a:srgbClr val="252B33"/>
                </a:solidFill>
                <a:latin typeface="Courier New"/>
              </a:rPr>
              <a:t>await app.RunAsync();</a:t>
            </a:r>
          </a:p>
        </p:txBody>
      </p:sp>
      <p:sp>
        <p:nvSpPr>
          <p:cNvPr id="21" name="TextBox 20"/>
          <p:cNvSpPr txBox="1"/>
          <p:nvPr/>
        </p:nvSpPr>
        <p:spPr>
          <a:xfrm>
            <a:off x="768096" y="5925312"/>
            <a:ext cx="10698480" cy="347472"/>
          </a:xfrm>
          <a:prstGeom prst="rect">
            <a:avLst/>
          </a:prstGeom>
          <a:noFill/>
        </p:spPr>
        <p:txBody>
          <a:bodyPr wrap="square" lIns="18288" rIns="18288" tIns="18288" bIns="18288" anchor="ctr">
            <a:spAutoFit/>
          </a:bodyPr>
          <a:lstStyle/>
          <a:p>
            <a:pPr algn="l">
              <a:spcBef>
                <a:spcPts val="0"/>
              </a:spcBef>
              <a:spcAft>
                <a:spcPts val="0"/>
              </a:spcAft>
            </a:pPr>
            <a:r>
              <a:rPr sz="1500" b="1">
                <a:solidFill>
                  <a:srgbClr val="246F46"/>
                </a:solidFill>
                <a:latin typeface="Arial"/>
              </a:rPr>
              <a:t>These are representative changes, not all 17 issue fixes; the full excerpts are in Appendix 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3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B3373D"/>
                </a:solidFill>
                <a:latin typeface="Arial"/>
              </a:rPr>
              <a:t>RESULTS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ZAP passive alerts cleared; raw API Medium remains</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§4.3; ZAP raw scan JSON; Appendix F</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B3373D"/>
                </a:solidFill>
                <a:latin typeface="Arial"/>
              </a:rPr>
              <a:t>16</a:t>
            </a:r>
          </a:p>
        </p:txBody>
      </p:sp>
      <p:sp>
        <p:nvSpPr>
          <p:cNvPr id="9" name="TextBox 8"/>
          <p:cNvSpPr txBox="1"/>
          <p:nvPr/>
        </p:nvSpPr>
        <p:spPr>
          <a:xfrm>
            <a:off x="758952" y="1298448"/>
            <a:ext cx="10698480" cy="26517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466C"/>
                </a:solidFill>
                <a:latin typeface="Arial"/>
              </a:rPr>
              <a:t>PASSIVE SCAN · BASELINE</a:t>
            </a:r>
          </a:p>
        </p:txBody>
      </p:sp>
      <p:pic>
        <p:nvPicPr>
          <p:cNvPr id="10" name="Picture 9" descr="zap-fresh-passive-before-summary.png"/>
          <p:cNvPicPr>
            <a:picLocks noChangeAspect="1"/>
          </p:cNvPicPr>
          <p:nvPr/>
        </p:nvPicPr>
        <p:blipFill>
          <a:blip r:embed="rId2"/>
          <a:stretch>
            <a:fillRect/>
          </a:stretch>
        </p:blipFill>
        <p:spPr>
          <a:xfrm>
            <a:off x="784374" y="1636776"/>
            <a:ext cx="10611059" cy="804672"/>
          </a:xfrm>
          <a:prstGeom prst="rect">
            <a:avLst/>
          </a:prstGeom>
        </p:spPr>
      </p:pic>
      <p:sp>
        <p:nvSpPr>
          <p:cNvPr id="11" name="Rectangle 10"/>
          <p:cNvSpPr/>
          <p:nvPr/>
        </p:nvSpPr>
        <p:spPr>
          <a:xfrm>
            <a:off x="784374" y="1636776"/>
            <a:ext cx="10611059" cy="804672"/>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706624"/>
            <a:ext cx="10698480" cy="26517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6F46"/>
                </a:solidFill>
                <a:latin typeface="Arial"/>
              </a:rPr>
              <a:t>PASSIVE SCAN · AFTER FIXES</a:t>
            </a:r>
          </a:p>
        </p:txBody>
      </p:sp>
      <p:pic>
        <p:nvPicPr>
          <p:cNvPr id="13" name="Picture 12" descr="zap-fresh-passive-after-summary.png"/>
          <p:cNvPicPr>
            <a:picLocks noChangeAspect="1"/>
          </p:cNvPicPr>
          <p:nvPr/>
        </p:nvPicPr>
        <p:blipFill>
          <a:blip r:embed="rId3"/>
          <a:stretch>
            <a:fillRect/>
          </a:stretch>
        </p:blipFill>
        <p:spPr>
          <a:xfrm>
            <a:off x="784374" y="3035808"/>
            <a:ext cx="10611059" cy="804672"/>
          </a:xfrm>
          <a:prstGeom prst="rect">
            <a:avLst/>
          </a:prstGeom>
        </p:spPr>
      </p:pic>
      <p:sp>
        <p:nvSpPr>
          <p:cNvPr id="14" name="Rectangle 13"/>
          <p:cNvSpPr/>
          <p:nvPr/>
        </p:nvSpPr>
        <p:spPr>
          <a:xfrm>
            <a:off x="784374" y="3035808"/>
            <a:ext cx="10611059" cy="804672"/>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3995928"/>
            <a:ext cx="10643616" cy="329184"/>
          </a:xfrm>
          <a:prstGeom prst="rect">
            <a:avLst/>
          </a:prstGeom>
          <a:noFill/>
        </p:spPr>
        <p:txBody>
          <a:bodyPr wrap="square" lIns="18288" rIns="18288" tIns="18288" bIns="18288" anchor="ctr">
            <a:spAutoFit/>
          </a:bodyPr>
          <a:lstStyle/>
          <a:p>
            <a:pPr algn="l">
              <a:spcBef>
                <a:spcPts val="0"/>
              </a:spcBef>
              <a:spcAft>
                <a:spcPts val="0"/>
              </a:spcAft>
            </a:pPr>
            <a:r>
              <a:rPr sz="1500" b="0">
                <a:solidFill>
                  <a:srgbClr val="5B6874"/>
                </a:solidFill>
                <a:latin typeface="Arial"/>
              </a:rPr>
              <a:t>Severity-card screenshots rendered from the current ZAP scan JSON.</a:t>
            </a:r>
          </a:p>
        </p:txBody>
      </p:sp>
      <p:sp>
        <p:nvSpPr>
          <p:cNvPr id="16" name="Rounded Rectangle 15"/>
          <p:cNvSpPr/>
          <p:nvPr/>
        </p:nvSpPr>
        <p:spPr>
          <a:xfrm>
            <a:off x="768096" y="4507992"/>
            <a:ext cx="10643616" cy="1408176"/>
          </a:xfrm>
          <a:prstGeom prst="roundRect">
            <a:avLst/>
          </a:prstGeom>
          <a:solidFill>
            <a:srgbClr val="E8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700016"/>
            <a:ext cx="10168128" cy="438912"/>
          </a:xfrm>
          <a:prstGeom prst="rect">
            <a:avLst/>
          </a:prstGeom>
          <a:noFill/>
        </p:spPr>
        <p:txBody>
          <a:bodyPr wrap="square" lIns="18288" rIns="18288" tIns="18288" bIns="18288" anchor="ctr">
            <a:spAutoFit/>
          </a:bodyPr>
          <a:lstStyle/>
          <a:p>
            <a:pPr algn="l">
              <a:spcBef>
                <a:spcPts val="0"/>
              </a:spcBef>
              <a:spcAft>
                <a:spcPts val="0"/>
              </a:spcAft>
            </a:pPr>
            <a:r>
              <a:rPr sz="2700" b="1">
                <a:solidFill>
                  <a:srgbClr val="246F46"/>
                </a:solidFill>
                <a:latin typeface="Arial"/>
              </a:rPr>
              <a:t>Medium 3 → 0    |    Low 6 → 0</a:t>
            </a:r>
          </a:p>
        </p:txBody>
      </p:sp>
      <p:sp>
        <p:nvSpPr>
          <p:cNvPr id="18" name="TextBox 17"/>
          <p:cNvSpPr txBox="1"/>
          <p:nvPr/>
        </p:nvSpPr>
        <p:spPr>
          <a:xfrm>
            <a:off x="1005840" y="5340096"/>
            <a:ext cx="10131552" cy="365760"/>
          </a:xfrm>
          <a:prstGeom prst="rect">
            <a:avLst/>
          </a:prstGeom>
          <a:noFill/>
        </p:spPr>
        <p:txBody>
          <a:bodyPr wrap="square" lIns="18288" rIns="18288" tIns="18288" bIns="18288" anchor="ctr">
            <a:spAutoFit/>
          </a:bodyPr>
          <a:lstStyle/>
          <a:p>
            <a:pPr algn="l">
              <a:spcBef>
                <a:spcPts val="0"/>
              </a:spcBef>
              <a:spcAft>
                <a:spcPts val="0"/>
              </a:spcAft>
            </a:pPr>
            <a:r>
              <a:rPr sz="1700" b="0">
                <a:solidFill>
                  <a:srgbClr val="252B33"/>
                </a:solidFill>
                <a:latin typeface="Arial"/>
              </a:rPr>
              <a:t>This scan observes ordinary responses and headers. The signed-in API scan follows on slide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3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B3373D"/>
                </a:solidFill>
                <a:latin typeface="Arial"/>
              </a:rPr>
              <a:t>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Signed-in API scan: Low cleared; one Medium remains</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§4.3; ZAP raw scan JSON and alert 10106; Appendix F</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B3373D"/>
                </a:solidFill>
                <a:latin typeface="Arial"/>
              </a:rPr>
              <a:t>17</a:t>
            </a:r>
          </a:p>
        </p:txBody>
      </p:sp>
      <p:sp>
        <p:nvSpPr>
          <p:cNvPr id="9" name="TextBox 8"/>
          <p:cNvSpPr txBox="1"/>
          <p:nvPr/>
        </p:nvSpPr>
        <p:spPr>
          <a:xfrm>
            <a:off x="758952" y="1298448"/>
            <a:ext cx="10698480" cy="26517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466C"/>
                </a:solidFill>
                <a:latin typeface="Arial"/>
              </a:rPr>
              <a:t>AUTHENTICATED API SCAN · BASELINE</a:t>
            </a:r>
          </a:p>
        </p:txBody>
      </p:sp>
      <p:pic>
        <p:nvPicPr>
          <p:cNvPr id="10" name="Picture 9" descr="zap-fresh-api-before-summary.png"/>
          <p:cNvPicPr>
            <a:picLocks noChangeAspect="1"/>
          </p:cNvPicPr>
          <p:nvPr/>
        </p:nvPicPr>
        <p:blipFill>
          <a:blip r:embed="rId2"/>
          <a:stretch>
            <a:fillRect/>
          </a:stretch>
        </p:blipFill>
        <p:spPr>
          <a:xfrm>
            <a:off x="784374" y="1636776"/>
            <a:ext cx="10611059" cy="804672"/>
          </a:xfrm>
          <a:prstGeom prst="rect">
            <a:avLst/>
          </a:prstGeom>
        </p:spPr>
      </p:pic>
      <p:sp>
        <p:nvSpPr>
          <p:cNvPr id="11" name="Rectangle 10"/>
          <p:cNvSpPr/>
          <p:nvPr/>
        </p:nvSpPr>
        <p:spPr>
          <a:xfrm>
            <a:off x="784374" y="1636776"/>
            <a:ext cx="10611059" cy="804672"/>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706624"/>
            <a:ext cx="10698480" cy="26517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E7414"/>
                </a:solidFill>
                <a:latin typeface="Arial"/>
              </a:rPr>
              <a:t>AUTHENTICATED API SCAN · AFTER FIXES</a:t>
            </a:r>
          </a:p>
        </p:txBody>
      </p:sp>
      <p:pic>
        <p:nvPicPr>
          <p:cNvPr id="13" name="Picture 12" descr="zap-fresh-api-after-summary.png"/>
          <p:cNvPicPr>
            <a:picLocks noChangeAspect="1"/>
          </p:cNvPicPr>
          <p:nvPr/>
        </p:nvPicPr>
        <p:blipFill>
          <a:blip r:embed="rId3"/>
          <a:stretch>
            <a:fillRect/>
          </a:stretch>
        </p:blipFill>
        <p:spPr>
          <a:xfrm>
            <a:off x="784374" y="3035808"/>
            <a:ext cx="10611059" cy="804672"/>
          </a:xfrm>
          <a:prstGeom prst="rect">
            <a:avLst/>
          </a:prstGeom>
        </p:spPr>
      </p:pic>
      <p:sp>
        <p:nvSpPr>
          <p:cNvPr id="14" name="Rectangle 13"/>
          <p:cNvSpPr/>
          <p:nvPr/>
        </p:nvSpPr>
        <p:spPr>
          <a:xfrm>
            <a:off x="784374" y="3035808"/>
            <a:ext cx="10611059" cy="804672"/>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3995928"/>
            <a:ext cx="10643616" cy="329184"/>
          </a:xfrm>
          <a:prstGeom prst="rect">
            <a:avLst/>
          </a:prstGeom>
          <a:noFill/>
        </p:spPr>
        <p:txBody>
          <a:bodyPr wrap="square" lIns="18288" rIns="18288" tIns="18288" bIns="18288" anchor="ctr">
            <a:spAutoFit/>
          </a:bodyPr>
          <a:lstStyle/>
          <a:p>
            <a:pPr algn="l">
              <a:spcBef>
                <a:spcPts val="0"/>
              </a:spcBef>
              <a:spcAft>
                <a:spcPts val="0"/>
              </a:spcAft>
            </a:pPr>
            <a:r>
              <a:rPr sz="1500" b="0">
                <a:solidFill>
                  <a:srgbClr val="5B6874"/>
                </a:solidFill>
                <a:latin typeface="Arial"/>
              </a:rPr>
              <a:t>Severity-card screenshots rendered from the current ZAP scan JSON.</a:t>
            </a:r>
          </a:p>
        </p:txBody>
      </p:sp>
      <p:sp>
        <p:nvSpPr>
          <p:cNvPr id="16" name="Rounded Rectangle 15"/>
          <p:cNvSpPr/>
          <p:nvPr/>
        </p:nvSpPr>
        <p:spPr>
          <a:xfrm>
            <a:off x="768096" y="4507992"/>
            <a:ext cx="10643616" cy="1408176"/>
          </a:xfrm>
          <a:prstGeom prst="roundRect">
            <a:avLst/>
          </a:prstGeom>
          <a:solidFill>
            <a:srgbClr val="FF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700016"/>
            <a:ext cx="10168128" cy="438912"/>
          </a:xfrm>
          <a:prstGeom prst="rect">
            <a:avLst/>
          </a:prstGeom>
          <a:noFill/>
        </p:spPr>
        <p:txBody>
          <a:bodyPr wrap="square" lIns="18288" rIns="18288" tIns="18288" bIns="18288" anchor="ctr">
            <a:spAutoFit/>
          </a:bodyPr>
          <a:lstStyle/>
          <a:p>
            <a:pPr algn="l">
              <a:spcBef>
                <a:spcPts val="0"/>
              </a:spcBef>
              <a:spcAft>
                <a:spcPts val="0"/>
              </a:spcAft>
            </a:pPr>
            <a:r>
              <a:rPr sz="2700" b="1">
                <a:solidFill>
                  <a:srgbClr val="BE7414"/>
                </a:solidFill>
                <a:latin typeface="Arial"/>
              </a:rPr>
              <a:t>Medium 1 → 1    |    Low 3 → 0</a:t>
            </a:r>
          </a:p>
        </p:txBody>
      </p:sp>
      <p:sp>
        <p:nvSpPr>
          <p:cNvPr id="18" name="TextBox 17"/>
          <p:cNvSpPr txBox="1"/>
          <p:nvPr/>
        </p:nvSpPr>
        <p:spPr>
          <a:xfrm>
            <a:off x="1005840" y="5340096"/>
            <a:ext cx="10131552" cy="365760"/>
          </a:xfrm>
          <a:prstGeom prst="rect">
            <a:avLst/>
          </a:prstGeom>
          <a:noFill/>
        </p:spPr>
        <p:txBody>
          <a:bodyPr wrap="square" lIns="18288" rIns="18288" tIns="18288" bIns="18288" anchor="ctr">
            <a:spAutoFit/>
          </a:bodyPr>
          <a:lstStyle/>
          <a:p>
            <a:pPr algn="l">
              <a:spcBef>
                <a:spcPts val="0"/>
              </a:spcBef>
              <a:spcAft>
                <a:spcPts val="0"/>
              </a:spcAft>
            </a:pPr>
            <a:r>
              <a:rPr sz="1700" b="0">
                <a:solidFill>
                  <a:srgbClr val="252B33"/>
                </a:solidFill>
                <a:latin typeface="Arial"/>
              </a:rPr>
              <a:t>Remaining Medium: HTTP Only Site. Configured rules passed; HTTPS needs a separate retest.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E7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BE7414"/>
                </a:solidFill>
                <a:latin typeface="Arial"/>
              </a:rPr>
              <a:t>RESULTS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JMeter tested three user counts, plus soak and spike</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§§3.8 and 4.4; Appendix K</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BE7414"/>
                </a:solidFill>
                <a:latin typeface="Arial"/>
              </a:rPr>
              <a:t>18</a:t>
            </a:r>
          </a:p>
        </p:txBody>
      </p:sp>
      <p:sp>
        <p:nvSpPr>
          <p:cNvPr id="9" name="Rounded Rectangle 8"/>
          <p:cNvSpPr/>
          <p:nvPr/>
        </p:nvSpPr>
        <p:spPr>
          <a:xfrm>
            <a:off x="713232" y="1828800"/>
            <a:ext cx="2103120" cy="2350008"/>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075688"/>
            <a:ext cx="1773936" cy="411480"/>
          </a:xfrm>
          <a:prstGeom prst="rect">
            <a:avLst/>
          </a:prstGeom>
          <a:noFill/>
        </p:spPr>
        <p:txBody>
          <a:bodyPr wrap="square" lIns="18288" rIns="18288" tIns="18288" bIns="18288" anchor="ctr">
            <a:spAutoFit/>
          </a:bodyPr>
          <a:lstStyle/>
          <a:p>
            <a:pPr algn="ctr">
              <a:spcBef>
                <a:spcPts val="0"/>
              </a:spcBef>
              <a:spcAft>
                <a:spcPts val="0"/>
              </a:spcAft>
            </a:pPr>
            <a:r>
              <a:rPr sz="2500" b="1">
                <a:solidFill>
                  <a:srgbClr val="BE7414"/>
                </a:solidFill>
                <a:latin typeface="Arial"/>
              </a:rPr>
              <a:t>50 VU</a:t>
            </a:r>
          </a:p>
        </p:txBody>
      </p:sp>
      <p:sp>
        <p:nvSpPr>
          <p:cNvPr id="11" name="TextBox 10"/>
          <p:cNvSpPr txBox="1"/>
          <p:nvPr/>
        </p:nvSpPr>
        <p:spPr>
          <a:xfrm>
            <a:off x="877824" y="2779776"/>
            <a:ext cx="1773936" cy="411480"/>
          </a:xfrm>
          <a:prstGeom prst="rect">
            <a:avLst/>
          </a:prstGeom>
          <a:noFill/>
        </p:spPr>
        <p:txBody>
          <a:bodyPr wrap="square" lIns="18288" rIns="18288" tIns="18288" bIns="18288" anchor="ctr">
            <a:spAutoFit/>
          </a:bodyPr>
          <a:lstStyle/>
          <a:p>
            <a:pPr algn="ctr">
              <a:spcBef>
                <a:spcPts val="0"/>
              </a:spcBef>
              <a:spcAft>
                <a:spcPts val="0"/>
              </a:spcAft>
            </a:pPr>
            <a:r>
              <a:rPr sz="2000" b="1">
                <a:solidFill>
                  <a:srgbClr val="252B33"/>
                </a:solidFill>
                <a:latin typeface="Arial"/>
              </a:rPr>
              <a:t>50 users</a:t>
            </a:r>
          </a:p>
        </p:txBody>
      </p:sp>
      <p:sp>
        <p:nvSpPr>
          <p:cNvPr id="12" name="TextBox 11"/>
          <p:cNvSpPr txBox="1"/>
          <p:nvPr/>
        </p:nvSpPr>
        <p:spPr>
          <a:xfrm>
            <a:off x="859536" y="3465576"/>
            <a:ext cx="1810512" cy="438912"/>
          </a:xfrm>
          <a:prstGeom prst="rect">
            <a:avLst/>
          </a:prstGeom>
          <a:noFill/>
        </p:spPr>
        <p:txBody>
          <a:bodyPr wrap="square" lIns="18288" rIns="18288" tIns="18288" bIns="18288" anchor="ctr">
            <a:spAutoFit/>
          </a:bodyPr>
          <a:lstStyle/>
          <a:p>
            <a:pPr algn="ctr">
              <a:spcBef>
                <a:spcPts val="0"/>
              </a:spcBef>
              <a:spcAft>
                <a:spcPts val="0"/>
              </a:spcAft>
            </a:pPr>
            <a:r>
              <a:rPr sz="1400" b="0">
                <a:solidFill>
                  <a:srgbClr val="5B6874"/>
                </a:solidFill>
                <a:latin typeface="Arial"/>
              </a:rPr>
              <a:t>Normal scenario</a:t>
            </a:r>
          </a:p>
        </p:txBody>
      </p:sp>
      <p:sp>
        <p:nvSpPr>
          <p:cNvPr id="13" name="Rounded Rectangle 12"/>
          <p:cNvSpPr/>
          <p:nvPr/>
        </p:nvSpPr>
        <p:spPr>
          <a:xfrm>
            <a:off x="2990088" y="1828800"/>
            <a:ext cx="2103120" cy="2350008"/>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54680" y="2075688"/>
            <a:ext cx="1773936" cy="411480"/>
          </a:xfrm>
          <a:prstGeom prst="rect">
            <a:avLst/>
          </a:prstGeom>
          <a:noFill/>
        </p:spPr>
        <p:txBody>
          <a:bodyPr wrap="square" lIns="18288" rIns="18288" tIns="18288" bIns="18288" anchor="ctr">
            <a:spAutoFit/>
          </a:bodyPr>
          <a:lstStyle/>
          <a:p>
            <a:pPr algn="ctr">
              <a:spcBef>
                <a:spcPts val="0"/>
              </a:spcBef>
              <a:spcAft>
                <a:spcPts val="0"/>
              </a:spcAft>
            </a:pPr>
            <a:r>
              <a:rPr sz="2500" b="1">
                <a:solidFill>
                  <a:srgbClr val="BE7414"/>
                </a:solidFill>
                <a:latin typeface="Arial"/>
              </a:rPr>
              <a:t>100 VU</a:t>
            </a:r>
          </a:p>
        </p:txBody>
      </p:sp>
      <p:sp>
        <p:nvSpPr>
          <p:cNvPr id="15" name="TextBox 14"/>
          <p:cNvSpPr txBox="1"/>
          <p:nvPr/>
        </p:nvSpPr>
        <p:spPr>
          <a:xfrm>
            <a:off x="3154680" y="2779776"/>
            <a:ext cx="1773936" cy="411480"/>
          </a:xfrm>
          <a:prstGeom prst="rect">
            <a:avLst/>
          </a:prstGeom>
          <a:noFill/>
        </p:spPr>
        <p:txBody>
          <a:bodyPr wrap="square" lIns="18288" rIns="18288" tIns="18288" bIns="18288" anchor="ctr">
            <a:spAutoFit/>
          </a:bodyPr>
          <a:lstStyle/>
          <a:p>
            <a:pPr algn="ctr">
              <a:spcBef>
                <a:spcPts val="0"/>
              </a:spcBef>
              <a:spcAft>
                <a:spcPts val="0"/>
              </a:spcAft>
            </a:pPr>
            <a:r>
              <a:rPr sz="2000" b="1">
                <a:solidFill>
                  <a:srgbClr val="252B33"/>
                </a:solidFill>
                <a:latin typeface="Arial"/>
              </a:rPr>
              <a:t>100 users</a:t>
            </a:r>
          </a:p>
        </p:txBody>
      </p:sp>
      <p:sp>
        <p:nvSpPr>
          <p:cNvPr id="16" name="TextBox 15"/>
          <p:cNvSpPr txBox="1"/>
          <p:nvPr/>
        </p:nvSpPr>
        <p:spPr>
          <a:xfrm>
            <a:off x="3136392" y="3465576"/>
            <a:ext cx="1810512" cy="438912"/>
          </a:xfrm>
          <a:prstGeom prst="rect">
            <a:avLst/>
          </a:prstGeom>
          <a:noFill/>
        </p:spPr>
        <p:txBody>
          <a:bodyPr wrap="square" lIns="18288" rIns="18288" tIns="18288" bIns="18288" anchor="ctr">
            <a:spAutoFit/>
          </a:bodyPr>
          <a:lstStyle/>
          <a:p>
            <a:pPr algn="ctr">
              <a:spcBef>
                <a:spcPts val="0"/>
              </a:spcBef>
              <a:spcAft>
                <a:spcPts val="0"/>
              </a:spcAft>
            </a:pPr>
            <a:r>
              <a:rPr sz="1400" b="0">
                <a:solidFill>
                  <a:srgbClr val="5B6874"/>
                </a:solidFill>
                <a:latin typeface="Arial"/>
              </a:rPr>
              <a:t>Planned peak scenario</a:t>
            </a:r>
          </a:p>
        </p:txBody>
      </p:sp>
      <p:sp>
        <p:nvSpPr>
          <p:cNvPr id="17" name="Rounded Rectangle 16"/>
          <p:cNvSpPr/>
          <p:nvPr/>
        </p:nvSpPr>
        <p:spPr>
          <a:xfrm>
            <a:off x="5266944" y="1828800"/>
            <a:ext cx="2103120" cy="2350008"/>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31536" y="2075688"/>
            <a:ext cx="1773936" cy="411480"/>
          </a:xfrm>
          <a:prstGeom prst="rect">
            <a:avLst/>
          </a:prstGeom>
          <a:noFill/>
        </p:spPr>
        <p:txBody>
          <a:bodyPr wrap="square" lIns="18288" rIns="18288" tIns="18288" bIns="18288" anchor="ctr">
            <a:spAutoFit/>
          </a:bodyPr>
          <a:lstStyle/>
          <a:p>
            <a:pPr algn="ctr">
              <a:spcBef>
                <a:spcPts val="0"/>
              </a:spcBef>
              <a:spcAft>
                <a:spcPts val="0"/>
              </a:spcAft>
            </a:pPr>
            <a:r>
              <a:rPr sz="2500" b="1">
                <a:solidFill>
                  <a:srgbClr val="BE7414"/>
                </a:solidFill>
                <a:latin typeface="Arial"/>
              </a:rPr>
              <a:t>500 VU</a:t>
            </a:r>
          </a:p>
        </p:txBody>
      </p:sp>
      <p:sp>
        <p:nvSpPr>
          <p:cNvPr id="19" name="TextBox 18"/>
          <p:cNvSpPr txBox="1"/>
          <p:nvPr/>
        </p:nvSpPr>
        <p:spPr>
          <a:xfrm>
            <a:off x="5431536" y="2779776"/>
            <a:ext cx="1773936" cy="411480"/>
          </a:xfrm>
          <a:prstGeom prst="rect">
            <a:avLst/>
          </a:prstGeom>
          <a:noFill/>
        </p:spPr>
        <p:txBody>
          <a:bodyPr wrap="square" lIns="18288" rIns="18288" tIns="18288" bIns="18288" anchor="ctr">
            <a:spAutoFit/>
          </a:bodyPr>
          <a:lstStyle/>
          <a:p>
            <a:pPr algn="ctr">
              <a:spcBef>
                <a:spcPts val="0"/>
              </a:spcBef>
              <a:spcAft>
                <a:spcPts val="0"/>
              </a:spcAft>
            </a:pPr>
            <a:r>
              <a:rPr sz="2000" b="1">
                <a:solidFill>
                  <a:srgbClr val="252B33"/>
                </a:solidFill>
                <a:latin typeface="Arial"/>
              </a:rPr>
              <a:t>500 users</a:t>
            </a:r>
          </a:p>
        </p:txBody>
      </p:sp>
      <p:sp>
        <p:nvSpPr>
          <p:cNvPr id="20" name="TextBox 19"/>
          <p:cNvSpPr txBox="1"/>
          <p:nvPr/>
        </p:nvSpPr>
        <p:spPr>
          <a:xfrm>
            <a:off x="5413248" y="3465576"/>
            <a:ext cx="1810512" cy="438912"/>
          </a:xfrm>
          <a:prstGeom prst="rect">
            <a:avLst/>
          </a:prstGeom>
          <a:noFill/>
        </p:spPr>
        <p:txBody>
          <a:bodyPr wrap="square" lIns="18288" rIns="18288" tIns="18288" bIns="18288" anchor="ctr">
            <a:spAutoFit/>
          </a:bodyPr>
          <a:lstStyle/>
          <a:p>
            <a:pPr algn="ctr">
              <a:spcBef>
                <a:spcPts val="0"/>
              </a:spcBef>
              <a:spcAft>
                <a:spcPts val="0"/>
              </a:spcAft>
            </a:pPr>
            <a:r>
              <a:rPr sz="1400" b="0">
                <a:solidFill>
                  <a:srgbClr val="5B6874"/>
                </a:solidFill>
                <a:latin typeface="Arial"/>
              </a:rPr>
              <a:t>Heavier-load scenario</a:t>
            </a:r>
          </a:p>
        </p:txBody>
      </p:sp>
      <p:sp>
        <p:nvSpPr>
          <p:cNvPr id="21" name="Rounded Rectangle 20"/>
          <p:cNvSpPr/>
          <p:nvPr/>
        </p:nvSpPr>
        <p:spPr>
          <a:xfrm>
            <a:off x="7543800" y="1828800"/>
            <a:ext cx="2103120" cy="2350008"/>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08392" y="2075688"/>
            <a:ext cx="1773936" cy="411480"/>
          </a:xfrm>
          <a:prstGeom prst="rect">
            <a:avLst/>
          </a:prstGeom>
          <a:noFill/>
        </p:spPr>
        <p:txBody>
          <a:bodyPr wrap="square" lIns="18288" rIns="18288" tIns="18288" bIns="18288" anchor="ctr">
            <a:spAutoFit/>
          </a:bodyPr>
          <a:lstStyle/>
          <a:p>
            <a:pPr algn="ctr">
              <a:spcBef>
                <a:spcPts val="0"/>
              </a:spcBef>
              <a:spcAft>
                <a:spcPts val="0"/>
              </a:spcAft>
            </a:pPr>
            <a:r>
              <a:rPr sz="2500" b="1">
                <a:solidFill>
                  <a:srgbClr val="BE7414"/>
                </a:solidFill>
                <a:latin typeface="Arial"/>
              </a:rPr>
              <a:t>SOAK</a:t>
            </a:r>
          </a:p>
        </p:txBody>
      </p:sp>
      <p:sp>
        <p:nvSpPr>
          <p:cNvPr id="23" name="TextBox 22"/>
          <p:cNvSpPr txBox="1"/>
          <p:nvPr/>
        </p:nvSpPr>
        <p:spPr>
          <a:xfrm>
            <a:off x="7708392" y="2779776"/>
            <a:ext cx="1773936" cy="411480"/>
          </a:xfrm>
          <a:prstGeom prst="rect">
            <a:avLst/>
          </a:prstGeom>
          <a:noFill/>
        </p:spPr>
        <p:txBody>
          <a:bodyPr wrap="square" lIns="18288" rIns="18288" tIns="18288" bIns="18288" anchor="ctr">
            <a:spAutoFit/>
          </a:bodyPr>
          <a:lstStyle/>
          <a:p>
            <a:pPr algn="ctr">
              <a:spcBef>
                <a:spcPts val="0"/>
              </a:spcBef>
              <a:spcAft>
                <a:spcPts val="0"/>
              </a:spcAft>
            </a:pPr>
            <a:r>
              <a:rPr sz="2000" b="1">
                <a:solidFill>
                  <a:srgbClr val="252B33"/>
                </a:solidFill>
                <a:latin typeface="Arial"/>
              </a:rPr>
              <a:t>steady</a:t>
            </a:r>
          </a:p>
        </p:txBody>
      </p:sp>
      <p:sp>
        <p:nvSpPr>
          <p:cNvPr id="24" name="TextBox 23"/>
          <p:cNvSpPr txBox="1"/>
          <p:nvPr/>
        </p:nvSpPr>
        <p:spPr>
          <a:xfrm>
            <a:off x="7690104" y="3465576"/>
            <a:ext cx="1810512" cy="438912"/>
          </a:xfrm>
          <a:prstGeom prst="rect">
            <a:avLst/>
          </a:prstGeom>
          <a:noFill/>
        </p:spPr>
        <p:txBody>
          <a:bodyPr wrap="square" lIns="18288" rIns="18288" tIns="18288" bIns="18288" anchor="ctr">
            <a:spAutoFit/>
          </a:bodyPr>
          <a:lstStyle/>
          <a:p>
            <a:pPr algn="ctr">
              <a:spcBef>
                <a:spcPts val="0"/>
              </a:spcBef>
              <a:spcAft>
                <a:spcPts val="0"/>
              </a:spcAft>
            </a:pPr>
            <a:r>
              <a:rPr sz="1400" b="0">
                <a:solidFill>
                  <a:srgbClr val="5B6874"/>
                </a:solidFill>
                <a:latin typeface="Arial"/>
              </a:rPr>
              <a:t>Long-running test</a:t>
            </a:r>
          </a:p>
        </p:txBody>
      </p:sp>
      <p:sp>
        <p:nvSpPr>
          <p:cNvPr id="25" name="Rounded Rectangle 24"/>
          <p:cNvSpPr/>
          <p:nvPr/>
        </p:nvSpPr>
        <p:spPr>
          <a:xfrm>
            <a:off x="9820656" y="1828800"/>
            <a:ext cx="2103120" cy="2350008"/>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85248" y="2075688"/>
            <a:ext cx="1773936" cy="411480"/>
          </a:xfrm>
          <a:prstGeom prst="rect">
            <a:avLst/>
          </a:prstGeom>
          <a:noFill/>
        </p:spPr>
        <p:txBody>
          <a:bodyPr wrap="square" lIns="18288" rIns="18288" tIns="18288" bIns="18288" anchor="ctr">
            <a:spAutoFit/>
          </a:bodyPr>
          <a:lstStyle/>
          <a:p>
            <a:pPr algn="ctr">
              <a:spcBef>
                <a:spcPts val="0"/>
              </a:spcBef>
              <a:spcAft>
                <a:spcPts val="0"/>
              </a:spcAft>
            </a:pPr>
            <a:r>
              <a:rPr sz="2500" b="1">
                <a:solidFill>
                  <a:srgbClr val="BE7414"/>
                </a:solidFill>
                <a:latin typeface="Arial"/>
              </a:rPr>
              <a:t>SPIKE</a:t>
            </a:r>
          </a:p>
        </p:txBody>
      </p:sp>
      <p:sp>
        <p:nvSpPr>
          <p:cNvPr id="27" name="TextBox 26"/>
          <p:cNvSpPr txBox="1"/>
          <p:nvPr/>
        </p:nvSpPr>
        <p:spPr>
          <a:xfrm>
            <a:off x="9985248" y="2779776"/>
            <a:ext cx="1773936" cy="411480"/>
          </a:xfrm>
          <a:prstGeom prst="rect">
            <a:avLst/>
          </a:prstGeom>
          <a:noFill/>
        </p:spPr>
        <p:txBody>
          <a:bodyPr wrap="square" lIns="18288" rIns="18288" tIns="18288" bIns="18288" anchor="ctr">
            <a:spAutoFit/>
          </a:bodyPr>
          <a:lstStyle/>
          <a:p>
            <a:pPr algn="ctr">
              <a:spcBef>
                <a:spcPts val="0"/>
              </a:spcBef>
              <a:spcAft>
                <a:spcPts val="0"/>
              </a:spcAft>
            </a:pPr>
            <a:r>
              <a:rPr sz="2000" b="1">
                <a:solidFill>
                  <a:srgbClr val="252B33"/>
                </a:solidFill>
                <a:latin typeface="Arial"/>
              </a:rPr>
              <a:t>burst</a:t>
            </a:r>
          </a:p>
        </p:txBody>
      </p:sp>
      <p:sp>
        <p:nvSpPr>
          <p:cNvPr id="28" name="TextBox 27"/>
          <p:cNvSpPr txBox="1"/>
          <p:nvPr/>
        </p:nvSpPr>
        <p:spPr>
          <a:xfrm>
            <a:off x="9966960" y="3465576"/>
            <a:ext cx="1810512" cy="438912"/>
          </a:xfrm>
          <a:prstGeom prst="rect">
            <a:avLst/>
          </a:prstGeom>
          <a:noFill/>
        </p:spPr>
        <p:txBody>
          <a:bodyPr wrap="square" lIns="18288" rIns="18288" tIns="18288" bIns="18288" anchor="ctr">
            <a:spAutoFit/>
          </a:bodyPr>
          <a:lstStyle/>
          <a:p>
            <a:pPr algn="ctr">
              <a:spcBef>
                <a:spcPts val="0"/>
              </a:spcBef>
              <a:spcAft>
                <a:spcPts val="0"/>
              </a:spcAft>
            </a:pPr>
            <a:r>
              <a:rPr sz="1400" b="0">
                <a:solidFill>
                  <a:srgbClr val="5B6874"/>
                </a:solidFill>
                <a:latin typeface="Arial"/>
              </a:rPr>
              <a:t>Sudden-load test</a:t>
            </a:r>
          </a:p>
        </p:txBody>
      </p:sp>
      <p:sp>
        <p:nvSpPr>
          <p:cNvPr id="29" name="TextBox 28"/>
          <p:cNvSpPr txBox="1"/>
          <p:nvPr/>
        </p:nvSpPr>
        <p:spPr>
          <a:xfrm>
            <a:off x="749808" y="4892040"/>
            <a:ext cx="10771632" cy="594360"/>
          </a:xfrm>
          <a:prstGeom prst="rect">
            <a:avLst/>
          </a:prstGeom>
          <a:noFill/>
        </p:spPr>
        <p:txBody>
          <a:bodyPr wrap="square" lIns="18288" rIns="18288" tIns="18288" bIns="18288" anchor="ctr">
            <a:spAutoFit/>
          </a:bodyPr>
          <a:lstStyle/>
          <a:p>
            <a:pPr algn="l">
              <a:spcBef>
                <a:spcPts val="0"/>
              </a:spcBef>
              <a:spcAft>
                <a:spcPts val="0"/>
              </a:spcAft>
            </a:pPr>
            <a:r>
              <a:rPr sz="2200" b="1">
                <a:solidFill>
                  <a:srgbClr val="BE7414"/>
                </a:solidFill>
                <a:latin typeface="Arial"/>
              </a:rPr>
              <a:t>VU means simulated users; p95 is the time within which 95% of requests finish.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3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B3373D"/>
                </a:solidFill>
                <a:latin typeface="Arial"/>
              </a:rPr>
              <a:t>RESULTS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Core performance target was not met</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§4.4; Table 4.5; fresh JMeter summary.json</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B3373D"/>
                </a:solidFill>
                <a:latin typeface="Arial"/>
              </a:rPr>
              <a:t>19</a:t>
            </a:r>
          </a:p>
        </p:txBody>
      </p:sp>
      <p:graphicFrame>
        <p:nvGraphicFramePr>
          <p:cNvPr id="9" name="Table 8"/>
          <p:cNvGraphicFramePr>
            <a:graphicFrameLocks noGrp="1"/>
          </p:cNvGraphicFramePr>
          <p:nvPr/>
        </p:nvGraphicFramePr>
        <p:xfrm>
          <a:off x="731520" y="1417320"/>
          <a:ext cx="10716766" cy="3108960"/>
        </p:xfrm>
        <a:graphic>
          <a:graphicData uri="http://schemas.openxmlformats.org/drawingml/2006/table">
            <a:tbl>
              <a:tblPr firstRow="1" bandRow="1">
                <a:tableStyleId>{5C22544A-7EE6-4342-B048-85BDC9FD1C3A}</a:tableStyleId>
              </a:tblPr>
              <a:tblGrid>
                <a:gridCol w="2036185"/>
                <a:gridCol w="2572024"/>
                <a:gridCol w="2572024"/>
                <a:gridCol w="3536533"/>
              </a:tblGrid>
              <a:tr h="777240">
                <a:tc>
                  <a:txBody>
                    <a:bodyPr/>
                    <a:lstStyle/>
                    <a:p>
                      <a:pPr algn="l">
                        <a:spcAft>
                          <a:spcPts val="0"/>
                        </a:spcAft>
                      </a:pPr>
                      <a:r>
                        <a:rPr sz="2000" b="1">
                          <a:solidFill>
                            <a:srgbClr val="FFFFFF"/>
                          </a:solidFill>
                          <a:latin typeface="Arial"/>
                        </a:rPr>
                        <a:t>Profile</a:t>
                      </a:r>
                    </a:p>
                  </a:txBody>
                  <a:tcPr marL="109728" marR="91440" marT="36576" marB="36576">
                    <a:solidFill>
                      <a:srgbClr val="252B33"/>
                    </a:solidFill>
                  </a:tcPr>
                </a:tc>
                <a:tc>
                  <a:txBody>
                    <a:bodyPr/>
                    <a:lstStyle/>
                    <a:p>
                      <a:pPr algn="l">
                        <a:spcAft>
                          <a:spcPts val="0"/>
                        </a:spcAft>
                      </a:pPr>
                      <a:r>
                        <a:rPr sz="2000" b="1">
                          <a:solidFill>
                            <a:srgbClr val="FFFFFF"/>
                          </a:solidFill>
                          <a:latin typeface="Arial"/>
                        </a:rPr>
                        <a:t>Baseline p95</a:t>
                      </a:r>
                    </a:p>
                  </a:txBody>
                  <a:tcPr marL="109728" marR="91440" marT="36576" marB="36576">
                    <a:solidFill>
                      <a:srgbClr val="252B33"/>
                    </a:solidFill>
                  </a:tcPr>
                </a:tc>
                <a:tc>
                  <a:txBody>
                    <a:bodyPr/>
                    <a:lstStyle/>
                    <a:p>
                      <a:pPr algn="l">
                        <a:spcAft>
                          <a:spcPts val="0"/>
                        </a:spcAft>
                      </a:pPr>
                      <a:r>
                        <a:rPr sz="2000" b="1">
                          <a:solidFill>
                            <a:srgbClr val="FFFFFF"/>
                          </a:solidFill>
                          <a:latin typeface="Arial"/>
                        </a:rPr>
                        <a:t>After p95</a:t>
                      </a:r>
                    </a:p>
                  </a:txBody>
                  <a:tcPr marL="109728" marR="91440" marT="36576" marB="36576">
                    <a:solidFill>
                      <a:srgbClr val="252B33"/>
                    </a:solidFill>
                  </a:tcPr>
                </a:tc>
                <a:tc>
                  <a:txBody>
                    <a:bodyPr/>
                    <a:lstStyle/>
                    <a:p>
                      <a:pPr algn="l">
                        <a:spcAft>
                          <a:spcPts val="0"/>
                        </a:spcAft>
                      </a:pPr>
                      <a:r>
                        <a:rPr sz="2000" b="1">
                          <a:solidFill>
                            <a:srgbClr val="FFFFFF"/>
                          </a:solidFill>
                          <a:latin typeface="Arial"/>
                        </a:rPr>
                        <a:t>Fresh judgment</a:t>
                      </a:r>
                    </a:p>
                  </a:txBody>
                  <a:tcPr marL="109728" marR="91440" marT="36576" marB="36576">
                    <a:solidFill>
                      <a:srgbClr val="252B33"/>
                    </a:solidFill>
                  </a:tcPr>
                </a:tc>
              </a:tr>
              <a:tr h="777240">
                <a:tc>
                  <a:txBody>
                    <a:bodyPr/>
                    <a:lstStyle/>
                    <a:p>
                      <a:pPr algn="l">
                        <a:spcAft>
                          <a:spcPts val="0"/>
                        </a:spcAft>
                      </a:pPr>
                      <a:r>
                        <a:rPr sz="2000" b="0">
                          <a:solidFill>
                            <a:srgbClr val="252B33"/>
                          </a:solidFill>
                          <a:latin typeface="Arial"/>
                        </a:rPr>
                        <a:t>50 VU</a:t>
                      </a:r>
                    </a:p>
                  </a:txBody>
                  <a:tcPr marL="109728" marR="91440" marT="36576" marB="36576">
                    <a:solidFill>
                      <a:srgbClr val="FFFFFF"/>
                    </a:solidFill>
                  </a:tcPr>
                </a:tc>
                <a:tc>
                  <a:txBody>
                    <a:bodyPr/>
                    <a:lstStyle/>
                    <a:p>
                      <a:pPr algn="l">
                        <a:spcAft>
                          <a:spcPts val="0"/>
                        </a:spcAft>
                      </a:pPr>
                      <a:r>
                        <a:rPr sz="2000" b="0">
                          <a:solidFill>
                            <a:srgbClr val="252B33"/>
                          </a:solidFill>
                          <a:latin typeface="Arial"/>
                        </a:rPr>
                        <a:t>33 ms</a:t>
                      </a:r>
                    </a:p>
                  </a:txBody>
                  <a:tcPr marL="109728" marR="91440" marT="36576" marB="36576">
                    <a:solidFill>
                      <a:srgbClr val="FFFFFF"/>
                    </a:solidFill>
                  </a:tcPr>
                </a:tc>
                <a:tc>
                  <a:txBody>
                    <a:bodyPr/>
                    <a:lstStyle/>
                    <a:p>
                      <a:pPr algn="l">
                        <a:spcAft>
                          <a:spcPts val="0"/>
                        </a:spcAft>
                      </a:pPr>
                      <a:r>
                        <a:rPr sz="2000" b="0">
                          <a:solidFill>
                            <a:srgbClr val="252B33"/>
                          </a:solidFill>
                          <a:latin typeface="Arial"/>
                        </a:rPr>
                        <a:t>199.9 ms</a:t>
                      </a:r>
                    </a:p>
                  </a:txBody>
                  <a:tcPr marL="109728" marR="91440" marT="36576" marB="36576">
                    <a:solidFill>
                      <a:srgbClr val="FFFFFF"/>
                    </a:solidFill>
                  </a:tcPr>
                </a:tc>
                <a:tc>
                  <a:txBody>
                    <a:bodyPr/>
                    <a:lstStyle/>
                    <a:p>
                      <a:pPr algn="l">
                        <a:spcAft>
                          <a:spcPts val="0"/>
                        </a:spcAft>
                      </a:pPr>
                      <a:r>
                        <a:rPr sz="2000" b="0">
                          <a:solidFill>
                            <a:srgbClr val="252B33"/>
                          </a:solidFill>
                          <a:latin typeface="Arial"/>
                        </a:rPr>
                        <a:t>Slower after fixes</a:t>
                      </a:r>
                    </a:p>
                  </a:txBody>
                  <a:tcPr marL="109728" marR="91440" marT="36576" marB="36576">
                    <a:solidFill>
                      <a:srgbClr val="FFFFFF"/>
                    </a:solidFill>
                  </a:tcPr>
                </a:tc>
              </a:tr>
              <a:tr h="777240">
                <a:tc>
                  <a:txBody>
                    <a:bodyPr/>
                    <a:lstStyle/>
                    <a:p>
                      <a:pPr algn="l">
                        <a:spcAft>
                          <a:spcPts val="0"/>
                        </a:spcAft>
                      </a:pPr>
                      <a:r>
                        <a:rPr sz="2000" b="0">
                          <a:solidFill>
                            <a:srgbClr val="252B33"/>
                          </a:solidFill>
                          <a:latin typeface="Arial"/>
                        </a:rPr>
                        <a:t>100 VU</a:t>
                      </a:r>
                    </a:p>
                  </a:txBody>
                  <a:tcPr marL="109728" marR="91440" marT="36576" marB="36576">
                    <a:solidFill>
                      <a:srgbClr val="F7F9FC"/>
                    </a:solidFill>
                  </a:tcPr>
                </a:tc>
                <a:tc>
                  <a:txBody>
                    <a:bodyPr/>
                    <a:lstStyle/>
                    <a:p>
                      <a:pPr algn="l">
                        <a:spcAft>
                          <a:spcPts val="0"/>
                        </a:spcAft>
                      </a:pPr>
                      <a:r>
                        <a:rPr sz="2000" b="0">
                          <a:solidFill>
                            <a:srgbClr val="252B33"/>
                          </a:solidFill>
                          <a:latin typeface="Arial"/>
                        </a:rPr>
                        <a:t>255.9 ms</a:t>
                      </a:r>
                    </a:p>
                  </a:txBody>
                  <a:tcPr marL="109728" marR="91440" marT="36576" marB="36576">
                    <a:solidFill>
                      <a:srgbClr val="F7F9FC"/>
                    </a:solidFill>
                  </a:tcPr>
                </a:tc>
                <a:tc>
                  <a:txBody>
                    <a:bodyPr/>
                    <a:lstStyle/>
                    <a:p>
                      <a:pPr algn="l">
                        <a:spcAft>
                          <a:spcPts val="0"/>
                        </a:spcAft>
                      </a:pPr>
                      <a:r>
                        <a:rPr sz="2000" b="0">
                          <a:solidFill>
                            <a:srgbClr val="252B33"/>
                          </a:solidFill>
                          <a:latin typeface="Arial"/>
                        </a:rPr>
                        <a:t>1146.9 ms</a:t>
                      </a:r>
                    </a:p>
                  </a:txBody>
                  <a:tcPr marL="109728" marR="91440" marT="36576" marB="36576">
                    <a:solidFill>
                      <a:srgbClr val="F7F9FC"/>
                    </a:solidFill>
                  </a:tcPr>
                </a:tc>
                <a:tc>
                  <a:txBody>
                    <a:bodyPr/>
                    <a:lstStyle/>
                    <a:p>
                      <a:pPr algn="l">
                        <a:spcAft>
                          <a:spcPts val="0"/>
                        </a:spcAft>
                      </a:pPr>
                      <a:r>
                        <a:rPr sz="2000" b="0">
                          <a:solidFill>
                            <a:srgbClr val="252B33"/>
                          </a:solidFill>
                          <a:latin typeface="Arial"/>
                        </a:rPr>
                        <a:t>Slower after fixes</a:t>
                      </a:r>
                    </a:p>
                  </a:txBody>
                  <a:tcPr marL="109728" marR="91440" marT="36576" marB="36576">
                    <a:solidFill>
                      <a:srgbClr val="F7F9FC"/>
                    </a:solidFill>
                  </a:tcPr>
                </a:tc>
              </a:tr>
              <a:tr h="777240">
                <a:tc>
                  <a:txBody>
                    <a:bodyPr/>
                    <a:lstStyle/>
                    <a:p>
                      <a:pPr algn="l">
                        <a:spcAft>
                          <a:spcPts val="0"/>
                        </a:spcAft>
                      </a:pPr>
                      <a:r>
                        <a:rPr sz="2000" b="0">
                          <a:solidFill>
                            <a:srgbClr val="252B33"/>
                          </a:solidFill>
                          <a:latin typeface="Arial"/>
                        </a:rPr>
                        <a:t>500 VU</a:t>
                      </a:r>
                    </a:p>
                  </a:txBody>
                  <a:tcPr marL="109728" marR="91440" marT="36576" marB="36576">
                    <a:solidFill>
                      <a:srgbClr val="FFFFFF"/>
                    </a:solidFill>
                  </a:tcPr>
                </a:tc>
                <a:tc>
                  <a:txBody>
                    <a:bodyPr/>
                    <a:lstStyle/>
                    <a:p>
                      <a:pPr algn="l">
                        <a:spcAft>
                          <a:spcPts val="0"/>
                        </a:spcAft>
                      </a:pPr>
                      <a:r>
                        <a:rPr sz="2000" b="0">
                          <a:solidFill>
                            <a:srgbClr val="252B33"/>
                          </a:solidFill>
                          <a:latin typeface="Arial"/>
                        </a:rPr>
                        <a:t>106 ms</a:t>
                      </a:r>
                    </a:p>
                  </a:txBody>
                  <a:tcPr marL="109728" marR="91440" marT="36576" marB="36576">
                    <a:solidFill>
                      <a:srgbClr val="FFFFFF"/>
                    </a:solidFill>
                  </a:tcPr>
                </a:tc>
                <a:tc>
                  <a:txBody>
                    <a:bodyPr/>
                    <a:lstStyle/>
                    <a:p>
                      <a:pPr algn="l">
                        <a:spcAft>
                          <a:spcPts val="0"/>
                        </a:spcAft>
                      </a:pPr>
                      <a:r>
                        <a:rPr sz="2000" b="0">
                          <a:solidFill>
                            <a:srgbClr val="252B33"/>
                          </a:solidFill>
                          <a:latin typeface="Arial"/>
                        </a:rPr>
                        <a:t>1547.95 ms</a:t>
                      </a:r>
                    </a:p>
                  </a:txBody>
                  <a:tcPr marL="109728" marR="91440" marT="36576" marB="36576">
                    <a:solidFill>
                      <a:srgbClr val="FFFFFF"/>
                    </a:solidFill>
                  </a:tcPr>
                </a:tc>
                <a:tc>
                  <a:txBody>
                    <a:bodyPr/>
                    <a:lstStyle/>
                    <a:p>
                      <a:pPr algn="l">
                        <a:spcAft>
                          <a:spcPts val="0"/>
                        </a:spcAft>
                      </a:pPr>
                      <a:r>
                        <a:rPr sz="2000" b="0">
                          <a:solidFill>
                            <a:srgbClr val="252B33"/>
                          </a:solidFill>
                          <a:latin typeface="Arial"/>
                        </a:rPr>
                        <a:t>Slower after fixes</a:t>
                      </a:r>
                    </a:p>
                  </a:txBody>
                  <a:tcPr marL="109728" marR="91440" marT="36576" marB="36576">
                    <a:solidFill>
                      <a:srgbClr val="FFFFFF"/>
                    </a:solidFill>
                  </a:tcPr>
                </a:tc>
              </a:tr>
            </a:tbl>
          </a:graphicData>
        </a:graphic>
      </p:graphicFrame>
      <p:sp>
        <p:nvSpPr>
          <p:cNvPr id="10" name="Rounded Rectangle 9"/>
          <p:cNvSpPr/>
          <p:nvPr/>
        </p:nvSpPr>
        <p:spPr>
          <a:xfrm>
            <a:off x="731520" y="4809744"/>
            <a:ext cx="10716768" cy="978408"/>
          </a:xfrm>
          <a:prstGeom prst="roundRect">
            <a:avLst/>
          </a:prstGeom>
          <a:solidFill>
            <a:srgbClr val="FD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4965192"/>
            <a:ext cx="10250424" cy="612648"/>
          </a:xfrm>
          <a:prstGeom prst="rect">
            <a:avLst/>
          </a:prstGeom>
          <a:noFill/>
        </p:spPr>
        <p:txBody>
          <a:bodyPr wrap="square" lIns="18288" rIns="18288" tIns="18288" bIns="18288" anchor="ctr">
            <a:spAutoFit/>
          </a:bodyPr>
          <a:lstStyle/>
          <a:p>
            <a:pPr algn="l">
              <a:spcBef>
                <a:spcPts val="0"/>
              </a:spcBef>
              <a:spcAft>
                <a:spcPts val="0"/>
              </a:spcAft>
            </a:pPr>
            <a:r>
              <a:rPr sz="2400" b="1">
                <a:solidFill>
                  <a:srgbClr val="B3373D"/>
                </a:solidFill>
                <a:latin typeface="Arial"/>
              </a:rPr>
              <a:t>NOT MET: 100 VU 1,146.9 &gt; 500 ms; 500 VU 1,547.95 &gt; 1,200 ms</a:t>
            </a:r>
          </a:p>
        </p:txBody>
      </p:sp>
      <p:sp>
        <p:nvSpPr>
          <p:cNvPr id="12" name="TextBox 11"/>
          <p:cNvSpPr txBox="1"/>
          <p:nvPr/>
        </p:nvSpPr>
        <p:spPr>
          <a:xfrm>
            <a:off x="950976" y="5833872"/>
            <a:ext cx="10195560" cy="466344"/>
          </a:xfrm>
          <a:prstGeom prst="rect">
            <a:avLst/>
          </a:prstGeom>
          <a:noFill/>
        </p:spPr>
        <p:txBody>
          <a:bodyPr wrap="square" lIns="18288" rIns="18288" tIns="18288" bIns="18288" anchor="ctr">
            <a:spAutoFit/>
          </a:bodyPr>
          <a:lstStyle/>
          <a:p>
            <a:pPr algn="l">
              <a:spcBef>
                <a:spcPts val="0"/>
              </a:spcBef>
              <a:spcAft>
                <a:spcPts val="0"/>
              </a:spcAft>
            </a:pPr>
            <a:r>
              <a:rPr sz="1600" b="0">
                <a:solidFill>
                  <a:srgbClr val="5B6874"/>
                </a:solidFill>
                <a:latin typeface="Arial"/>
              </a:rPr>
              <a:t>Fixes: cache ledger data; avoid report snapshot writes. Exact cause of slowdown not isolated.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3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B3373D"/>
                </a:solidFill>
                <a:latin typeface="Arial"/>
              </a:rPr>
              <a:t>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JMeter 100 VU: native dashboard proof</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Appendix L Figures L.10 and L.15; fresh JMeter summary.json</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B3373D"/>
                </a:solidFill>
                <a:latin typeface="Arial"/>
              </a:rPr>
              <a:t>20</a:t>
            </a:r>
          </a:p>
        </p:txBody>
      </p:sp>
      <p:sp>
        <p:nvSpPr>
          <p:cNvPr id="9" name="TextBox 8"/>
          <p:cNvSpPr txBox="1"/>
          <p:nvPr/>
        </p:nvSpPr>
        <p:spPr>
          <a:xfrm>
            <a:off x="804672" y="1271016"/>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466C"/>
                </a:solidFill>
                <a:latin typeface="Arial"/>
              </a:rPr>
              <a:t>BASELINE</a:t>
            </a:r>
          </a:p>
        </p:txBody>
      </p:sp>
      <p:sp>
        <p:nvSpPr>
          <p:cNvPr id="10" name="TextBox 9"/>
          <p:cNvSpPr txBox="1"/>
          <p:nvPr/>
        </p:nvSpPr>
        <p:spPr>
          <a:xfrm>
            <a:off x="6245352" y="1271016"/>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3373D"/>
                </a:solidFill>
                <a:latin typeface="Arial"/>
              </a:rPr>
              <a:t>AFTER FIXES</a:t>
            </a:r>
          </a:p>
        </p:txBody>
      </p:sp>
      <p:pic>
        <p:nvPicPr>
          <p:cNvPr id="11" name="Picture 10" descr="jmeter-baseline-p100-dashboard.png"/>
          <p:cNvPicPr>
            <a:picLocks noChangeAspect="1"/>
          </p:cNvPicPr>
          <p:nvPr/>
        </p:nvPicPr>
        <p:blipFill>
          <a:blip r:embed="rId2"/>
          <a:stretch>
            <a:fillRect/>
          </a:stretch>
        </p:blipFill>
        <p:spPr>
          <a:xfrm>
            <a:off x="786384" y="2160734"/>
            <a:ext cx="5157216" cy="2627970"/>
          </a:xfrm>
          <a:prstGeom prst="rect">
            <a:avLst/>
          </a:prstGeom>
        </p:spPr>
      </p:pic>
      <p:sp>
        <p:nvSpPr>
          <p:cNvPr id="12" name="Rectangle 11"/>
          <p:cNvSpPr/>
          <p:nvPr/>
        </p:nvSpPr>
        <p:spPr>
          <a:xfrm>
            <a:off x="786384" y="2160734"/>
            <a:ext cx="5157216" cy="262797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jmeter-remediation-p100-dashboard.png"/>
          <p:cNvPicPr>
            <a:picLocks noChangeAspect="1"/>
          </p:cNvPicPr>
          <p:nvPr/>
        </p:nvPicPr>
        <p:blipFill>
          <a:blip r:embed="rId3"/>
          <a:stretch>
            <a:fillRect/>
          </a:stretch>
        </p:blipFill>
        <p:spPr>
          <a:xfrm>
            <a:off x="6236208" y="2113722"/>
            <a:ext cx="5157216" cy="2721994"/>
          </a:xfrm>
          <a:prstGeom prst="rect">
            <a:avLst/>
          </a:prstGeom>
        </p:spPr>
      </p:pic>
      <p:sp>
        <p:nvSpPr>
          <p:cNvPr id="14" name="Rectangle 13"/>
          <p:cNvSpPr/>
          <p:nvPr/>
        </p:nvSpPr>
        <p:spPr>
          <a:xfrm>
            <a:off x="6236208" y="2113722"/>
            <a:ext cx="5157216" cy="2721994"/>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8096" y="5468112"/>
            <a:ext cx="10643616" cy="640080"/>
          </a:xfrm>
          <a:prstGeom prst="roundRect">
            <a:avLst/>
          </a:prstGeom>
          <a:solidFill>
            <a:srgbClr val="FD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532120"/>
            <a:ext cx="10314432" cy="44805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3373D"/>
                </a:solidFill>
                <a:latin typeface="Arial"/>
              </a:rPr>
              <a:t>TOTAL row, 95th pct: 255.9 → 1146.9 ms; study limit 500 ms — target not met.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3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B3373D"/>
                </a:solidFill>
                <a:latin typeface="Arial"/>
              </a:rPr>
              <a:t>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JMeter 500 VU: native dashboard proof</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Appendix L Figures L.11 and L.16; fresh JMeter summary.json</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B3373D"/>
                </a:solidFill>
                <a:latin typeface="Arial"/>
              </a:rPr>
              <a:t>21</a:t>
            </a:r>
          </a:p>
        </p:txBody>
      </p:sp>
      <p:sp>
        <p:nvSpPr>
          <p:cNvPr id="9" name="TextBox 8"/>
          <p:cNvSpPr txBox="1"/>
          <p:nvPr/>
        </p:nvSpPr>
        <p:spPr>
          <a:xfrm>
            <a:off x="804672" y="1271016"/>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466C"/>
                </a:solidFill>
                <a:latin typeface="Arial"/>
              </a:rPr>
              <a:t>BASELINE</a:t>
            </a:r>
          </a:p>
        </p:txBody>
      </p:sp>
      <p:sp>
        <p:nvSpPr>
          <p:cNvPr id="10" name="TextBox 9"/>
          <p:cNvSpPr txBox="1"/>
          <p:nvPr/>
        </p:nvSpPr>
        <p:spPr>
          <a:xfrm>
            <a:off x="6245352" y="1271016"/>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3373D"/>
                </a:solidFill>
                <a:latin typeface="Arial"/>
              </a:rPr>
              <a:t>AFTER FIXES</a:t>
            </a:r>
          </a:p>
        </p:txBody>
      </p:sp>
      <p:pic>
        <p:nvPicPr>
          <p:cNvPr id="11" name="Picture 10" descr="jmeter-baseline-p500-dashboard.png"/>
          <p:cNvPicPr>
            <a:picLocks noChangeAspect="1"/>
          </p:cNvPicPr>
          <p:nvPr/>
        </p:nvPicPr>
        <p:blipFill>
          <a:blip r:embed="rId2"/>
          <a:stretch>
            <a:fillRect/>
          </a:stretch>
        </p:blipFill>
        <p:spPr>
          <a:xfrm>
            <a:off x="786384" y="2160734"/>
            <a:ext cx="5157216" cy="2627970"/>
          </a:xfrm>
          <a:prstGeom prst="rect">
            <a:avLst/>
          </a:prstGeom>
        </p:spPr>
      </p:pic>
      <p:sp>
        <p:nvSpPr>
          <p:cNvPr id="12" name="Rectangle 11"/>
          <p:cNvSpPr/>
          <p:nvPr/>
        </p:nvSpPr>
        <p:spPr>
          <a:xfrm>
            <a:off x="786384" y="2160734"/>
            <a:ext cx="5157216" cy="262797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jmeter-remediation-p500-dashboard.png"/>
          <p:cNvPicPr>
            <a:picLocks noChangeAspect="1"/>
          </p:cNvPicPr>
          <p:nvPr/>
        </p:nvPicPr>
        <p:blipFill>
          <a:blip r:embed="rId3"/>
          <a:stretch>
            <a:fillRect/>
          </a:stretch>
        </p:blipFill>
        <p:spPr>
          <a:xfrm>
            <a:off x="6236208" y="2113722"/>
            <a:ext cx="5157216" cy="2721994"/>
          </a:xfrm>
          <a:prstGeom prst="rect">
            <a:avLst/>
          </a:prstGeom>
        </p:spPr>
      </p:pic>
      <p:sp>
        <p:nvSpPr>
          <p:cNvPr id="14" name="Rectangle 13"/>
          <p:cNvSpPr/>
          <p:nvPr/>
        </p:nvSpPr>
        <p:spPr>
          <a:xfrm>
            <a:off x="6236208" y="2113722"/>
            <a:ext cx="5157216" cy="2721994"/>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8096" y="5468112"/>
            <a:ext cx="10643616" cy="640080"/>
          </a:xfrm>
          <a:prstGeom prst="roundRect">
            <a:avLst/>
          </a:prstGeom>
          <a:solidFill>
            <a:srgbClr val="FD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532120"/>
            <a:ext cx="10314432" cy="44805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3373D"/>
                </a:solidFill>
                <a:latin typeface="Arial"/>
              </a:rPr>
              <a:t>TOTAL row, 95th pct: 106 → 1547.95 ms; study limit 1,200 ms — target not met.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E7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BE7414"/>
                </a:solidFill>
                <a:latin typeface="Arial"/>
              </a:rPr>
              <a:t>RESULTS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Soak/spike p95 fell; core p95 rose</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§4.4; fresh JMeter summary.json</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BE7414"/>
                </a:solidFill>
                <a:latin typeface="Arial"/>
              </a:rPr>
              <a:t>22</a:t>
            </a:r>
          </a:p>
        </p:txBody>
      </p:sp>
      <p:sp>
        <p:nvSpPr>
          <p:cNvPr id="9" name="Rounded Rectangle 8"/>
          <p:cNvSpPr/>
          <p:nvPr/>
        </p:nvSpPr>
        <p:spPr>
          <a:xfrm>
            <a:off x="731520" y="1554480"/>
            <a:ext cx="5175504" cy="3401568"/>
          </a:xfrm>
          <a:prstGeom prst="roundRect">
            <a:avLst/>
          </a:prstGeom>
          <a:solidFill>
            <a:srgbClr val="E8F7EE"/>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865376"/>
            <a:ext cx="4626864" cy="292608"/>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246F46"/>
                </a:solidFill>
                <a:latin typeface="Arial"/>
              </a:rPr>
              <a:t>SOAK TOTAL p95</a:t>
            </a:r>
          </a:p>
        </p:txBody>
      </p:sp>
      <p:sp>
        <p:nvSpPr>
          <p:cNvPr id="11" name="TextBox 10"/>
          <p:cNvSpPr txBox="1"/>
          <p:nvPr/>
        </p:nvSpPr>
        <p:spPr>
          <a:xfrm>
            <a:off x="1005840" y="2450592"/>
            <a:ext cx="4617720" cy="566928"/>
          </a:xfrm>
          <a:prstGeom prst="rect">
            <a:avLst/>
          </a:prstGeom>
          <a:noFill/>
        </p:spPr>
        <p:txBody>
          <a:bodyPr wrap="square" lIns="18288" rIns="18288" tIns="18288" bIns="18288" anchor="ctr">
            <a:spAutoFit/>
          </a:bodyPr>
          <a:lstStyle/>
          <a:p>
            <a:pPr algn="l">
              <a:spcBef>
                <a:spcPts val="0"/>
              </a:spcBef>
              <a:spcAft>
                <a:spcPts val="0"/>
              </a:spcAft>
            </a:pPr>
            <a:r>
              <a:rPr sz="3000" b="1">
                <a:solidFill>
                  <a:srgbClr val="246F46"/>
                </a:solidFill>
                <a:latin typeface="Arial"/>
              </a:rPr>
              <a:t>443.95 → 171 ms</a:t>
            </a:r>
          </a:p>
        </p:txBody>
      </p:sp>
      <p:sp>
        <p:nvSpPr>
          <p:cNvPr id="12" name="TextBox 11"/>
          <p:cNvSpPr txBox="1"/>
          <p:nvPr/>
        </p:nvSpPr>
        <p:spPr>
          <a:xfrm>
            <a:off x="1005840" y="3337560"/>
            <a:ext cx="4617720" cy="475488"/>
          </a:xfrm>
          <a:prstGeom prst="rect">
            <a:avLst/>
          </a:prstGeom>
          <a:noFill/>
        </p:spPr>
        <p:txBody>
          <a:bodyPr wrap="square" lIns="18288" rIns="18288" tIns="18288" bIns="18288" anchor="ctr">
            <a:spAutoFit/>
          </a:bodyPr>
          <a:lstStyle/>
          <a:p>
            <a:pPr algn="l">
              <a:spcBef>
                <a:spcPts val="0"/>
              </a:spcBef>
              <a:spcAft>
                <a:spcPts val="0"/>
              </a:spcAft>
            </a:pPr>
            <a:r>
              <a:rPr sz="2100" b="0">
                <a:solidFill>
                  <a:srgbClr val="252B33"/>
                </a:solidFill>
                <a:latin typeface="Arial"/>
              </a:rPr>
              <a:t>61% lower on the fresh run</a:t>
            </a:r>
          </a:p>
        </p:txBody>
      </p:sp>
      <p:sp>
        <p:nvSpPr>
          <p:cNvPr id="13" name="TextBox 12"/>
          <p:cNvSpPr txBox="1"/>
          <p:nvPr/>
        </p:nvSpPr>
        <p:spPr>
          <a:xfrm>
            <a:off x="1005840" y="4059936"/>
            <a:ext cx="4617720" cy="612648"/>
          </a:xfrm>
          <a:prstGeom prst="rect">
            <a:avLst/>
          </a:prstGeom>
          <a:noFill/>
        </p:spPr>
        <p:txBody>
          <a:bodyPr wrap="square" lIns="18288" rIns="18288" tIns="18288" bIns="18288" anchor="ctr">
            <a:spAutoFit/>
          </a:bodyPr>
          <a:lstStyle/>
          <a:p>
            <a:pPr algn="l">
              <a:spcBef>
                <a:spcPts val="0"/>
              </a:spcBef>
              <a:spcAft>
                <a:spcPts val="0"/>
              </a:spcAft>
            </a:pPr>
            <a:r>
              <a:rPr sz="1600" b="0">
                <a:solidFill>
                  <a:srgbClr val="5B6874"/>
                </a:solidFill>
                <a:latin typeface="Arial"/>
              </a:rPr>
              <a:t>p99 lower; average time and throughput worse</a:t>
            </a:r>
          </a:p>
        </p:txBody>
      </p:sp>
      <p:sp>
        <p:nvSpPr>
          <p:cNvPr id="14" name="Rounded Rectangle 13"/>
          <p:cNvSpPr/>
          <p:nvPr/>
        </p:nvSpPr>
        <p:spPr>
          <a:xfrm>
            <a:off x="6254496" y="1554480"/>
            <a:ext cx="5175504" cy="3401568"/>
          </a:xfrm>
          <a:prstGeom prst="roundRect">
            <a:avLst/>
          </a:prstGeom>
          <a:solidFill>
            <a:srgbClr val="E8F7EE"/>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28816" y="1865376"/>
            <a:ext cx="4617720" cy="292608"/>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246F46"/>
                </a:solidFill>
                <a:latin typeface="Arial"/>
              </a:rPr>
              <a:t>SPIKE TOTAL p95</a:t>
            </a:r>
          </a:p>
        </p:txBody>
      </p:sp>
      <p:sp>
        <p:nvSpPr>
          <p:cNvPr id="16" name="TextBox 15"/>
          <p:cNvSpPr txBox="1"/>
          <p:nvPr/>
        </p:nvSpPr>
        <p:spPr>
          <a:xfrm>
            <a:off x="6528816" y="2450592"/>
            <a:ext cx="4617720" cy="566928"/>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46F46"/>
                </a:solidFill>
                <a:latin typeface="Arial"/>
              </a:rPr>
              <a:t>33,402 → 4,731 ms</a:t>
            </a:r>
          </a:p>
        </p:txBody>
      </p:sp>
      <p:sp>
        <p:nvSpPr>
          <p:cNvPr id="17" name="TextBox 16"/>
          <p:cNvSpPr txBox="1"/>
          <p:nvPr/>
        </p:nvSpPr>
        <p:spPr>
          <a:xfrm>
            <a:off x="6528816" y="3337560"/>
            <a:ext cx="4617720" cy="475488"/>
          </a:xfrm>
          <a:prstGeom prst="rect">
            <a:avLst/>
          </a:prstGeom>
          <a:noFill/>
        </p:spPr>
        <p:txBody>
          <a:bodyPr wrap="square" lIns="18288" rIns="18288" tIns="18288" bIns="18288" anchor="ctr">
            <a:spAutoFit/>
          </a:bodyPr>
          <a:lstStyle/>
          <a:p>
            <a:pPr algn="l">
              <a:spcBef>
                <a:spcPts val="0"/>
              </a:spcBef>
              <a:spcAft>
                <a:spcPts val="0"/>
              </a:spcAft>
            </a:pPr>
            <a:r>
              <a:rPr sz="1900" b="0">
                <a:solidFill>
                  <a:srgbClr val="252B33"/>
                </a:solidFill>
                <a:latin typeface="Arial"/>
              </a:rPr>
              <a:t>86% lower; errors 0.4688% → 0.0%</a:t>
            </a:r>
          </a:p>
        </p:txBody>
      </p:sp>
      <p:sp>
        <p:nvSpPr>
          <p:cNvPr id="18" name="TextBox 17"/>
          <p:cNvSpPr txBox="1"/>
          <p:nvPr/>
        </p:nvSpPr>
        <p:spPr>
          <a:xfrm>
            <a:off x="6528816" y="4059936"/>
            <a:ext cx="4617720" cy="612648"/>
          </a:xfrm>
          <a:prstGeom prst="rect">
            <a:avLst/>
          </a:prstGeom>
          <a:noFill/>
        </p:spPr>
        <p:txBody>
          <a:bodyPr wrap="square" lIns="18288" rIns="18288" tIns="18288" bIns="18288" anchor="ctr">
            <a:spAutoFit/>
          </a:bodyPr>
          <a:lstStyle/>
          <a:p>
            <a:pPr algn="l">
              <a:spcBef>
                <a:spcPts val="0"/>
              </a:spcBef>
              <a:spcAft>
                <a:spcPts val="0"/>
              </a:spcAft>
            </a:pPr>
            <a:r>
              <a:rPr sz="1600" b="0">
                <a:solidFill>
                  <a:srgbClr val="5B6874"/>
                </a:solidFill>
                <a:latin typeface="Arial"/>
              </a:rPr>
              <a:t>p99 and average time lower; throughput higher</a:t>
            </a:r>
          </a:p>
        </p:txBody>
      </p:sp>
      <p:sp>
        <p:nvSpPr>
          <p:cNvPr id="19" name="TextBox 18"/>
          <p:cNvSpPr txBox="1"/>
          <p:nvPr/>
        </p:nvSpPr>
        <p:spPr>
          <a:xfrm>
            <a:off x="768096" y="5294376"/>
            <a:ext cx="10698480" cy="576072"/>
          </a:xfrm>
          <a:prstGeom prst="rect">
            <a:avLst/>
          </a:prstGeom>
          <a:noFill/>
        </p:spPr>
        <p:txBody>
          <a:bodyPr wrap="square" lIns="18288" rIns="18288" tIns="18288" bIns="18288" anchor="ctr">
            <a:spAutoFit/>
          </a:bodyPr>
          <a:lstStyle/>
          <a:p>
            <a:pPr algn="l">
              <a:spcBef>
                <a:spcPts val="0"/>
              </a:spcBef>
              <a:spcAft>
                <a:spcPts val="0"/>
              </a:spcAft>
            </a:pPr>
            <a:r>
              <a:rPr sz="1900" b="1">
                <a:solidFill>
                  <a:srgbClr val="B3373D"/>
                </a:solidFill>
                <a:latin typeface="Arial"/>
              </a:rPr>
              <a:t>Core 50, 100, and 500 VU p95 all worsened; these separate gains do not reverse that result.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E7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BE7414"/>
                </a:solidFill>
                <a:latin typeface="Arial"/>
              </a:rPr>
              <a:t>RESULTS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GET /reports/account-ledger behaved differently</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Table 4.4; Appendix G</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BE7414"/>
                </a:solidFill>
                <a:latin typeface="Arial"/>
              </a:rPr>
              <a:t>23</a:t>
            </a:r>
          </a:p>
        </p:txBody>
      </p:sp>
      <p:graphicFrame>
        <p:nvGraphicFramePr>
          <p:cNvPr id="9" name="Table 8"/>
          <p:cNvGraphicFramePr>
            <a:graphicFrameLocks noGrp="1"/>
          </p:cNvGraphicFramePr>
          <p:nvPr/>
        </p:nvGraphicFramePr>
        <p:xfrm>
          <a:off x="731520" y="1481328"/>
          <a:ext cx="10716765" cy="2322576"/>
        </p:xfrm>
        <a:graphic>
          <a:graphicData uri="http://schemas.openxmlformats.org/drawingml/2006/table">
            <a:tbl>
              <a:tblPr firstRow="1" bandRow="1">
                <a:tableStyleId>{5C22544A-7EE6-4342-B048-85BDC9FD1C3A}</a:tableStyleId>
              </a:tblPr>
              <a:tblGrid>
                <a:gridCol w="3107862"/>
                <a:gridCol w="2357688"/>
                <a:gridCol w="2357688"/>
                <a:gridCol w="2893527"/>
              </a:tblGrid>
              <a:tr h="774192">
                <a:tc>
                  <a:txBody>
                    <a:bodyPr/>
                    <a:lstStyle/>
                    <a:p>
                      <a:pPr algn="l">
                        <a:spcAft>
                          <a:spcPts val="0"/>
                        </a:spcAft>
                      </a:pPr>
                      <a:r>
                        <a:rPr sz="1900" b="1">
                          <a:solidFill>
                            <a:srgbClr val="FFFFFF"/>
                          </a:solidFill>
                          <a:latin typeface="Arial"/>
                        </a:rPr>
                        <a:t>Account-ledger profile</a:t>
                      </a:r>
                    </a:p>
                  </a:txBody>
                  <a:tcPr marL="109728" marR="91440" marT="36576" marB="36576">
                    <a:solidFill>
                      <a:srgbClr val="252B33"/>
                    </a:solidFill>
                  </a:tcPr>
                </a:tc>
                <a:tc>
                  <a:txBody>
                    <a:bodyPr/>
                    <a:lstStyle/>
                    <a:p>
                      <a:pPr algn="l">
                        <a:spcAft>
                          <a:spcPts val="0"/>
                        </a:spcAft>
                      </a:pPr>
                      <a:r>
                        <a:rPr sz="1900" b="1">
                          <a:solidFill>
                            <a:srgbClr val="FFFFFF"/>
                          </a:solidFill>
                          <a:latin typeface="Arial"/>
                        </a:rPr>
                        <a:t>Baseline p95</a:t>
                      </a:r>
                    </a:p>
                  </a:txBody>
                  <a:tcPr marL="109728" marR="91440" marT="36576" marB="36576">
                    <a:solidFill>
                      <a:srgbClr val="252B33"/>
                    </a:solidFill>
                  </a:tcPr>
                </a:tc>
                <a:tc>
                  <a:txBody>
                    <a:bodyPr/>
                    <a:lstStyle/>
                    <a:p>
                      <a:pPr algn="l">
                        <a:spcAft>
                          <a:spcPts val="0"/>
                        </a:spcAft>
                      </a:pPr>
                      <a:r>
                        <a:rPr sz="1900" b="1">
                          <a:solidFill>
                            <a:srgbClr val="FFFFFF"/>
                          </a:solidFill>
                          <a:latin typeface="Arial"/>
                        </a:rPr>
                        <a:t>After p95</a:t>
                      </a:r>
                    </a:p>
                  </a:txBody>
                  <a:tcPr marL="109728" marR="91440" marT="36576" marB="36576">
                    <a:solidFill>
                      <a:srgbClr val="252B33"/>
                    </a:solidFill>
                  </a:tcPr>
                </a:tc>
                <a:tc>
                  <a:txBody>
                    <a:bodyPr/>
                    <a:lstStyle/>
                    <a:p>
                      <a:pPr algn="l">
                        <a:spcAft>
                          <a:spcPts val="0"/>
                        </a:spcAft>
                      </a:pPr>
                      <a:r>
                        <a:rPr sz="1900" b="1">
                          <a:solidFill>
                            <a:srgbClr val="FFFFFF"/>
                          </a:solidFill>
                          <a:latin typeface="Arial"/>
                        </a:rPr>
                        <a:t>Interpretation</a:t>
                      </a:r>
                    </a:p>
                  </a:txBody>
                  <a:tcPr marL="109728" marR="91440" marT="36576" marB="36576">
                    <a:solidFill>
                      <a:srgbClr val="252B33"/>
                    </a:solidFill>
                  </a:tcPr>
                </a:tc>
              </a:tr>
              <a:tr h="774192">
                <a:tc>
                  <a:txBody>
                    <a:bodyPr/>
                    <a:lstStyle/>
                    <a:p>
                      <a:pPr algn="l">
                        <a:spcAft>
                          <a:spcPts val="0"/>
                        </a:spcAft>
                      </a:pPr>
                      <a:r>
                        <a:rPr sz="1900" b="0">
                          <a:solidFill>
                            <a:srgbClr val="252B33"/>
                          </a:solidFill>
                          <a:latin typeface="Arial"/>
                        </a:rPr>
                        <a:t>Soak</a:t>
                      </a:r>
                    </a:p>
                  </a:txBody>
                  <a:tcPr marL="109728" marR="91440" marT="36576" marB="36576">
                    <a:solidFill>
                      <a:srgbClr val="FFFFFF"/>
                    </a:solidFill>
                  </a:tcPr>
                </a:tc>
                <a:tc>
                  <a:txBody>
                    <a:bodyPr/>
                    <a:lstStyle/>
                    <a:p>
                      <a:pPr algn="l">
                        <a:spcAft>
                          <a:spcPts val="0"/>
                        </a:spcAft>
                      </a:pPr>
                      <a:r>
                        <a:rPr sz="1900" b="0">
                          <a:solidFill>
                            <a:srgbClr val="252B33"/>
                          </a:solidFill>
                          <a:latin typeface="Arial"/>
                        </a:rPr>
                        <a:t>741.95 ms</a:t>
                      </a:r>
                    </a:p>
                  </a:txBody>
                  <a:tcPr marL="109728" marR="91440" marT="36576" marB="36576">
                    <a:solidFill>
                      <a:srgbClr val="FFFFFF"/>
                    </a:solidFill>
                  </a:tcPr>
                </a:tc>
                <a:tc>
                  <a:txBody>
                    <a:bodyPr/>
                    <a:lstStyle/>
                    <a:p>
                      <a:pPr algn="l">
                        <a:spcAft>
                          <a:spcPts val="0"/>
                        </a:spcAft>
                      </a:pPr>
                      <a:r>
                        <a:rPr sz="1900" b="0">
                          <a:solidFill>
                            <a:srgbClr val="252B33"/>
                          </a:solidFill>
                          <a:latin typeface="Arial"/>
                        </a:rPr>
                        <a:t>3,825.70 ms</a:t>
                      </a:r>
                    </a:p>
                  </a:txBody>
                  <a:tcPr marL="109728" marR="91440" marT="36576" marB="36576">
                    <a:solidFill>
                      <a:srgbClr val="FFFFFF"/>
                    </a:solidFill>
                  </a:tcPr>
                </a:tc>
                <a:tc>
                  <a:txBody>
                    <a:bodyPr/>
                    <a:lstStyle/>
                    <a:p>
                      <a:pPr algn="l">
                        <a:spcAft>
                          <a:spcPts val="0"/>
                        </a:spcAft>
                      </a:pPr>
                      <a:r>
                        <a:rPr sz="1900" b="0">
                          <a:solidFill>
                            <a:srgbClr val="252B33"/>
                          </a:solidFill>
                          <a:latin typeface="Arial"/>
                        </a:rPr>
                        <a:t>Regression</a:t>
                      </a:r>
                    </a:p>
                  </a:txBody>
                  <a:tcPr marL="109728" marR="91440" marT="36576" marB="36576">
                    <a:solidFill>
                      <a:srgbClr val="FFFFFF"/>
                    </a:solidFill>
                  </a:tcPr>
                </a:tc>
              </a:tr>
              <a:tr h="774192">
                <a:tc>
                  <a:txBody>
                    <a:bodyPr/>
                    <a:lstStyle/>
                    <a:p>
                      <a:pPr algn="l">
                        <a:spcAft>
                          <a:spcPts val="0"/>
                        </a:spcAft>
                      </a:pPr>
                      <a:r>
                        <a:rPr sz="1900" b="0">
                          <a:solidFill>
                            <a:srgbClr val="252B33"/>
                          </a:solidFill>
                          <a:latin typeface="Arial"/>
                        </a:rPr>
                        <a:t>Spike</a:t>
                      </a:r>
                    </a:p>
                  </a:txBody>
                  <a:tcPr marL="109728" marR="91440" marT="36576" marB="36576">
                    <a:solidFill>
                      <a:srgbClr val="F7F9FC"/>
                    </a:solidFill>
                  </a:tcPr>
                </a:tc>
                <a:tc>
                  <a:txBody>
                    <a:bodyPr/>
                    <a:lstStyle/>
                    <a:p>
                      <a:pPr algn="l">
                        <a:spcAft>
                          <a:spcPts val="0"/>
                        </a:spcAft>
                      </a:pPr>
                      <a:r>
                        <a:rPr sz="1900" b="0">
                          <a:solidFill>
                            <a:srgbClr val="252B33"/>
                          </a:solidFill>
                          <a:latin typeface="Arial"/>
                        </a:rPr>
                        <a:t>50,288.30 ms</a:t>
                      </a:r>
                    </a:p>
                  </a:txBody>
                  <a:tcPr marL="109728" marR="91440" marT="36576" marB="36576">
                    <a:solidFill>
                      <a:srgbClr val="F7F9FC"/>
                    </a:solidFill>
                  </a:tcPr>
                </a:tc>
                <a:tc>
                  <a:txBody>
                    <a:bodyPr/>
                    <a:lstStyle/>
                    <a:p>
                      <a:pPr algn="l">
                        <a:spcAft>
                          <a:spcPts val="0"/>
                        </a:spcAft>
                      </a:pPr>
                      <a:r>
                        <a:rPr sz="1900" b="0">
                          <a:solidFill>
                            <a:srgbClr val="252B33"/>
                          </a:solidFill>
                          <a:latin typeface="Arial"/>
                        </a:rPr>
                        <a:t>12,910.20 ms</a:t>
                      </a:r>
                    </a:p>
                  </a:txBody>
                  <a:tcPr marL="109728" marR="91440" marT="36576" marB="36576">
                    <a:solidFill>
                      <a:srgbClr val="F7F9FC"/>
                    </a:solidFill>
                  </a:tcPr>
                </a:tc>
                <a:tc>
                  <a:txBody>
                    <a:bodyPr/>
                    <a:lstStyle/>
                    <a:p>
                      <a:pPr algn="l">
                        <a:spcAft>
                          <a:spcPts val="0"/>
                        </a:spcAft>
                      </a:pPr>
                      <a:r>
                        <a:rPr sz="1900" b="0">
                          <a:solidFill>
                            <a:srgbClr val="252B33"/>
                          </a:solidFill>
                          <a:latin typeface="Arial"/>
                        </a:rPr>
                        <a:t>Improvement</a:t>
                      </a:r>
                    </a:p>
                  </a:txBody>
                  <a:tcPr marL="109728" marR="91440" marT="36576" marB="36576">
                    <a:solidFill>
                      <a:srgbClr val="F7F9FC"/>
                    </a:solidFill>
                  </a:tcPr>
                </a:tc>
              </a:tr>
            </a:tbl>
          </a:graphicData>
        </a:graphic>
      </p:graphicFrame>
      <p:sp>
        <p:nvSpPr>
          <p:cNvPr id="10" name="Rounded Rectangle 9"/>
          <p:cNvSpPr/>
          <p:nvPr/>
        </p:nvSpPr>
        <p:spPr>
          <a:xfrm>
            <a:off x="731520" y="4105656"/>
            <a:ext cx="10716768" cy="1572768"/>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4325112"/>
            <a:ext cx="9966960" cy="347472"/>
          </a:xfrm>
          <a:prstGeom prst="rect">
            <a:avLst/>
          </a:prstGeom>
          <a:noFill/>
        </p:spPr>
        <p:txBody>
          <a:bodyPr wrap="square" lIns="18288" rIns="18288" tIns="18288" bIns="18288" anchor="ctr">
            <a:spAutoFit/>
          </a:bodyPr>
          <a:lstStyle/>
          <a:p>
            <a:pPr algn="l">
              <a:spcBef>
                <a:spcPts val="0"/>
              </a:spcBef>
              <a:spcAft>
                <a:spcPts val="0"/>
              </a:spcAft>
            </a:pPr>
            <a:r>
              <a:rPr sz="1900" b="1">
                <a:solidFill>
                  <a:srgbClr val="BE7414"/>
                </a:solidFill>
                <a:latin typeface="Arial"/>
              </a:rPr>
              <a:t>Why this matters</a:t>
            </a:r>
          </a:p>
        </p:txBody>
      </p:sp>
      <p:sp>
        <p:nvSpPr>
          <p:cNvPr id="12" name="TextBox 11"/>
          <p:cNvSpPr txBox="1"/>
          <p:nvPr/>
        </p:nvSpPr>
        <p:spPr>
          <a:xfrm>
            <a:off x="978408" y="4700016"/>
            <a:ext cx="9948672" cy="704088"/>
          </a:xfrm>
          <a:prstGeom prst="rect">
            <a:avLst/>
          </a:prstGeom>
          <a:noFill/>
        </p:spPr>
        <p:txBody>
          <a:bodyPr wrap="square" lIns="18288" rIns="18288" tIns="18288" bIns="18288" anchor="ctr">
            <a:spAutoFit/>
          </a:bodyPr>
          <a:lstStyle/>
          <a:p>
            <a:pPr algn="l">
              <a:spcBef>
                <a:spcPts val="0"/>
              </a:spcBef>
              <a:spcAft>
                <a:spcPts val="0"/>
              </a:spcAft>
            </a:pPr>
            <a:r>
              <a:rPr sz="2000" b="0">
                <a:solidFill>
                  <a:srgbClr val="252B33"/>
                </a:solidFill>
                <a:latin typeface="Arial"/>
              </a:rPr>
              <a:t>The same endpoint behaved differently under two workloads. These results do not identify one cause.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4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24466C"/>
                </a:solidFill>
                <a:latin typeface="Arial"/>
              </a:rPr>
              <a:t>RESULTS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The API was exercised through a role-aware client</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§4.6, Figures 4.2 and 4.7</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24466C"/>
                </a:solidFill>
                <a:latin typeface="Arial"/>
              </a:rPr>
              <a:t>24</a:t>
            </a:r>
          </a:p>
        </p:txBody>
      </p:sp>
      <p:pic>
        <p:nvPicPr>
          <p:cNvPr id="9" name="Picture 8" descr="02-dashboard-admin.png"/>
          <p:cNvPicPr>
            <a:picLocks noChangeAspect="1"/>
          </p:cNvPicPr>
          <p:nvPr/>
        </p:nvPicPr>
        <p:blipFill>
          <a:blip r:embed="rId2"/>
          <a:stretch>
            <a:fillRect/>
          </a:stretch>
        </p:blipFill>
        <p:spPr>
          <a:xfrm>
            <a:off x="856061" y="1490472"/>
            <a:ext cx="4990429" cy="3465576"/>
          </a:xfrm>
          <a:prstGeom prst="rect">
            <a:avLst/>
          </a:prstGeom>
        </p:spPr>
      </p:pic>
      <p:sp>
        <p:nvSpPr>
          <p:cNvPr id="10" name="Rectangle 9"/>
          <p:cNvSpPr/>
          <p:nvPr/>
        </p:nvSpPr>
        <p:spPr>
          <a:xfrm>
            <a:off x="856061" y="1490472"/>
            <a:ext cx="4990429" cy="3465576"/>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7-journal-entry-details.png"/>
          <p:cNvPicPr>
            <a:picLocks noChangeAspect="1"/>
          </p:cNvPicPr>
          <p:nvPr/>
        </p:nvPicPr>
        <p:blipFill>
          <a:blip r:embed="rId3"/>
          <a:srcRect b="60175"/>
          <a:stretch>
            <a:fillRect/>
          </a:stretch>
        </p:blipFill>
        <p:spPr>
          <a:xfrm>
            <a:off x="6351605" y="1490472"/>
            <a:ext cx="4990429" cy="3465576"/>
          </a:xfrm>
          <a:prstGeom prst="rect">
            <a:avLst/>
          </a:prstGeom>
        </p:spPr>
      </p:pic>
      <p:sp>
        <p:nvSpPr>
          <p:cNvPr id="12" name="Rectangle 11"/>
          <p:cNvSpPr/>
          <p:nvPr/>
        </p:nvSpPr>
        <p:spPr>
          <a:xfrm>
            <a:off x="6351605" y="1490472"/>
            <a:ext cx="4990429" cy="3465576"/>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5084064"/>
            <a:ext cx="5020056" cy="301752"/>
          </a:xfrm>
          <a:prstGeom prst="rect">
            <a:avLst/>
          </a:prstGeom>
          <a:noFill/>
        </p:spPr>
        <p:txBody>
          <a:bodyPr wrap="square" lIns="18288" rIns="18288" tIns="18288" bIns="18288" anchor="ctr">
            <a:spAutoFit/>
          </a:bodyPr>
          <a:lstStyle/>
          <a:p>
            <a:pPr algn="l">
              <a:spcBef>
                <a:spcPts val="0"/>
              </a:spcBef>
              <a:spcAft>
                <a:spcPts val="0"/>
              </a:spcAft>
            </a:pPr>
            <a:r>
              <a:rPr sz="1800" b="1">
                <a:solidFill>
                  <a:srgbClr val="24466C"/>
                </a:solidFill>
                <a:latin typeface="Arial"/>
              </a:rPr>
              <a:t>Admin dashboard</a:t>
            </a:r>
          </a:p>
        </p:txBody>
      </p:sp>
      <p:sp>
        <p:nvSpPr>
          <p:cNvPr id="14" name="TextBox 13"/>
          <p:cNvSpPr txBox="1"/>
          <p:nvPr/>
        </p:nvSpPr>
        <p:spPr>
          <a:xfrm>
            <a:off x="6364224" y="5084064"/>
            <a:ext cx="5001768" cy="301752"/>
          </a:xfrm>
          <a:prstGeom prst="rect">
            <a:avLst/>
          </a:prstGeom>
          <a:noFill/>
        </p:spPr>
        <p:txBody>
          <a:bodyPr wrap="square" lIns="18288" rIns="18288" tIns="18288" bIns="18288" anchor="ctr">
            <a:spAutoFit/>
          </a:bodyPr>
          <a:lstStyle/>
          <a:p>
            <a:pPr algn="l">
              <a:spcBef>
                <a:spcPts val="0"/>
              </a:spcBef>
              <a:spcAft>
                <a:spcPts val="0"/>
              </a:spcAft>
            </a:pPr>
            <a:r>
              <a:rPr sz="1800" b="1">
                <a:solidFill>
                  <a:srgbClr val="24466C"/>
                </a:solidFill>
                <a:latin typeface="Arial"/>
              </a:rPr>
              <a:t>Balanced journal-entry lines</a:t>
            </a:r>
          </a:p>
        </p:txBody>
      </p:sp>
      <p:sp>
        <p:nvSpPr>
          <p:cNvPr id="15" name="Rounded Rectangle 14"/>
          <p:cNvSpPr/>
          <p:nvPr/>
        </p:nvSpPr>
        <p:spPr>
          <a:xfrm>
            <a:off x="768096" y="5513832"/>
            <a:ext cx="10652760" cy="530352"/>
          </a:xfrm>
          <a:prstGeom prst="roundRect">
            <a:avLst/>
          </a:prstGeom>
          <a:solidFill>
            <a:srgbClr val="EBF3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6" y="5577840"/>
            <a:ext cx="10232136" cy="356616"/>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24466C"/>
                </a:solidFill>
                <a:latin typeface="Arial"/>
              </a:rPr>
              <a:t>These are browser workflow screenshots; their displayed counts are not benchmark metrics.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0F676D"/>
                </a:solidFill>
                <a:latin typeface="Arial"/>
              </a:rPr>
              <a:t>SYNTHESIS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The three results are different</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Table 4.5; Appendix N</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0F676D"/>
                </a:solidFill>
                <a:latin typeface="Arial"/>
              </a:rPr>
              <a:t>25</a:t>
            </a:r>
          </a:p>
        </p:txBody>
      </p:sp>
      <p:graphicFrame>
        <p:nvGraphicFramePr>
          <p:cNvPr id="9" name="Table 8"/>
          <p:cNvGraphicFramePr>
            <a:graphicFrameLocks noGrp="1"/>
          </p:cNvGraphicFramePr>
          <p:nvPr/>
        </p:nvGraphicFramePr>
        <p:xfrm>
          <a:off x="731520" y="1362456"/>
          <a:ext cx="10716767" cy="3767328"/>
        </p:xfrm>
        <a:graphic>
          <a:graphicData uri="http://schemas.openxmlformats.org/drawingml/2006/table">
            <a:tbl>
              <a:tblPr firstRow="1" bandRow="1">
                <a:tableStyleId>{5C22544A-7EE6-4342-B048-85BDC9FD1C3A}</a:tableStyleId>
              </a:tblPr>
              <a:tblGrid>
                <a:gridCol w="2143353"/>
                <a:gridCol w="3000695"/>
                <a:gridCol w="5572719"/>
              </a:tblGrid>
              <a:tr h="753465">
                <a:tc>
                  <a:txBody>
                    <a:bodyPr/>
                    <a:lstStyle/>
                    <a:p>
                      <a:pPr algn="l">
                        <a:spcAft>
                          <a:spcPts val="0"/>
                        </a:spcAft>
                      </a:pPr>
                      <a:r>
                        <a:rPr sz="1700" b="1">
                          <a:solidFill>
                            <a:srgbClr val="FFFFFF"/>
                          </a:solidFill>
                          <a:latin typeface="Arial"/>
                        </a:rPr>
                        <a:t>Area</a:t>
                      </a:r>
                    </a:p>
                  </a:txBody>
                  <a:tcPr marL="109728" marR="91440" marT="36576" marB="36576">
                    <a:solidFill>
                      <a:srgbClr val="252B33"/>
                    </a:solidFill>
                  </a:tcPr>
                </a:tc>
                <a:tc>
                  <a:txBody>
                    <a:bodyPr/>
                    <a:lstStyle/>
                    <a:p>
                      <a:pPr algn="l">
                        <a:spcAft>
                          <a:spcPts val="0"/>
                        </a:spcAft>
                      </a:pPr>
                      <a:r>
                        <a:rPr sz="1700" b="1">
                          <a:solidFill>
                            <a:srgbClr val="FFFFFF"/>
                          </a:solidFill>
                          <a:latin typeface="Arial"/>
                        </a:rPr>
                        <a:t>Decision</a:t>
                      </a:r>
                    </a:p>
                  </a:txBody>
                  <a:tcPr marL="109728" marR="91440" marT="36576" marB="36576">
                    <a:solidFill>
                      <a:srgbClr val="252B33"/>
                    </a:solidFill>
                  </a:tcPr>
                </a:tc>
                <a:tc>
                  <a:txBody>
                    <a:bodyPr/>
                    <a:lstStyle/>
                    <a:p>
                      <a:pPr algn="l">
                        <a:spcAft>
                          <a:spcPts val="0"/>
                        </a:spcAft>
                      </a:pPr>
                      <a:r>
                        <a:rPr sz="1700" b="1">
                          <a:solidFill>
                            <a:srgbClr val="FFFFFF"/>
                          </a:solidFill>
                          <a:latin typeface="Arial"/>
                        </a:rPr>
                        <a:t>Why</a:t>
                      </a:r>
                    </a:p>
                  </a:txBody>
                  <a:tcPr marL="109728" marR="91440" marT="36576" marB="36576">
                    <a:solidFill>
                      <a:srgbClr val="252B33"/>
                    </a:solidFill>
                  </a:tcPr>
                </a:tc>
              </a:tr>
              <a:tr h="753465">
                <a:tc>
                  <a:txBody>
                    <a:bodyPr/>
                    <a:lstStyle/>
                    <a:p>
                      <a:pPr algn="l">
                        <a:spcAft>
                          <a:spcPts val="0"/>
                        </a:spcAft>
                      </a:pPr>
                      <a:r>
                        <a:rPr sz="1700" b="0">
                          <a:solidFill>
                            <a:srgbClr val="252B33"/>
                          </a:solidFill>
                          <a:latin typeface="Arial"/>
                        </a:rPr>
                        <a:t>Code quality</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Achieved</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17 issues → 0; gate OK; small coverage/complexity regressions</a:t>
                      </a:r>
                    </a:p>
                  </a:txBody>
                  <a:tcPr marL="109728" marR="91440" marT="36576" marB="36576">
                    <a:solidFill>
                      <a:srgbClr val="FFFFFF"/>
                    </a:solidFill>
                  </a:tcPr>
                </a:tc>
              </a:tr>
              <a:tr h="753465">
                <a:tc>
                  <a:txBody>
                    <a:bodyPr/>
                    <a:lstStyle/>
                    <a:p>
                      <a:pPr algn="l">
                        <a:spcAft>
                          <a:spcPts val="0"/>
                        </a:spcAft>
                      </a:pPr>
                      <a:r>
                        <a:rPr sz="1700" b="0">
                          <a:solidFill>
                            <a:srgbClr val="252B33"/>
                          </a:solidFill>
                          <a:latin typeface="Arial"/>
                        </a:rPr>
                        <a:t>Security</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Configured gate passed</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Passive cleared; raw API Medium transport alert remains</a:t>
                      </a:r>
                    </a:p>
                  </a:txBody>
                  <a:tcPr marL="109728" marR="91440" marT="36576" marB="36576">
                    <a:solidFill>
                      <a:srgbClr val="F7F9FC"/>
                    </a:solidFill>
                  </a:tcPr>
                </a:tc>
              </a:tr>
              <a:tr h="753465">
                <a:tc>
                  <a:txBody>
                    <a:bodyPr/>
                    <a:lstStyle/>
                    <a:p>
                      <a:pPr algn="l">
                        <a:spcAft>
                          <a:spcPts val="0"/>
                        </a:spcAft>
                      </a:pPr>
                      <a:r>
                        <a:rPr sz="1700" b="0">
                          <a:solidFill>
                            <a:srgbClr val="252B33"/>
                          </a:solidFill>
                          <a:latin typeface="Arial"/>
                        </a:rPr>
                        <a:t>Core performance</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Not achieved</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100 VU and 500 VU p95 exceeded thresholds</a:t>
                      </a:r>
                    </a:p>
                  </a:txBody>
                  <a:tcPr marL="109728" marR="91440" marT="36576" marB="36576">
                    <a:solidFill>
                      <a:srgbClr val="FFFFFF"/>
                    </a:solidFill>
                  </a:tcPr>
                </a:tc>
              </a:tr>
              <a:tr h="753468">
                <a:tc>
                  <a:txBody>
                    <a:bodyPr/>
                    <a:lstStyle/>
                    <a:p>
                      <a:pPr algn="l">
                        <a:spcAft>
                          <a:spcPts val="0"/>
                        </a:spcAft>
                      </a:pPr>
                      <a:r>
                        <a:rPr sz="1700" b="0">
                          <a:solidFill>
                            <a:srgbClr val="252B33"/>
                          </a:solidFill>
                          <a:latin typeface="Arial"/>
                        </a:rPr>
                        <a:t>Soak/spike p95</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Improved separately</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Tail p95 fell; other measures were mixed</a:t>
                      </a:r>
                    </a:p>
                  </a:txBody>
                  <a:tcPr marL="109728" marR="91440" marT="36576" marB="36576">
                    <a:solidFill>
                      <a:srgbClr val="F7F9FC"/>
                    </a:solidFill>
                  </a:tcPr>
                </a:tc>
              </a:tr>
            </a:tbl>
          </a:graphicData>
        </a:graphic>
      </p:graphicFrame>
      <p:sp>
        <p:nvSpPr>
          <p:cNvPr id="10" name="TextBox 9"/>
          <p:cNvSpPr txBox="1"/>
          <p:nvPr/>
        </p:nvSpPr>
        <p:spPr>
          <a:xfrm>
            <a:off x="758952" y="5413248"/>
            <a:ext cx="10680192" cy="411480"/>
          </a:xfrm>
          <a:prstGeom prst="rect">
            <a:avLst/>
          </a:prstGeom>
          <a:noFill/>
        </p:spPr>
        <p:txBody>
          <a:bodyPr wrap="square" lIns="18288" rIns="18288" tIns="18288" bIns="18288" anchor="ctr">
            <a:spAutoFit/>
          </a:bodyPr>
          <a:lstStyle/>
          <a:p>
            <a:pPr algn="l">
              <a:spcBef>
                <a:spcPts val="0"/>
              </a:spcBef>
              <a:spcAft>
                <a:spcPts val="0"/>
              </a:spcAft>
            </a:pPr>
            <a:r>
              <a:rPr sz="1900" b="0">
                <a:solidFill>
                  <a:srgbClr val="5B6874"/>
                </a:solidFill>
                <a:latin typeface="Arial"/>
              </a:rPr>
              <a:t>Limits: one API · one host · one run per branch · CPU/RAM and service tiers not controlled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0F676D"/>
                </a:solidFill>
                <a:latin typeface="Arial"/>
              </a:rPr>
              <a:t>CLOSING</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The strongest contribution is the traceable check-and-fix method</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Chapter 5; Appendices A-N</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0F676D"/>
                </a:solidFill>
                <a:latin typeface="Arial"/>
              </a:rPr>
              <a:t>26</a:t>
            </a:r>
          </a:p>
        </p:txBody>
      </p:sp>
      <p:sp>
        <p:nvSpPr>
          <p:cNvPr id="9" name="Rounded Rectangle 8"/>
          <p:cNvSpPr/>
          <p:nvPr/>
        </p:nvSpPr>
        <p:spPr>
          <a:xfrm>
            <a:off x="731520" y="1380744"/>
            <a:ext cx="10716768" cy="123444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664208"/>
            <a:ext cx="640080" cy="466344"/>
          </a:xfrm>
          <a:prstGeom prst="rect">
            <a:avLst/>
          </a:prstGeom>
          <a:noFill/>
        </p:spPr>
        <p:txBody>
          <a:bodyPr wrap="square" lIns="18288" rIns="18288" tIns="18288" bIns="18288" anchor="ctr">
            <a:spAutoFit/>
          </a:bodyPr>
          <a:lstStyle/>
          <a:p>
            <a:pPr algn="l">
              <a:spcBef>
                <a:spcPts val="0"/>
              </a:spcBef>
              <a:spcAft>
                <a:spcPts val="0"/>
              </a:spcAft>
            </a:pPr>
            <a:r>
              <a:rPr sz="2600" b="1">
                <a:solidFill>
                  <a:srgbClr val="246F46"/>
                </a:solidFill>
                <a:latin typeface="Arial"/>
              </a:rPr>
              <a:t>01</a:t>
            </a:r>
          </a:p>
        </p:txBody>
      </p:sp>
      <p:sp>
        <p:nvSpPr>
          <p:cNvPr id="11" name="TextBox 10"/>
          <p:cNvSpPr txBox="1"/>
          <p:nvPr/>
        </p:nvSpPr>
        <p:spPr>
          <a:xfrm>
            <a:off x="1783080" y="1517904"/>
            <a:ext cx="9326880" cy="393192"/>
          </a:xfrm>
          <a:prstGeom prst="rect">
            <a:avLst/>
          </a:prstGeom>
          <a:noFill/>
        </p:spPr>
        <p:txBody>
          <a:bodyPr wrap="square" lIns="18288" rIns="18288" tIns="18288" bIns="18288" anchor="ctr">
            <a:spAutoFit/>
          </a:bodyPr>
          <a:lstStyle/>
          <a:p>
            <a:pPr algn="l">
              <a:spcBef>
                <a:spcPts val="0"/>
              </a:spcBef>
              <a:spcAft>
                <a:spcPts val="0"/>
              </a:spcAft>
            </a:pPr>
            <a:r>
              <a:rPr sz="2200" b="1">
                <a:solidFill>
                  <a:srgbClr val="246F46"/>
                </a:solidFill>
                <a:latin typeface="Arial"/>
              </a:rPr>
              <a:t>The model can help</a:t>
            </a:r>
          </a:p>
        </p:txBody>
      </p:sp>
      <p:sp>
        <p:nvSpPr>
          <p:cNvPr id="12" name="TextBox 11"/>
          <p:cNvSpPr txBox="1"/>
          <p:nvPr/>
        </p:nvSpPr>
        <p:spPr>
          <a:xfrm>
            <a:off x="1783080" y="2002536"/>
            <a:ext cx="9326880" cy="411480"/>
          </a:xfrm>
          <a:prstGeom prst="rect">
            <a:avLst/>
          </a:prstGeom>
          <a:noFill/>
        </p:spPr>
        <p:txBody>
          <a:bodyPr wrap="square" lIns="18288" rIns="18288" tIns="18288" bIns="18288" anchor="ctr">
            <a:spAutoFit/>
          </a:bodyPr>
          <a:lstStyle/>
          <a:p>
            <a:pPr algn="l">
              <a:spcBef>
                <a:spcPts val="0"/>
              </a:spcBef>
              <a:spcAft>
                <a:spcPts val="0"/>
              </a:spcAft>
            </a:pPr>
            <a:r>
              <a:rPr sz="1800" b="0">
                <a:solidFill>
                  <a:srgbClr val="252B33"/>
                </a:solidFill>
                <a:latin typeface="Arial"/>
              </a:rPr>
              <a:t>Seventeen fresh static issues closed; security rule gate passed.</a:t>
            </a:r>
          </a:p>
        </p:txBody>
      </p:sp>
      <p:sp>
        <p:nvSpPr>
          <p:cNvPr id="13" name="Rounded Rectangle 12"/>
          <p:cNvSpPr/>
          <p:nvPr/>
        </p:nvSpPr>
        <p:spPr>
          <a:xfrm>
            <a:off x="731520" y="2825496"/>
            <a:ext cx="10716768" cy="123444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108960"/>
            <a:ext cx="640080" cy="466344"/>
          </a:xfrm>
          <a:prstGeom prst="rect">
            <a:avLst/>
          </a:prstGeom>
          <a:noFill/>
        </p:spPr>
        <p:txBody>
          <a:bodyPr wrap="square" lIns="18288" rIns="18288" tIns="18288" bIns="18288" anchor="ctr">
            <a:spAutoFit/>
          </a:bodyPr>
          <a:lstStyle/>
          <a:p>
            <a:pPr algn="l">
              <a:spcBef>
                <a:spcPts val="0"/>
              </a:spcBef>
              <a:spcAft>
                <a:spcPts val="0"/>
              </a:spcAft>
            </a:pPr>
            <a:r>
              <a:rPr sz="2600" b="1">
                <a:solidFill>
                  <a:srgbClr val="B3373D"/>
                </a:solidFill>
                <a:latin typeface="Arial"/>
              </a:rPr>
              <a:t>02</a:t>
            </a:r>
          </a:p>
        </p:txBody>
      </p:sp>
      <p:sp>
        <p:nvSpPr>
          <p:cNvPr id="15" name="TextBox 14"/>
          <p:cNvSpPr txBox="1"/>
          <p:nvPr/>
        </p:nvSpPr>
        <p:spPr>
          <a:xfrm>
            <a:off x="1783080" y="2962656"/>
            <a:ext cx="9326880" cy="393192"/>
          </a:xfrm>
          <a:prstGeom prst="rect">
            <a:avLst/>
          </a:prstGeom>
          <a:noFill/>
        </p:spPr>
        <p:txBody>
          <a:bodyPr wrap="square" lIns="18288" rIns="18288" tIns="18288" bIns="18288" anchor="ctr">
            <a:spAutoFit/>
          </a:bodyPr>
          <a:lstStyle/>
          <a:p>
            <a:pPr algn="l">
              <a:spcBef>
                <a:spcPts val="0"/>
              </a:spcBef>
              <a:spcAft>
                <a:spcPts val="0"/>
              </a:spcAft>
            </a:pPr>
            <a:r>
              <a:rPr sz="2200" b="1">
                <a:solidFill>
                  <a:srgbClr val="B3373D"/>
                </a:solidFill>
                <a:latin typeface="Arial"/>
              </a:rPr>
              <a:t>Measurement can reject it</a:t>
            </a:r>
          </a:p>
        </p:txBody>
      </p:sp>
      <p:sp>
        <p:nvSpPr>
          <p:cNvPr id="16" name="TextBox 15"/>
          <p:cNvSpPr txBox="1"/>
          <p:nvPr/>
        </p:nvSpPr>
        <p:spPr>
          <a:xfrm>
            <a:off x="1783080" y="3447288"/>
            <a:ext cx="9326880" cy="411480"/>
          </a:xfrm>
          <a:prstGeom prst="rect">
            <a:avLst/>
          </a:prstGeom>
          <a:noFill/>
        </p:spPr>
        <p:txBody>
          <a:bodyPr wrap="square" lIns="18288" rIns="18288" tIns="18288" bIns="18288" anchor="ctr">
            <a:spAutoFit/>
          </a:bodyPr>
          <a:lstStyle/>
          <a:p>
            <a:pPr algn="l">
              <a:spcBef>
                <a:spcPts val="0"/>
              </a:spcBef>
              <a:spcAft>
                <a:spcPts val="0"/>
              </a:spcAft>
            </a:pPr>
            <a:r>
              <a:rPr sz="1800" b="0">
                <a:solidFill>
                  <a:srgbClr val="252B33"/>
                </a:solidFill>
                <a:latin typeface="Arial"/>
              </a:rPr>
              <a:t>The primary JMeter target was not met despite lower soak and spike p95.</a:t>
            </a:r>
          </a:p>
        </p:txBody>
      </p:sp>
      <p:sp>
        <p:nvSpPr>
          <p:cNvPr id="17" name="Rounded Rectangle 16"/>
          <p:cNvSpPr/>
          <p:nvPr/>
        </p:nvSpPr>
        <p:spPr>
          <a:xfrm>
            <a:off x="731520" y="4270248"/>
            <a:ext cx="10716768" cy="123444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553712"/>
            <a:ext cx="640080" cy="466344"/>
          </a:xfrm>
          <a:prstGeom prst="rect">
            <a:avLst/>
          </a:prstGeom>
          <a:noFill/>
        </p:spPr>
        <p:txBody>
          <a:bodyPr wrap="square" lIns="18288" rIns="18288" tIns="18288" bIns="18288" anchor="ctr">
            <a:spAutoFit/>
          </a:bodyPr>
          <a:lstStyle/>
          <a:p>
            <a:pPr algn="l">
              <a:spcBef>
                <a:spcPts val="0"/>
              </a:spcBef>
              <a:spcAft>
                <a:spcPts val="0"/>
              </a:spcAft>
            </a:pPr>
            <a:r>
              <a:rPr sz="2600" b="1">
                <a:solidFill>
                  <a:srgbClr val="0F676D"/>
                </a:solidFill>
                <a:latin typeface="Arial"/>
              </a:rPr>
              <a:t>03</a:t>
            </a:r>
          </a:p>
        </p:txBody>
      </p:sp>
      <p:sp>
        <p:nvSpPr>
          <p:cNvPr id="19" name="TextBox 18"/>
          <p:cNvSpPr txBox="1"/>
          <p:nvPr/>
        </p:nvSpPr>
        <p:spPr>
          <a:xfrm>
            <a:off x="1783080" y="4407408"/>
            <a:ext cx="9326880" cy="393192"/>
          </a:xfrm>
          <a:prstGeom prst="rect">
            <a:avLst/>
          </a:prstGeom>
          <a:noFill/>
        </p:spPr>
        <p:txBody>
          <a:bodyPr wrap="square" lIns="18288" rIns="18288" tIns="18288" bIns="18288" anchor="ctr">
            <a:spAutoFit/>
          </a:bodyPr>
          <a:lstStyle/>
          <a:p>
            <a:pPr algn="l">
              <a:spcBef>
                <a:spcPts val="0"/>
              </a:spcBef>
              <a:spcAft>
                <a:spcPts val="0"/>
              </a:spcAft>
            </a:pPr>
            <a:r>
              <a:rPr sz="2200" b="1">
                <a:solidFill>
                  <a:srgbClr val="0F676D"/>
                </a:solidFill>
                <a:latin typeface="Arial"/>
              </a:rPr>
              <a:t>Provenance makes it auditable</a:t>
            </a:r>
          </a:p>
        </p:txBody>
      </p:sp>
      <p:sp>
        <p:nvSpPr>
          <p:cNvPr id="20" name="TextBox 19"/>
          <p:cNvSpPr txBox="1"/>
          <p:nvPr/>
        </p:nvSpPr>
        <p:spPr>
          <a:xfrm>
            <a:off x="1783080" y="4892040"/>
            <a:ext cx="9326880" cy="411480"/>
          </a:xfrm>
          <a:prstGeom prst="rect">
            <a:avLst/>
          </a:prstGeom>
          <a:noFill/>
        </p:spPr>
        <p:txBody>
          <a:bodyPr wrap="square" lIns="18288" rIns="18288" tIns="18288" bIns="18288" anchor="ctr">
            <a:spAutoFit/>
          </a:bodyPr>
          <a:lstStyle/>
          <a:p>
            <a:pPr algn="l">
              <a:spcBef>
                <a:spcPts val="0"/>
              </a:spcBef>
              <a:spcAft>
                <a:spcPts val="0"/>
              </a:spcAft>
            </a:pPr>
            <a:r>
              <a:rPr sz="1800" b="0">
                <a:solidFill>
                  <a:srgbClr val="252B33"/>
                </a:solidFill>
                <a:latin typeface="Arial"/>
              </a:rPr>
              <a:t>Pinned branches, tests, dashboard captures, and raw records remain available.</a:t>
            </a:r>
          </a:p>
        </p:txBody>
      </p:sp>
      <p:sp>
        <p:nvSpPr>
          <p:cNvPr id="21" name="TextBox 20"/>
          <p:cNvSpPr txBox="1"/>
          <p:nvPr/>
        </p:nvSpPr>
        <p:spPr>
          <a:xfrm>
            <a:off x="749808" y="5815584"/>
            <a:ext cx="10716768" cy="356616"/>
          </a:xfrm>
          <a:prstGeom prst="rect">
            <a:avLst/>
          </a:prstGeom>
          <a:noFill/>
        </p:spPr>
        <p:txBody>
          <a:bodyPr wrap="square" lIns="18288" rIns="18288" tIns="18288" bIns="18288" anchor="ctr">
            <a:spAutoFit/>
          </a:bodyPr>
          <a:lstStyle/>
          <a:p>
            <a:pPr algn="l">
              <a:spcBef>
                <a:spcPts val="0"/>
              </a:spcBef>
              <a:spcAft>
                <a:spcPts val="0"/>
              </a:spcAft>
            </a:pPr>
            <a:r>
              <a:rPr sz="2500" b="1">
                <a:solidFill>
                  <a:srgbClr val="0F676D"/>
                </a:solidFill>
                <a:latin typeface="Arial"/>
              </a:rPr>
              <a:t>Thank you. Questions?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4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24466C"/>
                </a:solidFill>
                <a:latin typeface="Arial"/>
              </a:rPr>
              <a:t>BACKUP 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Where each defense claim can be checked</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Appendices A-N and fresh run summaries</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24466C"/>
                </a:solidFill>
                <a:latin typeface="Arial"/>
              </a:rPr>
              <a:t>27</a:t>
            </a:r>
          </a:p>
        </p:txBody>
      </p:sp>
      <p:graphicFrame>
        <p:nvGraphicFramePr>
          <p:cNvPr id="9" name="Table 8"/>
          <p:cNvGraphicFramePr>
            <a:graphicFrameLocks noGrp="1"/>
          </p:cNvGraphicFramePr>
          <p:nvPr/>
        </p:nvGraphicFramePr>
        <p:xfrm>
          <a:off x="731520" y="1389888"/>
          <a:ext cx="10716766" cy="4187952"/>
        </p:xfrm>
        <a:graphic>
          <a:graphicData uri="http://schemas.openxmlformats.org/drawingml/2006/table">
            <a:tbl>
              <a:tblPr firstRow="1" bandRow="1">
                <a:tableStyleId>{5C22544A-7EE6-4342-B048-85BDC9FD1C3A}</a:tableStyleId>
              </a:tblPr>
              <a:tblGrid>
                <a:gridCol w="2464856"/>
                <a:gridCol w="3215030"/>
                <a:gridCol w="5036880"/>
              </a:tblGrid>
              <a:tr h="697992">
                <a:tc>
                  <a:txBody>
                    <a:bodyPr/>
                    <a:lstStyle/>
                    <a:p>
                      <a:pPr algn="l">
                        <a:spcAft>
                          <a:spcPts val="0"/>
                        </a:spcAft>
                      </a:pPr>
                      <a:r>
                        <a:rPr sz="1600" b="1">
                          <a:solidFill>
                            <a:srgbClr val="FFFFFF"/>
                          </a:solidFill>
                          <a:latin typeface="Arial"/>
                        </a:rPr>
                        <a:t>Claim</a:t>
                      </a:r>
                    </a:p>
                  </a:txBody>
                  <a:tcPr marL="109728" marR="91440" marT="36576" marB="36576">
                    <a:solidFill>
                      <a:srgbClr val="252B33"/>
                    </a:solidFill>
                  </a:tcPr>
                </a:tc>
                <a:tc>
                  <a:txBody>
                    <a:bodyPr/>
                    <a:lstStyle/>
                    <a:p>
                      <a:pPr algn="l">
                        <a:spcAft>
                          <a:spcPts val="0"/>
                        </a:spcAft>
                      </a:pPr>
                      <a:r>
                        <a:rPr sz="1600" b="1">
                          <a:solidFill>
                            <a:srgbClr val="FFFFFF"/>
                          </a:solidFill>
                          <a:latin typeface="Arial"/>
                        </a:rPr>
                        <a:t>Machine-readable record</a:t>
                      </a:r>
                    </a:p>
                  </a:txBody>
                  <a:tcPr marL="109728" marR="91440" marT="36576" marB="36576">
                    <a:solidFill>
                      <a:srgbClr val="252B33"/>
                    </a:solidFill>
                  </a:tcPr>
                </a:tc>
                <a:tc>
                  <a:txBody>
                    <a:bodyPr/>
                    <a:lstStyle/>
                    <a:p>
                      <a:pPr algn="l">
                        <a:spcAft>
                          <a:spcPts val="0"/>
                        </a:spcAft>
                      </a:pPr>
                      <a:r>
                        <a:rPr sz="1600" b="1">
                          <a:solidFill>
                            <a:srgbClr val="FFFFFF"/>
                          </a:solidFill>
                          <a:latin typeface="Arial"/>
                        </a:rPr>
                        <a:t>Report evidence</a:t>
                      </a:r>
                    </a:p>
                  </a:txBody>
                  <a:tcPr marL="109728" marR="91440" marT="36576" marB="36576">
                    <a:solidFill>
                      <a:srgbClr val="252B33"/>
                    </a:solidFill>
                  </a:tcPr>
                </a:tc>
              </a:tr>
              <a:tr h="697992">
                <a:tc>
                  <a:txBody>
                    <a:bodyPr/>
                    <a:lstStyle/>
                    <a:p>
                      <a:pPr algn="l">
                        <a:spcAft>
                          <a:spcPts val="0"/>
                        </a:spcAft>
                      </a:pPr>
                      <a:r>
                        <a:rPr sz="1600" b="0">
                          <a:solidFill>
                            <a:srgbClr val="252B33"/>
                          </a:solidFill>
                          <a:latin typeface="Arial"/>
                        </a:rPr>
                        <a:t>Dataset: 120 accounts</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branch-verification.json</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Tables 3.10-3.11 · Appendix H</a:t>
                      </a:r>
                    </a:p>
                  </a:txBody>
                  <a:tcPr marL="109728" marR="91440" marT="36576" marB="36576">
                    <a:solidFill>
                      <a:srgbClr val="FFFFFF"/>
                    </a:solidFill>
                  </a:tcPr>
                </a:tc>
              </a:tr>
              <a:tr h="697992">
                <a:tc>
                  <a:txBody>
                    <a:bodyPr/>
                    <a:lstStyle/>
                    <a:p>
                      <a:pPr algn="l">
                        <a:spcAft>
                          <a:spcPts val="0"/>
                        </a:spcAft>
                      </a:pPr>
                      <a:r>
                        <a:rPr sz="1600" b="0">
                          <a:solidFill>
                            <a:srgbClr val="252B33"/>
                          </a:solidFill>
                          <a:latin typeface="Arial"/>
                        </a:rPr>
                        <a:t>Static issues</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sonar/*/summary.json</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Table 4.2 · Appendix E · Figures L.1-L.4</a:t>
                      </a:r>
                    </a:p>
                  </a:txBody>
                  <a:tcPr marL="109728" marR="91440" marT="36576" marB="36576">
                    <a:solidFill>
                      <a:srgbClr val="F7F9FC"/>
                    </a:solidFill>
                  </a:tcPr>
                </a:tc>
              </a:tr>
              <a:tr h="697992">
                <a:tc>
                  <a:txBody>
                    <a:bodyPr/>
                    <a:lstStyle/>
                    <a:p>
                      <a:pPr algn="l">
                        <a:spcAft>
                          <a:spcPts val="0"/>
                        </a:spcAft>
                      </a:pPr>
                      <a:r>
                        <a:rPr sz="1600" b="0">
                          <a:solidFill>
                            <a:srgbClr val="252B33"/>
                          </a:solidFill>
                          <a:latin typeface="Arial"/>
                        </a:rPr>
                        <a:t>ZAP raw/gate</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zap/*/summary.json</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§4.3 · Appendices F and M</a:t>
                      </a:r>
                    </a:p>
                  </a:txBody>
                  <a:tcPr marL="109728" marR="91440" marT="36576" marB="36576">
                    <a:solidFill>
                      <a:srgbClr val="FFFFFF"/>
                    </a:solidFill>
                  </a:tcPr>
                </a:tc>
              </a:tr>
              <a:tr h="697992">
                <a:tc>
                  <a:txBody>
                    <a:bodyPr/>
                    <a:lstStyle/>
                    <a:p>
                      <a:pPr algn="l">
                        <a:spcAft>
                          <a:spcPts val="0"/>
                        </a:spcAft>
                      </a:pPr>
                      <a:r>
                        <a:rPr sz="1600" b="0">
                          <a:solidFill>
                            <a:srgbClr val="252B33"/>
                          </a:solidFill>
                          <a:latin typeface="Arial"/>
                        </a:rPr>
                        <a:t>JMeter p95/gate</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jmeter/*/summary.json</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§4.4 · Appendix G · Figures L.9-L.18</a:t>
                      </a:r>
                    </a:p>
                  </a:txBody>
                  <a:tcPr marL="109728" marR="91440" marT="36576" marB="36576">
                    <a:solidFill>
                      <a:srgbClr val="F7F9FC"/>
                    </a:solidFill>
                  </a:tcPr>
                </a:tc>
              </a:tr>
              <a:tr h="697992">
                <a:tc>
                  <a:txBody>
                    <a:bodyPr/>
                    <a:lstStyle/>
                    <a:p>
                      <a:pPr algn="l">
                        <a:spcAft>
                          <a:spcPts val="0"/>
                        </a:spcAft>
                      </a:pPr>
                      <a:r>
                        <a:rPr sz="1600" b="0">
                          <a:solidFill>
                            <a:srgbClr val="252B33"/>
                          </a:solidFill>
                          <a:latin typeface="Arial"/>
                        </a:rPr>
                        <a:t>Working API</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role/browser run records</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§4.6 · Figures 4.2-4.7</a:t>
                      </a:r>
                    </a:p>
                  </a:txBody>
                  <a:tcPr marL="109728" marR="91440" marT="36576" marB="36576">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4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24466C"/>
                </a:solidFill>
                <a:latin typeface="Arial"/>
              </a:rPr>
              <a:t>BACKUP 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Exact baseline and remediation commits</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Appendix A; Table 3.1</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24466C"/>
                </a:solidFill>
                <a:latin typeface="Arial"/>
              </a:rPr>
              <a:t>28</a:t>
            </a:r>
          </a:p>
        </p:txBody>
      </p:sp>
      <p:graphicFrame>
        <p:nvGraphicFramePr>
          <p:cNvPr id="9" name="Table 8"/>
          <p:cNvGraphicFramePr>
            <a:graphicFrameLocks noGrp="1"/>
          </p:cNvGraphicFramePr>
          <p:nvPr/>
        </p:nvGraphicFramePr>
        <p:xfrm>
          <a:off x="731520" y="1380744"/>
          <a:ext cx="10716767" cy="4434840"/>
        </p:xfrm>
        <a:graphic>
          <a:graphicData uri="http://schemas.openxmlformats.org/drawingml/2006/table">
            <a:tbl>
              <a:tblPr firstRow="1" bandRow="1">
                <a:tableStyleId>{5C22544A-7EE6-4342-B048-85BDC9FD1C3A}</a:tableStyleId>
              </a:tblPr>
              <a:tblGrid>
                <a:gridCol w="2679192"/>
                <a:gridCol w="5036880"/>
                <a:gridCol w="3000695"/>
              </a:tblGrid>
              <a:tr h="739140">
                <a:tc>
                  <a:txBody>
                    <a:bodyPr/>
                    <a:lstStyle/>
                    <a:p>
                      <a:pPr algn="l">
                        <a:spcAft>
                          <a:spcPts val="0"/>
                        </a:spcAft>
                      </a:pPr>
                      <a:r>
                        <a:rPr sz="1700" b="1">
                          <a:solidFill>
                            <a:srgbClr val="FFFFFF"/>
                          </a:solidFill>
                          <a:latin typeface="Arial"/>
                        </a:rPr>
                        <a:t>Role</a:t>
                      </a:r>
                    </a:p>
                  </a:txBody>
                  <a:tcPr marL="109728" marR="91440" marT="36576" marB="36576">
                    <a:solidFill>
                      <a:srgbClr val="252B33"/>
                    </a:solidFill>
                  </a:tcPr>
                </a:tc>
                <a:tc>
                  <a:txBody>
                    <a:bodyPr/>
                    <a:lstStyle/>
                    <a:p>
                      <a:pPr algn="l">
                        <a:spcAft>
                          <a:spcPts val="0"/>
                        </a:spcAft>
                      </a:pPr>
                      <a:r>
                        <a:rPr sz="1700" b="1">
                          <a:solidFill>
                            <a:srgbClr val="FFFFFF"/>
                          </a:solidFill>
                          <a:latin typeface="Arial"/>
                        </a:rPr>
                        <a:t>Branch</a:t>
                      </a:r>
                    </a:p>
                  </a:txBody>
                  <a:tcPr marL="109728" marR="91440" marT="36576" marB="36576">
                    <a:solidFill>
                      <a:srgbClr val="252B33"/>
                    </a:solidFill>
                  </a:tcPr>
                </a:tc>
                <a:tc>
                  <a:txBody>
                    <a:bodyPr/>
                    <a:lstStyle/>
                    <a:p>
                      <a:pPr algn="l">
                        <a:spcAft>
                          <a:spcPts val="0"/>
                        </a:spcAft>
                      </a:pPr>
                      <a:r>
                        <a:rPr sz="1700" b="1">
                          <a:solidFill>
                            <a:srgbClr val="FFFFFF"/>
                          </a:solidFill>
                          <a:latin typeface="Arial"/>
                        </a:rPr>
                        <a:t>Tested commit</a:t>
                      </a:r>
                    </a:p>
                  </a:txBody>
                  <a:tcPr marL="109728" marR="91440" marT="36576" marB="36576">
                    <a:solidFill>
                      <a:srgbClr val="252B33"/>
                    </a:solidFill>
                  </a:tcPr>
                </a:tc>
              </a:tr>
              <a:tr h="739140">
                <a:tc>
                  <a:txBody>
                    <a:bodyPr/>
                    <a:lstStyle/>
                    <a:p>
                      <a:pPr algn="l">
                        <a:spcAft>
                          <a:spcPts val="0"/>
                        </a:spcAft>
                      </a:pPr>
                      <a:r>
                        <a:rPr sz="1700" b="0">
                          <a:solidFill>
                            <a:srgbClr val="252B33"/>
                          </a:solidFill>
                          <a:latin typeface="Arial"/>
                        </a:rPr>
                        <a:t>Shared baseline</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baseline-v0.1</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7a0469d9</a:t>
                      </a:r>
                    </a:p>
                  </a:txBody>
                  <a:tcPr marL="109728" marR="91440" marT="36576" marB="36576">
                    <a:solidFill>
                      <a:srgbClr val="FFFFFF"/>
                    </a:solidFill>
                  </a:tcPr>
                </a:tc>
              </a:tr>
              <a:tr h="739140">
                <a:tc>
                  <a:txBody>
                    <a:bodyPr/>
                    <a:lstStyle/>
                    <a:p>
                      <a:pPr algn="l">
                        <a:spcAft>
                          <a:spcPts val="0"/>
                        </a:spcAft>
                      </a:pPr>
                      <a:r>
                        <a:rPr sz="1700" b="0">
                          <a:solidFill>
                            <a:srgbClr val="252B33"/>
                          </a:solidFill>
                          <a:latin typeface="Arial"/>
                        </a:rPr>
                        <a:t>Static quality</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baseline-sonarqube-v1</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a2279bcb</a:t>
                      </a:r>
                    </a:p>
                  </a:txBody>
                  <a:tcPr marL="109728" marR="91440" marT="36576" marB="36576">
                    <a:solidFill>
                      <a:srgbClr val="F7F9FC"/>
                    </a:solidFill>
                  </a:tcPr>
                </a:tc>
              </a:tr>
              <a:tr h="739140">
                <a:tc>
                  <a:txBody>
                    <a:bodyPr/>
                    <a:lstStyle/>
                    <a:p>
                      <a:pPr algn="l">
                        <a:spcAft>
                          <a:spcPts val="0"/>
                        </a:spcAft>
                      </a:pPr>
                      <a:r>
                        <a:rPr sz="1700" b="0">
                          <a:solidFill>
                            <a:srgbClr val="252B33"/>
                          </a:solidFill>
                          <a:latin typeface="Arial"/>
                        </a:rPr>
                        <a:t>Security</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baseline-zap-v1</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5f3bd3cc</a:t>
                      </a:r>
                    </a:p>
                  </a:txBody>
                  <a:tcPr marL="109728" marR="91440" marT="36576" marB="36576">
                    <a:solidFill>
                      <a:srgbClr val="FFFFFF"/>
                    </a:solidFill>
                  </a:tcPr>
                </a:tc>
              </a:tr>
              <a:tr h="739140">
                <a:tc>
                  <a:txBody>
                    <a:bodyPr/>
                    <a:lstStyle/>
                    <a:p>
                      <a:pPr algn="l">
                        <a:spcAft>
                          <a:spcPts val="0"/>
                        </a:spcAft>
                      </a:pPr>
                      <a:r>
                        <a:rPr sz="1700" b="0">
                          <a:solidFill>
                            <a:srgbClr val="252B33"/>
                          </a:solidFill>
                          <a:latin typeface="Arial"/>
                        </a:rPr>
                        <a:t>Performance</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baseline-jmeter-v1</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78b08b62</a:t>
                      </a:r>
                    </a:p>
                  </a:txBody>
                  <a:tcPr marL="109728" marR="91440" marT="36576" marB="36576">
                    <a:solidFill>
                      <a:srgbClr val="F7F9FC"/>
                    </a:solidFill>
                  </a:tcPr>
                </a:tc>
              </a:tr>
              <a:tr h="739140">
                <a:tc>
                  <a:txBody>
                    <a:bodyPr/>
                    <a:lstStyle/>
                    <a:p>
                      <a:pPr algn="l">
                        <a:spcAft>
                          <a:spcPts val="0"/>
                        </a:spcAft>
                      </a:pPr>
                      <a:r>
                        <a:rPr sz="1700" b="0">
                          <a:solidFill>
                            <a:srgbClr val="252B33"/>
                          </a:solidFill>
                          <a:latin typeface="Arial"/>
                        </a:rPr>
                        <a:t>Reproduction</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codex/thesis-reproducibility-v1</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efa19cea</a:t>
                      </a:r>
                    </a:p>
                  </a:txBody>
                  <a:tcPr marL="109728" marR="91440" marT="36576" marB="36576">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6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246F46"/>
                </a:solidFill>
                <a:latin typeface="Arial"/>
              </a:rPr>
              <a:t>BACKUP 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Fresh SonarQube metric detail</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Table 4.2; fresh SonarQube summaries</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246F46"/>
                </a:solidFill>
                <a:latin typeface="Arial"/>
              </a:rPr>
              <a:t>29</a:t>
            </a:r>
          </a:p>
        </p:txBody>
      </p:sp>
      <p:graphicFrame>
        <p:nvGraphicFramePr>
          <p:cNvPr id="9" name="Table 8"/>
          <p:cNvGraphicFramePr>
            <a:graphicFrameLocks noGrp="1"/>
          </p:cNvGraphicFramePr>
          <p:nvPr/>
        </p:nvGraphicFramePr>
        <p:xfrm>
          <a:off x="722376" y="1280160"/>
          <a:ext cx="10744199" cy="4928616"/>
        </p:xfrm>
        <a:graphic>
          <a:graphicData uri="http://schemas.openxmlformats.org/drawingml/2006/table">
            <a:tbl>
              <a:tblPr firstRow="1" bandRow="1">
                <a:tableStyleId>{5C22544A-7EE6-4342-B048-85BDC9FD1C3A}</a:tableStyleId>
              </a:tblPr>
              <a:tblGrid>
                <a:gridCol w="3867911"/>
                <a:gridCol w="1611630"/>
                <a:gridCol w="1611630"/>
                <a:gridCol w="3653028"/>
              </a:tblGrid>
              <a:tr h="352044">
                <a:tc>
                  <a:txBody>
                    <a:bodyPr/>
                    <a:lstStyle/>
                    <a:p>
                      <a:pPr algn="l">
                        <a:spcAft>
                          <a:spcPts val="0"/>
                        </a:spcAft>
                      </a:pPr>
                      <a:r>
                        <a:rPr sz="1200" b="1">
                          <a:solidFill>
                            <a:srgbClr val="FFFFFF"/>
                          </a:solidFill>
                          <a:latin typeface="Arial"/>
                        </a:rPr>
                        <a:t>Metric</a:t>
                      </a:r>
                    </a:p>
                  </a:txBody>
                  <a:tcPr marL="109728" marR="91440" marT="36576" marB="36576">
                    <a:solidFill>
                      <a:srgbClr val="252B33"/>
                    </a:solidFill>
                  </a:tcPr>
                </a:tc>
                <a:tc>
                  <a:txBody>
                    <a:bodyPr/>
                    <a:lstStyle/>
                    <a:p>
                      <a:pPr algn="l">
                        <a:spcAft>
                          <a:spcPts val="0"/>
                        </a:spcAft>
                      </a:pPr>
                      <a:r>
                        <a:rPr sz="1200" b="1">
                          <a:solidFill>
                            <a:srgbClr val="FFFFFF"/>
                          </a:solidFill>
                          <a:latin typeface="Arial"/>
                        </a:rPr>
                        <a:t>Baseline</a:t>
                      </a:r>
                    </a:p>
                  </a:txBody>
                  <a:tcPr marL="109728" marR="91440" marT="36576" marB="36576">
                    <a:solidFill>
                      <a:srgbClr val="252B33"/>
                    </a:solidFill>
                  </a:tcPr>
                </a:tc>
                <a:tc>
                  <a:txBody>
                    <a:bodyPr/>
                    <a:lstStyle/>
                    <a:p>
                      <a:pPr algn="l">
                        <a:spcAft>
                          <a:spcPts val="0"/>
                        </a:spcAft>
                      </a:pPr>
                      <a:r>
                        <a:rPr sz="1200" b="1">
                          <a:solidFill>
                            <a:srgbClr val="FFFFFF"/>
                          </a:solidFill>
                          <a:latin typeface="Arial"/>
                        </a:rPr>
                        <a:t>After</a:t>
                      </a:r>
                    </a:p>
                  </a:txBody>
                  <a:tcPr marL="109728" marR="91440" marT="36576" marB="36576">
                    <a:solidFill>
                      <a:srgbClr val="252B33"/>
                    </a:solidFill>
                  </a:tcPr>
                </a:tc>
                <a:tc>
                  <a:txBody>
                    <a:bodyPr/>
                    <a:lstStyle/>
                    <a:p>
                      <a:pPr algn="l">
                        <a:spcAft>
                          <a:spcPts val="0"/>
                        </a:spcAft>
                      </a:pPr>
                      <a:r>
                        <a:rPr sz="1200" b="1">
                          <a:solidFill>
                            <a:srgbClr val="FFFFFF"/>
                          </a:solidFill>
                          <a:latin typeface="Arial"/>
                        </a:rPr>
                        <a:t>Meaning</a:t>
                      </a:r>
                    </a:p>
                  </a:txBody>
                  <a:tcPr marL="109728" marR="91440" marT="36576" marB="36576">
                    <a:solidFill>
                      <a:srgbClr val="252B33"/>
                    </a:solidFill>
                  </a:tcPr>
                </a:tc>
              </a:tr>
              <a:tr h="352044">
                <a:tc>
                  <a:txBody>
                    <a:bodyPr/>
                    <a:lstStyle/>
                    <a:p>
                      <a:pPr algn="l">
                        <a:spcAft>
                          <a:spcPts val="0"/>
                        </a:spcAft>
                      </a:pPr>
                      <a:r>
                        <a:rPr sz="1200" b="0">
                          <a:solidFill>
                            <a:srgbClr val="252B33"/>
                          </a:solidFill>
                          <a:latin typeface="Arial"/>
                        </a:rPr>
                        <a:t>Total unique issues</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17</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0</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Distinct issue count</a:t>
                      </a:r>
                    </a:p>
                  </a:txBody>
                  <a:tcPr marL="109728" marR="91440" marT="36576" marB="36576">
                    <a:solidFill>
                      <a:srgbClr val="FFFFFF"/>
                    </a:solidFill>
                  </a:tcPr>
                </a:tc>
              </a:tr>
              <a:tr h="352044">
                <a:tc>
                  <a:txBody>
                    <a:bodyPr/>
                    <a:lstStyle/>
                    <a:p>
                      <a:pPr algn="l">
                        <a:spcAft>
                          <a:spcPts val="0"/>
                        </a:spcAft>
                      </a:pPr>
                      <a:r>
                        <a:rPr sz="1200" b="0">
                          <a:solidFill>
                            <a:srgbClr val="252B33"/>
                          </a:solidFill>
                          <a:latin typeface="Arial"/>
                        </a:rPr>
                        <a:t>Code smells</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17</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0</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Legacy type</a:t>
                      </a:r>
                    </a:p>
                  </a:txBody>
                  <a:tcPr marL="109728" marR="91440" marT="36576" marB="36576">
                    <a:solidFill>
                      <a:srgbClr val="F7F9FC"/>
                    </a:solidFill>
                  </a:tcPr>
                </a:tc>
              </a:tr>
              <a:tr h="352044">
                <a:tc>
                  <a:txBody>
                    <a:bodyPr/>
                    <a:lstStyle/>
                    <a:p>
                      <a:pPr algn="l">
                        <a:spcAft>
                          <a:spcPts val="0"/>
                        </a:spcAft>
                      </a:pPr>
                      <a:r>
                        <a:rPr sz="1200" b="0">
                          <a:solidFill>
                            <a:srgbClr val="252B33"/>
                          </a:solidFill>
                          <a:latin typeface="Arial"/>
                        </a:rPr>
                        <a:t>Bugs</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0</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0</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Legacy type</a:t>
                      </a:r>
                    </a:p>
                  </a:txBody>
                  <a:tcPr marL="109728" marR="91440" marT="36576" marB="36576">
                    <a:solidFill>
                      <a:srgbClr val="FFFFFF"/>
                    </a:solidFill>
                  </a:tcPr>
                </a:tc>
              </a:tr>
              <a:tr h="352044">
                <a:tc>
                  <a:txBody>
                    <a:bodyPr/>
                    <a:lstStyle/>
                    <a:p>
                      <a:pPr algn="l">
                        <a:spcAft>
                          <a:spcPts val="0"/>
                        </a:spcAft>
                      </a:pPr>
                      <a:r>
                        <a:rPr sz="1200" b="0">
                          <a:solidFill>
                            <a:srgbClr val="252B33"/>
                          </a:solidFill>
                          <a:latin typeface="Arial"/>
                        </a:rPr>
                        <a:t>Vulnerabilities</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0</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0</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Legacy type</a:t>
                      </a:r>
                    </a:p>
                  </a:txBody>
                  <a:tcPr marL="109728" marR="91440" marT="36576" marB="36576">
                    <a:solidFill>
                      <a:srgbClr val="F7F9FC"/>
                    </a:solidFill>
                  </a:tcPr>
                </a:tc>
              </a:tr>
              <a:tr h="352044">
                <a:tc>
                  <a:txBody>
                    <a:bodyPr/>
                    <a:lstStyle/>
                    <a:p>
                      <a:pPr algn="l">
                        <a:spcAft>
                          <a:spcPts val="0"/>
                        </a:spcAft>
                      </a:pPr>
                      <a:r>
                        <a:rPr sz="1200" b="0">
                          <a:solidFill>
                            <a:srgbClr val="252B33"/>
                          </a:solidFill>
                          <a:latin typeface="Arial"/>
                        </a:rPr>
                        <a:t>Reliability impact*</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2</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0</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Overlapping impact</a:t>
                      </a:r>
                    </a:p>
                  </a:txBody>
                  <a:tcPr marL="109728" marR="91440" marT="36576" marB="36576">
                    <a:solidFill>
                      <a:srgbClr val="FFFFFF"/>
                    </a:solidFill>
                  </a:tcPr>
                </a:tc>
              </a:tr>
              <a:tr h="352044">
                <a:tc>
                  <a:txBody>
                    <a:bodyPr/>
                    <a:lstStyle/>
                    <a:p>
                      <a:pPr algn="l">
                        <a:spcAft>
                          <a:spcPts val="0"/>
                        </a:spcAft>
                      </a:pPr>
                      <a:r>
                        <a:rPr sz="1200" b="0">
                          <a:solidFill>
                            <a:srgbClr val="252B33"/>
                          </a:solidFill>
                          <a:latin typeface="Arial"/>
                        </a:rPr>
                        <a:t>Security impact*</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1</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0</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Overlapping impact</a:t>
                      </a:r>
                    </a:p>
                  </a:txBody>
                  <a:tcPr marL="109728" marR="91440" marT="36576" marB="36576">
                    <a:solidFill>
                      <a:srgbClr val="F7F9FC"/>
                    </a:solidFill>
                  </a:tcPr>
                </a:tc>
              </a:tr>
              <a:tr h="352044">
                <a:tc>
                  <a:txBody>
                    <a:bodyPr/>
                    <a:lstStyle/>
                    <a:p>
                      <a:pPr algn="l">
                        <a:spcAft>
                          <a:spcPts val="0"/>
                        </a:spcAft>
                      </a:pPr>
                      <a:r>
                        <a:rPr sz="1200" b="0">
                          <a:solidFill>
                            <a:srgbClr val="252B33"/>
                          </a:solidFill>
                          <a:latin typeface="Arial"/>
                        </a:rPr>
                        <a:t>Maintainability impact*</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16</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0</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Overlapping impact</a:t>
                      </a:r>
                    </a:p>
                  </a:txBody>
                  <a:tcPr marL="109728" marR="91440" marT="36576" marB="36576">
                    <a:solidFill>
                      <a:srgbClr val="FFFFFF"/>
                    </a:solidFill>
                  </a:tcPr>
                </a:tc>
              </a:tr>
              <a:tr h="352044">
                <a:tc>
                  <a:txBody>
                    <a:bodyPr/>
                    <a:lstStyle/>
                    <a:p>
                      <a:pPr algn="l">
                        <a:spcAft>
                          <a:spcPts val="0"/>
                        </a:spcAft>
                      </a:pPr>
                      <a:r>
                        <a:rPr sz="1200" b="0">
                          <a:solidFill>
                            <a:srgbClr val="252B33"/>
                          </a:solidFill>
                          <a:latin typeface="Arial"/>
                        </a:rPr>
                        <a:t>Security hotspots</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0</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0</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Scanner finding</a:t>
                      </a:r>
                    </a:p>
                  </a:txBody>
                  <a:tcPr marL="109728" marR="91440" marT="36576" marB="36576">
                    <a:solidFill>
                      <a:srgbClr val="F7F9FC"/>
                    </a:solidFill>
                  </a:tcPr>
                </a:tc>
              </a:tr>
              <a:tr h="352044">
                <a:tc>
                  <a:txBody>
                    <a:bodyPr/>
                    <a:lstStyle/>
                    <a:p>
                      <a:pPr algn="l">
                        <a:spcAft>
                          <a:spcPts val="0"/>
                        </a:spcAft>
                      </a:pPr>
                      <a:r>
                        <a:rPr sz="1200" b="0">
                          <a:solidFill>
                            <a:srgbClr val="252B33"/>
                          </a:solidFill>
                          <a:latin typeface="Arial"/>
                        </a:rPr>
                        <a:t>Coverage</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74.4%</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74.3%</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Down 0.1 point</a:t>
                      </a:r>
                    </a:p>
                  </a:txBody>
                  <a:tcPr marL="109728" marR="91440" marT="36576" marB="36576">
                    <a:solidFill>
                      <a:srgbClr val="FFFFFF"/>
                    </a:solidFill>
                  </a:tcPr>
                </a:tc>
              </a:tr>
              <a:tr h="352044">
                <a:tc>
                  <a:txBody>
                    <a:bodyPr/>
                    <a:lstStyle/>
                    <a:p>
                      <a:pPr algn="l">
                        <a:spcAft>
                          <a:spcPts val="0"/>
                        </a:spcAft>
                      </a:pPr>
                      <a:r>
                        <a:rPr sz="1200" b="0">
                          <a:solidFill>
                            <a:srgbClr val="252B33"/>
                          </a:solidFill>
                          <a:latin typeface="Arial"/>
                        </a:rPr>
                        <a:t>Duplicated lines</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0.0%</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0.0%</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Unchanged</a:t>
                      </a:r>
                    </a:p>
                  </a:txBody>
                  <a:tcPr marL="109728" marR="91440" marT="36576" marB="36576">
                    <a:solidFill>
                      <a:srgbClr val="F7F9FC"/>
                    </a:solidFill>
                  </a:tcPr>
                </a:tc>
              </a:tr>
              <a:tr h="352044">
                <a:tc>
                  <a:txBody>
                    <a:bodyPr/>
                    <a:lstStyle/>
                    <a:p>
                      <a:pPr algn="l">
                        <a:spcAft>
                          <a:spcPts val="0"/>
                        </a:spcAft>
                      </a:pPr>
                      <a:r>
                        <a:rPr sz="1200" b="0">
                          <a:solidFill>
                            <a:srgbClr val="252B33"/>
                          </a:solidFill>
                          <a:latin typeface="Arial"/>
                        </a:rPr>
                        <a:t>Cyclomatic complexity</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886</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889</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Up 3</a:t>
                      </a:r>
                    </a:p>
                  </a:txBody>
                  <a:tcPr marL="109728" marR="91440" marT="36576" marB="36576">
                    <a:solidFill>
                      <a:srgbClr val="FFFFFF"/>
                    </a:solidFill>
                  </a:tcPr>
                </a:tc>
              </a:tr>
              <a:tr h="352044">
                <a:tc>
                  <a:txBody>
                    <a:bodyPr/>
                    <a:lstStyle/>
                    <a:p>
                      <a:pPr algn="l">
                        <a:spcAft>
                          <a:spcPts val="0"/>
                        </a:spcAft>
                      </a:pPr>
                      <a:r>
                        <a:rPr sz="1200" b="0">
                          <a:solidFill>
                            <a:srgbClr val="252B33"/>
                          </a:solidFill>
                          <a:latin typeface="Arial"/>
                        </a:rPr>
                        <a:t>Cognitive complexity</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165</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165</a:t>
                      </a:r>
                    </a:p>
                  </a:txBody>
                  <a:tcPr marL="109728" marR="91440" marT="36576" marB="36576">
                    <a:solidFill>
                      <a:srgbClr val="F7F9FC"/>
                    </a:solidFill>
                  </a:tcPr>
                </a:tc>
                <a:tc>
                  <a:txBody>
                    <a:bodyPr/>
                    <a:lstStyle/>
                    <a:p>
                      <a:pPr algn="l">
                        <a:spcAft>
                          <a:spcPts val="0"/>
                        </a:spcAft>
                      </a:pPr>
                      <a:r>
                        <a:rPr sz="1200" b="0">
                          <a:solidFill>
                            <a:srgbClr val="252B33"/>
                          </a:solidFill>
                          <a:latin typeface="Arial"/>
                        </a:rPr>
                        <a:t>Unchanged</a:t>
                      </a:r>
                    </a:p>
                  </a:txBody>
                  <a:tcPr marL="109728" marR="91440" marT="36576" marB="36576">
                    <a:solidFill>
                      <a:srgbClr val="F7F9FC"/>
                    </a:solidFill>
                  </a:tcPr>
                </a:tc>
              </a:tr>
              <a:tr h="352044">
                <a:tc>
                  <a:txBody>
                    <a:bodyPr/>
                    <a:lstStyle/>
                    <a:p>
                      <a:pPr algn="l">
                        <a:spcAft>
                          <a:spcPts val="0"/>
                        </a:spcAft>
                      </a:pPr>
                      <a:r>
                        <a:rPr sz="1200" b="0">
                          <a:solidFill>
                            <a:srgbClr val="252B33"/>
                          </a:solidFill>
                          <a:latin typeface="Arial"/>
                        </a:rPr>
                        <a:t>Quality Gate</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OK</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OK</a:t>
                      </a:r>
                    </a:p>
                  </a:txBody>
                  <a:tcPr marL="109728" marR="91440" marT="36576" marB="36576">
                    <a:solidFill>
                      <a:srgbClr val="FFFFFF"/>
                    </a:solidFill>
                  </a:tcPr>
                </a:tc>
                <a:tc>
                  <a:txBody>
                    <a:bodyPr/>
                    <a:lstStyle/>
                    <a:p>
                      <a:pPr algn="l">
                        <a:spcAft>
                          <a:spcPts val="0"/>
                        </a:spcAft>
                      </a:pPr>
                      <a:r>
                        <a:rPr sz="1200" b="0">
                          <a:solidFill>
                            <a:srgbClr val="252B33"/>
                          </a:solidFill>
                          <a:latin typeface="Arial"/>
                        </a:rPr>
                        <a:t>OK/OK; no conditions saved</a:t>
                      </a:r>
                    </a:p>
                  </a:txBody>
                  <a:tcPr marL="109728" marR="91440" marT="36576" marB="36576">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33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B3373D"/>
                </a:solidFill>
                <a:latin typeface="Arial"/>
              </a:rPr>
              <a:t>BACKUP 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Fresh ZAP raw alert counts and gate</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§4.3; fresh ZAP summaries; Appendix F</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B3373D"/>
                </a:solidFill>
                <a:latin typeface="Arial"/>
              </a:rPr>
              <a:t>30</a:t>
            </a:r>
          </a:p>
        </p:txBody>
      </p:sp>
      <p:graphicFrame>
        <p:nvGraphicFramePr>
          <p:cNvPr id="9" name="Table 8"/>
          <p:cNvGraphicFramePr>
            <a:graphicFrameLocks noGrp="1"/>
          </p:cNvGraphicFramePr>
          <p:nvPr/>
        </p:nvGraphicFramePr>
        <p:xfrm>
          <a:off x="722376" y="1353312"/>
          <a:ext cx="10744200" cy="3822191"/>
        </p:xfrm>
        <a:graphic>
          <a:graphicData uri="http://schemas.openxmlformats.org/drawingml/2006/table">
            <a:tbl>
              <a:tblPr firstRow="1" bandRow="1">
                <a:tableStyleId>{5C22544A-7EE6-4342-B048-85BDC9FD1C3A}</a:tableStyleId>
              </a:tblPr>
              <a:tblGrid>
                <a:gridCol w="2041398"/>
                <a:gridCol w="2148840"/>
                <a:gridCol w="1074420"/>
                <a:gridCol w="1289304"/>
                <a:gridCol w="1074420"/>
                <a:gridCol w="1074420"/>
                <a:gridCol w="2041398"/>
              </a:tblGrid>
              <a:tr h="764438">
                <a:tc>
                  <a:txBody>
                    <a:bodyPr/>
                    <a:lstStyle/>
                    <a:p>
                      <a:pPr algn="l">
                        <a:spcAft>
                          <a:spcPts val="0"/>
                        </a:spcAft>
                      </a:pPr>
                      <a:r>
                        <a:rPr sz="1600" b="1">
                          <a:solidFill>
                            <a:srgbClr val="FFFFFF"/>
                          </a:solidFill>
                          <a:latin typeface="Arial"/>
                        </a:rPr>
                        <a:t>Scan</a:t>
                      </a:r>
                    </a:p>
                  </a:txBody>
                  <a:tcPr marL="109728" marR="91440" marT="36576" marB="36576">
                    <a:solidFill>
                      <a:srgbClr val="252B33"/>
                    </a:solidFill>
                  </a:tcPr>
                </a:tc>
                <a:tc>
                  <a:txBody>
                    <a:bodyPr/>
                    <a:lstStyle/>
                    <a:p>
                      <a:pPr algn="l">
                        <a:spcAft>
                          <a:spcPts val="0"/>
                        </a:spcAft>
                      </a:pPr>
                      <a:r>
                        <a:rPr sz="1600" b="1">
                          <a:solidFill>
                            <a:srgbClr val="FFFFFF"/>
                          </a:solidFill>
                          <a:latin typeface="Arial"/>
                        </a:rPr>
                        <a:t>Role</a:t>
                      </a:r>
                    </a:p>
                  </a:txBody>
                  <a:tcPr marL="109728" marR="91440" marT="36576" marB="36576">
                    <a:solidFill>
                      <a:srgbClr val="252B33"/>
                    </a:solidFill>
                  </a:tcPr>
                </a:tc>
                <a:tc>
                  <a:txBody>
                    <a:bodyPr/>
                    <a:lstStyle/>
                    <a:p>
                      <a:pPr algn="l">
                        <a:spcAft>
                          <a:spcPts val="0"/>
                        </a:spcAft>
                      </a:pPr>
                      <a:r>
                        <a:rPr sz="1600" b="1">
                          <a:solidFill>
                            <a:srgbClr val="FFFFFF"/>
                          </a:solidFill>
                          <a:latin typeface="Arial"/>
                        </a:rPr>
                        <a:t>High</a:t>
                      </a:r>
                    </a:p>
                  </a:txBody>
                  <a:tcPr marL="109728" marR="91440" marT="36576" marB="36576">
                    <a:solidFill>
                      <a:srgbClr val="252B33"/>
                    </a:solidFill>
                  </a:tcPr>
                </a:tc>
                <a:tc>
                  <a:txBody>
                    <a:bodyPr/>
                    <a:lstStyle/>
                    <a:p>
                      <a:pPr algn="l">
                        <a:spcAft>
                          <a:spcPts val="0"/>
                        </a:spcAft>
                      </a:pPr>
                      <a:r>
                        <a:rPr sz="1600" b="1">
                          <a:solidFill>
                            <a:srgbClr val="FFFFFF"/>
                          </a:solidFill>
                          <a:latin typeface="Arial"/>
                        </a:rPr>
                        <a:t>Medium</a:t>
                      </a:r>
                    </a:p>
                  </a:txBody>
                  <a:tcPr marL="109728" marR="91440" marT="36576" marB="36576">
                    <a:solidFill>
                      <a:srgbClr val="252B33"/>
                    </a:solidFill>
                  </a:tcPr>
                </a:tc>
                <a:tc>
                  <a:txBody>
                    <a:bodyPr/>
                    <a:lstStyle/>
                    <a:p>
                      <a:pPr algn="l">
                        <a:spcAft>
                          <a:spcPts val="0"/>
                        </a:spcAft>
                      </a:pPr>
                      <a:r>
                        <a:rPr sz="1600" b="1">
                          <a:solidFill>
                            <a:srgbClr val="FFFFFF"/>
                          </a:solidFill>
                          <a:latin typeface="Arial"/>
                        </a:rPr>
                        <a:t>Low</a:t>
                      </a:r>
                    </a:p>
                  </a:txBody>
                  <a:tcPr marL="109728" marR="91440" marT="36576" marB="36576">
                    <a:solidFill>
                      <a:srgbClr val="252B33"/>
                    </a:solidFill>
                  </a:tcPr>
                </a:tc>
                <a:tc>
                  <a:txBody>
                    <a:bodyPr/>
                    <a:lstStyle/>
                    <a:p>
                      <a:pPr algn="l">
                        <a:spcAft>
                          <a:spcPts val="0"/>
                        </a:spcAft>
                      </a:pPr>
                      <a:r>
                        <a:rPr sz="1600" b="1">
                          <a:solidFill>
                            <a:srgbClr val="FFFFFF"/>
                          </a:solidFill>
                          <a:latin typeface="Arial"/>
                        </a:rPr>
                        <a:t>Info</a:t>
                      </a:r>
                    </a:p>
                  </a:txBody>
                  <a:tcPr marL="109728" marR="91440" marT="36576" marB="36576">
                    <a:solidFill>
                      <a:srgbClr val="252B33"/>
                    </a:solidFill>
                  </a:tcPr>
                </a:tc>
                <a:tc>
                  <a:txBody>
                    <a:bodyPr/>
                    <a:lstStyle/>
                    <a:p>
                      <a:pPr algn="l">
                        <a:spcAft>
                          <a:spcPts val="0"/>
                        </a:spcAft>
                      </a:pPr>
                      <a:r>
                        <a:rPr sz="1600" b="1">
                          <a:solidFill>
                            <a:srgbClr val="FFFFFF"/>
                          </a:solidFill>
                          <a:latin typeface="Arial"/>
                        </a:rPr>
                        <a:t>Gate</a:t>
                      </a:r>
                    </a:p>
                  </a:txBody>
                  <a:tcPr marL="109728" marR="91440" marT="36576" marB="36576">
                    <a:solidFill>
                      <a:srgbClr val="252B33"/>
                    </a:solidFill>
                  </a:tcPr>
                </a:tc>
              </a:tr>
              <a:tr h="764438">
                <a:tc>
                  <a:txBody>
                    <a:bodyPr/>
                    <a:lstStyle/>
                    <a:p>
                      <a:pPr algn="l">
                        <a:spcAft>
                          <a:spcPts val="0"/>
                        </a:spcAft>
                      </a:pPr>
                      <a:r>
                        <a:rPr sz="1600" b="0">
                          <a:solidFill>
                            <a:srgbClr val="252B33"/>
                          </a:solidFill>
                          <a:latin typeface="Arial"/>
                        </a:rPr>
                        <a:t>Passive</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baseline</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0</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3</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6</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3</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PASS</a:t>
                      </a:r>
                    </a:p>
                  </a:txBody>
                  <a:tcPr marL="109728" marR="91440" marT="36576" marB="36576">
                    <a:solidFill>
                      <a:srgbClr val="FFFFFF"/>
                    </a:solidFill>
                  </a:tcPr>
                </a:tc>
              </a:tr>
              <a:tr h="764438">
                <a:tc>
                  <a:txBody>
                    <a:bodyPr/>
                    <a:lstStyle/>
                    <a:p>
                      <a:pPr algn="l">
                        <a:spcAft>
                          <a:spcPts val="0"/>
                        </a:spcAft>
                      </a:pPr>
                      <a:r>
                        <a:rPr sz="1600" b="0">
                          <a:solidFill>
                            <a:srgbClr val="252B33"/>
                          </a:solidFill>
                          <a:latin typeface="Arial"/>
                        </a:rPr>
                        <a:t>Auth API</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baseline</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0</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1</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3</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5</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PASS</a:t>
                      </a:r>
                    </a:p>
                  </a:txBody>
                  <a:tcPr marL="109728" marR="91440" marT="36576" marB="36576">
                    <a:solidFill>
                      <a:srgbClr val="F7F9FC"/>
                    </a:solidFill>
                  </a:tcPr>
                </a:tc>
              </a:tr>
              <a:tr h="764438">
                <a:tc>
                  <a:txBody>
                    <a:bodyPr/>
                    <a:lstStyle/>
                    <a:p>
                      <a:pPr algn="l">
                        <a:spcAft>
                          <a:spcPts val="0"/>
                        </a:spcAft>
                      </a:pPr>
                      <a:r>
                        <a:rPr sz="1600" b="0">
                          <a:solidFill>
                            <a:srgbClr val="252B33"/>
                          </a:solidFill>
                          <a:latin typeface="Arial"/>
                        </a:rPr>
                        <a:t>Passive</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remediation</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0</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0</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0</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4</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PASS</a:t>
                      </a:r>
                    </a:p>
                  </a:txBody>
                  <a:tcPr marL="109728" marR="91440" marT="36576" marB="36576">
                    <a:solidFill>
                      <a:srgbClr val="FFFFFF"/>
                    </a:solidFill>
                  </a:tcPr>
                </a:tc>
              </a:tr>
              <a:tr h="764439">
                <a:tc>
                  <a:txBody>
                    <a:bodyPr/>
                    <a:lstStyle/>
                    <a:p>
                      <a:pPr algn="l">
                        <a:spcAft>
                          <a:spcPts val="0"/>
                        </a:spcAft>
                      </a:pPr>
                      <a:r>
                        <a:rPr sz="1600" b="0">
                          <a:solidFill>
                            <a:srgbClr val="252B33"/>
                          </a:solidFill>
                          <a:latin typeface="Arial"/>
                        </a:rPr>
                        <a:t>Auth API</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remediation</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0</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1</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0</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5</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PASS</a:t>
                      </a:r>
                    </a:p>
                  </a:txBody>
                  <a:tcPr marL="109728" marR="91440" marT="36576" marB="36576">
                    <a:solidFill>
                      <a:srgbClr val="F7F9FC"/>
                    </a:solidFill>
                  </a:tcPr>
                </a:tc>
              </a:tr>
            </a:tbl>
          </a:graphicData>
        </a:graphic>
      </p:graphicFrame>
      <p:sp>
        <p:nvSpPr>
          <p:cNvPr id="10" name="Rounded Rectangle 9"/>
          <p:cNvSpPr/>
          <p:nvPr/>
        </p:nvSpPr>
        <p:spPr>
          <a:xfrm>
            <a:off x="758952" y="5404104"/>
            <a:ext cx="10661904" cy="576072"/>
          </a:xfrm>
          <a:prstGeom prst="roundRect">
            <a:avLst/>
          </a:prstGeom>
          <a:solidFill>
            <a:srgbClr val="FF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5477256"/>
            <a:ext cx="10241280" cy="384048"/>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E7414"/>
                </a:solidFill>
                <a:latin typeface="Arial"/>
              </a:rPr>
              <a:t>Raw API Medium after remediation = 1 (HTTP Only Site); configured rule gate = PASS.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E7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BE7414"/>
                </a:solidFill>
                <a:latin typeface="Arial"/>
              </a:rPr>
              <a:t>BACKUP 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Fresh JMeter profile matrix</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§4.4; fresh JMeter summaries</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BE7414"/>
                </a:solidFill>
                <a:latin typeface="Arial"/>
              </a:rPr>
              <a:t>31</a:t>
            </a:r>
          </a:p>
        </p:txBody>
      </p:sp>
      <p:graphicFrame>
        <p:nvGraphicFramePr>
          <p:cNvPr id="9" name="Table 8"/>
          <p:cNvGraphicFramePr>
            <a:graphicFrameLocks noGrp="1"/>
          </p:cNvGraphicFramePr>
          <p:nvPr/>
        </p:nvGraphicFramePr>
        <p:xfrm>
          <a:off x="722376" y="1399032"/>
          <a:ext cx="10744200" cy="4142232"/>
        </p:xfrm>
        <a:graphic>
          <a:graphicData uri="http://schemas.openxmlformats.org/drawingml/2006/table">
            <a:tbl>
              <a:tblPr firstRow="1" bandRow="1">
                <a:tableStyleId>{5C22544A-7EE6-4342-B048-85BDC9FD1C3A}</a:tableStyleId>
              </a:tblPr>
              <a:tblGrid>
                <a:gridCol w="1504188"/>
                <a:gridCol w="2041398"/>
                <a:gridCol w="2041398"/>
                <a:gridCol w="1826514"/>
                <a:gridCol w="1826514"/>
                <a:gridCol w="1504188"/>
              </a:tblGrid>
              <a:tr h="690372">
                <a:tc>
                  <a:txBody>
                    <a:bodyPr/>
                    <a:lstStyle/>
                    <a:p>
                      <a:pPr algn="l">
                        <a:spcAft>
                          <a:spcPts val="0"/>
                        </a:spcAft>
                      </a:pPr>
                      <a:r>
                        <a:rPr sz="1600" b="1">
                          <a:solidFill>
                            <a:srgbClr val="FFFFFF"/>
                          </a:solidFill>
                          <a:latin typeface="Arial"/>
                        </a:rPr>
                        <a:t>Profile</a:t>
                      </a:r>
                    </a:p>
                  </a:txBody>
                  <a:tcPr marL="109728" marR="91440" marT="36576" marB="36576">
                    <a:solidFill>
                      <a:srgbClr val="252B33"/>
                    </a:solidFill>
                  </a:tcPr>
                </a:tc>
                <a:tc>
                  <a:txBody>
                    <a:bodyPr/>
                    <a:lstStyle/>
                    <a:p>
                      <a:pPr algn="l">
                        <a:spcAft>
                          <a:spcPts val="0"/>
                        </a:spcAft>
                      </a:pPr>
                      <a:r>
                        <a:rPr sz="1600" b="1">
                          <a:solidFill>
                            <a:srgbClr val="FFFFFF"/>
                          </a:solidFill>
                          <a:latin typeface="Arial"/>
                        </a:rPr>
                        <a:t>Baseline p95</a:t>
                      </a:r>
                    </a:p>
                  </a:txBody>
                  <a:tcPr marL="109728" marR="91440" marT="36576" marB="36576">
                    <a:solidFill>
                      <a:srgbClr val="252B33"/>
                    </a:solidFill>
                  </a:tcPr>
                </a:tc>
                <a:tc>
                  <a:txBody>
                    <a:bodyPr/>
                    <a:lstStyle/>
                    <a:p>
                      <a:pPr algn="l">
                        <a:spcAft>
                          <a:spcPts val="0"/>
                        </a:spcAft>
                      </a:pPr>
                      <a:r>
                        <a:rPr sz="1600" b="1">
                          <a:solidFill>
                            <a:srgbClr val="FFFFFF"/>
                          </a:solidFill>
                          <a:latin typeface="Arial"/>
                        </a:rPr>
                        <a:t>After p95</a:t>
                      </a:r>
                    </a:p>
                  </a:txBody>
                  <a:tcPr marL="109728" marR="91440" marT="36576" marB="36576">
                    <a:solidFill>
                      <a:srgbClr val="252B33"/>
                    </a:solidFill>
                  </a:tcPr>
                </a:tc>
                <a:tc>
                  <a:txBody>
                    <a:bodyPr/>
                    <a:lstStyle/>
                    <a:p>
                      <a:pPr algn="l">
                        <a:spcAft>
                          <a:spcPts val="0"/>
                        </a:spcAft>
                      </a:pPr>
                      <a:r>
                        <a:rPr sz="1600" b="1">
                          <a:solidFill>
                            <a:srgbClr val="FFFFFF"/>
                          </a:solidFill>
                          <a:latin typeface="Arial"/>
                        </a:rPr>
                        <a:t>Before err</a:t>
                      </a:r>
                    </a:p>
                  </a:txBody>
                  <a:tcPr marL="109728" marR="91440" marT="36576" marB="36576">
                    <a:solidFill>
                      <a:srgbClr val="252B33"/>
                    </a:solidFill>
                  </a:tcPr>
                </a:tc>
                <a:tc>
                  <a:txBody>
                    <a:bodyPr/>
                    <a:lstStyle/>
                    <a:p>
                      <a:pPr algn="l">
                        <a:spcAft>
                          <a:spcPts val="0"/>
                        </a:spcAft>
                      </a:pPr>
                      <a:r>
                        <a:rPr sz="1600" b="1">
                          <a:solidFill>
                            <a:srgbClr val="FFFFFF"/>
                          </a:solidFill>
                          <a:latin typeface="Arial"/>
                        </a:rPr>
                        <a:t>After err</a:t>
                      </a:r>
                    </a:p>
                  </a:txBody>
                  <a:tcPr marL="109728" marR="91440" marT="36576" marB="36576">
                    <a:solidFill>
                      <a:srgbClr val="252B33"/>
                    </a:solidFill>
                  </a:tcPr>
                </a:tc>
                <a:tc>
                  <a:txBody>
                    <a:bodyPr/>
                    <a:lstStyle/>
                    <a:p>
                      <a:pPr algn="l">
                        <a:spcAft>
                          <a:spcPts val="0"/>
                        </a:spcAft>
                      </a:pPr>
                      <a:r>
                        <a:rPr sz="1600" b="1">
                          <a:solidFill>
                            <a:srgbClr val="FFFFFF"/>
                          </a:solidFill>
                          <a:latin typeface="Arial"/>
                        </a:rPr>
                        <a:t>After tx/s</a:t>
                      </a:r>
                    </a:p>
                  </a:txBody>
                  <a:tcPr marL="109728" marR="91440" marT="36576" marB="36576">
                    <a:solidFill>
                      <a:srgbClr val="252B33"/>
                    </a:solidFill>
                  </a:tcPr>
                </a:tc>
              </a:tr>
              <a:tr h="690372">
                <a:tc>
                  <a:txBody>
                    <a:bodyPr/>
                    <a:lstStyle/>
                    <a:p>
                      <a:pPr algn="l">
                        <a:spcAft>
                          <a:spcPts val="0"/>
                        </a:spcAft>
                      </a:pPr>
                      <a:r>
                        <a:rPr sz="1600" b="0">
                          <a:solidFill>
                            <a:srgbClr val="252B33"/>
                          </a:solidFill>
                          <a:latin typeface="Arial"/>
                        </a:rPr>
                        <a:t>50 VU</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33.00</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199.90</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0.0000%</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0.0000%</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52.64</a:t>
                      </a:r>
                    </a:p>
                  </a:txBody>
                  <a:tcPr marL="109728" marR="91440" marT="36576" marB="36576">
                    <a:solidFill>
                      <a:srgbClr val="FFFFFF"/>
                    </a:solidFill>
                  </a:tcPr>
                </a:tc>
              </a:tr>
              <a:tr h="690372">
                <a:tc>
                  <a:txBody>
                    <a:bodyPr/>
                    <a:lstStyle/>
                    <a:p>
                      <a:pPr algn="l">
                        <a:spcAft>
                          <a:spcPts val="0"/>
                        </a:spcAft>
                      </a:pPr>
                      <a:r>
                        <a:rPr sz="1600" b="0">
                          <a:solidFill>
                            <a:srgbClr val="252B33"/>
                          </a:solidFill>
                          <a:latin typeface="Arial"/>
                        </a:rPr>
                        <a:t>100 VU</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255.90</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1,146.90</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0.0000%</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0.0000%</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54.11</a:t>
                      </a:r>
                    </a:p>
                  </a:txBody>
                  <a:tcPr marL="109728" marR="91440" marT="36576" marB="36576">
                    <a:solidFill>
                      <a:srgbClr val="F7F9FC"/>
                    </a:solidFill>
                  </a:tcPr>
                </a:tc>
              </a:tr>
              <a:tr h="690372">
                <a:tc>
                  <a:txBody>
                    <a:bodyPr/>
                    <a:lstStyle/>
                    <a:p>
                      <a:pPr algn="l">
                        <a:spcAft>
                          <a:spcPts val="0"/>
                        </a:spcAft>
                      </a:pPr>
                      <a:r>
                        <a:rPr sz="1600" b="0">
                          <a:solidFill>
                            <a:srgbClr val="252B33"/>
                          </a:solidFill>
                          <a:latin typeface="Arial"/>
                        </a:rPr>
                        <a:t>500 VU</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106.00</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1,547.95</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0.0000%</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0.0000%</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62.44</a:t>
                      </a:r>
                    </a:p>
                  </a:txBody>
                  <a:tcPr marL="109728" marR="91440" marT="36576" marB="36576">
                    <a:solidFill>
                      <a:srgbClr val="FFFFFF"/>
                    </a:solidFill>
                  </a:tcPr>
                </a:tc>
              </a:tr>
              <a:tr h="690372">
                <a:tc>
                  <a:txBody>
                    <a:bodyPr/>
                    <a:lstStyle/>
                    <a:p>
                      <a:pPr algn="l">
                        <a:spcAft>
                          <a:spcPts val="0"/>
                        </a:spcAft>
                      </a:pPr>
                      <a:r>
                        <a:rPr sz="1600" b="0">
                          <a:solidFill>
                            <a:srgbClr val="252B33"/>
                          </a:solidFill>
                          <a:latin typeface="Arial"/>
                        </a:rPr>
                        <a:t>soak</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443.95</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171.00</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0.0000%</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0.0000%</a:t>
                      </a:r>
                    </a:p>
                  </a:txBody>
                  <a:tcPr marL="109728" marR="91440" marT="36576" marB="36576">
                    <a:solidFill>
                      <a:srgbClr val="F7F9FC"/>
                    </a:solidFill>
                  </a:tcPr>
                </a:tc>
                <a:tc>
                  <a:txBody>
                    <a:bodyPr/>
                    <a:lstStyle/>
                    <a:p>
                      <a:pPr algn="l">
                        <a:spcAft>
                          <a:spcPts val="0"/>
                        </a:spcAft>
                      </a:pPr>
                      <a:r>
                        <a:rPr sz="1600" b="0">
                          <a:solidFill>
                            <a:srgbClr val="252B33"/>
                          </a:solidFill>
                          <a:latin typeface="Arial"/>
                        </a:rPr>
                        <a:t>170.98</a:t>
                      </a:r>
                    </a:p>
                  </a:txBody>
                  <a:tcPr marL="109728" marR="91440" marT="36576" marB="36576">
                    <a:solidFill>
                      <a:srgbClr val="F7F9FC"/>
                    </a:solidFill>
                  </a:tcPr>
                </a:tc>
              </a:tr>
              <a:tr h="690372">
                <a:tc>
                  <a:txBody>
                    <a:bodyPr/>
                    <a:lstStyle/>
                    <a:p>
                      <a:pPr algn="l">
                        <a:spcAft>
                          <a:spcPts val="0"/>
                        </a:spcAft>
                      </a:pPr>
                      <a:r>
                        <a:rPr sz="1600" b="0">
                          <a:solidFill>
                            <a:srgbClr val="252B33"/>
                          </a:solidFill>
                          <a:latin typeface="Arial"/>
                        </a:rPr>
                        <a:t>spike</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33,401.75</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4,730.85</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0.4688%</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0.0000%</a:t>
                      </a:r>
                    </a:p>
                  </a:txBody>
                  <a:tcPr marL="109728" marR="91440" marT="36576" marB="36576">
                    <a:solidFill>
                      <a:srgbClr val="FFFFFF"/>
                    </a:solidFill>
                  </a:tcPr>
                </a:tc>
                <a:tc>
                  <a:txBody>
                    <a:bodyPr/>
                    <a:lstStyle/>
                    <a:p>
                      <a:pPr algn="l">
                        <a:spcAft>
                          <a:spcPts val="0"/>
                        </a:spcAft>
                      </a:pPr>
                      <a:r>
                        <a:rPr sz="1600" b="0">
                          <a:solidFill>
                            <a:srgbClr val="252B33"/>
                          </a:solidFill>
                          <a:latin typeface="Arial"/>
                        </a:rPr>
                        <a:t>149.90</a:t>
                      </a:r>
                    </a:p>
                  </a:txBody>
                  <a:tcPr marL="109728" marR="91440" marT="36576" marB="36576">
                    <a:solidFill>
                      <a:srgbClr val="FFFFFF"/>
                    </a:solidFill>
                  </a:tcPr>
                </a:tc>
              </a:tr>
            </a:tbl>
          </a:graphicData>
        </a:graphic>
      </p:graphicFrame>
      <p:sp>
        <p:nvSpPr>
          <p:cNvPr id="10" name="TextBox 9"/>
          <p:cNvSpPr txBox="1"/>
          <p:nvPr/>
        </p:nvSpPr>
        <p:spPr>
          <a:xfrm>
            <a:off x="758952" y="5751576"/>
            <a:ext cx="10671048" cy="374904"/>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3373D"/>
                </a:solidFill>
                <a:latin typeface="Arial"/>
              </a:rPr>
              <a:t>Baseline core gate PASS; remediation core gate FAIL (100 VU and 500 VU thresholds).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0F676D"/>
                </a:solidFill>
                <a:latin typeface="Arial"/>
              </a:rPr>
              <a:t>BACKUP 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S107 source: eight parameters to one DTO</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Listing E.1; Tables 3.4 and 4.3</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0F676D"/>
                </a:solidFill>
                <a:latin typeface="Arial"/>
              </a:rPr>
              <a:t>32</a:t>
            </a:r>
          </a:p>
        </p:txBody>
      </p:sp>
      <p:sp>
        <p:nvSpPr>
          <p:cNvPr id="9" name="Rounded Rectangle 8"/>
          <p:cNvSpPr/>
          <p:nvPr/>
        </p:nvSpPr>
        <p:spPr>
          <a:xfrm>
            <a:off x="731520" y="1417320"/>
            <a:ext cx="5212080" cy="3630168"/>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36208" y="1417320"/>
            <a:ext cx="5212080" cy="3630168"/>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1627632"/>
            <a:ext cx="477316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3373D"/>
                </a:solidFill>
                <a:latin typeface="Arial"/>
              </a:rPr>
              <a:t>BEFORE · baseline-v0.1</a:t>
            </a:r>
          </a:p>
        </p:txBody>
      </p:sp>
      <p:sp>
        <p:nvSpPr>
          <p:cNvPr id="12" name="TextBox 11"/>
          <p:cNvSpPr txBox="1"/>
          <p:nvPr/>
        </p:nvSpPr>
        <p:spPr>
          <a:xfrm>
            <a:off x="6446520" y="1627632"/>
            <a:ext cx="477316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6F46"/>
                </a:solidFill>
                <a:latin typeface="Arial"/>
              </a:rPr>
              <a:t>AFTER · baseline-sonarqube-v1</a:t>
            </a:r>
          </a:p>
        </p:txBody>
      </p:sp>
      <p:sp>
        <p:nvSpPr>
          <p:cNvPr id="13" name="TextBox 12"/>
          <p:cNvSpPr txBox="1"/>
          <p:nvPr/>
        </p:nvSpPr>
        <p:spPr>
          <a:xfrm>
            <a:off x="941832" y="2112264"/>
            <a:ext cx="4718304" cy="2487168"/>
          </a:xfrm>
          <a:prstGeom prst="rect">
            <a:avLst/>
          </a:prstGeom>
          <a:noFill/>
        </p:spPr>
        <p:txBody>
          <a:bodyPr wrap="square" lIns="18288" rIns="18288" tIns="18288" bIns="18288" anchor="t">
            <a:spAutoFit/>
          </a:bodyPr>
          <a:lstStyle/>
          <a:p>
            <a:pPr algn="l">
              <a:spcBef>
                <a:spcPts val="0"/>
              </a:spcBef>
              <a:spcAft>
                <a:spcPts val="0"/>
              </a:spcAft>
            </a:pPr>
            <a:r>
              <a:rPr sz="1800" b="0">
                <a:solidFill>
                  <a:srgbClr val="252B33"/>
                </a:solidFill>
                <a:latin typeface="Courier New"/>
              </a:rPr>
              <a:t>GetPaged(
  from, to, status, accountId,
  search, page, pageSize, sort
)
// 8 query parameters</a:t>
            </a:r>
          </a:p>
        </p:txBody>
      </p:sp>
      <p:sp>
        <p:nvSpPr>
          <p:cNvPr id="14" name="TextBox 13"/>
          <p:cNvSpPr txBox="1"/>
          <p:nvPr/>
        </p:nvSpPr>
        <p:spPr>
          <a:xfrm>
            <a:off x="6446520" y="2112264"/>
            <a:ext cx="4709160" cy="2487168"/>
          </a:xfrm>
          <a:prstGeom prst="rect">
            <a:avLst/>
          </a:prstGeom>
          <a:noFill/>
        </p:spPr>
        <p:txBody>
          <a:bodyPr wrap="square" lIns="18288" rIns="18288" tIns="18288" bIns="18288" anchor="t">
            <a:spAutoFit/>
          </a:bodyPr>
          <a:lstStyle/>
          <a:p>
            <a:pPr algn="l">
              <a:spcBef>
                <a:spcPts val="0"/>
              </a:spcBef>
              <a:spcAft>
                <a:spcPts val="0"/>
              </a:spcAft>
            </a:pPr>
            <a:r>
              <a:rPr sz="1800" b="0">
                <a:solidFill>
                  <a:srgbClr val="252B33"/>
                </a:solidFill>
                <a:latin typeface="Courier New"/>
              </a:rPr>
              <a:t>GetPaged(
  JournalEntryQueryDto query
)
// DTO carries the query inputs</a:t>
            </a:r>
          </a:p>
        </p:txBody>
      </p:sp>
      <p:sp>
        <p:nvSpPr>
          <p:cNvPr id="15" name="TextBox 14"/>
          <p:cNvSpPr txBox="1"/>
          <p:nvPr/>
        </p:nvSpPr>
        <p:spPr>
          <a:xfrm>
            <a:off x="786384" y="5330952"/>
            <a:ext cx="10588752" cy="530352"/>
          </a:xfrm>
          <a:prstGeom prst="rect">
            <a:avLst/>
          </a:prstGeom>
          <a:noFill/>
        </p:spPr>
        <p:txBody>
          <a:bodyPr wrap="square" lIns="18288" rIns="18288" tIns="18288" bIns="18288" anchor="ctr">
            <a:spAutoFit/>
          </a:bodyPr>
          <a:lstStyle/>
          <a:p>
            <a:pPr algn="l">
              <a:spcBef>
                <a:spcPts val="0"/>
              </a:spcBef>
              <a:spcAft>
                <a:spcPts val="0"/>
              </a:spcAft>
            </a:pPr>
            <a:r>
              <a:rPr sz="1800" b="1">
                <a:solidFill>
                  <a:srgbClr val="0F676D"/>
                </a:solidFill>
                <a:latin typeface="Arial"/>
              </a:rPr>
              <a:t>Measured result: fresh SonarQube issues 17 → 0; the route remains GET /journal-entries.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F6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0F676D"/>
                </a:solidFill>
                <a:latin typeface="Arial"/>
              </a:rPr>
              <a:t>BACKUP 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Source examples: security order and report persistence</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Listings F.1-F.2 and G.1-G.3</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0F676D"/>
                </a:solidFill>
                <a:latin typeface="Arial"/>
              </a:rPr>
              <a:t>33</a:t>
            </a:r>
          </a:p>
        </p:txBody>
      </p:sp>
      <p:sp>
        <p:nvSpPr>
          <p:cNvPr id="9" name="Rounded Rectangle 8"/>
          <p:cNvSpPr/>
          <p:nvPr/>
        </p:nvSpPr>
        <p:spPr>
          <a:xfrm>
            <a:off x="731520" y="1417320"/>
            <a:ext cx="5212080" cy="416052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36208" y="1417320"/>
            <a:ext cx="5212080" cy="4160520"/>
          </a:xfrm>
          <a:prstGeom prst="roundRect">
            <a:avLst/>
          </a:prstGeom>
          <a:solidFill>
            <a:srgbClr val="FFFFFF"/>
          </a:solid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1664208"/>
            <a:ext cx="4681728" cy="329184"/>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3373D"/>
                </a:solidFill>
                <a:latin typeface="Arial"/>
              </a:rPr>
              <a:t>SECURITY · API/Program.cs</a:t>
            </a:r>
          </a:p>
        </p:txBody>
      </p:sp>
      <p:sp>
        <p:nvSpPr>
          <p:cNvPr id="12" name="TextBox 11"/>
          <p:cNvSpPr txBox="1"/>
          <p:nvPr/>
        </p:nvSpPr>
        <p:spPr>
          <a:xfrm>
            <a:off x="950976" y="2167128"/>
            <a:ext cx="4690872" cy="2468880"/>
          </a:xfrm>
          <a:prstGeom prst="rect">
            <a:avLst/>
          </a:prstGeom>
          <a:noFill/>
        </p:spPr>
        <p:txBody>
          <a:bodyPr wrap="square" lIns="18288" rIns="18288" tIns="18288" bIns="18288" anchor="t">
            <a:spAutoFit/>
          </a:bodyPr>
          <a:lstStyle/>
          <a:p>
            <a:pPr algn="l">
              <a:spcBef>
                <a:spcPts val="0"/>
              </a:spcBef>
              <a:spcAft>
                <a:spcPts val="0"/>
              </a:spcAft>
            </a:pPr>
            <a:r>
              <a:rPr sz="2000" b="0">
                <a:solidFill>
                  <a:srgbClr val="252B33"/>
                </a:solidFill>
                <a:latin typeface="Arial"/>
              </a:rPr>
              <a:t>SecurityHeadersMiddleware
→ before Swagger/OpenAPI
Swagger UI exposed only when the separate UI flag allows it.</a:t>
            </a:r>
          </a:p>
        </p:txBody>
      </p:sp>
      <p:sp>
        <p:nvSpPr>
          <p:cNvPr id="13" name="TextBox 12"/>
          <p:cNvSpPr txBox="1"/>
          <p:nvPr/>
        </p:nvSpPr>
        <p:spPr>
          <a:xfrm>
            <a:off x="6437376" y="1664208"/>
            <a:ext cx="4727448" cy="329184"/>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E7414"/>
                </a:solidFill>
                <a:latin typeface="Arial"/>
              </a:rPr>
              <a:t>PERFORMANCE · FinancialReportService.cs</a:t>
            </a:r>
          </a:p>
        </p:txBody>
      </p:sp>
      <p:sp>
        <p:nvSpPr>
          <p:cNvPr id="14" name="TextBox 13"/>
          <p:cNvSpPr txBox="1"/>
          <p:nvPr/>
        </p:nvSpPr>
        <p:spPr>
          <a:xfrm>
            <a:off x="6437376" y="2167128"/>
            <a:ext cx="4709160" cy="2468880"/>
          </a:xfrm>
          <a:prstGeom prst="rect">
            <a:avLst/>
          </a:prstGeom>
          <a:noFill/>
        </p:spPr>
        <p:txBody>
          <a:bodyPr wrap="square" lIns="18288" rIns="18288" tIns="18288" bIns="18288" anchor="t">
            <a:spAutoFit/>
          </a:bodyPr>
          <a:lstStyle/>
          <a:p>
            <a:pPr algn="l">
              <a:spcBef>
                <a:spcPts val="0"/>
              </a:spcBef>
              <a:spcAft>
                <a:spcPts val="0"/>
              </a:spcAft>
            </a:pPr>
            <a:r>
              <a:rPr sz="2000" b="0">
                <a:solidFill>
                  <a:srgbClr val="252B33"/>
                </a:solidFill>
                <a:latin typeface="Arial"/>
              </a:rPr>
              <a:t>Cache account-ledger data
+ stop report snapshot writes on this read path
The core speed target was not met.</a:t>
            </a:r>
          </a:p>
        </p:txBody>
      </p:sp>
      <p:sp>
        <p:nvSpPr>
          <p:cNvPr id="15" name="TextBox 14"/>
          <p:cNvSpPr txBox="1"/>
          <p:nvPr/>
        </p:nvSpPr>
        <p:spPr>
          <a:xfrm>
            <a:off x="777240" y="5705856"/>
            <a:ext cx="10698480" cy="384048"/>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0F676D"/>
                </a:solidFill>
                <a:latin typeface="Arial"/>
              </a:rPr>
              <a:t>This shows what changed in code; slide 31 shows the measured performance result.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4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24466C"/>
                </a:solidFill>
                <a:latin typeface="Arial"/>
              </a:rPr>
              <a:t>BACKUP 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Authorization and accounting controls remained testable</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Appendices C, D, I and §4.6</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24466C"/>
                </a:solidFill>
                <a:latin typeface="Arial"/>
              </a:rPr>
              <a:t>34</a:t>
            </a:r>
          </a:p>
        </p:txBody>
      </p:sp>
      <p:graphicFrame>
        <p:nvGraphicFramePr>
          <p:cNvPr id="9" name="Table 8"/>
          <p:cNvGraphicFramePr>
            <a:graphicFrameLocks noGrp="1"/>
          </p:cNvGraphicFramePr>
          <p:nvPr/>
        </p:nvGraphicFramePr>
        <p:xfrm>
          <a:off x="722376" y="1371600"/>
          <a:ext cx="10744200" cy="4288536"/>
        </p:xfrm>
        <a:graphic>
          <a:graphicData uri="http://schemas.openxmlformats.org/drawingml/2006/table">
            <a:tbl>
              <a:tblPr firstRow="1" bandRow="1">
                <a:tableStyleId>{5C22544A-7EE6-4342-B048-85BDC9FD1C3A}</a:tableStyleId>
              </a:tblPr>
              <a:tblGrid>
                <a:gridCol w="2471166"/>
                <a:gridCol w="3760470"/>
                <a:gridCol w="4512564"/>
              </a:tblGrid>
              <a:tr h="857707">
                <a:tc>
                  <a:txBody>
                    <a:bodyPr/>
                    <a:lstStyle/>
                    <a:p>
                      <a:pPr algn="l">
                        <a:spcAft>
                          <a:spcPts val="0"/>
                        </a:spcAft>
                      </a:pPr>
                      <a:r>
                        <a:rPr sz="1700" b="1">
                          <a:solidFill>
                            <a:srgbClr val="FFFFFF"/>
                          </a:solidFill>
                          <a:latin typeface="Arial"/>
                        </a:rPr>
                        <a:t>Control</a:t>
                      </a:r>
                    </a:p>
                  </a:txBody>
                  <a:tcPr marL="109728" marR="91440" marT="36576" marB="36576">
                    <a:solidFill>
                      <a:srgbClr val="252B33"/>
                    </a:solidFill>
                  </a:tcPr>
                </a:tc>
                <a:tc>
                  <a:txBody>
                    <a:bodyPr/>
                    <a:lstStyle/>
                    <a:p>
                      <a:pPr algn="l">
                        <a:spcAft>
                          <a:spcPts val="0"/>
                        </a:spcAft>
                      </a:pPr>
                      <a:r>
                        <a:rPr sz="1700" b="1">
                          <a:solidFill>
                            <a:srgbClr val="FFFFFF"/>
                          </a:solidFill>
                          <a:latin typeface="Arial"/>
                        </a:rPr>
                        <a:t>Evidence path</a:t>
                      </a:r>
                    </a:p>
                  </a:txBody>
                  <a:tcPr marL="109728" marR="91440" marT="36576" marB="36576">
                    <a:solidFill>
                      <a:srgbClr val="252B33"/>
                    </a:solidFill>
                  </a:tcPr>
                </a:tc>
                <a:tc>
                  <a:txBody>
                    <a:bodyPr/>
                    <a:lstStyle/>
                    <a:p>
                      <a:pPr algn="l">
                        <a:spcAft>
                          <a:spcPts val="0"/>
                        </a:spcAft>
                      </a:pPr>
                      <a:r>
                        <a:rPr sz="1700" b="1">
                          <a:solidFill>
                            <a:srgbClr val="FFFFFF"/>
                          </a:solidFill>
                          <a:latin typeface="Arial"/>
                        </a:rPr>
                        <a:t>Expected boundary</a:t>
                      </a:r>
                    </a:p>
                  </a:txBody>
                  <a:tcPr marL="109728" marR="91440" marT="36576" marB="36576">
                    <a:solidFill>
                      <a:srgbClr val="252B33"/>
                    </a:solidFill>
                  </a:tcPr>
                </a:tc>
              </a:tr>
              <a:tr h="857707">
                <a:tc>
                  <a:txBody>
                    <a:bodyPr/>
                    <a:lstStyle/>
                    <a:p>
                      <a:pPr algn="l">
                        <a:spcAft>
                          <a:spcPts val="0"/>
                        </a:spcAft>
                      </a:pPr>
                      <a:r>
                        <a:rPr sz="1700" b="0">
                          <a:solidFill>
                            <a:srgbClr val="252B33"/>
                          </a:solidFill>
                          <a:latin typeface="Arial"/>
                        </a:rPr>
                        <a:t>JWT / roles</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Controller attributes + RBAC matrix</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Protected routes reject unauthorized roles</a:t>
                      </a:r>
                    </a:p>
                  </a:txBody>
                  <a:tcPr marL="109728" marR="91440" marT="36576" marB="36576">
                    <a:solidFill>
                      <a:srgbClr val="FFFFFF"/>
                    </a:solidFill>
                  </a:tcPr>
                </a:tc>
              </a:tr>
              <a:tr h="857707">
                <a:tc>
                  <a:txBody>
                    <a:bodyPr/>
                    <a:lstStyle/>
                    <a:p>
                      <a:pPr algn="l">
                        <a:spcAft>
                          <a:spcPts val="0"/>
                        </a:spcAft>
                      </a:pPr>
                      <a:r>
                        <a:rPr sz="1700" b="0">
                          <a:solidFill>
                            <a:srgbClr val="252B33"/>
                          </a:solidFill>
                          <a:latin typeface="Arial"/>
                        </a:rPr>
                        <a:t>Journal posting</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Balanced debit-credit source</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Closed periods and unequal totals rejected</a:t>
                      </a:r>
                    </a:p>
                  </a:txBody>
                  <a:tcPr marL="109728" marR="91440" marT="36576" marB="36576">
                    <a:solidFill>
                      <a:srgbClr val="F7F9FC"/>
                    </a:solidFill>
                  </a:tcPr>
                </a:tc>
              </a:tr>
              <a:tr h="857707">
                <a:tc>
                  <a:txBody>
                    <a:bodyPr/>
                    <a:lstStyle/>
                    <a:p>
                      <a:pPr algn="l">
                        <a:spcAft>
                          <a:spcPts val="0"/>
                        </a:spcAft>
                      </a:pPr>
                      <a:r>
                        <a:rPr sz="1700" b="0">
                          <a:solidFill>
                            <a:srgbClr val="252B33"/>
                          </a:solidFill>
                          <a:latin typeface="Arial"/>
                        </a:rPr>
                        <a:t>Audit trail</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Service + browser log view</a:t>
                      </a:r>
                    </a:p>
                  </a:txBody>
                  <a:tcPr marL="109728" marR="91440" marT="36576" marB="36576">
                    <a:solidFill>
                      <a:srgbClr val="FFFFFF"/>
                    </a:solidFill>
                  </a:tcPr>
                </a:tc>
                <a:tc>
                  <a:txBody>
                    <a:bodyPr/>
                    <a:lstStyle/>
                    <a:p>
                      <a:pPr algn="l">
                        <a:spcAft>
                          <a:spcPts val="0"/>
                        </a:spcAft>
                      </a:pPr>
                      <a:r>
                        <a:rPr sz="1700" b="0">
                          <a:solidFill>
                            <a:srgbClr val="252B33"/>
                          </a:solidFill>
                          <a:latin typeface="Arial"/>
                        </a:rPr>
                        <a:t>Actor and sensitive action recorded</a:t>
                      </a:r>
                    </a:p>
                  </a:txBody>
                  <a:tcPr marL="109728" marR="91440" marT="36576" marB="36576">
                    <a:solidFill>
                      <a:srgbClr val="FFFFFF"/>
                    </a:solidFill>
                  </a:tcPr>
                </a:tc>
              </a:tr>
              <a:tr h="857708">
                <a:tc>
                  <a:txBody>
                    <a:bodyPr/>
                    <a:lstStyle/>
                    <a:p>
                      <a:pPr algn="l">
                        <a:spcAft>
                          <a:spcPts val="0"/>
                        </a:spcAft>
                      </a:pPr>
                      <a:r>
                        <a:rPr sz="1700" b="0">
                          <a:solidFill>
                            <a:srgbClr val="252B33"/>
                          </a:solidFill>
                          <a:latin typeface="Arial"/>
                        </a:rPr>
                        <a:t>Browser roles</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Admin / Auditor screenshots</a:t>
                      </a:r>
                    </a:p>
                  </a:txBody>
                  <a:tcPr marL="109728" marR="91440" marT="36576" marB="36576">
                    <a:solidFill>
                      <a:srgbClr val="F7F9FC"/>
                    </a:solidFill>
                  </a:tcPr>
                </a:tc>
                <a:tc>
                  <a:txBody>
                    <a:bodyPr/>
                    <a:lstStyle/>
                    <a:p>
                      <a:pPr algn="l">
                        <a:spcAft>
                          <a:spcPts val="0"/>
                        </a:spcAft>
                      </a:pPr>
                      <a:r>
                        <a:rPr sz="1700" b="0">
                          <a:solidFill>
                            <a:srgbClr val="252B33"/>
                          </a:solidFill>
                          <a:latin typeface="Arial"/>
                        </a:rPr>
                        <a:t>Navigation and read-only behavior visible</a:t>
                      </a:r>
                    </a:p>
                  </a:txBody>
                  <a:tcPr marL="109728" marR="91440" marT="36576" marB="36576">
                    <a:solidFill>
                      <a:srgbClr val="F7F9FC"/>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6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246F46"/>
                </a:solidFill>
                <a:latin typeface="Arial"/>
              </a:rPr>
              <a:t>BACKUP · NATIVE DASHBOARDS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SonarQube overview · baseline vs remediation</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Appendix L Figures L.1 and L.3</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246F46"/>
                </a:solidFill>
                <a:latin typeface="Arial"/>
              </a:rPr>
              <a:t>35</a:t>
            </a:r>
          </a:p>
        </p:txBody>
      </p:sp>
      <p:sp>
        <p:nvSpPr>
          <p:cNvPr id="9" name="TextBox 8"/>
          <p:cNvSpPr txBox="1"/>
          <p:nvPr/>
        </p:nvSpPr>
        <p:spPr>
          <a:xfrm>
            <a:off x="804672" y="1280160"/>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466C"/>
                </a:solidFill>
                <a:latin typeface="Arial"/>
              </a:rPr>
              <a:t>BASELINE</a:t>
            </a:r>
          </a:p>
        </p:txBody>
      </p:sp>
      <p:sp>
        <p:nvSpPr>
          <p:cNvPr id="10" name="TextBox 9"/>
          <p:cNvSpPr txBox="1"/>
          <p:nvPr/>
        </p:nvSpPr>
        <p:spPr>
          <a:xfrm>
            <a:off x="6245352" y="1280160"/>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6F46"/>
                </a:solidFill>
                <a:latin typeface="Arial"/>
              </a:rPr>
              <a:t>REMEDIATION</a:t>
            </a:r>
          </a:p>
        </p:txBody>
      </p:sp>
      <p:pic>
        <p:nvPicPr>
          <p:cNvPr id="11" name="Picture 10" descr="sonarqube-baseline-overview.png"/>
          <p:cNvPicPr>
            <a:picLocks noChangeAspect="1"/>
          </p:cNvPicPr>
          <p:nvPr/>
        </p:nvPicPr>
        <p:blipFill>
          <a:blip r:embed="rId2"/>
          <a:stretch>
            <a:fillRect/>
          </a:stretch>
        </p:blipFill>
        <p:spPr>
          <a:xfrm>
            <a:off x="786384" y="1706880"/>
            <a:ext cx="5157216" cy="3581400"/>
          </a:xfrm>
          <a:prstGeom prst="rect">
            <a:avLst/>
          </a:prstGeom>
        </p:spPr>
      </p:pic>
      <p:sp>
        <p:nvSpPr>
          <p:cNvPr id="12" name="Rectangle 11"/>
          <p:cNvSpPr/>
          <p:nvPr/>
        </p:nvSpPr>
        <p:spPr>
          <a:xfrm>
            <a:off x="786384" y="1706880"/>
            <a:ext cx="5157216" cy="358140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onarqube-remediation-overview.png"/>
          <p:cNvPicPr>
            <a:picLocks noChangeAspect="1"/>
          </p:cNvPicPr>
          <p:nvPr/>
        </p:nvPicPr>
        <p:blipFill>
          <a:blip r:embed="rId3"/>
          <a:stretch>
            <a:fillRect/>
          </a:stretch>
        </p:blipFill>
        <p:spPr>
          <a:xfrm>
            <a:off x="6236208" y="1706880"/>
            <a:ext cx="5157216" cy="3581400"/>
          </a:xfrm>
          <a:prstGeom prst="rect">
            <a:avLst/>
          </a:prstGeom>
        </p:spPr>
      </p:pic>
      <p:sp>
        <p:nvSpPr>
          <p:cNvPr id="14" name="Rectangle 13"/>
          <p:cNvSpPr/>
          <p:nvPr/>
        </p:nvSpPr>
        <p:spPr>
          <a:xfrm>
            <a:off x="6236208" y="1706880"/>
            <a:ext cx="5157216" cy="358140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8096" y="5477256"/>
            <a:ext cx="10643616" cy="621792"/>
          </a:xfrm>
          <a:prstGeom prst="roundRect">
            <a:avLst/>
          </a:prstGeom>
          <a:solidFill>
            <a:srgbClr val="E7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541264"/>
            <a:ext cx="10314432" cy="44805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6F46"/>
                </a:solidFill>
                <a:latin typeface="Arial"/>
              </a:rPr>
              <a:t>17 issues → 0; gate OK/OK (no conditions recorded); coverage 74.4% → 74.3%.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6F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246F46"/>
                </a:solidFill>
                <a:latin typeface="Arial"/>
              </a:rPr>
              <a:t>BACKUP · NATIVE DASHBOARDS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SonarQube issues · baseline vs remediation</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Appendix L Figures L.2 and L.4</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246F46"/>
                </a:solidFill>
                <a:latin typeface="Arial"/>
              </a:rPr>
              <a:t>36</a:t>
            </a:r>
          </a:p>
        </p:txBody>
      </p:sp>
      <p:sp>
        <p:nvSpPr>
          <p:cNvPr id="9" name="TextBox 8"/>
          <p:cNvSpPr txBox="1"/>
          <p:nvPr/>
        </p:nvSpPr>
        <p:spPr>
          <a:xfrm>
            <a:off x="804672" y="1280160"/>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466C"/>
                </a:solidFill>
                <a:latin typeface="Arial"/>
              </a:rPr>
              <a:t>BASELINE</a:t>
            </a:r>
          </a:p>
        </p:txBody>
      </p:sp>
      <p:sp>
        <p:nvSpPr>
          <p:cNvPr id="10" name="TextBox 9"/>
          <p:cNvSpPr txBox="1"/>
          <p:nvPr/>
        </p:nvSpPr>
        <p:spPr>
          <a:xfrm>
            <a:off x="6245352" y="1280160"/>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6F46"/>
                </a:solidFill>
                <a:latin typeface="Arial"/>
              </a:rPr>
              <a:t>REMEDIATION</a:t>
            </a:r>
          </a:p>
        </p:txBody>
      </p:sp>
      <p:pic>
        <p:nvPicPr>
          <p:cNvPr id="11" name="Picture 10" descr="sonarqube-baseline-issues.png"/>
          <p:cNvPicPr>
            <a:picLocks noChangeAspect="1"/>
          </p:cNvPicPr>
          <p:nvPr/>
        </p:nvPicPr>
        <p:blipFill>
          <a:blip r:embed="rId2"/>
          <a:stretch>
            <a:fillRect/>
          </a:stretch>
        </p:blipFill>
        <p:spPr>
          <a:xfrm>
            <a:off x="786384" y="1706880"/>
            <a:ext cx="5157216" cy="3581400"/>
          </a:xfrm>
          <a:prstGeom prst="rect">
            <a:avLst/>
          </a:prstGeom>
        </p:spPr>
      </p:pic>
      <p:sp>
        <p:nvSpPr>
          <p:cNvPr id="12" name="Rectangle 11"/>
          <p:cNvSpPr/>
          <p:nvPr/>
        </p:nvSpPr>
        <p:spPr>
          <a:xfrm>
            <a:off x="786384" y="1706880"/>
            <a:ext cx="5157216" cy="358140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onarqube-remediation-issues.png"/>
          <p:cNvPicPr>
            <a:picLocks noChangeAspect="1"/>
          </p:cNvPicPr>
          <p:nvPr/>
        </p:nvPicPr>
        <p:blipFill>
          <a:blip r:embed="rId3"/>
          <a:stretch>
            <a:fillRect/>
          </a:stretch>
        </p:blipFill>
        <p:spPr>
          <a:xfrm>
            <a:off x="6236208" y="1706880"/>
            <a:ext cx="5157216" cy="3581400"/>
          </a:xfrm>
          <a:prstGeom prst="rect">
            <a:avLst/>
          </a:prstGeom>
        </p:spPr>
      </p:pic>
      <p:sp>
        <p:nvSpPr>
          <p:cNvPr id="14" name="Rectangle 13"/>
          <p:cNvSpPr/>
          <p:nvPr/>
        </p:nvSpPr>
        <p:spPr>
          <a:xfrm>
            <a:off x="6236208" y="1706880"/>
            <a:ext cx="5157216" cy="358140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8096" y="5477256"/>
            <a:ext cx="10643616" cy="621792"/>
          </a:xfrm>
          <a:prstGeom prst="roundRect">
            <a:avLst/>
          </a:prstGeom>
          <a:solidFill>
            <a:srgbClr val="E7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541264"/>
            <a:ext cx="10314432" cy="44805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6F46"/>
                </a:solidFill>
                <a:latin typeface="Arial"/>
              </a:rPr>
              <a:t>Fresh issue-list views: 17 baseline findings and 0 after remediation.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E7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BE7414"/>
                </a:solidFill>
                <a:latin typeface="Arial"/>
              </a:rPr>
              <a:t>BACKUP · NATIVE DASHBOARDS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JMeter 50 VU · baseline vs remediation</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Appendix L Figures L.9 and L.14; fresh JMeter summary.json</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BE7414"/>
                </a:solidFill>
                <a:latin typeface="Arial"/>
              </a:rPr>
              <a:t>37</a:t>
            </a:r>
          </a:p>
        </p:txBody>
      </p:sp>
      <p:sp>
        <p:nvSpPr>
          <p:cNvPr id="9" name="TextBox 8"/>
          <p:cNvSpPr txBox="1"/>
          <p:nvPr/>
        </p:nvSpPr>
        <p:spPr>
          <a:xfrm>
            <a:off x="804672" y="1280160"/>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466C"/>
                </a:solidFill>
                <a:latin typeface="Arial"/>
              </a:rPr>
              <a:t>BASELINE</a:t>
            </a:r>
          </a:p>
        </p:txBody>
      </p:sp>
      <p:sp>
        <p:nvSpPr>
          <p:cNvPr id="10" name="TextBox 9"/>
          <p:cNvSpPr txBox="1"/>
          <p:nvPr/>
        </p:nvSpPr>
        <p:spPr>
          <a:xfrm>
            <a:off x="6245352" y="1280160"/>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E7414"/>
                </a:solidFill>
                <a:latin typeface="Arial"/>
              </a:rPr>
              <a:t>REMEDIATION</a:t>
            </a:r>
          </a:p>
        </p:txBody>
      </p:sp>
      <p:pic>
        <p:nvPicPr>
          <p:cNvPr id="11" name="Picture 10" descr="jmeter-baseline-p50-dashboard.png"/>
          <p:cNvPicPr>
            <a:picLocks noChangeAspect="1"/>
          </p:cNvPicPr>
          <p:nvPr/>
        </p:nvPicPr>
        <p:blipFill>
          <a:blip r:embed="rId2"/>
          <a:stretch>
            <a:fillRect/>
          </a:stretch>
        </p:blipFill>
        <p:spPr>
          <a:xfrm>
            <a:off x="786384" y="2594949"/>
            <a:ext cx="5157216" cy="1805260"/>
          </a:xfrm>
          <a:prstGeom prst="rect">
            <a:avLst/>
          </a:prstGeom>
        </p:spPr>
      </p:pic>
      <p:sp>
        <p:nvSpPr>
          <p:cNvPr id="12" name="Rectangle 11"/>
          <p:cNvSpPr/>
          <p:nvPr/>
        </p:nvSpPr>
        <p:spPr>
          <a:xfrm>
            <a:off x="786384" y="2594949"/>
            <a:ext cx="5157216" cy="180526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jmeter-remediation-p50-dashboard.png"/>
          <p:cNvPicPr>
            <a:picLocks noChangeAspect="1"/>
          </p:cNvPicPr>
          <p:nvPr/>
        </p:nvPicPr>
        <p:blipFill>
          <a:blip r:embed="rId3"/>
          <a:stretch>
            <a:fillRect/>
          </a:stretch>
        </p:blipFill>
        <p:spPr>
          <a:xfrm>
            <a:off x="6236208" y="2594949"/>
            <a:ext cx="5157216" cy="1805260"/>
          </a:xfrm>
          <a:prstGeom prst="rect">
            <a:avLst/>
          </a:prstGeom>
        </p:spPr>
      </p:pic>
      <p:sp>
        <p:nvSpPr>
          <p:cNvPr id="14" name="Rectangle 13"/>
          <p:cNvSpPr/>
          <p:nvPr/>
        </p:nvSpPr>
        <p:spPr>
          <a:xfrm>
            <a:off x="6236208" y="2594949"/>
            <a:ext cx="5157216" cy="180526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8096" y="5477256"/>
            <a:ext cx="10643616" cy="621792"/>
          </a:xfrm>
          <a:prstGeom prst="roundRect">
            <a:avLst/>
          </a:prstGeom>
          <a:solidFill>
            <a:srgbClr val="E7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541264"/>
            <a:ext cx="10314432" cy="44805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E7414"/>
                </a:solidFill>
                <a:latin typeface="Arial"/>
              </a:rPr>
              <a:t>Fresh total p95 33 → 199.9 ms · CORE SLOWER.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E7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BE7414"/>
                </a:solidFill>
                <a:latin typeface="Arial"/>
              </a:rPr>
              <a:t>BACKUP · NATIVE DASHBOARDS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JMeter 100 VU · baseline vs remediation</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Appendix L Figures L.10 and L.15; fresh JMeter summary.json</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BE7414"/>
                </a:solidFill>
                <a:latin typeface="Arial"/>
              </a:rPr>
              <a:t>38</a:t>
            </a:r>
          </a:p>
        </p:txBody>
      </p:sp>
      <p:sp>
        <p:nvSpPr>
          <p:cNvPr id="9" name="TextBox 8"/>
          <p:cNvSpPr txBox="1"/>
          <p:nvPr/>
        </p:nvSpPr>
        <p:spPr>
          <a:xfrm>
            <a:off x="804672" y="1280160"/>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466C"/>
                </a:solidFill>
                <a:latin typeface="Arial"/>
              </a:rPr>
              <a:t>BASELINE</a:t>
            </a:r>
          </a:p>
        </p:txBody>
      </p:sp>
      <p:sp>
        <p:nvSpPr>
          <p:cNvPr id="10" name="TextBox 9"/>
          <p:cNvSpPr txBox="1"/>
          <p:nvPr/>
        </p:nvSpPr>
        <p:spPr>
          <a:xfrm>
            <a:off x="6245352" y="1280160"/>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E7414"/>
                </a:solidFill>
                <a:latin typeface="Arial"/>
              </a:rPr>
              <a:t>REMEDIATION</a:t>
            </a:r>
          </a:p>
        </p:txBody>
      </p:sp>
      <p:pic>
        <p:nvPicPr>
          <p:cNvPr id="11" name="Picture 10" descr="jmeter-baseline-p100-dashboard.png"/>
          <p:cNvPicPr>
            <a:picLocks noChangeAspect="1"/>
          </p:cNvPicPr>
          <p:nvPr/>
        </p:nvPicPr>
        <p:blipFill>
          <a:blip r:embed="rId2"/>
          <a:stretch>
            <a:fillRect/>
          </a:stretch>
        </p:blipFill>
        <p:spPr>
          <a:xfrm>
            <a:off x="786384" y="2183594"/>
            <a:ext cx="5157216" cy="2627970"/>
          </a:xfrm>
          <a:prstGeom prst="rect">
            <a:avLst/>
          </a:prstGeom>
        </p:spPr>
      </p:pic>
      <p:sp>
        <p:nvSpPr>
          <p:cNvPr id="12" name="Rectangle 11"/>
          <p:cNvSpPr/>
          <p:nvPr/>
        </p:nvSpPr>
        <p:spPr>
          <a:xfrm>
            <a:off x="786384" y="2183594"/>
            <a:ext cx="5157216" cy="262797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jmeter-remediation-p100-dashboard.png"/>
          <p:cNvPicPr>
            <a:picLocks noChangeAspect="1"/>
          </p:cNvPicPr>
          <p:nvPr/>
        </p:nvPicPr>
        <p:blipFill>
          <a:blip r:embed="rId3"/>
          <a:stretch>
            <a:fillRect/>
          </a:stretch>
        </p:blipFill>
        <p:spPr>
          <a:xfrm>
            <a:off x="6236208" y="2136582"/>
            <a:ext cx="5157216" cy="2721994"/>
          </a:xfrm>
          <a:prstGeom prst="rect">
            <a:avLst/>
          </a:prstGeom>
        </p:spPr>
      </p:pic>
      <p:sp>
        <p:nvSpPr>
          <p:cNvPr id="14" name="Rectangle 13"/>
          <p:cNvSpPr/>
          <p:nvPr/>
        </p:nvSpPr>
        <p:spPr>
          <a:xfrm>
            <a:off x="6236208" y="2136582"/>
            <a:ext cx="5157216" cy="2721994"/>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8096" y="5477256"/>
            <a:ext cx="10643616" cy="621792"/>
          </a:xfrm>
          <a:prstGeom prst="roundRect">
            <a:avLst/>
          </a:prstGeom>
          <a:solidFill>
            <a:srgbClr val="E7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541264"/>
            <a:ext cx="10314432" cy="44805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E7414"/>
                </a:solidFill>
                <a:latin typeface="Arial"/>
              </a:rPr>
              <a:t>Fresh total p95 255.9 → 1146.9 ms · CORE TARGET NOT MET.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E7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BE7414"/>
                </a:solidFill>
                <a:latin typeface="Arial"/>
              </a:rPr>
              <a:t>BACKUP · NATIVE DASHBOARDS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JMeter 500 VU · baseline vs remediation</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Appendix L Figures L.11 and L.16; fresh JMeter summary.json</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BE7414"/>
                </a:solidFill>
                <a:latin typeface="Arial"/>
              </a:rPr>
              <a:t>39</a:t>
            </a:r>
          </a:p>
        </p:txBody>
      </p:sp>
      <p:sp>
        <p:nvSpPr>
          <p:cNvPr id="9" name="TextBox 8"/>
          <p:cNvSpPr txBox="1"/>
          <p:nvPr/>
        </p:nvSpPr>
        <p:spPr>
          <a:xfrm>
            <a:off x="804672" y="1280160"/>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466C"/>
                </a:solidFill>
                <a:latin typeface="Arial"/>
              </a:rPr>
              <a:t>BASELINE</a:t>
            </a:r>
          </a:p>
        </p:txBody>
      </p:sp>
      <p:sp>
        <p:nvSpPr>
          <p:cNvPr id="10" name="TextBox 9"/>
          <p:cNvSpPr txBox="1"/>
          <p:nvPr/>
        </p:nvSpPr>
        <p:spPr>
          <a:xfrm>
            <a:off x="6245352" y="1280160"/>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E7414"/>
                </a:solidFill>
                <a:latin typeface="Arial"/>
              </a:rPr>
              <a:t>REMEDIATION</a:t>
            </a:r>
          </a:p>
        </p:txBody>
      </p:sp>
      <p:pic>
        <p:nvPicPr>
          <p:cNvPr id="11" name="Picture 10" descr="jmeter-baseline-p500-dashboard.png"/>
          <p:cNvPicPr>
            <a:picLocks noChangeAspect="1"/>
          </p:cNvPicPr>
          <p:nvPr/>
        </p:nvPicPr>
        <p:blipFill>
          <a:blip r:embed="rId2"/>
          <a:stretch>
            <a:fillRect/>
          </a:stretch>
        </p:blipFill>
        <p:spPr>
          <a:xfrm>
            <a:off x="786384" y="2183594"/>
            <a:ext cx="5157216" cy="2627970"/>
          </a:xfrm>
          <a:prstGeom prst="rect">
            <a:avLst/>
          </a:prstGeom>
        </p:spPr>
      </p:pic>
      <p:sp>
        <p:nvSpPr>
          <p:cNvPr id="12" name="Rectangle 11"/>
          <p:cNvSpPr/>
          <p:nvPr/>
        </p:nvSpPr>
        <p:spPr>
          <a:xfrm>
            <a:off x="786384" y="2183594"/>
            <a:ext cx="5157216" cy="262797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jmeter-remediation-p500-dashboard.png"/>
          <p:cNvPicPr>
            <a:picLocks noChangeAspect="1"/>
          </p:cNvPicPr>
          <p:nvPr/>
        </p:nvPicPr>
        <p:blipFill>
          <a:blip r:embed="rId3"/>
          <a:stretch>
            <a:fillRect/>
          </a:stretch>
        </p:blipFill>
        <p:spPr>
          <a:xfrm>
            <a:off x="6236208" y="2136582"/>
            <a:ext cx="5157216" cy="2721994"/>
          </a:xfrm>
          <a:prstGeom prst="rect">
            <a:avLst/>
          </a:prstGeom>
        </p:spPr>
      </p:pic>
      <p:sp>
        <p:nvSpPr>
          <p:cNvPr id="14" name="Rectangle 13"/>
          <p:cNvSpPr/>
          <p:nvPr/>
        </p:nvSpPr>
        <p:spPr>
          <a:xfrm>
            <a:off x="6236208" y="2136582"/>
            <a:ext cx="5157216" cy="2721994"/>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8096" y="5477256"/>
            <a:ext cx="10643616" cy="621792"/>
          </a:xfrm>
          <a:prstGeom prst="roundRect">
            <a:avLst/>
          </a:prstGeom>
          <a:solidFill>
            <a:srgbClr val="E7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541264"/>
            <a:ext cx="10314432" cy="44805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E7414"/>
                </a:solidFill>
                <a:latin typeface="Arial"/>
              </a:rPr>
              <a:t>Fresh total p95 106 → 1547.95 ms · CORE TARGET NOT MET.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E7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BE7414"/>
                </a:solidFill>
                <a:latin typeface="Arial"/>
              </a:rPr>
              <a:t>BACKUP · NATIVE DASHBOARDS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JMeter soak · baseline vs remediation</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Appendix L Figures L.12 and L.17; fresh JMeter summary.json</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BE7414"/>
                </a:solidFill>
                <a:latin typeface="Arial"/>
              </a:rPr>
              <a:t>40</a:t>
            </a:r>
          </a:p>
        </p:txBody>
      </p:sp>
      <p:sp>
        <p:nvSpPr>
          <p:cNvPr id="9" name="TextBox 8"/>
          <p:cNvSpPr txBox="1"/>
          <p:nvPr/>
        </p:nvSpPr>
        <p:spPr>
          <a:xfrm>
            <a:off x="804672" y="1280160"/>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466C"/>
                </a:solidFill>
                <a:latin typeface="Arial"/>
              </a:rPr>
              <a:t>BASELINE</a:t>
            </a:r>
          </a:p>
        </p:txBody>
      </p:sp>
      <p:sp>
        <p:nvSpPr>
          <p:cNvPr id="10" name="TextBox 9"/>
          <p:cNvSpPr txBox="1"/>
          <p:nvPr/>
        </p:nvSpPr>
        <p:spPr>
          <a:xfrm>
            <a:off x="6245352" y="1280160"/>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E7414"/>
                </a:solidFill>
                <a:latin typeface="Arial"/>
              </a:rPr>
              <a:t>REMEDIATION</a:t>
            </a:r>
          </a:p>
        </p:txBody>
      </p:sp>
      <p:pic>
        <p:nvPicPr>
          <p:cNvPr id="11" name="Picture 10" descr="jmeter-baseline-soak-dashboard.png"/>
          <p:cNvPicPr>
            <a:picLocks noChangeAspect="1"/>
          </p:cNvPicPr>
          <p:nvPr/>
        </p:nvPicPr>
        <p:blipFill>
          <a:blip r:embed="rId2"/>
          <a:stretch>
            <a:fillRect/>
          </a:stretch>
        </p:blipFill>
        <p:spPr>
          <a:xfrm>
            <a:off x="786384" y="2183594"/>
            <a:ext cx="5157216" cy="2627970"/>
          </a:xfrm>
          <a:prstGeom prst="rect">
            <a:avLst/>
          </a:prstGeom>
        </p:spPr>
      </p:pic>
      <p:sp>
        <p:nvSpPr>
          <p:cNvPr id="12" name="Rectangle 11"/>
          <p:cNvSpPr/>
          <p:nvPr/>
        </p:nvSpPr>
        <p:spPr>
          <a:xfrm>
            <a:off x="786384" y="2183594"/>
            <a:ext cx="5157216" cy="262797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jmeter-remediation-soak-dashboard.png"/>
          <p:cNvPicPr>
            <a:picLocks noChangeAspect="1"/>
          </p:cNvPicPr>
          <p:nvPr/>
        </p:nvPicPr>
        <p:blipFill>
          <a:blip r:embed="rId3"/>
          <a:stretch>
            <a:fillRect/>
          </a:stretch>
        </p:blipFill>
        <p:spPr>
          <a:xfrm>
            <a:off x="6236208" y="2136582"/>
            <a:ext cx="5157216" cy="2721994"/>
          </a:xfrm>
          <a:prstGeom prst="rect">
            <a:avLst/>
          </a:prstGeom>
        </p:spPr>
      </p:pic>
      <p:sp>
        <p:nvSpPr>
          <p:cNvPr id="14" name="Rectangle 13"/>
          <p:cNvSpPr/>
          <p:nvPr/>
        </p:nvSpPr>
        <p:spPr>
          <a:xfrm>
            <a:off x="6236208" y="2136582"/>
            <a:ext cx="5157216" cy="2721994"/>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8096" y="5477256"/>
            <a:ext cx="10643616" cy="621792"/>
          </a:xfrm>
          <a:prstGeom prst="roundRect">
            <a:avLst/>
          </a:prstGeom>
          <a:solidFill>
            <a:srgbClr val="E7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541264"/>
            <a:ext cx="10314432" cy="44805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E7414"/>
                </a:solidFill>
                <a:latin typeface="Arial"/>
              </a:rPr>
              <a:t>Fresh total p95 443.95 → 171 ms · SOAK p95 LOWER.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E7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BE7414"/>
                </a:solidFill>
                <a:latin typeface="Arial"/>
              </a:rPr>
              <a:t>BACKUP · NATIVE DASHBOARDS</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JMeter spike · baseline vs remediation</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Appendix L Figures L.13 and L.18; fresh JMeter summary.json</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BE7414"/>
                </a:solidFill>
                <a:latin typeface="Arial"/>
              </a:rPr>
              <a:t>41</a:t>
            </a:r>
          </a:p>
        </p:txBody>
      </p:sp>
      <p:sp>
        <p:nvSpPr>
          <p:cNvPr id="9" name="TextBox 8"/>
          <p:cNvSpPr txBox="1"/>
          <p:nvPr/>
        </p:nvSpPr>
        <p:spPr>
          <a:xfrm>
            <a:off x="804672" y="1280160"/>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24466C"/>
                </a:solidFill>
                <a:latin typeface="Arial"/>
              </a:rPr>
              <a:t>BASELINE</a:t>
            </a:r>
          </a:p>
        </p:txBody>
      </p:sp>
      <p:sp>
        <p:nvSpPr>
          <p:cNvPr id="10" name="TextBox 9"/>
          <p:cNvSpPr txBox="1"/>
          <p:nvPr/>
        </p:nvSpPr>
        <p:spPr>
          <a:xfrm>
            <a:off x="6245352" y="1280160"/>
            <a:ext cx="5138928" cy="31089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E7414"/>
                </a:solidFill>
                <a:latin typeface="Arial"/>
              </a:rPr>
              <a:t>REMEDIATION</a:t>
            </a:r>
          </a:p>
        </p:txBody>
      </p:sp>
      <p:pic>
        <p:nvPicPr>
          <p:cNvPr id="11" name="Picture 10" descr="jmeter-baseline-spike-dashboard.png"/>
          <p:cNvPicPr>
            <a:picLocks noChangeAspect="1"/>
          </p:cNvPicPr>
          <p:nvPr/>
        </p:nvPicPr>
        <p:blipFill>
          <a:blip r:embed="rId2"/>
          <a:stretch>
            <a:fillRect/>
          </a:stretch>
        </p:blipFill>
        <p:spPr>
          <a:xfrm>
            <a:off x="786384" y="2136582"/>
            <a:ext cx="5157216" cy="2721994"/>
          </a:xfrm>
          <a:prstGeom prst="rect">
            <a:avLst/>
          </a:prstGeom>
        </p:spPr>
      </p:pic>
      <p:sp>
        <p:nvSpPr>
          <p:cNvPr id="12" name="Rectangle 11"/>
          <p:cNvSpPr/>
          <p:nvPr/>
        </p:nvSpPr>
        <p:spPr>
          <a:xfrm>
            <a:off x="786384" y="2136582"/>
            <a:ext cx="5157216" cy="2721994"/>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jmeter-remediation-spike-dashboard.png"/>
          <p:cNvPicPr>
            <a:picLocks noChangeAspect="1"/>
          </p:cNvPicPr>
          <p:nvPr/>
        </p:nvPicPr>
        <p:blipFill>
          <a:blip r:embed="rId3"/>
          <a:stretch>
            <a:fillRect/>
          </a:stretch>
        </p:blipFill>
        <p:spPr>
          <a:xfrm>
            <a:off x="6236208" y="2136582"/>
            <a:ext cx="5157216" cy="2721994"/>
          </a:xfrm>
          <a:prstGeom prst="rect">
            <a:avLst/>
          </a:prstGeom>
        </p:spPr>
      </p:pic>
      <p:sp>
        <p:nvSpPr>
          <p:cNvPr id="14" name="Rectangle 13"/>
          <p:cNvSpPr/>
          <p:nvPr/>
        </p:nvSpPr>
        <p:spPr>
          <a:xfrm>
            <a:off x="6236208" y="2136582"/>
            <a:ext cx="5157216" cy="2721994"/>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8096" y="5477256"/>
            <a:ext cx="10643616" cy="621792"/>
          </a:xfrm>
          <a:prstGeom prst="roundRect">
            <a:avLst/>
          </a:prstGeom>
          <a:solidFill>
            <a:srgbClr val="E7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541264"/>
            <a:ext cx="10314432" cy="448056"/>
          </a:xfrm>
          <a:prstGeom prst="rect">
            <a:avLst/>
          </a:prstGeom>
          <a:noFill/>
        </p:spPr>
        <p:txBody>
          <a:bodyPr wrap="square" lIns="18288" rIns="18288" tIns="18288" bIns="18288" anchor="ctr">
            <a:spAutoFit/>
          </a:bodyPr>
          <a:lstStyle/>
          <a:p>
            <a:pPr algn="l">
              <a:spcBef>
                <a:spcPts val="0"/>
              </a:spcBef>
              <a:spcAft>
                <a:spcPts val="0"/>
              </a:spcAft>
            </a:pPr>
            <a:r>
              <a:rPr sz="1700" b="1">
                <a:solidFill>
                  <a:srgbClr val="BE7414"/>
                </a:solidFill>
                <a:latin typeface="Arial"/>
              </a:rPr>
              <a:t>Fresh total p95 33401.8 → 4730.85 ms · SPIKE p95 LOWER.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4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24466C"/>
                </a:solidFill>
                <a:latin typeface="Arial"/>
              </a:rPr>
              <a:t>BACKUP · APPLICATION 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App screens—not load-test data</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Figures 4.2 and 4.3</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24466C"/>
                </a:solidFill>
                <a:latin typeface="Arial"/>
              </a:rPr>
              <a:t>42</a:t>
            </a:r>
          </a:p>
        </p:txBody>
      </p:sp>
      <p:pic>
        <p:nvPicPr>
          <p:cNvPr id="9" name="Picture 8" descr="02-dashboard-admin.png"/>
          <p:cNvPicPr>
            <a:picLocks noChangeAspect="1"/>
          </p:cNvPicPr>
          <p:nvPr/>
        </p:nvPicPr>
        <p:blipFill>
          <a:blip r:embed="rId2"/>
          <a:stretch>
            <a:fillRect/>
          </a:stretch>
        </p:blipFill>
        <p:spPr>
          <a:xfrm>
            <a:off x="777240" y="1827149"/>
            <a:ext cx="5166360" cy="3587750"/>
          </a:xfrm>
          <a:prstGeom prst="rect">
            <a:avLst/>
          </a:prstGeom>
        </p:spPr>
      </p:pic>
      <p:sp>
        <p:nvSpPr>
          <p:cNvPr id="10" name="Rectangle 9"/>
          <p:cNvSpPr/>
          <p:nvPr/>
        </p:nvSpPr>
        <p:spPr>
          <a:xfrm>
            <a:off x="777240" y="1827149"/>
            <a:ext cx="5166360" cy="358775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3-reports-trial-balance.png"/>
          <p:cNvPicPr>
            <a:picLocks noChangeAspect="1"/>
          </p:cNvPicPr>
          <p:nvPr/>
        </p:nvPicPr>
        <p:blipFill>
          <a:blip r:embed="rId3"/>
          <a:srcRect b="70326"/>
          <a:stretch>
            <a:fillRect/>
          </a:stretch>
        </p:blipFill>
        <p:spPr>
          <a:xfrm>
            <a:off x="6236208" y="1827149"/>
            <a:ext cx="5166360" cy="3587750"/>
          </a:xfrm>
          <a:prstGeom prst="rect">
            <a:avLst/>
          </a:prstGeom>
        </p:spPr>
      </p:pic>
      <p:sp>
        <p:nvSpPr>
          <p:cNvPr id="12" name="Rectangle 11"/>
          <p:cNvSpPr/>
          <p:nvPr/>
        </p:nvSpPr>
        <p:spPr>
          <a:xfrm>
            <a:off x="6236208" y="1827149"/>
            <a:ext cx="5166360" cy="358775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5669280"/>
            <a:ext cx="5093208" cy="356616"/>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24466C"/>
                </a:solidFill>
                <a:latin typeface="Arial"/>
              </a:rPr>
              <a:t>Admin dashboard</a:t>
            </a:r>
          </a:p>
        </p:txBody>
      </p:sp>
      <p:sp>
        <p:nvSpPr>
          <p:cNvPr id="14" name="TextBox 13"/>
          <p:cNvSpPr txBox="1"/>
          <p:nvPr/>
        </p:nvSpPr>
        <p:spPr>
          <a:xfrm>
            <a:off x="6281928" y="5669280"/>
            <a:ext cx="5093208" cy="356616"/>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24466C"/>
                </a:solidFill>
                <a:latin typeface="Arial"/>
              </a:rPr>
              <a:t>Trial-balance report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4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24466C"/>
                </a:solidFill>
                <a:latin typeface="Arial"/>
              </a:rPr>
              <a:t>BACKUP · APPLICATION 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Application: audit and role restrictions</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Figures 4.4 and 4.5</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24466C"/>
                </a:solidFill>
                <a:latin typeface="Arial"/>
              </a:rPr>
              <a:t>43</a:t>
            </a:r>
          </a:p>
        </p:txBody>
      </p:sp>
      <p:pic>
        <p:nvPicPr>
          <p:cNvPr id="9" name="Picture 8" descr="04-audit-logs.png"/>
          <p:cNvPicPr>
            <a:picLocks noChangeAspect="1"/>
          </p:cNvPicPr>
          <p:nvPr/>
        </p:nvPicPr>
        <p:blipFill>
          <a:blip r:embed="rId2"/>
          <a:stretch>
            <a:fillRect/>
          </a:stretch>
        </p:blipFill>
        <p:spPr>
          <a:xfrm>
            <a:off x="777240" y="1827149"/>
            <a:ext cx="5166360" cy="3587750"/>
          </a:xfrm>
          <a:prstGeom prst="rect">
            <a:avLst/>
          </a:prstGeom>
        </p:spPr>
      </p:pic>
      <p:sp>
        <p:nvSpPr>
          <p:cNvPr id="10" name="Rectangle 9"/>
          <p:cNvSpPr/>
          <p:nvPr/>
        </p:nvSpPr>
        <p:spPr>
          <a:xfrm>
            <a:off x="777240" y="1827149"/>
            <a:ext cx="5166360" cy="358775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5-auditor-role-view.png"/>
          <p:cNvPicPr>
            <a:picLocks noChangeAspect="1"/>
          </p:cNvPicPr>
          <p:nvPr/>
        </p:nvPicPr>
        <p:blipFill>
          <a:blip r:embed="rId3"/>
          <a:srcRect b="57841"/>
          <a:stretch>
            <a:fillRect/>
          </a:stretch>
        </p:blipFill>
        <p:spPr>
          <a:xfrm>
            <a:off x="6236208" y="1827149"/>
            <a:ext cx="5166360" cy="3587750"/>
          </a:xfrm>
          <a:prstGeom prst="rect">
            <a:avLst/>
          </a:prstGeom>
        </p:spPr>
      </p:pic>
      <p:sp>
        <p:nvSpPr>
          <p:cNvPr id="12" name="Rectangle 11"/>
          <p:cNvSpPr/>
          <p:nvPr/>
        </p:nvSpPr>
        <p:spPr>
          <a:xfrm>
            <a:off x="6236208" y="1827149"/>
            <a:ext cx="5166360" cy="358775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5669280"/>
            <a:ext cx="5093208" cy="356616"/>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24466C"/>
                </a:solidFill>
                <a:latin typeface="Arial"/>
              </a:rPr>
              <a:t>Audit-log view</a:t>
            </a:r>
          </a:p>
        </p:txBody>
      </p:sp>
      <p:sp>
        <p:nvSpPr>
          <p:cNvPr id="14" name="TextBox 13"/>
          <p:cNvSpPr txBox="1"/>
          <p:nvPr/>
        </p:nvSpPr>
        <p:spPr>
          <a:xfrm>
            <a:off x="6281928" y="5669280"/>
            <a:ext cx="5093208" cy="356616"/>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24466C"/>
                </a:solidFill>
                <a:latin typeface="Arial"/>
              </a:rPr>
              <a:t>Auditor navigation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44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5216" y="201168"/>
            <a:ext cx="10881360" cy="219456"/>
          </a:xfrm>
          <a:prstGeom prst="rect">
            <a:avLst/>
          </a:prstGeom>
          <a:noFill/>
        </p:spPr>
        <p:txBody>
          <a:bodyPr wrap="square" lIns="18288" rIns="18288" tIns="18288" bIns="18288" anchor="ctr">
            <a:spAutoFit/>
          </a:bodyPr>
          <a:lstStyle/>
          <a:p>
            <a:pPr algn="l">
              <a:spcBef>
                <a:spcPts val="0"/>
              </a:spcBef>
              <a:spcAft>
                <a:spcPts val="0"/>
              </a:spcAft>
            </a:pPr>
            <a:r>
              <a:rPr sz="1100" b="1">
                <a:solidFill>
                  <a:srgbClr val="24466C"/>
                </a:solidFill>
                <a:latin typeface="Arial"/>
              </a:rPr>
              <a:t>BACKUP · APPLICATION EVIDENCE</a:t>
            </a:r>
          </a:p>
        </p:txBody>
      </p:sp>
      <p:sp>
        <p:nvSpPr>
          <p:cNvPr id="4" name="TextBox 3"/>
          <p:cNvSpPr txBox="1"/>
          <p:nvPr/>
        </p:nvSpPr>
        <p:spPr>
          <a:xfrm>
            <a:off x="585216" y="502920"/>
            <a:ext cx="10972800" cy="530352"/>
          </a:xfrm>
          <a:prstGeom prst="rect">
            <a:avLst/>
          </a:prstGeom>
          <a:noFill/>
        </p:spPr>
        <p:txBody>
          <a:bodyPr wrap="square" lIns="18288" rIns="18288" tIns="18288" bIns="18288" anchor="ctr">
            <a:spAutoFit/>
          </a:bodyPr>
          <a:lstStyle/>
          <a:p>
            <a:pPr algn="l">
              <a:spcBef>
                <a:spcPts val="0"/>
              </a:spcBef>
              <a:spcAft>
                <a:spcPts val="0"/>
              </a:spcAft>
            </a:pPr>
            <a:r>
              <a:rPr sz="2900" b="1">
                <a:solidFill>
                  <a:srgbClr val="252B33"/>
                </a:solidFill>
                <a:latin typeface="Arial"/>
              </a:rPr>
              <a:t>Application: evidence and balanced journal lines</a:t>
            </a:r>
          </a:p>
        </p:txBody>
      </p:sp>
      <p:cxnSp>
        <p:nvCxnSpPr>
          <p:cNvPr id="5" name="Connector 4"/>
          <p:cNvCxnSpPr/>
          <p:nvPr/>
        </p:nvCxnSpPr>
        <p:spPr>
          <a:xfrm>
            <a:off x="585216" y="107899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85216" y="6428232"/>
            <a:ext cx="11000232" cy="0"/>
          </a:xfrm>
          <a:prstGeom prst="line">
            <a:avLst/>
          </a:prstGeom>
          <a:ln w="12700">
            <a:solidFill>
              <a:srgbClr val="D8E0E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5216" y="6473952"/>
            <a:ext cx="10424160" cy="182880"/>
          </a:xfrm>
          <a:prstGeom prst="rect">
            <a:avLst/>
          </a:prstGeom>
          <a:noFill/>
        </p:spPr>
        <p:txBody>
          <a:bodyPr wrap="square" lIns="18288" rIns="18288" tIns="18288" bIns="18288" anchor="ctr">
            <a:spAutoFit/>
          </a:bodyPr>
          <a:lstStyle/>
          <a:p>
            <a:pPr algn="l">
              <a:spcBef>
                <a:spcPts val="0"/>
              </a:spcBef>
              <a:spcAft>
                <a:spcPts val="0"/>
              </a:spcAft>
            </a:pPr>
            <a:r>
              <a:rPr sz="1000" b="0">
                <a:solidFill>
                  <a:srgbClr val="5B6874"/>
                </a:solidFill>
                <a:latin typeface="Arial"/>
              </a:rPr>
              <a:t>Current report Figures 4.6 and 4.7</a:t>
            </a:r>
          </a:p>
        </p:txBody>
      </p:sp>
      <p:sp>
        <p:nvSpPr>
          <p:cNvPr id="8" name="TextBox 7"/>
          <p:cNvSpPr txBox="1"/>
          <p:nvPr/>
        </p:nvSpPr>
        <p:spPr>
          <a:xfrm>
            <a:off x="11119104" y="6473952"/>
            <a:ext cx="438912" cy="182880"/>
          </a:xfrm>
          <a:prstGeom prst="rect">
            <a:avLst/>
          </a:prstGeom>
          <a:noFill/>
        </p:spPr>
        <p:txBody>
          <a:bodyPr wrap="square" lIns="18288" rIns="18288" tIns="18288" bIns="18288" anchor="ctr">
            <a:spAutoFit/>
          </a:bodyPr>
          <a:lstStyle/>
          <a:p>
            <a:pPr algn="r">
              <a:spcBef>
                <a:spcPts val="0"/>
              </a:spcBef>
              <a:spcAft>
                <a:spcPts val="0"/>
              </a:spcAft>
            </a:pPr>
            <a:r>
              <a:rPr sz="1100" b="1">
                <a:solidFill>
                  <a:srgbClr val="24466C"/>
                </a:solidFill>
                <a:latin typeface="Arial"/>
              </a:rPr>
              <a:t>44</a:t>
            </a:r>
          </a:p>
        </p:txBody>
      </p:sp>
      <p:pic>
        <p:nvPicPr>
          <p:cNvPr id="9" name="Picture 8" descr="06-research-evidence.png"/>
          <p:cNvPicPr>
            <a:picLocks noChangeAspect="1"/>
          </p:cNvPicPr>
          <p:nvPr/>
        </p:nvPicPr>
        <p:blipFill>
          <a:blip r:embed="rId2"/>
          <a:stretch>
            <a:fillRect/>
          </a:stretch>
        </p:blipFill>
        <p:spPr>
          <a:xfrm>
            <a:off x="777240" y="1827149"/>
            <a:ext cx="5166360" cy="3587750"/>
          </a:xfrm>
          <a:prstGeom prst="rect">
            <a:avLst/>
          </a:prstGeom>
        </p:spPr>
      </p:pic>
      <p:sp>
        <p:nvSpPr>
          <p:cNvPr id="10" name="Rectangle 9"/>
          <p:cNvSpPr/>
          <p:nvPr/>
        </p:nvSpPr>
        <p:spPr>
          <a:xfrm>
            <a:off x="777240" y="1827149"/>
            <a:ext cx="5166360" cy="358775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7-journal-entry-details.png"/>
          <p:cNvPicPr>
            <a:picLocks noChangeAspect="1"/>
          </p:cNvPicPr>
          <p:nvPr/>
        </p:nvPicPr>
        <p:blipFill>
          <a:blip r:embed="rId3"/>
          <a:srcRect b="60175"/>
          <a:stretch>
            <a:fillRect/>
          </a:stretch>
        </p:blipFill>
        <p:spPr>
          <a:xfrm>
            <a:off x="6236208" y="1827149"/>
            <a:ext cx="5166360" cy="3587750"/>
          </a:xfrm>
          <a:prstGeom prst="rect">
            <a:avLst/>
          </a:prstGeom>
        </p:spPr>
      </p:pic>
      <p:sp>
        <p:nvSpPr>
          <p:cNvPr id="12" name="Rectangle 11"/>
          <p:cNvSpPr/>
          <p:nvPr/>
        </p:nvSpPr>
        <p:spPr>
          <a:xfrm>
            <a:off x="6236208" y="1827149"/>
            <a:ext cx="5166360" cy="3587750"/>
          </a:xfrm>
          <a:prstGeom prst="rect">
            <a:avLst/>
          </a:prstGeom>
          <a:noFill/>
          <a:ln w="12700">
            <a:solidFill>
              <a:srgbClr val="D8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5669280"/>
            <a:ext cx="5093208" cy="356616"/>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24466C"/>
                </a:solidFill>
                <a:latin typeface="Arial"/>
              </a:rPr>
              <a:t>Research-evidence map</a:t>
            </a:r>
          </a:p>
        </p:txBody>
      </p:sp>
      <p:sp>
        <p:nvSpPr>
          <p:cNvPr id="14" name="TextBox 13"/>
          <p:cNvSpPr txBox="1"/>
          <p:nvPr/>
        </p:nvSpPr>
        <p:spPr>
          <a:xfrm>
            <a:off x="6281928" y="5669280"/>
            <a:ext cx="5093208" cy="356616"/>
          </a:xfrm>
          <a:prstGeom prst="rect">
            <a:avLst/>
          </a:prstGeom>
          <a:noFill/>
        </p:spPr>
        <p:txBody>
          <a:bodyPr wrap="square" lIns="18288" rIns="18288" tIns="18288" bIns="18288" anchor="ctr">
            <a:spAutoFit/>
          </a:bodyPr>
          <a:lstStyle/>
          <a:p>
            <a:pPr algn="l">
              <a:spcBef>
                <a:spcPts val="0"/>
              </a:spcBef>
              <a:spcAft>
                <a:spcPts val="0"/>
              </a:spcAft>
            </a:pPr>
            <a:r>
              <a:rPr sz="1600" b="1">
                <a:solidFill>
                  <a:srgbClr val="24466C"/>
                </a:solidFill>
                <a:latin typeface="Arial"/>
              </a:rPr>
              <a:t>Expanded debit and credit lines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Thesis Defense - Current Fresh Results</dc:title>
  <dc:subject>Branch-isolated evidence for financial accounting API remediation</dc:subject>
  <dc:creator>Zaw Ye Htut Ko</dc:creator>
  <cp:keywords>SonarQube, OWASP ZAP, JMeter, Codex 5.4, financial API</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