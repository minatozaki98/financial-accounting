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B93A3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Retained findings</c:v>
                  </c:pt>
                  <c:pt idx="1">
                    <c:v>Code smells</c:v>
                  </c:pt>
                </c:lvl>
              </c:multiLvlStrCache>
            </c:multiLvlStrRef>
          </c:cat>
          <c:val>
            <c:numRef>
              <c:f>Sheet1!$B$2:$B$3</c:f>
              <c:numCache>
                <c:formatCode>General</c:formatCode>
                <c:ptCount val="2"/>
                <c:pt idx="0">
                  <c:v>28</c:v>
                </c:pt>
                <c:pt idx="1">
                  <c:v>21</c:v>
                </c:pt>
              </c:numCache>
            </c:numRef>
          </c:val>
        </c:ser>
        <c:ser>
          <c:idx val="1"/>
          <c:order val="1"/>
          <c:tx>
            <c:strRef>
              <c:f>Sheet1!$C$1</c:f>
              <c:strCache>
                <c:ptCount val="1"/>
                <c:pt idx="0">
                  <c:v>After</c:v>
                </c:pt>
              </c:strCache>
            </c:strRef>
          </c:tx>
          <c:spPr>
            <a:solidFill>
              <a:srgbClr val="2F7D4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Retained findings</c:v>
                  </c:pt>
                  <c:pt idx="1">
                    <c:v>Code smells</c:v>
                  </c:pt>
                </c:lvl>
              </c:multiLvlStrCache>
            </c:multiLvlStrRef>
          </c:cat>
          <c:val>
            <c:numRef>
              <c:f>Sheet1!$C$2:$C$3</c:f>
              <c:numCache>
                <c:formatCode>General</c:formatCode>
                <c:ptCount val="2"/>
                <c:pt idx="0">
                  <c:v>0</c:v>
                </c:pt>
                <c:pt idx="1">
                  <c:v>0</c:v>
                </c:pt>
              </c:numCache>
            </c:numRef>
          </c:val>
        </c:ser>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D9DE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p95 reduction</c:v>
                </c:pt>
              </c:strCache>
            </c:strRef>
          </c:tx>
          <c:spPr>
            <a:solidFill>
              <a:srgbClr val="C47B12"/>
            </a:solidFill>
            <a:effectLst/>
          </c:spPr>
          <c:invertIfNegative val="0"/>
          <c:dLbls>
            <c:numFmt formatCode="0.0&quot;%&quot;"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p50</c:v>
                  </c:pt>
                  <c:pt idx="1">
                    <c:v>p100</c:v>
                  </c:pt>
                  <c:pt idx="2">
                    <c:v>p500</c:v>
                  </c:pt>
                  <c:pt idx="3">
                    <c:v>Soak</c:v>
                  </c:pt>
                  <c:pt idx="4">
                    <c:v>Spike</c:v>
                  </c:pt>
                </c:lvl>
              </c:multiLvlStrCache>
            </c:multiLvlStrRef>
          </c:cat>
          <c:val>
            <c:numRef>
              <c:f>Sheet1!$B$2:$B$6</c:f>
              <c:numCache>
                <c:formatCode>General</c:formatCode>
                <c:ptCount val="5"/>
                <c:pt idx="0">
                  <c:v>73.7</c:v>
                </c:pt>
                <c:pt idx="1">
                  <c:v>87</c:v>
                </c:pt>
                <c:pt idx="2">
                  <c:v>84.1</c:v>
                </c:pt>
                <c:pt idx="3">
                  <c:v>94.2</c:v>
                </c:pt>
                <c:pt idx="4">
                  <c:v>79.1</c:v>
                </c:pt>
              </c:numCache>
            </c:numRef>
          </c:val>
        </c:ser>
        <c:dLbls>
          <c:numFmt formatCode="0.0&quot;%&quot;"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D9DEE5"/>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45 seconds
KEY MESSAGE: This study evaluates AI-assisted remediation through measured software evidence, not trust in generated code.
SCRIPT:
Good morning, and thank you for the opportunity to present my final thesis. My research investigates whether ChatGPT, used through the Codex coding environment, can help improve a financial accounting RESTful API in three measurable areas: code quality, security, and performance. The important point is that the model is not treated as an autonomous developer. It acts as an advisor. Every accepted change is reviewed by a human, isolated on a Git branch, and verified with the same tool that identified the original problem. Today I will explain the method, the measured results, the limitations, and the later GPT-5.4 versus GPT-5.5 comparison.
TRANSITION: I will begin with the structure of the defense and the practical problem behind the study.
CAUTION: Do not say that ChatGPT independently fixed the system.
EVIDENCE: Report title page | Abstract, 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45 seconds
KEY MESSAGE: The defense moves from problem to method, evidence, comparison, and defensible conclusion.
SCRIPT:
The presentation follows five stages. First, I will define the practical problem and research gap. Second, I will explain the branch-isolated research design and the evaluation tools. Third, I will present the measured SonarQube, OWASP ZAP, and JMeter results. Fourth, I will discuss the GPT-5.4 versus GPT-5.5 comparison and the controlled new-API retest. Finally, I will state the contributions, limitations, and conclusion. Detailed branch, endpoint, and metric evidence is available in the appendix if the committee would like to inspect it during questions.
TRANSITION: The starting point is a practical software-engineering problem in financial APIs.
CAUTION: Keep this slide under one minute.
EVIDENCE: Report chapters 1, 3, 4, and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Security, performance, and maintainability failures require different evidence and must be improved without breaking accounting behavior.
SCRIPT:
A financial API can fail in three different ways. First, a security weakness can expose identities, balances, or audit records. Second, a performance bottleneck can make reporting or posting unusable under load. Third, maintainability problems make future defects more likely and slow down remediation. These failures are detected by different tools and normally handled in separate workflows. The research asks whether an LLM can help interpret all three classes of evidence while preserving essential accounting rules, authorization boundaries, audit semantics, and regression tests. This is a harder and more realistic question than asking whether an AI can generate code that compiles.
TRANSITION: Existing research covers code generation extensively, but this tool-guided remediation workflow is less studied.
CAUTION: Do not imply that static-analysis findings are equivalent to exploitable vulnerabilities.
EVIDENCE: Sections 1.1-1.4, pp. 9-11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Most LLM-for-software-engineering work emphasizes generation; this study evaluates scanner-guided remediation across three independent gates.
SCRIPT:
The literature shows strong interest in code generation, code completion, and developer productivity. It also warns that generated code can introduce weaknesses when accepted without review. A smaller area of research is using an LLM as an advisor that receives structured findings from static analysis, security scanning, and load testing, then proposes fixes that are independently remeasured. This thesis addresses that gap with one financial ASP.NET Core API and a combined three-tool workflow. The contribution is therefore not a new AI model. It is an evidence-controlled way to evaluate AI-assisted remediation in a realistic codebase.
TRANSITION: From that gap, the study defines three direct research questions.
CAUTION: Describe the contribution as a workflow and empirical case study, not a universal theory.
EVIDENCE: Literature review, pp. 12-27 | Chapter 3 overview, p.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The study tests measurable change in code quality, security, and performance under a controlled acceptance workflow.
SCRIPT:
The research questions align directly with the three evaluation tools. RQ1 asks whether SonarQube findings can be reduced while quality gate, coverage, and duplication do not regress. RQ2 asks whether ZAP High, Medium, and Low alerts on business endpoints can be cleared while authentication and role-based authorization continue to work. RQ3 asks whether JMeter p95 and p99 latency improve across normal, soak, and spike profiles while error rate remains acceptable. This direct mapping is important because the conclusions are based on observable measures, not the model's own explanation of its changes.
TRANSITION: To answer these questions, I used a production-complexity accounting API as the unit of analysis.
CAUTION: Do not introduce developer-productivity claims; no human-subject productivity study was performed.
EVIDENCE: Sections 1.5.1-1.5.2, p. 11 | Table 4.1, p.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70 seconds
KEY MESSAGE: The unit of analysis covers complete accounting workflows rather than a toy endpoint.
SCRIPT:
The system under study is an ASP.NET Core 8 financial accounting API backed by SQL Server. Its endpoint groups include authentication, users, chart of accounts, journal entries, accounting periods, trial balance, profit and loss, balance sheet, account ledger, and audit logs. This scope matters because the system includes read and write operations, bulk posting, protected administrative actions, financial calculations, and auditability. A React and Vite client was later added as a live validation artifact, but the measured security and performance conclusions come from the API tools, not from the user interface.
TRANSITION: The central control is that each class of remediation is isolated from the same baseline.
CAUTION: Call it production-complexity, not a deployed production banking system.
EVIDENCE: API scope, pp. 28-32 | Section 4.6, p. 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80 seconds
KEY MESSAGE: Every tool-specific result is compared against the same baseline on an isolated branch.
SCRIPT:
The baseline branch is baseline-v0.1. Static-analysis fixes are applied only on baseline-sonarqube-v1, security fixes only on baseline-zap-v1, and performance fixes only on baseline-jmeter-v1. Each branch is remeasured with the same tool that produced its baseline evidence. The runtime, SQL Server database, host, and seeded data are kept consistent. This design improves attribution because a SonarQube change cannot be credited for a JMeter result from a different branch. It does not create a randomized experiment, but it is a stronger control than applying every suggestion to one changing branch.
TRANSITION: The work on each branch follows the same four-phase evidence cycle.
CAUTION: Use 'supports attribution' rather than 'proves causation.'
EVIDENCE: Section 3.1, p. 28 | Table 3.1, p. 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The workflow accepts a fix only after the original measurement is repeated.
SCRIPT:
The workflow has four phases. First, capture the baseline and preserve the raw tool finding. Second, provide the finding and relevant source context to ChatGPT or Codex and obtain a candidate fix. Third, a human reviews the recommendation, applies only the acceptable change, and runs focused regression tests. Fourth, the same measurement tool is rerun and the before-and-after evidence is compared. Failed or inapplicable recommendations are not counted as improvements. This scanner-gated loop is the operational contribution of the study and is reusable in a CI/CD review process.
TRANSITION: The environment and seeded data were held constant so those comparisons were repeatable.
CAUTION: The diagram describes acceptance control, not full automation.
EVIDENCE: Table 3.1, p. 29 | Prompt and human-effort traceability, pp. 37-38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70 seconds
KEY MESSAGE: All comparisons used one fixed local environment and a repeatable accounting dataset.
SCRIPT:
All main comparisons used the same Windows 11 host, ASP.NET Core 8 runtime, local SQL Server Financial database, and seeded data process. The dataset contains 120 accounts, 30,000 journal entries, and at least 5,000 posted entries for report-generation paths. The authenticated roles are Admin, FinanceManager, User, and Auditor. JMeter runs in a fixed version 5.5 container, and ZAP uses the stable container image. This environment is repeatable, but it is still one local machine, so absolute latency values should not be generalized to cloud deployment performance.
TRANSITION: Within that environment, five independent gates decide whether a change is acceptable.
CAUTION: Do not describe the seeded data as a public financial dataset or real customer data.
EVIDENCE: Table 3.2, p. 29 | Dataset description, pp. 30 and 38-39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No single metric is allowed to stand in for overall software quality.
SCRIPT:
Five gates are combined. SonarQube measures retained findings, code smells, coverage, duplication, and quality-gate status. OWASP ZAP measures baseline and authenticated alert severity and affected endpoints. JMeter measures average, p95, p99, throughput, error rate, soak behavior, and spike recovery. Dotnet tests check functional regressions, and Git branch and commit evidence preserves traceability. The study does not treat a clean SonarQube result as proof of security, or faster latency as proof of correctness. The tools answer different questions and must be interpreted together.
TRANSITION: The model sits inside this gate structure as an advisor, not as the final decision-maker.
CAUTION: Never merge SonarQube, ZAP, and JMeter into one unsupported composite score.
EVIDENCE: Sections 4.1-4.4, pp. 43-48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Human review, accounting invariants, and remeasurement bound the model's role.
SCRIPT:
The model receives the raw finding, relevant source files, and explicit constraints. It proposes a candidate patch. The human developer checks authorization, validation, idempotency, concurrency, audit writes, accounting periods, balancing, reconciliation, database consistency, and public contracts before accepting the change. Focused tests are run, followed by the original measurement tool. This design reduces the risk of plausible but incorrect AI recommendations. It also means the thesis evaluates an AI-assisted engineering process, not the model in isolation from human judgment.
TRANSITION: With the method established, I will now present the three measured result streams.
CAUTION: Avoid saying the model understood accounting rules; the workflow enforced them.
EVIDENCE: Sections 3.1.3-3.1.4, p. 37 | Section 4.5.4, p. 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85 seconds
KEY MESSAGE: Retained findings fell from 28 to 0 while measured coverage and duplication remained stable.
SCRIPT:
SonarQube provides the cleanest closure result. Retained C# findings decreased from 28 to zero. Code smells decreased from 21 to zero, while bugs, vulnerabilities, and security hotspots stayed at zero. The final quality gate was OK. Coverage remained 74.3 percent and duplicated-line density remained zero, so the improvement was not achieved by removing tests or duplicating code. Representative changes included replacing a long controller signature with a request DTO, using asynchronous application startup, replacing repeated literals with named constants, and cleaning infrastructure templates.
TRANSITION: Static quality closed cleanly; the security result requires a separate interpretation of gated and informational alerts.
CAUTION: Do not call the 28 retained findings 28 vulnerabilities; 21 were code smells.
EVIDENCE: Tables 4.2-4.4, p. 44 | Section 4.1.4, p. 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85 seconds
KEY MESSAGE: All gated High, Medium, and Low business-endpoint alerts were cleared; informational observations remained reportable.
SCRIPT:
ZAP was run in passive baseline mode and authenticated API mode. In the baseline scan, Medium alerts decreased from two to zero and Low alerts from six to zero. In the authenticated scan, Low alerts decreased from three to zero. High alerts were zero before and after. Informational observations remained and are reported rather than hidden. The main fixes involved applying security headers before Swagger and OpenAPI middleware, reducing exposed diagnostic UI surface, and updating vulnerable dependencies. The defensible claim is that the pre-registered High, Medium, and Low gate was met on business endpoints, not that every possible security weakness was eliminated.
TRANSITION: Performance was evaluated separately across normal, sustained, and burst workloads.
CAUTION: Say 'gated business-endpoint alerts,' not 'the API is completely secure.'
EVIDENCE: Table 4.4, p. 44 | Section 4.1.2, p. 45 | Section 4.5.1, pp. 48-49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Normal and stress profiles measure different aspects of system behavior and must not be collapsed into one latency number.
SCRIPT:
JMeter uses five profiles. The p50, p100, and p500 profiles evaluate normal through heavy concurrency. The soak profile checks sustained behavior over time, and the spike profile tests response under a sudden burst and the ability to recover. For each profile, the study records p95 and p99 latency, throughput, and error rate. Soak and spike also include drift measures. Tail latency is emphasized because averages can hide slow requests. A lower p95 means that 95 percent of requests complete below that threshold.
TRANSITION: Across these profiles, latency improved substantially, but the stress interpretation remains conservative.
CAUTION: Explain p95 correctly; it is not the average response time.
EVIDENCE: Section 4.3, p. 47 | Section 4.5.2, pp. 49-50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100 seconds
KEY MESSAGE: All five total p95 values improved with zero core-profile errors, while mixed-workload drift remains a limitation.
SCRIPT:
The total p95 latency improved in every profile. At p50 it decreased from 49.45 to 13 milliseconds. At p100 it decreased from 261.95 to 34 milliseconds. At p500 it decreased from 176 to 28 milliseconds. Soak decreased from 970.95 to 56 milliseconds, and spike from 6,795 to 1,420 milliseconds. Error rate remained zero for the three core profiles. The main optimizations involved removing report-snapshot writes from read paths, reusing aggregated balances, adding indexes, caching ledger output, and reducing repeated query work. However, the report keeps an honest caveat: the mixed-workload drift heuristic still fails because the final window is compositionally heavier. Endpoint latency improved, but the original drift rule does not fully separate workload composition from degradation.
TRANSITION: Performance improvements are acceptable only if accounting and authorization behavior remains intact.
CAUTION: Do not claim that every endpoint or every stability heuristic passed.
EVIDENCE: Table 4.5, pp. 44-45 | Section 4.1.3, p.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Faster or cleaner code was rejected if it weakened authorization, balancing, period, audit, or reconciliation rules.
SCRIPT:
This is a financial API, so quality cannot be reduced to scanner counts and latency. The review process preserves JWT authentication and role-based authorization for Admin, FinanceManager, User, and Auditor. It also protects journal balancing, accounting-period constraints, idempotency, concurrency checks, audit writes, database consistency, and reconciliation integrity. The application evidence shows role-aware navigation and read-only behavior for the Auditor role. These controls are not proof of formal financial certification, but they demonstrate that the remediation workflow did not intentionally trade correctness and access control for faster measurements.
TRANSITION: The web application makes several of those API and authorization behaviors visible to a reviewer.
CAUTION: Do not claim formal accounting certification or exhaustive security verification.
EVIDENCE: API endpoint and role coverage, pp. 30-32 | Section 4.6, pp. 51-58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65 seconds
KEY MESSAGE: The screenshots demonstrate the user-visible path through authentication, reporting, audit, and role restrictions.
SCRIPT:
The React and Vite client is a validation artifact for the API. It demonstrates login, role-aware navigation, account balances, financial reports, audit logs, and expandable journal-entry debit and credit lines. The Auditor screenshot is particularly useful because it shows restricted navigation and read-only account access. These screenshots support the claim that the API behavior is accessible through a real client. They do not replace the tool measurements or regression tests; they complement them with user-visible evidence.
TRANSITION: The completed report also includes a controlled comparison between GPT-5.4 and GPT-5.5.
CAUTION: Do not present screenshots as security-test evidence by themselves.
EVIDENCE: Section 4.6 and Figures 4.1-4.7, pp. 51-58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100 seconds
KEY MESSAGE: SonarQube is a tie, residual ZAP cleanliness favors GPT-5.4, and balanced JMeter behavior with smaller patches favors GPT-5.5.
SCRIPT:
The normalized model comparison does not support a universal winner. Both models reduced SonarQube code smells from 21 to zero and reached the same 74.3 percent coverage. GPT-5.4 produced cleaner residual ZAP output. GPT-5.5 passed the business-endpoint gate but retained more Swagger, static-asset, and local-transport observations. In JMeter, GPT-5.4 was slightly faster on selected p100, p500, and soak tail metrics, but it introduced a severe p50 tail-latency regression. GPT-5.5 produced the more balanced profile and the strongest spike p99 and throughput outcome. GPT-5.5 also used fewer source and test files in the ZAP and JMeter patches. The conclusion depends on which quality dimension is weighted most heavily.
TRANSITION: A later controlled retest corrected an important opportunity imbalance in the new-API comparison.
CAUTION: Never say GPT-5.5 won every tool or is universally better.
EVIDENCE: Tables 4.7-4.11, pp. 59-60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100 seconds
KEY MESSAGE: After equalizing the correction opportunity, the measured SonarQube and ZAP outcomes are ties; JMeter remains incomplete.
SCRIPT:
The new-API v2 retest gave both Sonar candidates the same scan, correction, and rescan opportunity. Both reached zero measured Sonar issues, zero bugs, zero code smells, and an OK gate. GPT-5.4 had a 1.4 percentage-point coverage advantage. Both ZAP candidates reduced normalized business-alert instances from 36 to 12 with identical severity and endpoint coverage. Their full public test suites passed. However, there is no valid GPT-5.4 JMeter remediation candidate; its worktree matches the challenge baseline. Therefore, no overall three-tool winner is recorded. This is not missing decoration; it is a validity boundary that prevents an unfair comparison.
TRANSITION: These results lead to three concrete contributions.
CAUTION: Do not score the unavailable JMeter track or treat the baseline as GPT-5.4 output.
EVIDENCE: Table 4.12 and v2 result, pp. 61-62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The thesis contributes measured evidence, a reusable control workflow, and transparent limits on AI-assisted remediation.
SCRIPT:
The thesis makes three contributions. Empirically, it provides measured before-and-after evidence across static quality, security scanning, and load testing on one production-complexity accounting API. Methodologically, it defines a reusable branch-isolated, scanner-gated workflow for accepting or rejecting LLM recommendations. Practically, it preserves traceability from finding to prompt, candidate patch, human decision, focused test, and rerun. The later model comparison adds evidence that smaller patches and balanced behavior can matter as much as winning an individual metric. The thesis does not claim a new algorithm or universal model ranking.
TRANSITION: The value of those contributions depends on keeping their limitations visible.
CAUTION: Do not describe a single-system case study as broad statistical proof.
EVIDENCE: Section 5.3, p. 63 | Sections 3.1.3-3.1.4, p. 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80 seconds
KEY MESSAGE: The workflow is reproducible, but external validity, stochastic variance, and incomplete model tracks remain open.
SCRIPT:
The study has important limitations. It evaluates one C# API, one database-backed financial domain, and one local host. Repeated stochastic runs were not performed, so model-output variance is unknown. SonarQube, ZAP, and JMeter each have detection limits and cannot replace manual security review or production observability. The mixed-workload drift rule confounds the final request composition with time-based degradation. Finally, the new-API v2 JMeter comparison is incomplete because a valid GPT-5.4 remediation candidate does not exist. Future work should address each of these limitations directly rather than simply expanding the number of metrics.
TRANSITION: Within those boundaries, the final answer to the research problem is clear.
CAUTION: State limitations confidently; do not apologize or weaken measured findings.
EVIDENCE: Section 1.6, p. 12 | Section 4.7.6-4.7.7, pp. 61-62 | Section 5.4, p.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55 seconds
KEY MESSAGE: AI-assisted remediation is useful when evidence and human controls decide what ships.
SCRIPT:
In conclusion, this study shows that ChatGPT or Codex can be useful as a remediation advisor when it operates inside a controlled engineering process. The original study closed retained Sonar findings, cleared gated business-endpoint ZAP alerts, and achieved large p95 latency reductions. The model comparison shows real trade-offs rather than a universal winner. Human review, focused tests, branch isolation, and independent remeasurement are what make the results defensible. The central lesson is simple: use the model to propose, but use evidence to decide. Thank you. I welcome your questions.
TRANSITION: Open the appendix only when a question requires detailed evidence.
CAUTION: End after the final sentence; do not continue summarizing.
EVIDENCE: Chapter 5, p.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branch and commit provenance.
EVIDENCE: Table 4.6, p. 59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endpoint and role coverage.
EVIDENCE: API scope, pp. 30-32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full sonarqube metrics.
EVIDENCE: Tables 4.2 and 4.4, p.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full owasp zap outcomes.
EVIDENCE: Section 4.1.2, p.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full jmeter total p95 results.
EVIDENCE: Section 4.1.3, p.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patch size and regression evidence.
EVIDENCE: Table 4.11, p. 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new-api v2 detailed results.
EVIDENCE: Table 4.12, p. 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threats to validity.
EVIDENCE: Sections 1.6, 4.7.6, and 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prompt and human-effort traceability.
EVIDENCE: Sections 3.1.3-3.1.4, p. 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selected references.
EVIDENCE: References, pp. 63-64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EFENSE">
    <p:bg>
      <p:bgPr>
        <a:solidFill>
          <a:srgbClr val="F7F8F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92240"/>
            <a:ext cx="548640" cy="182880"/>
          </a:xfrm>
          <a:prstGeom prst="rect">
            <a:avLst/>
          </a:prstGeom>
          <a:extLst>
            <a:ext uri="{C572A759-6A51-4108-AA02-DFA0A04FC94B}">
              <ma14:wrappingTextBoxFlag xmlns:ma14="http://schemas.microsoft.com/office/mac/drawingml/2011/main" val="0"/>
            </a:ext>
          </a:extLst>
        </p:spPr>
        <p:txBody>
          <a:bodyPr/>
          <a:lstStyle>
            <a:lvl1pPr>
              <a:defRPr sz="900">
                <a:solidFill>
                  <a:srgbClr val="66717E"/>
                </a:solidFill>
                <a:latin typeface="Arial"/>
                <a:ea typeface="Arial"/>
                <a:cs typeface="Arial"/>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92240"/>
            <a:ext cx="548640" cy="182880"/>
          </a:xfrm>
          <a:prstGeom prst="rect">
            <a:avLst/>
          </a:prstGeom>
          <a:extLst>
            <a:ext uri="{C572A759-6A51-4108-AA02-DFA0A04FC94B}">
              <ma14:wrappingTextBoxFlag xmlns:ma14="http://schemas.microsoft.com/office/mac/drawingml/2011/main" val="0"/>
            </a:ext>
          </a:extLst>
        </p:spPr>
        <p:txBody>
          <a:bodyPr/>
          <a:lstStyle>
            <a:lvl1pPr>
              <a:defRPr sz="900">
                <a:solidFill>
                  <a:srgbClr val="66717E"/>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027"/>
        </a:solidFill>
      </p:bgPr>
    </p:bg>
    <p:spTree>
      <p:nvGrpSpPr>
        <p:cNvPr id="1" name=""/>
        <p:cNvGrpSpPr/>
        <p:nvPr/>
      </p:nvGrpSpPr>
      <p:grpSpPr>
        <a:xfrm>
          <a:off x="0" y="0"/>
          <a:ext cx="0" cy="0"/>
          <a:chOff x="0" y="0"/>
          <a:chExt cx="0" cy="0"/>
        </a:xfrm>
      </p:grpSpPr>
      <p:sp>
        <p:nvSpPr>
          <p:cNvPr id="2" name="Shape 0"/>
          <p:cNvSpPr/>
          <p:nvPr/>
        </p:nvSpPr>
        <p:spPr>
          <a:xfrm>
            <a:off x="0" y="0"/>
            <a:ext cx="182880" cy="6858000"/>
          </a:xfrm>
          <a:prstGeom prst="rect">
            <a:avLst/>
          </a:prstGeom>
          <a:solidFill>
            <a:srgbClr val="C47B12"/>
          </a:solidFill>
          <a:ln w="12700">
            <a:solidFill>
              <a:srgbClr val="C47B12"/>
            </a:solidFill>
            <a:prstDash val="solid"/>
          </a:ln>
        </p:spPr>
      </p:sp>
      <p:sp>
        <p:nvSpPr>
          <p:cNvPr id="3" name="Text 1"/>
          <p:cNvSpPr/>
          <p:nvPr/>
        </p:nvSpPr>
        <p:spPr>
          <a:xfrm>
            <a:off x="777240" y="640080"/>
            <a:ext cx="4389120" cy="274320"/>
          </a:xfrm>
          <a:prstGeom prst="rect">
            <a:avLst/>
          </a:prstGeom>
          <a:noFill/>
          <a:ln/>
        </p:spPr>
        <p:txBody>
          <a:bodyPr wrap="square" lIns="0" tIns="0" rIns="0" bIns="0" rtlCol="0" anchor="ctr">
            <a:normAutofit/>
          </a:bodyPr>
          <a:lstStyle/>
          <a:p>
            <a:pPr indent="0" marL="0">
              <a:buNone/>
            </a:pPr>
            <a:r>
              <a:rPr lang="en-US" sz="1200" b="1" spc="220" kern="0" dirty="0">
                <a:solidFill>
                  <a:srgbClr val="7FD0D4"/>
                </a:solidFill>
                <a:latin typeface="Arial" pitchFamily="34" charset="0"/>
                <a:ea typeface="Arial" pitchFamily="34" charset="-122"/>
                <a:cs typeface="Arial" pitchFamily="34" charset="-120"/>
              </a:rPr>
              <a:t>FINAL THESIS DEFENSE</a:t>
            </a:r>
            <a:endParaRPr lang="en-US" sz="1200" dirty="0"/>
          </a:p>
        </p:txBody>
      </p:sp>
      <p:sp>
        <p:nvSpPr>
          <p:cNvPr id="4" name="Text 2"/>
          <p:cNvSpPr/>
          <p:nvPr/>
        </p:nvSpPr>
        <p:spPr>
          <a:xfrm>
            <a:off x="777240" y="1234440"/>
            <a:ext cx="10012680" cy="2148840"/>
          </a:xfrm>
          <a:prstGeom prst="rect">
            <a:avLst/>
          </a:prstGeom>
          <a:noFill/>
          <a:ln/>
        </p:spPr>
        <p:txBody>
          <a:bodyPr wrap="square" lIns="0" tIns="0" rIns="0" bIns="0" rtlCol="0" anchor="t">
            <a:normAutofit/>
          </a:bodyPr>
          <a:lstStyle/>
          <a:p>
            <a:pPr indent="0" marL="0">
              <a:buNone/>
            </a:pPr>
            <a:r>
              <a:rPr lang="en-US" sz="3400" b="1" dirty="0">
                <a:solidFill>
                  <a:srgbClr val="FFFFFF"/>
                </a:solidFill>
                <a:latin typeface="Arial" pitchFamily="34" charset="0"/>
                <a:ea typeface="Arial" pitchFamily="34" charset="-122"/>
                <a:cs typeface="Arial" pitchFamily="34" charset="-120"/>
              </a:rPr>
              <a:t>Improving Security and Performance of Financial RESTful APIs Using ChatGPT in ASP.NET Core</a:t>
            </a:r>
            <a:endParaRPr lang="en-US" sz="3400" dirty="0"/>
          </a:p>
        </p:txBody>
      </p:sp>
      <p:sp>
        <p:nvSpPr>
          <p:cNvPr id="5" name="Shape 3"/>
          <p:cNvSpPr/>
          <p:nvPr/>
        </p:nvSpPr>
        <p:spPr>
          <a:xfrm>
            <a:off x="777240" y="3794760"/>
            <a:ext cx="3749040" cy="0"/>
          </a:xfrm>
          <a:prstGeom prst="line">
            <a:avLst/>
          </a:prstGeom>
          <a:noFill/>
          <a:ln w="50800">
            <a:solidFill>
              <a:srgbClr val="C47B12"/>
            </a:solidFill>
            <a:prstDash val="solid"/>
          </a:ln>
        </p:spPr>
      </p:sp>
      <p:sp>
        <p:nvSpPr>
          <p:cNvPr id="6" name="Text 4"/>
          <p:cNvSpPr/>
          <p:nvPr/>
        </p:nvSpPr>
        <p:spPr>
          <a:xfrm>
            <a:off x="777240" y="4160520"/>
            <a:ext cx="6217920" cy="384048"/>
          </a:xfrm>
          <a:prstGeom prst="rect">
            <a:avLst/>
          </a:prstGeom>
          <a:noFill/>
          <a:ln/>
        </p:spPr>
        <p:txBody>
          <a:bodyPr wrap="square" lIns="0" tIns="0" rIns="0" bIns="0" rtlCol="0" anchor="ctr">
            <a:normAutofit/>
          </a:bodyPr>
          <a:lstStyle/>
          <a:p>
            <a:pPr indent="0" marL="0">
              <a:buNone/>
            </a:pPr>
            <a:r>
              <a:rPr lang="en-US" sz="2200" b="1" dirty="0">
                <a:solidFill>
                  <a:srgbClr val="FFFFFF"/>
                </a:solidFill>
                <a:latin typeface="Arial" pitchFamily="34" charset="0"/>
                <a:ea typeface="Arial" pitchFamily="34" charset="-122"/>
                <a:cs typeface="Arial" pitchFamily="34" charset="-120"/>
              </a:rPr>
              <a:t>Zaw Ye Htut Ko | G6519692</a:t>
            </a:r>
            <a:endParaRPr lang="en-US" sz="2200" dirty="0"/>
          </a:p>
        </p:txBody>
      </p:sp>
      <p:sp>
        <p:nvSpPr>
          <p:cNvPr id="7" name="Text 5"/>
          <p:cNvSpPr/>
          <p:nvPr/>
        </p:nvSpPr>
        <p:spPr>
          <a:xfrm>
            <a:off x="777240" y="4709160"/>
            <a:ext cx="6583680" cy="841248"/>
          </a:xfrm>
          <a:prstGeom prst="rect">
            <a:avLst/>
          </a:prstGeom>
          <a:noFill/>
          <a:ln/>
        </p:spPr>
        <p:txBody>
          <a:bodyPr wrap="square" lIns="0" tIns="0" rIns="0" bIns="0" rtlCol="0" anchor="t">
            <a:normAutofit/>
          </a:bodyPr>
          <a:lstStyle/>
          <a:p>
            <a:pPr indent="0" marL="0">
              <a:buNone/>
            </a:pPr>
            <a:r>
              <a:rPr lang="en-US" sz="1700" dirty="0">
                <a:solidFill>
                  <a:srgbClr val="C9D2D9"/>
                </a:solidFill>
                <a:latin typeface="Arial" pitchFamily="34" charset="0"/>
                <a:ea typeface="Arial" pitchFamily="34" charset="-122"/>
                <a:cs typeface="Arial" pitchFamily="34" charset="-120"/>
              </a:rPr>
              <a:t>Master of Science in Information Technology</a:t>
            </a:r>
            <a:endParaRPr lang="en-US" sz="1700" dirty="0"/>
          </a:p>
          <a:p>
            <a:pPr indent="0" marL="0">
              <a:buNone/>
            </a:pPr>
            <a:r>
              <a:rPr lang="en-US" sz="1700" dirty="0">
                <a:solidFill>
                  <a:srgbClr val="C9D2D9"/>
                </a:solidFill>
                <a:latin typeface="Arial" pitchFamily="34" charset="0"/>
                <a:ea typeface="Arial" pitchFamily="34" charset="-122"/>
                <a:cs typeface="Arial" pitchFamily="34" charset="-120"/>
              </a:rPr>
              <a:t>Advisor: Assistant Professor Dr. Darun Kesrarat</a:t>
            </a:r>
            <a:endParaRPr lang="en-US" sz="1700" dirty="0"/>
          </a:p>
        </p:txBody>
      </p:sp>
      <p:sp>
        <p:nvSpPr>
          <p:cNvPr id="8" name="Text 6"/>
          <p:cNvSpPr/>
          <p:nvPr/>
        </p:nvSpPr>
        <p:spPr>
          <a:xfrm>
            <a:off x="8961120" y="5989320"/>
            <a:ext cx="2331720" cy="320040"/>
          </a:xfrm>
          <a:prstGeom prst="rect">
            <a:avLst/>
          </a:prstGeom>
          <a:noFill/>
          <a:ln/>
        </p:spPr>
        <p:txBody>
          <a:bodyPr wrap="square" lIns="0" tIns="0" rIns="0" bIns="0" rtlCol="0" anchor="ctr">
            <a:normAutofit/>
          </a:bodyPr>
          <a:lstStyle/>
          <a:p>
            <a:pPr algn="r" indent="0" marL="0">
              <a:buNone/>
            </a:pPr>
            <a:r>
              <a:rPr lang="en-US" sz="1400" dirty="0">
                <a:solidFill>
                  <a:srgbClr val="C9D2D9"/>
                </a:solidFill>
                <a:latin typeface="Arial" pitchFamily="34" charset="0"/>
                <a:ea typeface="Arial" pitchFamily="34" charset="-122"/>
                <a:cs typeface="Arial" pitchFamily="34" charset="-120"/>
              </a:rPr>
              <a:t>September 2026</a:t>
            </a:r>
            <a:endParaRPr lang="en-US" sz="1400" dirty="0"/>
          </a:p>
        </p:txBody>
      </p:sp>
      <p:sp>
        <p:nvSpPr>
          <p:cNvPr id="9" name="Shape 7"/>
          <p:cNvSpPr/>
          <p:nvPr/>
        </p:nvSpPr>
        <p:spPr>
          <a:xfrm>
            <a:off x="8458200" y="4160520"/>
            <a:ext cx="2880360" cy="1234440"/>
          </a:xfrm>
          <a:prstGeom prst="roundRect">
            <a:avLst>
              <a:gd name="adj" fmla="val 5185"/>
            </a:avLst>
          </a:prstGeom>
          <a:solidFill>
            <a:srgbClr val="22323B"/>
          </a:solidFill>
          <a:ln w="12700">
            <a:solidFill>
              <a:srgbClr val="344750"/>
            </a:solidFill>
            <a:prstDash val="solid"/>
          </a:ln>
        </p:spPr>
      </p:sp>
      <p:sp>
        <p:nvSpPr>
          <p:cNvPr id="10" name="Text 8"/>
          <p:cNvSpPr/>
          <p:nvPr/>
        </p:nvSpPr>
        <p:spPr>
          <a:xfrm>
            <a:off x="8686800" y="4407408"/>
            <a:ext cx="2423160" cy="320040"/>
          </a:xfrm>
          <a:prstGeom prst="rect">
            <a:avLst/>
          </a:prstGeom>
          <a:noFill/>
          <a:ln/>
        </p:spPr>
        <p:txBody>
          <a:bodyPr wrap="square" lIns="0" tIns="0" rIns="0" bIns="0" rtlCol="0" anchor="ctr">
            <a:normAutofit/>
          </a:bodyPr>
          <a:lstStyle/>
          <a:p>
            <a:pPr algn="ctr" indent="0" marL="0">
              <a:buNone/>
            </a:pPr>
            <a:r>
              <a:rPr lang="en-US" sz="2100" b="1" dirty="0">
                <a:solidFill>
                  <a:srgbClr val="7FD0D4"/>
                </a:solidFill>
                <a:latin typeface="Arial" pitchFamily="34" charset="0"/>
                <a:ea typeface="Arial" pitchFamily="34" charset="-122"/>
                <a:cs typeface="Arial" pitchFamily="34" charset="-120"/>
              </a:rPr>
              <a:t>Evidence first</a:t>
            </a:r>
            <a:endParaRPr lang="en-US" sz="2100" dirty="0"/>
          </a:p>
        </p:txBody>
      </p:sp>
      <p:sp>
        <p:nvSpPr>
          <p:cNvPr id="11" name="Text 9"/>
          <p:cNvSpPr/>
          <p:nvPr/>
        </p:nvSpPr>
        <p:spPr>
          <a:xfrm>
            <a:off x="8686800" y="4773168"/>
            <a:ext cx="2423160" cy="438912"/>
          </a:xfrm>
          <a:prstGeom prst="rect">
            <a:avLst/>
          </a:prstGeom>
          <a:noFill/>
          <a:ln/>
        </p:spPr>
        <p:txBody>
          <a:bodyPr wrap="square" lIns="0" tIns="0" rIns="0" bIns="0" rtlCol="0" anchor="ctr">
            <a:normAutofit/>
          </a:bodyPr>
          <a:lstStyle/>
          <a:p>
            <a:pPr algn="ctr" indent="0" marL="0">
              <a:buNone/>
            </a:pPr>
            <a:r>
              <a:rPr lang="en-US" sz="1300" dirty="0">
                <a:solidFill>
                  <a:srgbClr val="FFFFFF"/>
                </a:solidFill>
                <a:latin typeface="Arial" pitchFamily="34" charset="0"/>
                <a:ea typeface="Arial" pitchFamily="34" charset="-122"/>
                <a:cs typeface="Arial" pitchFamily="34" charset="-120"/>
              </a:rPr>
              <a:t>Model proposes.</a:t>
            </a:r>
            <a:endParaRPr lang="en-US" sz="1300" dirty="0"/>
          </a:p>
          <a:p>
            <a:pPr algn="ctr" indent="0" marL="0">
              <a:buNone/>
            </a:pPr>
            <a:r>
              <a:rPr lang="en-US" sz="1300" dirty="0">
                <a:solidFill>
                  <a:srgbClr val="FFFFFF"/>
                </a:solidFill>
                <a:latin typeface="Arial" pitchFamily="34" charset="0"/>
                <a:ea typeface="Arial" pitchFamily="34" charset="-122"/>
                <a:cs typeface="Arial" pitchFamily="34" charset="-120"/>
              </a:rPr>
              <a:t>Evidence decides.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OPENING</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Defense Roadmap</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Report chapters 1, 3, 4, and 5</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02</a:t>
            </a:r>
            <a:endParaRPr lang="en-US" sz="1000" dirty="0"/>
          </a:p>
        </p:txBody>
      </p:sp>
      <p:sp>
        <p:nvSpPr>
          <p:cNvPr id="9" name="Shape 7"/>
          <p:cNvSpPr/>
          <p:nvPr/>
        </p:nvSpPr>
        <p:spPr>
          <a:xfrm>
            <a:off x="731520" y="2606040"/>
            <a:ext cx="1982419" cy="1051560"/>
          </a:xfrm>
          <a:prstGeom prst="roundRect">
            <a:avLst>
              <a:gd name="adj" fmla="val 6087"/>
            </a:avLst>
          </a:prstGeom>
          <a:solidFill>
            <a:srgbClr val="FFFFFF"/>
          </a:solidFill>
          <a:ln w="12700">
            <a:solidFill>
              <a:srgbClr val="D9DEE5"/>
            </a:solidFill>
            <a:prstDash val="solid"/>
          </a:ln>
        </p:spPr>
      </p:sp>
      <p:sp>
        <p:nvSpPr>
          <p:cNvPr id="10" name="Text 8"/>
          <p:cNvSpPr/>
          <p:nvPr/>
        </p:nvSpPr>
        <p:spPr>
          <a:xfrm>
            <a:off x="841248" y="2770632"/>
            <a:ext cx="1762963"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Problem</a:t>
            </a:r>
            <a:endParaRPr lang="en-US" sz="1600" dirty="0"/>
          </a:p>
        </p:txBody>
      </p:sp>
      <p:sp>
        <p:nvSpPr>
          <p:cNvPr id="11" name="Shape 9"/>
          <p:cNvSpPr/>
          <p:nvPr/>
        </p:nvSpPr>
        <p:spPr>
          <a:xfrm>
            <a:off x="2732227" y="3136392"/>
            <a:ext cx="164592" cy="0"/>
          </a:xfrm>
          <a:prstGeom prst="line">
            <a:avLst/>
          </a:prstGeom>
          <a:noFill/>
          <a:ln w="16510">
            <a:solidFill>
              <a:srgbClr val="20262E"/>
            </a:solidFill>
            <a:prstDash val="solid"/>
            <a:headEnd type="none"/>
            <a:tailEnd type="triangle"/>
          </a:ln>
        </p:spPr>
      </p:sp>
      <p:sp>
        <p:nvSpPr>
          <p:cNvPr id="12" name="Shape 10"/>
          <p:cNvSpPr/>
          <p:nvPr/>
        </p:nvSpPr>
        <p:spPr>
          <a:xfrm>
            <a:off x="2915107" y="2606040"/>
            <a:ext cx="1982419" cy="1051560"/>
          </a:xfrm>
          <a:prstGeom prst="roundRect">
            <a:avLst>
              <a:gd name="adj" fmla="val 6087"/>
            </a:avLst>
          </a:prstGeom>
          <a:solidFill>
            <a:srgbClr val="E8F2F3"/>
          </a:solidFill>
          <a:ln w="12700">
            <a:solidFill>
              <a:srgbClr val="D9DEE5"/>
            </a:solidFill>
            <a:prstDash val="solid"/>
          </a:ln>
        </p:spPr>
      </p:sp>
      <p:sp>
        <p:nvSpPr>
          <p:cNvPr id="13" name="Text 11"/>
          <p:cNvSpPr/>
          <p:nvPr/>
        </p:nvSpPr>
        <p:spPr>
          <a:xfrm>
            <a:off x="3024835" y="2770632"/>
            <a:ext cx="1762963"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Research design</a:t>
            </a:r>
            <a:endParaRPr lang="en-US" sz="1600" dirty="0"/>
          </a:p>
        </p:txBody>
      </p:sp>
      <p:sp>
        <p:nvSpPr>
          <p:cNvPr id="14" name="Shape 12"/>
          <p:cNvSpPr/>
          <p:nvPr/>
        </p:nvSpPr>
        <p:spPr>
          <a:xfrm>
            <a:off x="4915814" y="3136392"/>
            <a:ext cx="164592" cy="0"/>
          </a:xfrm>
          <a:prstGeom prst="line">
            <a:avLst/>
          </a:prstGeom>
          <a:noFill/>
          <a:ln w="16510">
            <a:solidFill>
              <a:srgbClr val="20262E"/>
            </a:solidFill>
            <a:prstDash val="solid"/>
            <a:headEnd type="none"/>
            <a:tailEnd type="triangle"/>
          </a:ln>
        </p:spPr>
      </p:sp>
      <p:sp>
        <p:nvSpPr>
          <p:cNvPr id="15" name="Shape 13"/>
          <p:cNvSpPr/>
          <p:nvPr/>
        </p:nvSpPr>
        <p:spPr>
          <a:xfrm>
            <a:off x="5098694" y="2606040"/>
            <a:ext cx="1982419" cy="1051560"/>
          </a:xfrm>
          <a:prstGeom prst="roundRect">
            <a:avLst>
              <a:gd name="adj" fmla="val 6087"/>
            </a:avLst>
          </a:prstGeom>
          <a:solidFill>
            <a:srgbClr val="FFFFFF"/>
          </a:solidFill>
          <a:ln w="12700">
            <a:solidFill>
              <a:srgbClr val="D9DEE5"/>
            </a:solidFill>
            <a:prstDash val="solid"/>
          </a:ln>
        </p:spPr>
      </p:sp>
      <p:sp>
        <p:nvSpPr>
          <p:cNvPr id="16" name="Text 14"/>
          <p:cNvSpPr/>
          <p:nvPr/>
        </p:nvSpPr>
        <p:spPr>
          <a:xfrm>
            <a:off x="5208422" y="2770632"/>
            <a:ext cx="1762963"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Measured evidence</a:t>
            </a:r>
            <a:endParaRPr lang="en-US" sz="1600" dirty="0"/>
          </a:p>
        </p:txBody>
      </p:sp>
      <p:sp>
        <p:nvSpPr>
          <p:cNvPr id="17" name="Shape 15"/>
          <p:cNvSpPr/>
          <p:nvPr/>
        </p:nvSpPr>
        <p:spPr>
          <a:xfrm>
            <a:off x="7099402" y="3136392"/>
            <a:ext cx="164592" cy="0"/>
          </a:xfrm>
          <a:prstGeom prst="line">
            <a:avLst/>
          </a:prstGeom>
          <a:noFill/>
          <a:ln w="16510">
            <a:solidFill>
              <a:srgbClr val="20262E"/>
            </a:solidFill>
            <a:prstDash val="solid"/>
            <a:headEnd type="none"/>
            <a:tailEnd type="triangle"/>
          </a:ln>
        </p:spPr>
      </p:sp>
      <p:sp>
        <p:nvSpPr>
          <p:cNvPr id="18" name="Shape 16"/>
          <p:cNvSpPr/>
          <p:nvPr/>
        </p:nvSpPr>
        <p:spPr>
          <a:xfrm>
            <a:off x="7282282" y="2606040"/>
            <a:ext cx="1982419" cy="1051560"/>
          </a:xfrm>
          <a:prstGeom prst="roundRect">
            <a:avLst>
              <a:gd name="adj" fmla="val 6087"/>
            </a:avLst>
          </a:prstGeom>
          <a:solidFill>
            <a:srgbClr val="E8F2F3"/>
          </a:solidFill>
          <a:ln w="12700">
            <a:solidFill>
              <a:srgbClr val="D9DEE5"/>
            </a:solidFill>
            <a:prstDash val="solid"/>
          </a:ln>
        </p:spPr>
      </p:sp>
      <p:sp>
        <p:nvSpPr>
          <p:cNvPr id="19" name="Text 17"/>
          <p:cNvSpPr/>
          <p:nvPr/>
        </p:nvSpPr>
        <p:spPr>
          <a:xfrm>
            <a:off x="7392010" y="2770632"/>
            <a:ext cx="1762963"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Model comparison</a:t>
            </a:r>
            <a:endParaRPr lang="en-US" sz="1600" dirty="0"/>
          </a:p>
        </p:txBody>
      </p:sp>
      <p:sp>
        <p:nvSpPr>
          <p:cNvPr id="20" name="Shape 18"/>
          <p:cNvSpPr/>
          <p:nvPr/>
        </p:nvSpPr>
        <p:spPr>
          <a:xfrm>
            <a:off x="9282989" y="3136392"/>
            <a:ext cx="164592" cy="0"/>
          </a:xfrm>
          <a:prstGeom prst="line">
            <a:avLst/>
          </a:prstGeom>
          <a:noFill/>
          <a:ln w="16510">
            <a:solidFill>
              <a:srgbClr val="20262E"/>
            </a:solidFill>
            <a:prstDash val="solid"/>
            <a:headEnd type="none"/>
            <a:tailEnd type="triangle"/>
          </a:ln>
        </p:spPr>
      </p:sp>
      <p:sp>
        <p:nvSpPr>
          <p:cNvPr id="21" name="Shape 19"/>
          <p:cNvSpPr/>
          <p:nvPr/>
        </p:nvSpPr>
        <p:spPr>
          <a:xfrm>
            <a:off x="9465869" y="2606040"/>
            <a:ext cx="1982419" cy="1051560"/>
          </a:xfrm>
          <a:prstGeom prst="roundRect">
            <a:avLst>
              <a:gd name="adj" fmla="val 6087"/>
            </a:avLst>
          </a:prstGeom>
          <a:solidFill>
            <a:srgbClr val="FFFFFF"/>
          </a:solidFill>
          <a:ln w="12700">
            <a:solidFill>
              <a:srgbClr val="D9DEE5"/>
            </a:solidFill>
            <a:prstDash val="solid"/>
          </a:ln>
        </p:spPr>
      </p:sp>
      <p:sp>
        <p:nvSpPr>
          <p:cNvPr id="22" name="Text 20"/>
          <p:cNvSpPr/>
          <p:nvPr/>
        </p:nvSpPr>
        <p:spPr>
          <a:xfrm>
            <a:off x="9575597" y="2770632"/>
            <a:ext cx="1762963"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Conclusion</a:t>
            </a:r>
            <a:endParaRPr lang="en-US" sz="1600" dirty="0"/>
          </a:p>
        </p:txBody>
      </p:sp>
      <p:sp>
        <p:nvSpPr>
          <p:cNvPr id="23" name="Text 21"/>
          <p:cNvSpPr/>
          <p:nvPr/>
        </p:nvSpPr>
        <p:spPr>
          <a:xfrm>
            <a:off x="1097280" y="4251960"/>
            <a:ext cx="9966960" cy="502920"/>
          </a:xfrm>
          <a:prstGeom prst="rect">
            <a:avLst/>
          </a:prstGeom>
          <a:noFill/>
          <a:ln/>
        </p:spPr>
        <p:txBody>
          <a:bodyPr wrap="square" lIns="0" tIns="0" rIns="0" bIns="0" rtlCol="0" anchor="ctr">
            <a:normAutofit/>
          </a:bodyPr>
          <a:lstStyle/>
          <a:p>
            <a:pPr algn="ctr" indent="0" marL="0">
              <a:buNone/>
            </a:pPr>
            <a:r>
              <a:rPr lang="en-US" sz="1800" dirty="0">
                <a:solidFill>
                  <a:srgbClr val="66717E"/>
                </a:solidFill>
                <a:latin typeface="Arial" pitchFamily="34" charset="0"/>
                <a:ea typeface="Arial" pitchFamily="34" charset="-122"/>
                <a:cs typeface="Arial" pitchFamily="34" charset="-120"/>
              </a:rPr>
              <a:t>Problem -&gt; controlled method -&gt; measured results -&gt; model trade-offs -&gt; defensible conclusion</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PROBLEM</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One API, Three Failure Modes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1.1-1.4, pp. 9-11</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03</a:t>
            </a:r>
            <a:endParaRPr lang="en-US" sz="1000" dirty="0"/>
          </a:p>
        </p:txBody>
      </p:sp>
      <p:sp>
        <p:nvSpPr>
          <p:cNvPr id="9" name="Shape 7"/>
          <p:cNvSpPr/>
          <p:nvPr/>
        </p:nvSpPr>
        <p:spPr>
          <a:xfrm>
            <a:off x="731520" y="1828800"/>
            <a:ext cx="3401568" cy="3291840"/>
          </a:xfrm>
          <a:prstGeom prst="roundRect">
            <a:avLst>
              <a:gd name="adj" fmla="val 1944"/>
            </a:avLst>
          </a:prstGeom>
          <a:solidFill>
            <a:srgbClr val="FFFFFF"/>
          </a:solidFill>
          <a:ln w="12700">
            <a:solidFill>
              <a:srgbClr val="D9DEE5"/>
            </a:solidFill>
            <a:prstDash val="solid"/>
          </a:ln>
        </p:spPr>
      </p:sp>
      <p:sp>
        <p:nvSpPr>
          <p:cNvPr id="10" name="Shape 8"/>
          <p:cNvSpPr/>
          <p:nvPr/>
        </p:nvSpPr>
        <p:spPr>
          <a:xfrm>
            <a:off x="731520" y="1828800"/>
            <a:ext cx="82296" cy="3291840"/>
          </a:xfrm>
          <a:prstGeom prst="rect">
            <a:avLst/>
          </a:prstGeom>
          <a:solidFill>
            <a:srgbClr val="B93A3A"/>
          </a:solidFill>
          <a:ln w="12700">
            <a:solidFill>
              <a:srgbClr val="B93A3A"/>
            </a:solidFill>
            <a:prstDash val="solid"/>
          </a:ln>
        </p:spPr>
      </p:sp>
      <p:sp>
        <p:nvSpPr>
          <p:cNvPr id="11" name="Text 9"/>
          <p:cNvSpPr/>
          <p:nvPr/>
        </p:nvSpPr>
        <p:spPr>
          <a:xfrm>
            <a:off x="950976" y="1993392"/>
            <a:ext cx="3035808" cy="320040"/>
          </a:xfrm>
          <a:prstGeom prst="rect">
            <a:avLst/>
          </a:prstGeom>
          <a:noFill/>
          <a:ln/>
        </p:spPr>
        <p:txBody>
          <a:bodyPr wrap="square" lIns="0" tIns="0" rIns="0" bIns="0" rtlCol="0" anchor="ctr">
            <a:normAutofit/>
          </a:bodyPr>
          <a:lstStyle/>
          <a:p>
            <a:pPr indent="0" marL="0">
              <a:buNone/>
            </a:pPr>
            <a:r>
              <a:rPr lang="en-US" sz="2400" b="1" dirty="0">
                <a:solidFill>
                  <a:srgbClr val="20262E"/>
                </a:solidFill>
                <a:latin typeface="Arial" pitchFamily="34" charset="0"/>
                <a:ea typeface="Arial" pitchFamily="34" charset="-122"/>
                <a:cs typeface="Arial" pitchFamily="34" charset="-120"/>
              </a:rPr>
              <a:t>Security</a:t>
            </a:r>
            <a:endParaRPr lang="en-US" sz="2400" dirty="0"/>
          </a:p>
        </p:txBody>
      </p:sp>
      <p:sp>
        <p:nvSpPr>
          <p:cNvPr id="12" name="Text 10"/>
          <p:cNvSpPr/>
          <p:nvPr/>
        </p:nvSpPr>
        <p:spPr>
          <a:xfrm>
            <a:off x="950976" y="2395728"/>
            <a:ext cx="3008376" cy="2560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Headers, dependencies, authentication, authorization</a:t>
            </a:r>
            <a:endParaRPr lang="en-US" sz="1800" dirty="0"/>
          </a:p>
        </p:txBody>
      </p:sp>
      <p:sp>
        <p:nvSpPr>
          <p:cNvPr id="13" name="Shape 11"/>
          <p:cNvSpPr/>
          <p:nvPr/>
        </p:nvSpPr>
        <p:spPr>
          <a:xfrm>
            <a:off x="4498848" y="1828800"/>
            <a:ext cx="3401568" cy="3291840"/>
          </a:xfrm>
          <a:prstGeom prst="roundRect">
            <a:avLst>
              <a:gd name="adj" fmla="val 1944"/>
            </a:avLst>
          </a:prstGeom>
          <a:solidFill>
            <a:srgbClr val="FFFFFF"/>
          </a:solidFill>
          <a:ln w="12700">
            <a:solidFill>
              <a:srgbClr val="D9DEE5"/>
            </a:solidFill>
            <a:prstDash val="solid"/>
          </a:ln>
        </p:spPr>
      </p:sp>
      <p:sp>
        <p:nvSpPr>
          <p:cNvPr id="14" name="Shape 12"/>
          <p:cNvSpPr/>
          <p:nvPr/>
        </p:nvSpPr>
        <p:spPr>
          <a:xfrm>
            <a:off x="4498848" y="1828800"/>
            <a:ext cx="82296" cy="3291840"/>
          </a:xfrm>
          <a:prstGeom prst="rect">
            <a:avLst/>
          </a:prstGeom>
          <a:solidFill>
            <a:srgbClr val="C47B12"/>
          </a:solidFill>
          <a:ln w="12700">
            <a:solidFill>
              <a:srgbClr val="C47B12"/>
            </a:solidFill>
            <a:prstDash val="solid"/>
          </a:ln>
        </p:spPr>
      </p:sp>
      <p:sp>
        <p:nvSpPr>
          <p:cNvPr id="15" name="Text 13"/>
          <p:cNvSpPr/>
          <p:nvPr/>
        </p:nvSpPr>
        <p:spPr>
          <a:xfrm>
            <a:off x="4718304" y="1993392"/>
            <a:ext cx="3035808" cy="320040"/>
          </a:xfrm>
          <a:prstGeom prst="rect">
            <a:avLst/>
          </a:prstGeom>
          <a:noFill/>
          <a:ln/>
        </p:spPr>
        <p:txBody>
          <a:bodyPr wrap="square" lIns="0" tIns="0" rIns="0" bIns="0" rtlCol="0" anchor="ctr">
            <a:normAutofit/>
          </a:bodyPr>
          <a:lstStyle/>
          <a:p>
            <a:pPr indent="0" marL="0">
              <a:buNone/>
            </a:pPr>
            <a:r>
              <a:rPr lang="en-US" sz="2400" b="1" dirty="0">
                <a:solidFill>
                  <a:srgbClr val="20262E"/>
                </a:solidFill>
                <a:latin typeface="Arial" pitchFamily="34" charset="0"/>
                <a:ea typeface="Arial" pitchFamily="34" charset="-122"/>
                <a:cs typeface="Arial" pitchFamily="34" charset="-120"/>
              </a:rPr>
              <a:t>Performance</a:t>
            </a:r>
            <a:endParaRPr lang="en-US" sz="2400" dirty="0"/>
          </a:p>
        </p:txBody>
      </p:sp>
      <p:sp>
        <p:nvSpPr>
          <p:cNvPr id="16" name="Text 14"/>
          <p:cNvSpPr/>
          <p:nvPr/>
        </p:nvSpPr>
        <p:spPr>
          <a:xfrm>
            <a:off x="4718304" y="2395728"/>
            <a:ext cx="3008376" cy="2560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Latency, throughput, errors, stress recovery</a:t>
            </a:r>
            <a:endParaRPr lang="en-US" sz="1800" dirty="0"/>
          </a:p>
        </p:txBody>
      </p:sp>
      <p:sp>
        <p:nvSpPr>
          <p:cNvPr id="17" name="Shape 15"/>
          <p:cNvSpPr/>
          <p:nvPr/>
        </p:nvSpPr>
        <p:spPr>
          <a:xfrm>
            <a:off x="8266176" y="1828800"/>
            <a:ext cx="3401568" cy="3291840"/>
          </a:xfrm>
          <a:prstGeom prst="roundRect">
            <a:avLst>
              <a:gd name="adj" fmla="val 1944"/>
            </a:avLst>
          </a:prstGeom>
          <a:solidFill>
            <a:srgbClr val="FFFFFF"/>
          </a:solidFill>
          <a:ln w="12700">
            <a:solidFill>
              <a:srgbClr val="D9DEE5"/>
            </a:solidFill>
            <a:prstDash val="solid"/>
          </a:ln>
        </p:spPr>
      </p:sp>
      <p:sp>
        <p:nvSpPr>
          <p:cNvPr id="18" name="Shape 16"/>
          <p:cNvSpPr/>
          <p:nvPr/>
        </p:nvSpPr>
        <p:spPr>
          <a:xfrm>
            <a:off x="8266176" y="1828800"/>
            <a:ext cx="82296" cy="3291840"/>
          </a:xfrm>
          <a:prstGeom prst="rect">
            <a:avLst/>
          </a:prstGeom>
          <a:solidFill>
            <a:srgbClr val="0B6670"/>
          </a:solidFill>
          <a:ln w="12700">
            <a:solidFill>
              <a:srgbClr val="0B6670"/>
            </a:solidFill>
            <a:prstDash val="solid"/>
          </a:ln>
        </p:spPr>
      </p:sp>
      <p:sp>
        <p:nvSpPr>
          <p:cNvPr id="19" name="Text 17"/>
          <p:cNvSpPr/>
          <p:nvPr/>
        </p:nvSpPr>
        <p:spPr>
          <a:xfrm>
            <a:off x="8485632" y="1993392"/>
            <a:ext cx="3035808" cy="320040"/>
          </a:xfrm>
          <a:prstGeom prst="rect">
            <a:avLst/>
          </a:prstGeom>
          <a:noFill/>
          <a:ln/>
        </p:spPr>
        <p:txBody>
          <a:bodyPr wrap="square" lIns="0" tIns="0" rIns="0" bIns="0" rtlCol="0" anchor="ctr">
            <a:normAutofit/>
          </a:bodyPr>
          <a:lstStyle/>
          <a:p>
            <a:pPr indent="0" marL="0">
              <a:buNone/>
            </a:pPr>
            <a:r>
              <a:rPr lang="en-US" sz="2400" b="1" dirty="0">
                <a:solidFill>
                  <a:srgbClr val="20262E"/>
                </a:solidFill>
                <a:latin typeface="Arial" pitchFamily="34" charset="0"/>
                <a:ea typeface="Arial" pitchFamily="34" charset="-122"/>
                <a:cs typeface="Arial" pitchFamily="34" charset="-120"/>
              </a:rPr>
              <a:t>Maintainability</a:t>
            </a:r>
            <a:endParaRPr lang="en-US" sz="2400" dirty="0"/>
          </a:p>
        </p:txBody>
      </p:sp>
      <p:sp>
        <p:nvSpPr>
          <p:cNvPr id="20" name="Text 18"/>
          <p:cNvSpPr/>
          <p:nvPr/>
        </p:nvSpPr>
        <p:spPr>
          <a:xfrm>
            <a:off x="8485632" y="2395728"/>
            <a:ext cx="3008376" cy="2560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Code smells, complexity, duplication, quality gate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PROBLEM</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Research Gap</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Literature review, pp. 12-27 | Chapter 3 overview, p. 28</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04</a:t>
            </a:r>
            <a:endParaRPr lang="en-US" sz="1000" dirty="0"/>
          </a:p>
        </p:txBody>
      </p:sp>
      <p:sp>
        <p:nvSpPr>
          <p:cNvPr id="9" name="Shape 7"/>
          <p:cNvSpPr/>
          <p:nvPr/>
        </p:nvSpPr>
        <p:spPr>
          <a:xfrm>
            <a:off x="777240" y="1600200"/>
            <a:ext cx="4892040" cy="4160520"/>
          </a:xfrm>
          <a:prstGeom prst="roundRect">
            <a:avLst>
              <a:gd name="adj" fmla="val 1538"/>
            </a:avLst>
          </a:prstGeom>
          <a:solidFill>
            <a:srgbClr val="FFFFFF"/>
          </a:solidFill>
          <a:ln w="12700">
            <a:solidFill>
              <a:srgbClr val="D9DEE5"/>
            </a:solidFill>
            <a:prstDash val="solid"/>
          </a:ln>
        </p:spPr>
      </p:sp>
      <p:sp>
        <p:nvSpPr>
          <p:cNvPr id="10" name="Shape 8"/>
          <p:cNvSpPr/>
          <p:nvPr/>
        </p:nvSpPr>
        <p:spPr>
          <a:xfrm>
            <a:off x="777240" y="1600200"/>
            <a:ext cx="82296" cy="4160520"/>
          </a:xfrm>
          <a:prstGeom prst="rect">
            <a:avLst/>
          </a:prstGeom>
          <a:solidFill>
            <a:srgbClr val="66717E"/>
          </a:solidFill>
          <a:ln w="12700">
            <a:solidFill>
              <a:srgbClr val="66717E"/>
            </a:solidFill>
            <a:prstDash val="solid"/>
          </a:ln>
        </p:spPr>
      </p:sp>
      <p:sp>
        <p:nvSpPr>
          <p:cNvPr id="11" name="Text 9"/>
          <p:cNvSpPr/>
          <p:nvPr/>
        </p:nvSpPr>
        <p:spPr>
          <a:xfrm>
            <a:off x="996696" y="1764792"/>
            <a:ext cx="4526280" cy="320040"/>
          </a:xfrm>
          <a:prstGeom prst="rect">
            <a:avLst/>
          </a:prstGeom>
          <a:noFill/>
          <a:ln/>
        </p:spPr>
        <p:txBody>
          <a:bodyPr wrap="square" lIns="0" tIns="0" rIns="0" bIns="0" rtlCol="0" anchor="ctr">
            <a:normAutofit/>
          </a:bodyPr>
          <a:lstStyle/>
          <a:p>
            <a:pPr indent="0" marL="0">
              <a:buNone/>
            </a:pPr>
            <a:r>
              <a:rPr lang="en-US" sz="2300" b="1" dirty="0">
                <a:solidFill>
                  <a:srgbClr val="20262E"/>
                </a:solidFill>
                <a:latin typeface="Arial" pitchFamily="34" charset="0"/>
                <a:ea typeface="Arial" pitchFamily="34" charset="-122"/>
                <a:cs typeface="Arial" pitchFamily="34" charset="-120"/>
              </a:rPr>
              <a:t>Dominant prior focus</a:t>
            </a:r>
            <a:endParaRPr lang="en-US" sz="2300" dirty="0"/>
          </a:p>
        </p:txBody>
      </p:sp>
      <p:sp>
        <p:nvSpPr>
          <p:cNvPr id="12" name="Text 10"/>
          <p:cNvSpPr/>
          <p:nvPr/>
        </p:nvSpPr>
        <p:spPr>
          <a:xfrm>
            <a:off x="996696" y="2167128"/>
            <a:ext cx="4498848" cy="3429000"/>
          </a:xfrm>
          <a:prstGeom prst="rect">
            <a:avLst/>
          </a:prstGeom>
          <a:noFill/>
          <a:ln/>
        </p:spPr>
        <p:txBody>
          <a:bodyPr wrap="square" lIns="0" tIns="0" rIns="0" bIns="0" rtlCol="0" anchor="t">
            <a:normAutofit/>
          </a:bodyPr>
          <a:lstStyle/>
          <a:p>
            <a:pPr indent="0" marL="0">
              <a:buNone/>
            </a:pPr>
            <a:r>
              <a:rPr lang="en-US" sz="1900" dirty="0">
                <a:solidFill>
                  <a:srgbClr val="66717E"/>
                </a:solidFill>
                <a:latin typeface="Arial" pitchFamily="34" charset="0"/>
                <a:ea typeface="Arial" pitchFamily="34" charset="-122"/>
                <a:cs typeface="Arial" pitchFamily="34" charset="-120"/>
              </a:rPr>
              <a:t>Code generation</a:t>
            </a:r>
            <a:endParaRPr lang="en-US" sz="1900" dirty="0"/>
          </a:p>
          <a:p>
            <a:pPr indent="0" marL="0">
              <a:buNone/>
            </a:pPr>
            <a:endParaRPr lang="en-US" sz="1900" dirty="0"/>
          </a:p>
          <a:p>
            <a:pPr indent="0" marL="0">
              <a:buNone/>
            </a:pPr>
            <a:r>
              <a:rPr lang="en-US" sz="1900" dirty="0">
                <a:solidFill>
                  <a:srgbClr val="66717E"/>
                </a:solidFill>
                <a:latin typeface="Arial" pitchFamily="34" charset="0"/>
                <a:ea typeface="Arial" pitchFamily="34" charset="-122"/>
                <a:cs typeface="Arial" pitchFamily="34" charset="-120"/>
              </a:rPr>
              <a:t>Completion accuracy</a:t>
            </a:r>
            <a:endParaRPr lang="en-US" sz="1900" dirty="0"/>
          </a:p>
          <a:p>
            <a:pPr indent="0" marL="0">
              <a:buNone/>
            </a:pPr>
            <a:endParaRPr lang="en-US" sz="1900" dirty="0"/>
          </a:p>
          <a:p>
            <a:pPr indent="0" marL="0">
              <a:buNone/>
            </a:pPr>
            <a:r>
              <a:rPr lang="en-US" sz="1900" dirty="0">
                <a:solidFill>
                  <a:srgbClr val="66717E"/>
                </a:solidFill>
                <a:latin typeface="Arial" pitchFamily="34" charset="0"/>
                <a:ea typeface="Arial" pitchFamily="34" charset="-122"/>
                <a:cs typeface="Arial" pitchFamily="34" charset="-120"/>
              </a:rPr>
              <a:t>Developer productivity</a:t>
            </a:r>
            <a:endParaRPr lang="en-US" sz="1900" dirty="0"/>
          </a:p>
        </p:txBody>
      </p:sp>
      <p:sp>
        <p:nvSpPr>
          <p:cNvPr id="13" name="Shape 11"/>
          <p:cNvSpPr/>
          <p:nvPr/>
        </p:nvSpPr>
        <p:spPr>
          <a:xfrm>
            <a:off x="5715000" y="3657600"/>
            <a:ext cx="758952" cy="0"/>
          </a:xfrm>
          <a:prstGeom prst="line">
            <a:avLst/>
          </a:prstGeom>
          <a:noFill/>
          <a:ln w="31750">
            <a:solidFill>
              <a:srgbClr val="0B6670"/>
            </a:solidFill>
            <a:prstDash val="solid"/>
            <a:headEnd type="none"/>
            <a:tailEnd type="triangle"/>
          </a:ln>
        </p:spPr>
      </p:sp>
      <p:sp>
        <p:nvSpPr>
          <p:cNvPr id="14" name="Shape 12"/>
          <p:cNvSpPr/>
          <p:nvPr/>
        </p:nvSpPr>
        <p:spPr>
          <a:xfrm>
            <a:off x="6519672" y="1600200"/>
            <a:ext cx="4892040" cy="4160520"/>
          </a:xfrm>
          <a:prstGeom prst="roundRect">
            <a:avLst>
              <a:gd name="adj" fmla="val 1538"/>
            </a:avLst>
          </a:prstGeom>
          <a:solidFill>
            <a:srgbClr val="E8F2F3"/>
          </a:solidFill>
          <a:ln w="12700">
            <a:solidFill>
              <a:srgbClr val="D9DEE5"/>
            </a:solidFill>
            <a:prstDash val="solid"/>
          </a:ln>
        </p:spPr>
      </p:sp>
      <p:sp>
        <p:nvSpPr>
          <p:cNvPr id="15" name="Shape 13"/>
          <p:cNvSpPr/>
          <p:nvPr/>
        </p:nvSpPr>
        <p:spPr>
          <a:xfrm>
            <a:off x="6519672" y="1600200"/>
            <a:ext cx="82296" cy="4160520"/>
          </a:xfrm>
          <a:prstGeom prst="rect">
            <a:avLst/>
          </a:prstGeom>
          <a:solidFill>
            <a:srgbClr val="0B6670"/>
          </a:solidFill>
          <a:ln w="12700">
            <a:solidFill>
              <a:srgbClr val="0B6670"/>
            </a:solidFill>
            <a:prstDash val="solid"/>
          </a:ln>
        </p:spPr>
      </p:sp>
      <p:sp>
        <p:nvSpPr>
          <p:cNvPr id="16" name="Text 14"/>
          <p:cNvSpPr/>
          <p:nvPr/>
        </p:nvSpPr>
        <p:spPr>
          <a:xfrm>
            <a:off x="6739128" y="1764792"/>
            <a:ext cx="4526280" cy="320040"/>
          </a:xfrm>
          <a:prstGeom prst="rect">
            <a:avLst/>
          </a:prstGeom>
          <a:noFill/>
          <a:ln/>
        </p:spPr>
        <p:txBody>
          <a:bodyPr wrap="square" lIns="0" tIns="0" rIns="0" bIns="0" rtlCol="0" anchor="ctr">
            <a:normAutofit/>
          </a:bodyPr>
          <a:lstStyle/>
          <a:p>
            <a:pPr indent="0" marL="0">
              <a:buNone/>
            </a:pPr>
            <a:r>
              <a:rPr lang="en-US" sz="2300" b="1" dirty="0">
                <a:solidFill>
                  <a:srgbClr val="20262E"/>
                </a:solidFill>
                <a:latin typeface="Arial" pitchFamily="34" charset="0"/>
                <a:ea typeface="Arial" pitchFamily="34" charset="-122"/>
                <a:cs typeface="Arial" pitchFamily="34" charset="-120"/>
              </a:rPr>
              <a:t>This thesis</a:t>
            </a:r>
            <a:endParaRPr lang="en-US" sz="2300" dirty="0"/>
          </a:p>
        </p:txBody>
      </p:sp>
      <p:sp>
        <p:nvSpPr>
          <p:cNvPr id="17" name="Text 15"/>
          <p:cNvSpPr/>
          <p:nvPr/>
        </p:nvSpPr>
        <p:spPr>
          <a:xfrm>
            <a:off x="6739128" y="2167128"/>
            <a:ext cx="4498848" cy="3429000"/>
          </a:xfrm>
          <a:prstGeom prst="rect">
            <a:avLst/>
          </a:prstGeom>
          <a:noFill/>
          <a:ln/>
        </p:spPr>
        <p:txBody>
          <a:bodyPr wrap="square" lIns="0" tIns="0" rIns="0" bIns="0" rtlCol="0" anchor="t">
            <a:normAutofit/>
          </a:bodyPr>
          <a:lstStyle/>
          <a:p>
            <a:pPr indent="0" marL="0">
              <a:buNone/>
            </a:pPr>
            <a:r>
              <a:rPr lang="en-US" sz="1900" dirty="0">
                <a:solidFill>
                  <a:srgbClr val="66717E"/>
                </a:solidFill>
                <a:latin typeface="Arial" pitchFamily="34" charset="0"/>
                <a:ea typeface="Arial" pitchFamily="34" charset="-122"/>
                <a:cs typeface="Arial" pitchFamily="34" charset="-120"/>
              </a:rPr>
              <a:t>Tool findings as prompts</a:t>
            </a:r>
            <a:endParaRPr lang="en-US" sz="1900" dirty="0"/>
          </a:p>
          <a:p>
            <a:pPr indent="0" marL="0">
              <a:buNone/>
            </a:pPr>
            <a:endParaRPr lang="en-US" sz="1900" dirty="0"/>
          </a:p>
          <a:p>
            <a:pPr indent="0" marL="0">
              <a:buNone/>
            </a:pPr>
            <a:r>
              <a:rPr lang="en-US" sz="1900" dirty="0">
                <a:solidFill>
                  <a:srgbClr val="66717E"/>
                </a:solidFill>
                <a:latin typeface="Arial" pitchFamily="34" charset="0"/>
                <a:ea typeface="Arial" pitchFamily="34" charset="-122"/>
                <a:cs typeface="Arial" pitchFamily="34" charset="-120"/>
              </a:rPr>
              <a:t>Branch-isolated fixes</a:t>
            </a:r>
            <a:endParaRPr lang="en-US" sz="1900" dirty="0"/>
          </a:p>
          <a:p>
            <a:pPr indent="0" marL="0">
              <a:buNone/>
            </a:pPr>
            <a:endParaRPr lang="en-US" sz="1900" dirty="0"/>
          </a:p>
          <a:p>
            <a:pPr indent="0" marL="0">
              <a:buNone/>
            </a:pPr>
            <a:r>
              <a:rPr lang="en-US" sz="1900" dirty="0">
                <a:solidFill>
                  <a:srgbClr val="66717E"/>
                </a:solidFill>
                <a:latin typeface="Arial" pitchFamily="34" charset="0"/>
                <a:ea typeface="Arial" pitchFamily="34" charset="-122"/>
                <a:cs typeface="Arial" pitchFamily="34" charset="-120"/>
              </a:rPr>
              <a:t>Independent remeasurement</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PROBLEM</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Research Questions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1.5.1-1.5.2, p. 11 | Table 4.1, p. 43</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05</a:t>
            </a:r>
            <a:endParaRPr lang="en-US" sz="1000" dirty="0"/>
          </a:p>
        </p:txBody>
      </p:sp>
      <p:sp>
        <p:nvSpPr>
          <p:cNvPr id="9" name="Shape 7"/>
          <p:cNvSpPr/>
          <p:nvPr/>
        </p:nvSpPr>
        <p:spPr>
          <a:xfrm>
            <a:off x="731520" y="1645920"/>
            <a:ext cx="3429000" cy="4297680"/>
          </a:xfrm>
          <a:prstGeom prst="roundRect">
            <a:avLst>
              <a:gd name="adj" fmla="val 1867"/>
            </a:avLst>
          </a:prstGeom>
          <a:solidFill>
            <a:srgbClr val="FFFFFF"/>
          </a:solidFill>
          <a:ln w="12700">
            <a:solidFill>
              <a:srgbClr val="D9DEE5"/>
            </a:solidFill>
            <a:prstDash val="solid"/>
          </a:ln>
        </p:spPr>
      </p:sp>
      <p:sp>
        <p:nvSpPr>
          <p:cNvPr id="10" name="Shape 8"/>
          <p:cNvSpPr/>
          <p:nvPr/>
        </p:nvSpPr>
        <p:spPr>
          <a:xfrm>
            <a:off x="731520" y="1645920"/>
            <a:ext cx="82296" cy="4297680"/>
          </a:xfrm>
          <a:prstGeom prst="rect">
            <a:avLst/>
          </a:prstGeom>
          <a:solidFill>
            <a:srgbClr val="0B6670"/>
          </a:solidFill>
          <a:ln w="12700">
            <a:solidFill>
              <a:srgbClr val="0B6670"/>
            </a:solidFill>
            <a:prstDash val="solid"/>
          </a:ln>
        </p:spPr>
      </p:sp>
      <p:sp>
        <p:nvSpPr>
          <p:cNvPr id="11" name="Text 9"/>
          <p:cNvSpPr/>
          <p:nvPr/>
        </p:nvSpPr>
        <p:spPr>
          <a:xfrm>
            <a:off x="950976" y="1810512"/>
            <a:ext cx="3063240" cy="320040"/>
          </a:xfrm>
          <a:prstGeom prst="rect">
            <a:avLst/>
          </a:prstGeom>
          <a:noFill/>
          <a:ln/>
        </p:spPr>
        <p:txBody>
          <a:bodyPr wrap="square" lIns="0" tIns="0" rIns="0" bIns="0" rtlCol="0" anchor="ctr">
            <a:normAutofit/>
          </a:bodyPr>
          <a:lstStyle/>
          <a:p>
            <a:pPr indent="0" marL="0">
              <a:buNone/>
            </a:pPr>
            <a:r>
              <a:rPr lang="en-US" sz="2500" b="1" dirty="0">
                <a:solidFill>
                  <a:srgbClr val="20262E"/>
                </a:solidFill>
                <a:latin typeface="Arial" pitchFamily="34" charset="0"/>
                <a:ea typeface="Arial" pitchFamily="34" charset="-122"/>
                <a:cs typeface="Arial" pitchFamily="34" charset="-120"/>
              </a:rPr>
              <a:t>RQ1</a:t>
            </a:r>
            <a:endParaRPr lang="en-US" sz="2500" dirty="0"/>
          </a:p>
        </p:txBody>
      </p:sp>
      <p:sp>
        <p:nvSpPr>
          <p:cNvPr id="12" name="Text 10"/>
          <p:cNvSpPr/>
          <p:nvPr/>
        </p:nvSpPr>
        <p:spPr>
          <a:xfrm>
            <a:off x="950976" y="2212848"/>
            <a:ext cx="3035808" cy="3566160"/>
          </a:xfrm>
          <a:prstGeom prst="rect">
            <a:avLst/>
          </a:prstGeom>
          <a:noFill/>
          <a:ln/>
        </p:spPr>
        <p:txBody>
          <a:bodyPr wrap="square" lIns="0" tIns="0" rIns="0" bIns="0" rtlCol="0" anchor="t">
            <a:normAutofit/>
          </a:bodyPr>
          <a:lstStyle/>
          <a:p>
            <a:pPr indent="0" marL="0">
              <a:buNone/>
            </a:pPr>
            <a:r>
              <a:rPr lang="en-US" sz="1700" dirty="0">
                <a:solidFill>
                  <a:srgbClr val="66717E"/>
                </a:solidFill>
                <a:latin typeface="Arial" pitchFamily="34" charset="0"/>
                <a:ea typeface="Arial" pitchFamily="34" charset="-122"/>
                <a:cs typeface="Arial" pitchFamily="34" charset="-120"/>
              </a:rPr>
              <a:t>Can tool-guided ChatGPT recommendations reduce measured code-quality findings without regression?</a:t>
            </a:r>
            <a:endParaRPr lang="en-US" sz="1700" dirty="0"/>
          </a:p>
        </p:txBody>
      </p:sp>
      <p:sp>
        <p:nvSpPr>
          <p:cNvPr id="13" name="Shape 11"/>
          <p:cNvSpPr/>
          <p:nvPr/>
        </p:nvSpPr>
        <p:spPr>
          <a:xfrm>
            <a:off x="4507992" y="1645920"/>
            <a:ext cx="3429000" cy="4297680"/>
          </a:xfrm>
          <a:prstGeom prst="roundRect">
            <a:avLst>
              <a:gd name="adj" fmla="val 1867"/>
            </a:avLst>
          </a:prstGeom>
          <a:solidFill>
            <a:srgbClr val="FFFFFF"/>
          </a:solidFill>
          <a:ln w="12700">
            <a:solidFill>
              <a:srgbClr val="D9DEE5"/>
            </a:solidFill>
            <a:prstDash val="solid"/>
          </a:ln>
        </p:spPr>
      </p:sp>
      <p:sp>
        <p:nvSpPr>
          <p:cNvPr id="14" name="Shape 12"/>
          <p:cNvSpPr/>
          <p:nvPr/>
        </p:nvSpPr>
        <p:spPr>
          <a:xfrm>
            <a:off x="4507992" y="1645920"/>
            <a:ext cx="82296" cy="4297680"/>
          </a:xfrm>
          <a:prstGeom prst="rect">
            <a:avLst/>
          </a:prstGeom>
          <a:solidFill>
            <a:srgbClr val="B93A3A"/>
          </a:solidFill>
          <a:ln w="12700">
            <a:solidFill>
              <a:srgbClr val="B93A3A"/>
            </a:solidFill>
            <a:prstDash val="solid"/>
          </a:ln>
        </p:spPr>
      </p:sp>
      <p:sp>
        <p:nvSpPr>
          <p:cNvPr id="15" name="Text 13"/>
          <p:cNvSpPr/>
          <p:nvPr/>
        </p:nvSpPr>
        <p:spPr>
          <a:xfrm>
            <a:off x="4727448" y="1810512"/>
            <a:ext cx="3063240" cy="320040"/>
          </a:xfrm>
          <a:prstGeom prst="rect">
            <a:avLst/>
          </a:prstGeom>
          <a:noFill/>
          <a:ln/>
        </p:spPr>
        <p:txBody>
          <a:bodyPr wrap="square" lIns="0" tIns="0" rIns="0" bIns="0" rtlCol="0" anchor="ctr">
            <a:normAutofit/>
          </a:bodyPr>
          <a:lstStyle/>
          <a:p>
            <a:pPr indent="0" marL="0">
              <a:buNone/>
            </a:pPr>
            <a:r>
              <a:rPr lang="en-US" sz="2500" b="1" dirty="0">
                <a:solidFill>
                  <a:srgbClr val="20262E"/>
                </a:solidFill>
                <a:latin typeface="Arial" pitchFamily="34" charset="0"/>
                <a:ea typeface="Arial" pitchFamily="34" charset="-122"/>
                <a:cs typeface="Arial" pitchFamily="34" charset="-120"/>
              </a:rPr>
              <a:t>RQ2</a:t>
            </a:r>
            <a:endParaRPr lang="en-US" sz="2500" dirty="0"/>
          </a:p>
        </p:txBody>
      </p:sp>
      <p:sp>
        <p:nvSpPr>
          <p:cNvPr id="16" name="Text 14"/>
          <p:cNvSpPr/>
          <p:nvPr/>
        </p:nvSpPr>
        <p:spPr>
          <a:xfrm>
            <a:off x="4727448" y="2212848"/>
            <a:ext cx="3035808" cy="3566160"/>
          </a:xfrm>
          <a:prstGeom prst="rect">
            <a:avLst/>
          </a:prstGeom>
          <a:noFill/>
          <a:ln/>
        </p:spPr>
        <p:txBody>
          <a:bodyPr wrap="square" lIns="0" tIns="0" rIns="0" bIns="0" rtlCol="0" anchor="t">
            <a:normAutofit/>
          </a:bodyPr>
          <a:lstStyle/>
          <a:p>
            <a:pPr indent="0" marL="0">
              <a:buNone/>
            </a:pPr>
            <a:r>
              <a:rPr lang="en-US" sz="1700" dirty="0">
                <a:solidFill>
                  <a:srgbClr val="66717E"/>
                </a:solidFill>
                <a:latin typeface="Arial" pitchFamily="34" charset="0"/>
                <a:ea typeface="Arial" pitchFamily="34" charset="-122"/>
                <a:cs typeface="Arial" pitchFamily="34" charset="-120"/>
              </a:rPr>
              <a:t>Can they clear gated security alerts while preserving role-based access?</a:t>
            </a:r>
            <a:endParaRPr lang="en-US" sz="1700" dirty="0"/>
          </a:p>
        </p:txBody>
      </p:sp>
      <p:sp>
        <p:nvSpPr>
          <p:cNvPr id="17" name="Shape 15"/>
          <p:cNvSpPr/>
          <p:nvPr/>
        </p:nvSpPr>
        <p:spPr>
          <a:xfrm>
            <a:off x="8284464" y="1645920"/>
            <a:ext cx="3429000" cy="4297680"/>
          </a:xfrm>
          <a:prstGeom prst="roundRect">
            <a:avLst>
              <a:gd name="adj" fmla="val 1867"/>
            </a:avLst>
          </a:prstGeom>
          <a:solidFill>
            <a:srgbClr val="FFFFFF"/>
          </a:solidFill>
          <a:ln w="12700">
            <a:solidFill>
              <a:srgbClr val="D9DEE5"/>
            </a:solidFill>
            <a:prstDash val="solid"/>
          </a:ln>
        </p:spPr>
      </p:sp>
      <p:sp>
        <p:nvSpPr>
          <p:cNvPr id="18" name="Shape 16"/>
          <p:cNvSpPr/>
          <p:nvPr/>
        </p:nvSpPr>
        <p:spPr>
          <a:xfrm>
            <a:off x="8284464" y="1645920"/>
            <a:ext cx="82296" cy="4297680"/>
          </a:xfrm>
          <a:prstGeom prst="rect">
            <a:avLst/>
          </a:prstGeom>
          <a:solidFill>
            <a:srgbClr val="C47B12"/>
          </a:solidFill>
          <a:ln w="12700">
            <a:solidFill>
              <a:srgbClr val="C47B12"/>
            </a:solidFill>
            <a:prstDash val="solid"/>
          </a:ln>
        </p:spPr>
      </p:sp>
      <p:sp>
        <p:nvSpPr>
          <p:cNvPr id="19" name="Text 17"/>
          <p:cNvSpPr/>
          <p:nvPr/>
        </p:nvSpPr>
        <p:spPr>
          <a:xfrm>
            <a:off x="8503920" y="1810512"/>
            <a:ext cx="3063240" cy="320040"/>
          </a:xfrm>
          <a:prstGeom prst="rect">
            <a:avLst/>
          </a:prstGeom>
          <a:noFill/>
          <a:ln/>
        </p:spPr>
        <p:txBody>
          <a:bodyPr wrap="square" lIns="0" tIns="0" rIns="0" bIns="0" rtlCol="0" anchor="ctr">
            <a:normAutofit/>
          </a:bodyPr>
          <a:lstStyle/>
          <a:p>
            <a:pPr indent="0" marL="0">
              <a:buNone/>
            </a:pPr>
            <a:r>
              <a:rPr lang="en-US" sz="2500" b="1" dirty="0">
                <a:solidFill>
                  <a:srgbClr val="20262E"/>
                </a:solidFill>
                <a:latin typeface="Arial" pitchFamily="34" charset="0"/>
                <a:ea typeface="Arial" pitchFamily="34" charset="-122"/>
                <a:cs typeface="Arial" pitchFamily="34" charset="-120"/>
              </a:rPr>
              <a:t>RQ3</a:t>
            </a:r>
            <a:endParaRPr lang="en-US" sz="2500" dirty="0"/>
          </a:p>
        </p:txBody>
      </p:sp>
      <p:sp>
        <p:nvSpPr>
          <p:cNvPr id="20" name="Text 18"/>
          <p:cNvSpPr/>
          <p:nvPr/>
        </p:nvSpPr>
        <p:spPr>
          <a:xfrm>
            <a:off x="8503920" y="2212848"/>
            <a:ext cx="3035808" cy="3566160"/>
          </a:xfrm>
          <a:prstGeom prst="rect">
            <a:avLst/>
          </a:prstGeom>
          <a:noFill/>
          <a:ln/>
        </p:spPr>
        <p:txBody>
          <a:bodyPr wrap="square" lIns="0" tIns="0" rIns="0" bIns="0" rtlCol="0" anchor="t">
            <a:normAutofit/>
          </a:bodyPr>
          <a:lstStyle/>
          <a:p>
            <a:pPr indent="0" marL="0">
              <a:buNone/>
            </a:pPr>
            <a:r>
              <a:rPr lang="en-US" sz="1700" dirty="0">
                <a:solidFill>
                  <a:srgbClr val="66717E"/>
                </a:solidFill>
                <a:latin typeface="Arial" pitchFamily="34" charset="0"/>
                <a:ea typeface="Arial" pitchFamily="34" charset="-122"/>
                <a:cs typeface="Arial" pitchFamily="34" charset="-120"/>
              </a:rPr>
              <a:t>Can they reduce tail latency and maintain zero-error behavior under load?</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System Under Study</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API scope, pp. 28-32 | Section 4.6, p. 51</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06</a:t>
            </a:r>
            <a:endParaRPr lang="en-US" sz="1000" dirty="0"/>
          </a:p>
        </p:txBody>
      </p:sp>
      <p:sp>
        <p:nvSpPr>
          <p:cNvPr id="9" name="Shape 7"/>
          <p:cNvSpPr/>
          <p:nvPr/>
        </p:nvSpPr>
        <p:spPr>
          <a:xfrm>
            <a:off x="4251960" y="2331720"/>
            <a:ext cx="3657600" cy="1188720"/>
          </a:xfrm>
          <a:prstGeom prst="roundRect">
            <a:avLst>
              <a:gd name="adj" fmla="val 5385"/>
            </a:avLst>
          </a:prstGeom>
          <a:solidFill>
            <a:srgbClr val="152027"/>
          </a:solidFill>
          <a:ln w="12700">
            <a:solidFill>
              <a:srgbClr val="152027"/>
            </a:solidFill>
            <a:prstDash val="solid"/>
          </a:ln>
        </p:spPr>
      </p:sp>
      <p:sp>
        <p:nvSpPr>
          <p:cNvPr id="10" name="Text 8"/>
          <p:cNvSpPr/>
          <p:nvPr/>
        </p:nvSpPr>
        <p:spPr>
          <a:xfrm>
            <a:off x="4480560" y="2624328"/>
            <a:ext cx="3200400" cy="411480"/>
          </a:xfrm>
          <a:prstGeom prst="rect">
            <a:avLst/>
          </a:prstGeom>
          <a:noFill/>
          <a:ln/>
        </p:spPr>
        <p:txBody>
          <a:bodyPr wrap="square" lIns="0" tIns="0" rIns="0" bIns="0" rtlCol="0" anchor="ctr">
            <a:normAutofit/>
          </a:bodyPr>
          <a:lstStyle/>
          <a:p>
            <a:pPr algn="ctr" indent="0" marL="0">
              <a:buNone/>
            </a:pPr>
            <a:r>
              <a:rPr lang="en-US" sz="2400" b="1" dirty="0">
                <a:solidFill>
                  <a:srgbClr val="FFFFFF"/>
                </a:solidFill>
                <a:latin typeface="Arial" pitchFamily="34" charset="0"/>
                <a:ea typeface="Arial" pitchFamily="34" charset="-122"/>
                <a:cs typeface="Arial" pitchFamily="34" charset="-120"/>
              </a:rPr>
              <a:t>Financial Accounting API</a:t>
            </a:r>
            <a:endParaRPr lang="en-US" sz="2400" dirty="0"/>
          </a:p>
        </p:txBody>
      </p:sp>
      <p:sp>
        <p:nvSpPr>
          <p:cNvPr id="11" name="Shape 9"/>
          <p:cNvSpPr/>
          <p:nvPr/>
        </p:nvSpPr>
        <p:spPr>
          <a:xfrm>
            <a:off x="731520" y="1417320"/>
            <a:ext cx="2971800" cy="841248"/>
          </a:xfrm>
          <a:prstGeom prst="roundRect">
            <a:avLst>
              <a:gd name="adj" fmla="val 7609"/>
            </a:avLst>
          </a:prstGeom>
          <a:solidFill>
            <a:srgbClr val="FFFFFF"/>
          </a:solidFill>
          <a:ln w="12700">
            <a:solidFill>
              <a:srgbClr val="D9DEE5"/>
            </a:solidFill>
            <a:prstDash val="solid"/>
          </a:ln>
        </p:spPr>
      </p:sp>
      <p:sp>
        <p:nvSpPr>
          <p:cNvPr id="12" name="Shape 10"/>
          <p:cNvSpPr/>
          <p:nvPr/>
        </p:nvSpPr>
        <p:spPr>
          <a:xfrm>
            <a:off x="731520" y="1417320"/>
            <a:ext cx="82296" cy="841248"/>
          </a:xfrm>
          <a:prstGeom prst="rect">
            <a:avLst/>
          </a:prstGeom>
          <a:solidFill>
            <a:srgbClr val="0B6670"/>
          </a:solidFill>
          <a:ln w="12700">
            <a:solidFill>
              <a:srgbClr val="0B6670"/>
            </a:solidFill>
            <a:prstDash val="solid"/>
          </a:ln>
        </p:spPr>
      </p:sp>
      <p:sp>
        <p:nvSpPr>
          <p:cNvPr id="13" name="Text 11"/>
          <p:cNvSpPr/>
          <p:nvPr/>
        </p:nvSpPr>
        <p:spPr>
          <a:xfrm>
            <a:off x="950976" y="158191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Authentication</a:t>
            </a:r>
            <a:endParaRPr lang="en-US" sz="1700" dirty="0"/>
          </a:p>
        </p:txBody>
      </p:sp>
      <p:sp>
        <p:nvSpPr>
          <p:cNvPr id="14" name="Shape 12"/>
          <p:cNvSpPr/>
          <p:nvPr/>
        </p:nvSpPr>
        <p:spPr>
          <a:xfrm>
            <a:off x="3703320" y="1837944"/>
            <a:ext cx="457200" cy="1069848"/>
          </a:xfrm>
          <a:prstGeom prst="line">
            <a:avLst/>
          </a:prstGeom>
          <a:noFill/>
          <a:ln w="15240">
            <a:solidFill>
              <a:srgbClr val="D9DEE5"/>
            </a:solidFill>
            <a:prstDash val="solid"/>
            <a:headEnd type="none"/>
            <a:tailEnd type="triangle"/>
          </a:ln>
        </p:spPr>
      </p:sp>
      <p:sp>
        <p:nvSpPr>
          <p:cNvPr id="15" name="Shape 13"/>
          <p:cNvSpPr/>
          <p:nvPr/>
        </p:nvSpPr>
        <p:spPr>
          <a:xfrm>
            <a:off x="731520" y="2651760"/>
            <a:ext cx="2971800" cy="841248"/>
          </a:xfrm>
          <a:prstGeom prst="roundRect">
            <a:avLst>
              <a:gd name="adj" fmla="val 7609"/>
            </a:avLst>
          </a:prstGeom>
          <a:solidFill>
            <a:srgbClr val="FFFFFF"/>
          </a:solidFill>
          <a:ln w="12700">
            <a:solidFill>
              <a:srgbClr val="D9DEE5"/>
            </a:solidFill>
            <a:prstDash val="solid"/>
          </a:ln>
        </p:spPr>
      </p:sp>
      <p:sp>
        <p:nvSpPr>
          <p:cNvPr id="16" name="Shape 14"/>
          <p:cNvSpPr/>
          <p:nvPr/>
        </p:nvSpPr>
        <p:spPr>
          <a:xfrm>
            <a:off x="731520" y="2651760"/>
            <a:ext cx="82296" cy="841248"/>
          </a:xfrm>
          <a:prstGeom prst="rect">
            <a:avLst/>
          </a:prstGeom>
          <a:solidFill>
            <a:srgbClr val="0B6670"/>
          </a:solidFill>
          <a:ln w="12700">
            <a:solidFill>
              <a:srgbClr val="0B6670"/>
            </a:solidFill>
            <a:prstDash val="solid"/>
          </a:ln>
        </p:spPr>
      </p:sp>
      <p:sp>
        <p:nvSpPr>
          <p:cNvPr id="17" name="Text 15"/>
          <p:cNvSpPr/>
          <p:nvPr/>
        </p:nvSpPr>
        <p:spPr>
          <a:xfrm>
            <a:off x="950976" y="281635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Users</a:t>
            </a:r>
            <a:endParaRPr lang="en-US" sz="1700" dirty="0"/>
          </a:p>
        </p:txBody>
      </p:sp>
      <p:sp>
        <p:nvSpPr>
          <p:cNvPr id="18" name="Shape 16"/>
          <p:cNvSpPr/>
          <p:nvPr/>
        </p:nvSpPr>
        <p:spPr>
          <a:xfrm flipV="1">
            <a:off x="3703320" y="2907792"/>
            <a:ext cx="457200" cy="164592"/>
          </a:xfrm>
          <a:prstGeom prst="line">
            <a:avLst/>
          </a:prstGeom>
          <a:noFill/>
          <a:ln w="15240">
            <a:solidFill>
              <a:srgbClr val="D9DEE5"/>
            </a:solidFill>
            <a:prstDash val="solid"/>
            <a:headEnd type="none"/>
            <a:tailEnd type="triangle"/>
          </a:ln>
        </p:spPr>
      </p:sp>
      <p:sp>
        <p:nvSpPr>
          <p:cNvPr id="19" name="Shape 17"/>
          <p:cNvSpPr/>
          <p:nvPr/>
        </p:nvSpPr>
        <p:spPr>
          <a:xfrm>
            <a:off x="731520" y="3886200"/>
            <a:ext cx="2971800" cy="841248"/>
          </a:xfrm>
          <a:prstGeom prst="roundRect">
            <a:avLst>
              <a:gd name="adj" fmla="val 7609"/>
            </a:avLst>
          </a:prstGeom>
          <a:solidFill>
            <a:srgbClr val="FFFFFF"/>
          </a:solidFill>
          <a:ln w="12700">
            <a:solidFill>
              <a:srgbClr val="D9DEE5"/>
            </a:solidFill>
            <a:prstDash val="solid"/>
          </a:ln>
        </p:spPr>
      </p:sp>
      <p:sp>
        <p:nvSpPr>
          <p:cNvPr id="20" name="Shape 18"/>
          <p:cNvSpPr/>
          <p:nvPr/>
        </p:nvSpPr>
        <p:spPr>
          <a:xfrm>
            <a:off x="731520" y="3886200"/>
            <a:ext cx="82296" cy="841248"/>
          </a:xfrm>
          <a:prstGeom prst="rect">
            <a:avLst/>
          </a:prstGeom>
          <a:solidFill>
            <a:srgbClr val="0B6670"/>
          </a:solidFill>
          <a:ln w="12700">
            <a:solidFill>
              <a:srgbClr val="0B6670"/>
            </a:solidFill>
            <a:prstDash val="solid"/>
          </a:ln>
        </p:spPr>
      </p:sp>
      <p:sp>
        <p:nvSpPr>
          <p:cNvPr id="21" name="Text 19"/>
          <p:cNvSpPr/>
          <p:nvPr/>
        </p:nvSpPr>
        <p:spPr>
          <a:xfrm>
            <a:off x="950976" y="405079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Accounts</a:t>
            </a:r>
            <a:endParaRPr lang="en-US" sz="1700" dirty="0"/>
          </a:p>
        </p:txBody>
      </p:sp>
      <p:sp>
        <p:nvSpPr>
          <p:cNvPr id="22" name="Shape 20"/>
          <p:cNvSpPr/>
          <p:nvPr/>
        </p:nvSpPr>
        <p:spPr>
          <a:xfrm flipV="1">
            <a:off x="3703320" y="2907792"/>
            <a:ext cx="457200" cy="1399032"/>
          </a:xfrm>
          <a:prstGeom prst="line">
            <a:avLst/>
          </a:prstGeom>
          <a:noFill/>
          <a:ln w="15240">
            <a:solidFill>
              <a:srgbClr val="D9DEE5"/>
            </a:solidFill>
            <a:prstDash val="solid"/>
            <a:headEnd type="none"/>
            <a:tailEnd type="triangle"/>
          </a:ln>
        </p:spPr>
      </p:sp>
      <p:sp>
        <p:nvSpPr>
          <p:cNvPr id="23" name="Shape 21"/>
          <p:cNvSpPr/>
          <p:nvPr/>
        </p:nvSpPr>
        <p:spPr>
          <a:xfrm>
            <a:off x="731520" y="5120640"/>
            <a:ext cx="2971800" cy="841248"/>
          </a:xfrm>
          <a:prstGeom prst="roundRect">
            <a:avLst>
              <a:gd name="adj" fmla="val 7609"/>
            </a:avLst>
          </a:prstGeom>
          <a:solidFill>
            <a:srgbClr val="FFFFFF"/>
          </a:solidFill>
          <a:ln w="12700">
            <a:solidFill>
              <a:srgbClr val="D9DEE5"/>
            </a:solidFill>
            <a:prstDash val="solid"/>
          </a:ln>
        </p:spPr>
      </p:sp>
      <p:sp>
        <p:nvSpPr>
          <p:cNvPr id="24" name="Shape 22"/>
          <p:cNvSpPr/>
          <p:nvPr/>
        </p:nvSpPr>
        <p:spPr>
          <a:xfrm>
            <a:off x="731520" y="5120640"/>
            <a:ext cx="82296" cy="841248"/>
          </a:xfrm>
          <a:prstGeom prst="rect">
            <a:avLst/>
          </a:prstGeom>
          <a:solidFill>
            <a:srgbClr val="0B6670"/>
          </a:solidFill>
          <a:ln w="12700">
            <a:solidFill>
              <a:srgbClr val="0B6670"/>
            </a:solidFill>
            <a:prstDash val="solid"/>
          </a:ln>
        </p:spPr>
      </p:sp>
      <p:sp>
        <p:nvSpPr>
          <p:cNvPr id="25" name="Text 23"/>
          <p:cNvSpPr/>
          <p:nvPr/>
        </p:nvSpPr>
        <p:spPr>
          <a:xfrm>
            <a:off x="950976" y="528523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Journal entries</a:t>
            </a:r>
            <a:endParaRPr lang="en-US" sz="1700" dirty="0"/>
          </a:p>
        </p:txBody>
      </p:sp>
      <p:sp>
        <p:nvSpPr>
          <p:cNvPr id="26" name="Shape 24"/>
          <p:cNvSpPr/>
          <p:nvPr/>
        </p:nvSpPr>
        <p:spPr>
          <a:xfrm flipV="1">
            <a:off x="3703320" y="2907792"/>
            <a:ext cx="457200" cy="2633472"/>
          </a:xfrm>
          <a:prstGeom prst="line">
            <a:avLst/>
          </a:prstGeom>
          <a:noFill/>
          <a:ln w="15240">
            <a:solidFill>
              <a:srgbClr val="D9DEE5"/>
            </a:solidFill>
            <a:prstDash val="solid"/>
            <a:headEnd type="none"/>
            <a:tailEnd type="triangle"/>
          </a:ln>
        </p:spPr>
      </p:sp>
      <p:sp>
        <p:nvSpPr>
          <p:cNvPr id="27" name="Shape 25"/>
          <p:cNvSpPr/>
          <p:nvPr/>
        </p:nvSpPr>
        <p:spPr>
          <a:xfrm>
            <a:off x="8458200" y="1417320"/>
            <a:ext cx="2971800" cy="841248"/>
          </a:xfrm>
          <a:prstGeom prst="roundRect">
            <a:avLst>
              <a:gd name="adj" fmla="val 7609"/>
            </a:avLst>
          </a:prstGeom>
          <a:solidFill>
            <a:srgbClr val="FFFFFF"/>
          </a:solidFill>
          <a:ln w="12700">
            <a:solidFill>
              <a:srgbClr val="D9DEE5"/>
            </a:solidFill>
            <a:prstDash val="solid"/>
          </a:ln>
        </p:spPr>
      </p:sp>
      <p:sp>
        <p:nvSpPr>
          <p:cNvPr id="28" name="Shape 26"/>
          <p:cNvSpPr/>
          <p:nvPr/>
        </p:nvSpPr>
        <p:spPr>
          <a:xfrm>
            <a:off x="8458200" y="1417320"/>
            <a:ext cx="82296" cy="841248"/>
          </a:xfrm>
          <a:prstGeom prst="rect">
            <a:avLst/>
          </a:prstGeom>
          <a:solidFill>
            <a:srgbClr val="B93A3A"/>
          </a:solidFill>
          <a:ln w="12700">
            <a:solidFill>
              <a:srgbClr val="B93A3A"/>
            </a:solidFill>
            <a:prstDash val="solid"/>
          </a:ln>
        </p:spPr>
      </p:sp>
      <p:sp>
        <p:nvSpPr>
          <p:cNvPr id="29" name="Text 27"/>
          <p:cNvSpPr/>
          <p:nvPr/>
        </p:nvSpPr>
        <p:spPr>
          <a:xfrm>
            <a:off x="8677656" y="158191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Periods</a:t>
            </a:r>
            <a:endParaRPr lang="en-US" sz="1700" dirty="0"/>
          </a:p>
        </p:txBody>
      </p:sp>
      <p:sp>
        <p:nvSpPr>
          <p:cNvPr id="30" name="Shape 28"/>
          <p:cNvSpPr/>
          <p:nvPr/>
        </p:nvSpPr>
        <p:spPr>
          <a:xfrm flipH="1">
            <a:off x="7955280" y="1837944"/>
            <a:ext cx="457200" cy="1069848"/>
          </a:xfrm>
          <a:prstGeom prst="line">
            <a:avLst/>
          </a:prstGeom>
          <a:noFill/>
          <a:ln w="15240">
            <a:solidFill>
              <a:srgbClr val="D9DEE5"/>
            </a:solidFill>
            <a:prstDash val="solid"/>
            <a:headEnd type="none"/>
            <a:tailEnd type="triangle"/>
          </a:ln>
        </p:spPr>
      </p:sp>
      <p:sp>
        <p:nvSpPr>
          <p:cNvPr id="31" name="Shape 29"/>
          <p:cNvSpPr/>
          <p:nvPr/>
        </p:nvSpPr>
        <p:spPr>
          <a:xfrm>
            <a:off x="8458200" y="2651760"/>
            <a:ext cx="2971800" cy="841248"/>
          </a:xfrm>
          <a:prstGeom prst="roundRect">
            <a:avLst>
              <a:gd name="adj" fmla="val 7609"/>
            </a:avLst>
          </a:prstGeom>
          <a:solidFill>
            <a:srgbClr val="FFFFFF"/>
          </a:solidFill>
          <a:ln w="12700">
            <a:solidFill>
              <a:srgbClr val="D9DEE5"/>
            </a:solidFill>
            <a:prstDash val="solid"/>
          </a:ln>
        </p:spPr>
      </p:sp>
      <p:sp>
        <p:nvSpPr>
          <p:cNvPr id="32" name="Shape 30"/>
          <p:cNvSpPr/>
          <p:nvPr/>
        </p:nvSpPr>
        <p:spPr>
          <a:xfrm>
            <a:off x="8458200" y="2651760"/>
            <a:ext cx="82296" cy="841248"/>
          </a:xfrm>
          <a:prstGeom prst="rect">
            <a:avLst/>
          </a:prstGeom>
          <a:solidFill>
            <a:srgbClr val="B93A3A"/>
          </a:solidFill>
          <a:ln w="12700">
            <a:solidFill>
              <a:srgbClr val="B93A3A"/>
            </a:solidFill>
            <a:prstDash val="solid"/>
          </a:ln>
        </p:spPr>
      </p:sp>
      <p:sp>
        <p:nvSpPr>
          <p:cNvPr id="33" name="Text 31"/>
          <p:cNvSpPr/>
          <p:nvPr/>
        </p:nvSpPr>
        <p:spPr>
          <a:xfrm>
            <a:off x="8677656" y="281635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Financial reports</a:t>
            </a:r>
            <a:endParaRPr lang="en-US" sz="1700" dirty="0"/>
          </a:p>
        </p:txBody>
      </p:sp>
      <p:sp>
        <p:nvSpPr>
          <p:cNvPr id="34" name="Shape 32"/>
          <p:cNvSpPr/>
          <p:nvPr/>
        </p:nvSpPr>
        <p:spPr>
          <a:xfrm flipH="1" flipV="1">
            <a:off x="7955280" y="2907792"/>
            <a:ext cx="457200" cy="164592"/>
          </a:xfrm>
          <a:prstGeom prst="line">
            <a:avLst/>
          </a:prstGeom>
          <a:noFill/>
          <a:ln w="15240">
            <a:solidFill>
              <a:srgbClr val="D9DEE5"/>
            </a:solidFill>
            <a:prstDash val="solid"/>
            <a:headEnd type="none"/>
            <a:tailEnd type="triangle"/>
          </a:ln>
        </p:spPr>
      </p:sp>
      <p:sp>
        <p:nvSpPr>
          <p:cNvPr id="35" name="Shape 33"/>
          <p:cNvSpPr/>
          <p:nvPr/>
        </p:nvSpPr>
        <p:spPr>
          <a:xfrm>
            <a:off x="8458200" y="3886200"/>
            <a:ext cx="2971800" cy="841248"/>
          </a:xfrm>
          <a:prstGeom prst="roundRect">
            <a:avLst>
              <a:gd name="adj" fmla="val 7609"/>
            </a:avLst>
          </a:prstGeom>
          <a:solidFill>
            <a:srgbClr val="FFFFFF"/>
          </a:solidFill>
          <a:ln w="12700">
            <a:solidFill>
              <a:srgbClr val="D9DEE5"/>
            </a:solidFill>
            <a:prstDash val="solid"/>
          </a:ln>
        </p:spPr>
      </p:sp>
      <p:sp>
        <p:nvSpPr>
          <p:cNvPr id="36" name="Shape 34"/>
          <p:cNvSpPr/>
          <p:nvPr/>
        </p:nvSpPr>
        <p:spPr>
          <a:xfrm>
            <a:off x="8458200" y="3886200"/>
            <a:ext cx="82296" cy="841248"/>
          </a:xfrm>
          <a:prstGeom prst="rect">
            <a:avLst/>
          </a:prstGeom>
          <a:solidFill>
            <a:srgbClr val="B93A3A"/>
          </a:solidFill>
          <a:ln w="12700">
            <a:solidFill>
              <a:srgbClr val="B93A3A"/>
            </a:solidFill>
            <a:prstDash val="solid"/>
          </a:ln>
        </p:spPr>
      </p:sp>
      <p:sp>
        <p:nvSpPr>
          <p:cNvPr id="37" name="Text 35"/>
          <p:cNvSpPr/>
          <p:nvPr/>
        </p:nvSpPr>
        <p:spPr>
          <a:xfrm>
            <a:off x="8677656" y="405079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Audit logs</a:t>
            </a:r>
            <a:endParaRPr lang="en-US" sz="1700" dirty="0"/>
          </a:p>
        </p:txBody>
      </p:sp>
      <p:sp>
        <p:nvSpPr>
          <p:cNvPr id="38" name="Shape 36"/>
          <p:cNvSpPr/>
          <p:nvPr/>
        </p:nvSpPr>
        <p:spPr>
          <a:xfrm flipH="1" flipV="1">
            <a:off x="7955280" y="2907792"/>
            <a:ext cx="457200" cy="1399032"/>
          </a:xfrm>
          <a:prstGeom prst="line">
            <a:avLst/>
          </a:prstGeom>
          <a:noFill/>
          <a:ln w="15240">
            <a:solidFill>
              <a:srgbClr val="D9DEE5"/>
            </a:solidFill>
            <a:prstDash val="solid"/>
            <a:headEnd type="none"/>
            <a:tailEnd type="triangle"/>
          </a:ln>
        </p:spPr>
      </p:sp>
      <p:sp>
        <p:nvSpPr>
          <p:cNvPr id="39" name="Shape 37"/>
          <p:cNvSpPr/>
          <p:nvPr/>
        </p:nvSpPr>
        <p:spPr>
          <a:xfrm>
            <a:off x="2880360" y="5349240"/>
            <a:ext cx="6400800" cy="329184"/>
          </a:xfrm>
          <a:prstGeom prst="roundRect">
            <a:avLst>
              <a:gd name="adj" fmla="val 19444"/>
            </a:avLst>
          </a:prstGeom>
          <a:solidFill>
            <a:srgbClr val="2F7D4A"/>
          </a:solidFill>
          <a:ln w="12700">
            <a:solidFill>
              <a:srgbClr val="2F7D4A"/>
            </a:solidFill>
            <a:prstDash val="solid"/>
          </a:ln>
        </p:spPr>
      </p:sp>
      <p:sp>
        <p:nvSpPr>
          <p:cNvPr id="40" name="Text 38"/>
          <p:cNvSpPr/>
          <p:nvPr/>
        </p:nvSpPr>
        <p:spPr>
          <a:xfrm>
            <a:off x="2971800" y="5394960"/>
            <a:ext cx="6217920" cy="201168"/>
          </a:xfrm>
          <a:prstGeom prst="rect">
            <a:avLst/>
          </a:prstGeom>
          <a:noFill/>
          <a:ln/>
        </p:spPr>
        <p:txBody>
          <a:bodyPr wrap="square" lIns="0" tIns="0" rIns="0" bIns="0" rtlCol="0" anchor="ctr">
            <a:normAutofit/>
          </a:bodyPr>
          <a:lstStyle/>
          <a:p>
            <a:pPr algn="ctr" indent="0" marL="0">
              <a:buNone/>
            </a:pPr>
            <a:r>
              <a:rPr lang="en-US" sz="1050" b="1" dirty="0">
                <a:solidFill>
                  <a:srgbClr val="FFFFFF"/>
                </a:solidFill>
                <a:latin typeface="Arial" pitchFamily="34" charset="0"/>
                <a:ea typeface="Arial" pitchFamily="34" charset="-122"/>
                <a:cs typeface="Arial" pitchFamily="34" charset="-120"/>
              </a:rPr>
              <a:t>ASP.NET Core 8 | SQL Server | JWT/RBAC | React/Vite evidence client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Branch-Isolated Research Design</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3.1, p. 28 | Table 3.1, p. 29</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07</a:t>
            </a:r>
            <a:endParaRPr lang="en-US" sz="1000" dirty="0"/>
          </a:p>
        </p:txBody>
      </p:sp>
      <p:sp>
        <p:nvSpPr>
          <p:cNvPr id="9" name="Shape 7"/>
          <p:cNvSpPr/>
          <p:nvPr/>
        </p:nvSpPr>
        <p:spPr>
          <a:xfrm>
            <a:off x="777240" y="2331720"/>
            <a:ext cx="2377440" cy="1280160"/>
          </a:xfrm>
          <a:prstGeom prst="roundRect">
            <a:avLst>
              <a:gd name="adj" fmla="val 5000"/>
            </a:avLst>
          </a:prstGeom>
          <a:solidFill>
            <a:srgbClr val="FFFFFF"/>
          </a:solidFill>
          <a:ln w="12700">
            <a:solidFill>
              <a:srgbClr val="D9DEE5"/>
            </a:solidFill>
            <a:prstDash val="solid"/>
          </a:ln>
        </p:spPr>
      </p:sp>
      <p:sp>
        <p:nvSpPr>
          <p:cNvPr id="10" name="Shape 8"/>
          <p:cNvSpPr/>
          <p:nvPr/>
        </p:nvSpPr>
        <p:spPr>
          <a:xfrm>
            <a:off x="777240" y="2331720"/>
            <a:ext cx="82296" cy="1280160"/>
          </a:xfrm>
          <a:prstGeom prst="rect">
            <a:avLst/>
          </a:prstGeom>
          <a:solidFill>
            <a:srgbClr val="20262E"/>
          </a:solidFill>
          <a:ln w="12700">
            <a:solidFill>
              <a:srgbClr val="20262E"/>
            </a:solidFill>
            <a:prstDash val="solid"/>
          </a:ln>
        </p:spPr>
      </p:sp>
      <p:sp>
        <p:nvSpPr>
          <p:cNvPr id="11" name="Text 9"/>
          <p:cNvSpPr/>
          <p:nvPr/>
        </p:nvSpPr>
        <p:spPr>
          <a:xfrm>
            <a:off x="996696" y="2496312"/>
            <a:ext cx="2011680" cy="320040"/>
          </a:xfrm>
          <a:prstGeom prst="rect">
            <a:avLst/>
          </a:prstGeom>
          <a:noFill/>
          <a:ln/>
        </p:spPr>
        <p:txBody>
          <a:bodyPr wrap="square" lIns="0" tIns="0" rIns="0" bIns="0" rtlCol="0" anchor="ctr">
            <a:normAutofit/>
          </a:bodyPr>
          <a:lstStyle/>
          <a:p>
            <a:pPr indent="0" marL="0">
              <a:buNone/>
            </a:pPr>
            <a:r>
              <a:rPr lang="en-US" sz="1900" b="1" dirty="0">
                <a:solidFill>
                  <a:srgbClr val="20262E"/>
                </a:solidFill>
                <a:latin typeface="Arial" pitchFamily="34" charset="0"/>
                <a:ea typeface="Arial" pitchFamily="34" charset="-122"/>
                <a:cs typeface="Arial" pitchFamily="34" charset="-120"/>
              </a:rPr>
              <a:t>baseline-v0.1</a:t>
            </a:r>
            <a:endParaRPr lang="en-US" sz="1900" dirty="0"/>
          </a:p>
        </p:txBody>
      </p:sp>
      <p:sp>
        <p:nvSpPr>
          <p:cNvPr id="12" name="Text 10"/>
          <p:cNvSpPr/>
          <p:nvPr/>
        </p:nvSpPr>
        <p:spPr>
          <a:xfrm>
            <a:off x="996696" y="2898648"/>
            <a:ext cx="1984248" cy="548640"/>
          </a:xfrm>
          <a:prstGeom prst="rect">
            <a:avLst/>
          </a:prstGeom>
          <a:noFill/>
          <a:ln/>
        </p:spPr>
        <p:txBody>
          <a:bodyPr wrap="square" lIns="0" tIns="0" rIns="0" bIns="0" rtlCol="0" anchor="t">
            <a:normAutofit/>
          </a:bodyPr>
          <a:lstStyle/>
          <a:p>
            <a:pPr indent="0" marL="0">
              <a:buNone/>
            </a:pPr>
            <a:r>
              <a:rPr lang="en-US" sz="1400" dirty="0">
                <a:solidFill>
                  <a:srgbClr val="66717E"/>
                </a:solidFill>
                <a:latin typeface="Arial" pitchFamily="34" charset="0"/>
                <a:ea typeface="Arial" pitchFamily="34" charset="-122"/>
                <a:cs typeface="Arial" pitchFamily="34" charset="-120"/>
              </a:rPr>
              <a:t>Shared starting point</a:t>
            </a:r>
            <a:endParaRPr lang="en-US" sz="1400" dirty="0"/>
          </a:p>
        </p:txBody>
      </p:sp>
      <p:sp>
        <p:nvSpPr>
          <p:cNvPr id="13" name="Shape 11"/>
          <p:cNvSpPr/>
          <p:nvPr/>
        </p:nvSpPr>
        <p:spPr>
          <a:xfrm flipV="1">
            <a:off x="3246120" y="1874520"/>
            <a:ext cx="1371600" cy="1097280"/>
          </a:xfrm>
          <a:prstGeom prst="line">
            <a:avLst/>
          </a:prstGeom>
          <a:noFill/>
          <a:ln w="25400">
            <a:solidFill>
              <a:srgbClr val="0B6670"/>
            </a:solidFill>
            <a:prstDash val="solid"/>
            <a:headEnd type="none"/>
            <a:tailEnd type="triangle"/>
          </a:ln>
        </p:spPr>
      </p:sp>
      <p:sp>
        <p:nvSpPr>
          <p:cNvPr id="14" name="Shape 12"/>
          <p:cNvSpPr/>
          <p:nvPr/>
        </p:nvSpPr>
        <p:spPr>
          <a:xfrm>
            <a:off x="4663440" y="1353312"/>
            <a:ext cx="5074920" cy="1051560"/>
          </a:xfrm>
          <a:prstGeom prst="roundRect">
            <a:avLst>
              <a:gd name="adj" fmla="val 6087"/>
            </a:avLst>
          </a:prstGeom>
          <a:solidFill>
            <a:srgbClr val="FFFFFF"/>
          </a:solidFill>
          <a:ln w="12700">
            <a:solidFill>
              <a:srgbClr val="D9DEE5"/>
            </a:solidFill>
            <a:prstDash val="solid"/>
          </a:ln>
        </p:spPr>
      </p:sp>
      <p:sp>
        <p:nvSpPr>
          <p:cNvPr id="15" name="Shape 13"/>
          <p:cNvSpPr/>
          <p:nvPr/>
        </p:nvSpPr>
        <p:spPr>
          <a:xfrm>
            <a:off x="4663440" y="1353312"/>
            <a:ext cx="82296" cy="1051560"/>
          </a:xfrm>
          <a:prstGeom prst="rect">
            <a:avLst/>
          </a:prstGeom>
          <a:solidFill>
            <a:srgbClr val="0B6670"/>
          </a:solidFill>
          <a:ln w="12700">
            <a:solidFill>
              <a:srgbClr val="0B6670"/>
            </a:solidFill>
            <a:prstDash val="solid"/>
          </a:ln>
        </p:spPr>
      </p:sp>
      <p:sp>
        <p:nvSpPr>
          <p:cNvPr id="16" name="Text 14"/>
          <p:cNvSpPr/>
          <p:nvPr/>
        </p:nvSpPr>
        <p:spPr>
          <a:xfrm>
            <a:off x="4882896" y="1517904"/>
            <a:ext cx="470916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baseline-sonarqube-v1</a:t>
            </a:r>
            <a:endParaRPr lang="en-US" sz="1800" dirty="0"/>
          </a:p>
        </p:txBody>
      </p:sp>
      <p:sp>
        <p:nvSpPr>
          <p:cNvPr id="17" name="Text 15"/>
          <p:cNvSpPr/>
          <p:nvPr/>
        </p:nvSpPr>
        <p:spPr>
          <a:xfrm>
            <a:off x="4882896" y="1920240"/>
            <a:ext cx="4681728" cy="320040"/>
          </a:xfrm>
          <a:prstGeom prst="rect">
            <a:avLst/>
          </a:prstGeom>
          <a:noFill/>
          <a:ln/>
        </p:spPr>
        <p:txBody>
          <a:bodyPr wrap="square" lIns="0" tIns="0" rIns="0" bIns="0" rtlCol="0" anchor="t">
            <a:normAutofit/>
          </a:bodyPr>
          <a:lstStyle/>
          <a:p>
            <a:pPr indent="0" marL="0">
              <a:buNone/>
            </a:pPr>
            <a:r>
              <a:rPr lang="en-US" sz="1300" dirty="0">
                <a:solidFill>
                  <a:srgbClr val="66717E"/>
                </a:solidFill>
                <a:latin typeface="Arial" pitchFamily="34" charset="0"/>
                <a:ea typeface="Arial" pitchFamily="34" charset="-122"/>
                <a:cs typeface="Arial" pitchFamily="34" charset="-120"/>
              </a:rPr>
              <a:t>Static quality</a:t>
            </a:r>
            <a:endParaRPr lang="en-US" sz="1300" dirty="0"/>
          </a:p>
        </p:txBody>
      </p:sp>
      <p:sp>
        <p:nvSpPr>
          <p:cNvPr id="18" name="Shape 16"/>
          <p:cNvSpPr/>
          <p:nvPr/>
        </p:nvSpPr>
        <p:spPr>
          <a:xfrm>
            <a:off x="3246120" y="2971800"/>
            <a:ext cx="1371600" cy="475488"/>
          </a:xfrm>
          <a:prstGeom prst="line">
            <a:avLst/>
          </a:prstGeom>
          <a:noFill/>
          <a:ln w="25400">
            <a:solidFill>
              <a:srgbClr val="B93A3A"/>
            </a:solidFill>
            <a:prstDash val="solid"/>
            <a:headEnd type="none"/>
            <a:tailEnd type="triangle"/>
          </a:ln>
        </p:spPr>
      </p:sp>
      <p:sp>
        <p:nvSpPr>
          <p:cNvPr id="19" name="Shape 17"/>
          <p:cNvSpPr/>
          <p:nvPr/>
        </p:nvSpPr>
        <p:spPr>
          <a:xfrm>
            <a:off x="4663440" y="2926080"/>
            <a:ext cx="5074920" cy="1051560"/>
          </a:xfrm>
          <a:prstGeom prst="roundRect">
            <a:avLst>
              <a:gd name="adj" fmla="val 6087"/>
            </a:avLst>
          </a:prstGeom>
          <a:solidFill>
            <a:srgbClr val="FFFFFF"/>
          </a:solidFill>
          <a:ln w="12700">
            <a:solidFill>
              <a:srgbClr val="D9DEE5"/>
            </a:solidFill>
            <a:prstDash val="solid"/>
          </a:ln>
        </p:spPr>
      </p:sp>
      <p:sp>
        <p:nvSpPr>
          <p:cNvPr id="20" name="Shape 18"/>
          <p:cNvSpPr/>
          <p:nvPr/>
        </p:nvSpPr>
        <p:spPr>
          <a:xfrm>
            <a:off x="4663440" y="2926080"/>
            <a:ext cx="82296" cy="1051560"/>
          </a:xfrm>
          <a:prstGeom prst="rect">
            <a:avLst/>
          </a:prstGeom>
          <a:solidFill>
            <a:srgbClr val="B93A3A"/>
          </a:solidFill>
          <a:ln w="12700">
            <a:solidFill>
              <a:srgbClr val="B93A3A"/>
            </a:solidFill>
            <a:prstDash val="solid"/>
          </a:ln>
        </p:spPr>
      </p:sp>
      <p:sp>
        <p:nvSpPr>
          <p:cNvPr id="21" name="Text 19"/>
          <p:cNvSpPr/>
          <p:nvPr/>
        </p:nvSpPr>
        <p:spPr>
          <a:xfrm>
            <a:off x="4882896" y="3090672"/>
            <a:ext cx="470916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baseline-zap-v1</a:t>
            </a:r>
            <a:endParaRPr lang="en-US" sz="1800" dirty="0"/>
          </a:p>
        </p:txBody>
      </p:sp>
      <p:sp>
        <p:nvSpPr>
          <p:cNvPr id="22" name="Text 20"/>
          <p:cNvSpPr/>
          <p:nvPr/>
        </p:nvSpPr>
        <p:spPr>
          <a:xfrm>
            <a:off x="4882896" y="3493008"/>
            <a:ext cx="4681728" cy="320040"/>
          </a:xfrm>
          <a:prstGeom prst="rect">
            <a:avLst/>
          </a:prstGeom>
          <a:noFill/>
          <a:ln/>
        </p:spPr>
        <p:txBody>
          <a:bodyPr wrap="square" lIns="0" tIns="0" rIns="0" bIns="0" rtlCol="0" anchor="t">
            <a:normAutofit/>
          </a:bodyPr>
          <a:lstStyle/>
          <a:p>
            <a:pPr indent="0" marL="0">
              <a:buNone/>
            </a:pPr>
            <a:r>
              <a:rPr lang="en-US" sz="1300" dirty="0">
                <a:solidFill>
                  <a:srgbClr val="66717E"/>
                </a:solidFill>
                <a:latin typeface="Arial" pitchFamily="34" charset="0"/>
                <a:ea typeface="Arial" pitchFamily="34" charset="-122"/>
                <a:cs typeface="Arial" pitchFamily="34" charset="-120"/>
              </a:rPr>
              <a:t>Security</a:t>
            </a:r>
            <a:endParaRPr lang="en-US" sz="1300" dirty="0"/>
          </a:p>
        </p:txBody>
      </p:sp>
      <p:sp>
        <p:nvSpPr>
          <p:cNvPr id="23" name="Shape 21"/>
          <p:cNvSpPr/>
          <p:nvPr/>
        </p:nvSpPr>
        <p:spPr>
          <a:xfrm>
            <a:off x="3246120" y="2971800"/>
            <a:ext cx="1371600" cy="2048256"/>
          </a:xfrm>
          <a:prstGeom prst="line">
            <a:avLst/>
          </a:prstGeom>
          <a:noFill/>
          <a:ln w="25400">
            <a:solidFill>
              <a:srgbClr val="C47B12"/>
            </a:solidFill>
            <a:prstDash val="solid"/>
            <a:headEnd type="none"/>
            <a:tailEnd type="triangle"/>
          </a:ln>
        </p:spPr>
      </p:sp>
      <p:sp>
        <p:nvSpPr>
          <p:cNvPr id="24" name="Shape 22"/>
          <p:cNvSpPr/>
          <p:nvPr/>
        </p:nvSpPr>
        <p:spPr>
          <a:xfrm>
            <a:off x="4663440" y="4498848"/>
            <a:ext cx="5074920" cy="1051560"/>
          </a:xfrm>
          <a:prstGeom prst="roundRect">
            <a:avLst>
              <a:gd name="adj" fmla="val 6087"/>
            </a:avLst>
          </a:prstGeom>
          <a:solidFill>
            <a:srgbClr val="FFFFFF"/>
          </a:solidFill>
          <a:ln w="12700">
            <a:solidFill>
              <a:srgbClr val="D9DEE5"/>
            </a:solidFill>
            <a:prstDash val="solid"/>
          </a:ln>
        </p:spPr>
      </p:sp>
      <p:sp>
        <p:nvSpPr>
          <p:cNvPr id="25" name="Shape 23"/>
          <p:cNvSpPr/>
          <p:nvPr/>
        </p:nvSpPr>
        <p:spPr>
          <a:xfrm>
            <a:off x="4663440" y="4498848"/>
            <a:ext cx="82296" cy="1051560"/>
          </a:xfrm>
          <a:prstGeom prst="rect">
            <a:avLst/>
          </a:prstGeom>
          <a:solidFill>
            <a:srgbClr val="C47B12"/>
          </a:solidFill>
          <a:ln w="12700">
            <a:solidFill>
              <a:srgbClr val="C47B12"/>
            </a:solidFill>
            <a:prstDash val="solid"/>
          </a:ln>
        </p:spPr>
      </p:sp>
      <p:sp>
        <p:nvSpPr>
          <p:cNvPr id="26" name="Text 24"/>
          <p:cNvSpPr/>
          <p:nvPr/>
        </p:nvSpPr>
        <p:spPr>
          <a:xfrm>
            <a:off x="4882896" y="4663440"/>
            <a:ext cx="470916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baseline-jmeter-v1</a:t>
            </a:r>
            <a:endParaRPr lang="en-US" sz="1800" dirty="0"/>
          </a:p>
        </p:txBody>
      </p:sp>
      <p:sp>
        <p:nvSpPr>
          <p:cNvPr id="27" name="Text 25"/>
          <p:cNvSpPr/>
          <p:nvPr/>
        </p:nvSpPr>
        <p:spPr>
          <a:xfrm>
            <a:off x="4882896" y="5065776"/>
            <a:ext cx="4681728" cy="320040"/>
          </a:xfrm>
          <a:prstGeom prst="rect">
            <a:avLst/>
          </a:prstGeom>
          <a:noFill/>
          <a:ln/>
        </p:spPr>
        <p:txBody>
          <a:bodyPr wrap="square" lIns="0" tIns="0" rIns="0" bIns="0" rtlCol="0" anchor="t">
            <a:normAutofit/>
          </a:bodyPr>
          <a:lstStyle/>
          <a:p>
            <a:pPr indent="0" marL="0">
              <a:buNone/>
            </a:pPr>
            <a:r>
              <a:rPr lang="en-US" sz="1300" dirty="0">
                <a:solidFill>
                  <a:srgbClr val="66717E"/>
                </a:solidFill>
                <a:latin typeface="Arial" pitchFamily="34" charset="0"/>
                <a:ea typeface="Arial" pitchFamily="34" charset="-122"/>
                <a:cs typeface="Arial" pitchFamily="34" charset="-120"/>
              </a:rPr>
              <a:t>Performance</a:t>
            </a:r>
            <a:endParaRPr lang="en-US" sz="1300" dirty="0"/>
          </a:p>
        </p:txBody>
      </p:sp>
      <p:sp>
        <p:nvSpPr>
          <p:cNvPr id="28" name="Shape 26"/>
          <p:cNvSpPr/>
          <p:nvPr/>
        </p:nvSpPr>
        <p:spPr>
          <a:xfrm>
            <a:off x="3749040" y="5715000"/>
            <a:ext cx="5212080" cy="329184"/>
          </a:xfrm>
          <a:prstGeom prst="roundRect">
            <a:avLst>
              <a:gd name="adj" fmla="val 19444"/>
            </a:avLst>
          </a:prstGeom>
          <a:solidFill>
            <a:srgbClr val="2F7D4A"/>
          </a:solidFill>
          <a:ln w="12700">
            <a:solidFill>
              <a:srgbClr val="2F7D4A"/>
            </a:solidFill>
            <a:prstDash val="solid"/>
          </a:ln>
        </p:spPr>
      </p:sp>
      <p:sp>
        <p:nvSpPr>
          <p:cNvPr id="29" name="Text 27"/>
          <p:cNvSpPr/>
          <p:nvPr/>
        </p:nvSpPr>
        <p:spPr>
          <a:xfrm>
            <a:off x="3840480" y="5760720"/>
            <a:ext cx="5029200" cy="201168"/>
          </a:xfrm>
          <a:prstGeom prst="rect">
            <a:avLst/>
          </a:prstGeom>
          <a:noFill/>
          <a:ln/>
        </p:spPr>
        <p:txBody>
          <a:bodyPr wrap="square" lIns="0" tIns="0" rIns="0" bIns="0" rtlCol="0" anchor="ctr">
            <a:normAutofit/>
          </a:bodyPr>
          <a:lstStyle/>
          <a:p>
            <a:pPr algn="ctr" indent="0" marL="0">
              <a:buNone/>
            </a:pPr>
            <a:r>
              <a:rPr lang="en-US" sz="1050" b="1" dirty="0">
                <a:solidFill>
                  <a:srgbClr val="FFFFFF"/>
                </a:solidFill>
                <a:latin typeface="Arial" pitchFamily="34" charset="0"/>
                <a:ea typeface="Arial" pitchFamily="34" charset="-122"/>
                <a:cs typeface="Arial" pitchFamily="34" charset="-120"/>
              </a:rPr>
              <a:t>Same API, database, host, and measurement tool</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Four-Phase Evidence Workflow</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3.1, p. 29 | Prompt and human-effort traceability, pp. 37-38</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08</a:t>
            </a:r>
            <a:endParaRPr lang="en-US" sz="1000" dirty="0"/>
          </a:p>
        </p:txBody>
      </p:sp>
      <p:sp>
        <p:nvSpPr>
          <p:cNvPr id="9" name="Shape 7"/>
          <p:cNvSpPr/>
          <p:nvPr/>
        </p:nvSpPr>
        <p:spPr>
          <a:xfrm>
            <a:off x="731520" y="1325880"/>
            <a:ext cx="10744200" cy="4480560"/>
          </a:xfrm>
          <a:prstGeom prst="roundRect">
            <a:avLst>
              <a:gd name="adj" fmla="val 1429"/>
            </a:avLst>
          </a:prstGeom>
          <a:solidFill>
            <a:srgbClr val="FFFFFF"/>
          </a:solidFill>
          <a:ln w="12700">
            <a:solidFill>
              <a:srgbClr val="D9DEE5"/>
            </a:solidFill>
            <a:prstDash val="solid"/>
          </a:ln>
        </p:spPr>
      </p:sp>
      <p:pic>
        <p:nvPicPr>
          <p:cNvPr id="10" name="Image 0" descr="C:\Users\Asus\.codex\worktrees\final-thesis-defense\financial-accounting\Document\paper\figures\workflow.png">    </p:cNvPr>
          <p:cNvPicPr>
            <a:picLocks noChangeAspect="1"/>
          </p:cNvPicPr>
          <p:nvPr/>
        </p:nvPicPr>
        <p:blipFill>
          <a:blip r:embed="rId1"/>
          <a:stretch>
            <a:fillRect/>
          </a:stretch>
        </p:blipFill>
        <p:spPr>
          <a:xfrm>
            <a:off x="3107765" y="1325880"/>
            <a:ext cx="5991710" cy="4480560"/>
          </a:xfrm>
          <a:prstGeom prst="rect">
            <a:avLst/>
          </a:prstGeom>
        </p:spPr>
      </p:pic>
      <p:sp>
        <p:nvSpPr>
          <p:cNvPr id="11" name="Shape 8"/>
          <p:cNvSpPr/>
          <p:nvPr/>
        </p:nvSpPr>
        <p:spPr>
          <a:xfrm>
            <a:off x="3657600" y="5806440"/>
            <a:ext cx="4846320" cy="329184"/>
          </a:xfrm>
          <a:prstGeom prst="roundRect">
            <a:avLst>
              <a:gd name="adj" fmla="val 19444"/>
            </a:avLst>
          </a:prstGeom>
          <a:solidFill>
            <a:srgbClr val="0B6670"/>
          </a:solidFill>
          <a:ln w="12700">
            <a:solidFill>
              <a:srgbClr val="0B6670"/>
            </a:solidFill>
            <a:prstDash val="solid"/>
          </a:ln>
        </p:spPr>
      </p:sp>
      <p:sp>
        <p:nvSpPr>
          <p:cNvPr id="12" name="Text 9"/>
          <p:cNvSpPr/>
          <p:nvPr/>
        </p:nvSpPr>
        <p:spPr>
          <a:xfrm>
            <a:off x="3749040" y="5852160"/>
            <a:ext cx="4663440" cy="201168"/>
          </a:xfrm>
          <a:prstGeom prst="rect">
            <a:avLst/>
          </a:prstGeom>
          <a:noFill/>
          <a:ln/>
        </p:spPr>
        <p:txBody>
          <a:bodyPr wrap="square" lIns="0" tIns="0" rIns="0" bIns="0" rtlCol="0" anchor="ctr">
            <a:normAutofit/>
          </a:bodyPr>
          <a:lstStyle/>
          <a:p>
            <a:pPr algn="ctr" indent="0" marL="0">
              <a:buNone/>
            </a:pPr>
            <a:r>
              <a:rPr lang="en-US" sz="1050" b="1" dirty="0">
                <a:solidFill>
                  <a:srgbClr val="FFFFFF"/>
                </a:solidFill>
                <a:latin typeface="Arial" pitchFamily="34" charset="0"/>
                <a:ea typeface="Arial" pitchFamily="34" charset="-122"/>
                <a:cs typeface="Arial" pitchFamily="34" charset="-120"/>
              </a:rPr>
              <a:t>Finding -&gt; patch -&gt; tests -&gt; remeasurement</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Environment and Seeded Dataset</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3.2, p. 29 | Dataset description, pp. 30 and 38-39</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09</a:t>
            </a:r>
            <a:endParaRPr lang="en-US" sz="1000" dirty="0"/>
          </a:p>
        </p:txBody>
      </p:sp>
      <p:sp>
        <p:nvSpPr>
          <p:cNvPr id="9" name="Shape 7"/>
          <p:cNvSpPr/>
          <p:nvPr/>
        </p:nvSpPr>
        <p:spPr>
          <a:xfrm>
            <a:off x="822960" y="1600200"/>
            <a:ext cx="3246120" cy="1143000"/>
          </a:xfrm>
          <a:prstGeom prst="roundRect">
            <a:avLst>
              <a:gd name="adj" fmla="val 5600"/>
            </a:avLst>
          </a:prstGeom>
          <a:solidFill>
            <a:srgbClr val="FFFFFF"/>
          </a:solidFill>
          <a:ln w="12700">
            <a:solidFill>
              <a:srgbClr val="D9DEE5"/>
            </a:solidFill>
            <a:prstDash val="solid"/>
          </a:ln>
        </p:spPr>
      </p:sp>
      <p:sp>
        <p:nvSpPr>
          <p:cNvPr id="10" name="Text 8"/>
          <p:cNvSpPr/>
          <p:nvPr/>
        </p:nvSpPr>
        <p:spPr>
          <a:xfrm>
            <a:off x="932688" y="1746504"/>
            <a:ext cx="3026664"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120</a:t>
            </a:r>
            <a:endParaRPr lang="en-US" sz="3000" dirty="0"/>
          </a:p>
        </p:txBody>
      </p:sp>
      <p:sp>
        <p:nvSpPr>
          <p:cNvPr id="11" name="Text 9"/>
          <p:cNvSpPr/>
          <p:nvPr/>
        </p:nvSpPr>
        <p:spPr>
          <a:xfrm>
            <a:off x="969264" y="2258568"/>
            <a:ext cx="2953512"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accounts</a:t>
            </a:r>
            <a:endParaRPr lang="en-US" sz="1300" dirty="0"/>
          </a:p>
        </p:txBody>
      </p:sp>
      <p:sp>
        <p:nvSpPr>
          <p:cNvPr id="12" name="Shape 10"/>
          <p:cNvSpPr/>
          <p:nvPr/>
        </p:nvSpPr>
        <p:spPr>
          <a:xfrm>
            <a:off x="4526280" y="1600200"/>
            <a:ext cx="3246120" cy="1143000"/>
          </a:xfrm>
          <a:prstGeom prst="roundRect">
            <a:avLst>
              <a:gd name="adj" fmla="val 5600"/>
            </a:avLst>
          </a:prstGeom>
          <a:solidFill>
            <a:srgbClr val="FFFFFF"/>
          </a:solidFill>
          <a:ln w="12700">
            <a:solidFill>
              <a:srgbClr val="D9DEE5"/>
            </a:solidFill>
            <a:prstDash val="solid"/>
          </a:ln>
        </p:spPr>
      </p:sp>
      <p:sp>
        <p:nvSpPr>
          <p:cNvPr id="13" name="Text 11"/>
          <p:cNvSpPr/>
          <p:nvPr/>
        </p:nvSpPr>
        <p:spPr>
          <a:xfrm>
            <a:off x="4636008" y="1746504"/>
            <a:ext cx="3026664"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30,000</a:t>
            </a:r>
            <a:endParaRPr lang="en-US" sz="3000" dirty="0"/>
          </a:p>
        </p:txBody>
      </p:sp>
      <p:sp>
        <p:nvSpPr>
          <p:cNvPr id="14" name="Text 12"/>
          <p:cNvSpPr/>
          <p:nvPr/>
        </p:nvSpPr>
        <p:spPr>
          <a:xfrm>
            <a:off x="4672584" y="2258568"/>
            <a:ext cx="2953512"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journal entries</a:t>
            </a:r>
            <a:endParaRPr lang="en-US" sz="1300" dirty="0"/>
          </a:p>
        </p:txBody>
      </p:sp>
      <p:sp>
        <p:nvSpPr>
          <p:cNvPr id="15" name="Shape 13"/>
          <p:cNvSpPr/>
          <p:nvPr/>
        </p:nvSpPr>
        <p:spPr>
          <a:xfrm>
            <a:off x="8229600" y="1600200"/>
            <a:ext cx="3246120" cy="1143000"/>
          </a:xfrm>
          <a:prstGeom prst="roundRect">
            <a:avLst>
              <a:gd name="adj" fmla="val 5600"/>
            </a:avLst>
          </a:prstGeom>
          <a:solidFill>
            <a:srgbClr val="FFFFFF"/>
          </a:solidFill>
          <a:ln w="12700">
            <a:solidFill>
              <a:srgbClr val="D9DEE5"/>
            </a:solidFill>
            <a:prstDash val="solid"/>
          </a:ln>
        </p:spPr>
      </p:sp>
      <p:sp>
        <p:nvSpPr>
          <p:cNvPr id="16" name="Text 14"/>
          <p:cNvSpPr/>
          <p:nvPr/>
        </p:nvSpPr>
        <p:spPr>
          <a:xfrm>
            <a:off x="8339328" y="1746504"/>
            <a:ext cx="3026664"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5,000+</a:t>
            </a:r>
            <a:endParaRPr lang="en-US" sz="3000" dirty="0"/>
          </a:p>
        </p:txBody>
      </p:sp>
      <p:sp>
        <p:nvSpPr>
          <p:cNvPr id="17" name="Text 15"/>
          <p:cNvSpPr/>
          <p:nvPr/>
        </p:nvSpPr>
        <p:spPr>
          <a:xfrm>
            <a:off x="8375904" y="2258568"/>
            <a:ext cx="2953512"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posted entries</a:t>
            </a:r>
            <a:endParaRPr lang="en-US" sz="1300" dirty="0"/>
          </a:p>
        </p:txBody>
      </p:sp>
      <p:sp>
        <p:nvSpPr>
          <p:cNvPr id="18" name="Shape 16"/>
          <p:cNvSpPr/>
          <p:nvPr/>
        </p:nvSpPr>
        <p:spPr>
          <a:xfrm>
            <a:off x="822960" y="3337560"/>
            <a:ext cx="5166360" cy="850392"/>
          </a:xfrm>
          <a:prstGeom prst="roundRect">
            <a:avLst>
              <a:gd name="adj" fmla="val 7527"/>
            </a:avLst>
          </a:prstGeom>
          <a:solidFill>
            <a:srgbClr val="FFFFFF"/>
          </a:solidFill>
          <a:ln w="12700">
            <a:solidFill>
              <a:srgbClr val="D9DEE5"/>
            </a:solidFill>
            <a:prstDash val="solid"/>
          </a:ln>
        </p:spPr>
      </p:sp>
      <p:sp>
        <p:nvSpPr>
          <p:cNvPr id="19" name="Shape 17"/>
          <p:cNvSpPr/>
          <p:nvPr/>
        </p:nvSpPr>
        <p:spPr>
          <a:xfrm>
            <a:off x="822960" y="3337560"/>
            <a:ext cx="82296" cy="850392"/>
          </a:xfrm>
          <a:prstGeom prst="rect">
            <a:avLst/>
          </a:prstGeom>
          <a:solidFill>
            <a:srgbClr val="2F7D4A"/>
          </a:solidFill>
          <a:ln w="12700">
            <a:solidFill>
              <a:srgbClr val="2F7D4A"/>
            </a:solidFill>
            <a:prstDash val="solid"/>
          </a:ln>
        </p:spPr>
      </p:sp>
      <p:sp>
        <p:nvSpPr>
          <p:cNvPr id="20" name="Text 18"/>
          <p:cNvSpPr/>
          <p:nvPr/>
        </p:nvSpPr>
        <p:spPr>
          <a:xfrm>
            <a:off x="1042416" y="3502152"/>
            <a:ext cx="480060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Windows 11 and SQL Server</a:t>
            </a:r>
            <a:endParaRPr lang="en-US" sz="1700" dirty="0"/>
          </a:p>
        </p:txBody>
      </p:sp>
      <p:sp>
        <p:nvSpPr>
          <p:cNvPr id="21" name="Shape 19"/>
          <p:cNvSpPr/>
          <p:nvPr/>
        </p:nvSpPr>
        <p:spPr>
          <a:xfrm>
            <a:off x="6382512" y="3337560"/>
            <a:ext cx="5166360" cy="850392"/>
          </a:xfrm>
          <a:prstGeom prst="roundRect">
            <a:avLst>
              <a:gd name="adj" fmla="val 7527"/>
            </a:avLst>
          </a:prstGeom>
          <a:solidFill>
            <a:srgbClr val="FFFFFF"/>
          </a:solidFill>
          <a:ln w="12700">
            <a:solidFill>
              <a:srgbClr val="D9DEE5"/>
            </a:solidFill>
            <a:prstDash val="solid"/>
          </a:ln>
        </p:spPr>
      </p:sp>
      <p:sp>
        <p:nvSpPr>
          <p:cNvPr id="22" name="Shape 20"/>
          <p:cNvSpPr/>
          <p:nvPr/>
        </p:nvSpPr>
        <p:spPr>
          <a:xfrm>
            <a:off x="6382512" y="3337560"/>
            <a:ext cx="82296" cy="850392"/>
          </a:xfrm>
          <a:prstGeom prst="rect">
            <a:avLst/>
          </a:prstGeom>
          <a:solidFill>
            <a:srgbClr val="C47B12"/>
          </a:solidFill>
          <a:ln w="12700">
            <a:solidFill>
              <a:srgbClr val="C47B12"/>
            </a:solidFill>
            <a:prstDash val="solid"/>
          </a:ln>
        </p:spPr>
      </p:sp>
      <p:sp>
        <p:nvSpPr>
          <p:cNvPr id="23" name="Text 21"/>
          <p:cNvSpPr/>
          <p:nvPr/>
        </p:nvSpPr>
        <p:spPr>
          <a:xfrm>
            <a:off x="6601968" y="3502152"/>
            <a:ext cx="480060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ASP.NET Core 8</a:t>
            </a:r>
            <a:endParaRPr lang="en-US" sz="1700" dirty="0"/>
          </a:p>
        </p:txBody>
      </p:sp>
      <p:sp>
        <p:nvSpPr>
          <p:cNvPr id="24" name="Shape 22"/>
          <p:cNvSpPr/>
          <p:nvPr/>
        </p:nvSpPr>
        <p:spPr>
          <a:xfrm>
            <a:off x="822960" y="4480560"/>
            <a:ext cx="5166360" cy="850392"/>
          </a:xfrm>
          <a:prstGeom prst="roundRect">
            <a:avLst>
              <a:gd name="adj" fmla="val 7527"/>
            </a:avLst>
          </a:prstGeom>
          <a:solidFill>
            <a:srgbClr val="FFFFFF"/>
          </a:solidFill>
          <a:ln w="12700">
            <a:solidFill>
              <a:srgbClr val="D9DEE5"/>
            </a:solidFill>
            <a:prstDash val="solid"/>
          </a:ln>
        </p:spPr>
      </p:sp>
      <p:sp>
        <p:nvSpPr>
          <p:cNvPr id="25" name="Shape 23"/>
          <p:cNvSpPr/>
          <p:nvPr/>
        </p:nvSpPr>
        <p:spPr>
          <a:xfrm>
            <a:off x="822960" y="4480560"/>
            <a:ext cx="82296" cy="850392"/>
          </a:xfrm>
          <a:prstGeom prst="rect">
            <a:avLst/>
          </a:prstGeom>
          <a:solidFill>
            <a:srgbClr val="2F7D4A"/>
          </a:solidFill>
          <a:ln w="12700">
            <a:solidFill>
              <a:srgbClr val="2F7D4A"/>
            </a:solidFill>
            <a:prstDash val="solid"/>
          </a:ln>
        </p:spPr>
      </p:sp>
      <p:sp>
        <p:nvSpPr>
          <p:cNvPr id="26" name="Text 24"/>
          <p:cNvSpPr/>
          <p:nvPr/>
        </p:nvSpPr>
        <p:spPr>
          <a:xfrm>
            <a:off x="1042416" y="4645152"/>
            <a:ext cx="480060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Four authenticated roles</a:t>
            </a:r>
            <a:endParaRPr lang="en-US" sz="1700" dirty="0"/>
          </a:p>
        </p:txBody>
      </p:sp>
      <p:sp>
        <p:nvSpPr>
          <p:cNvPr id="27" name="Shape 25"/>
          <p:cNvSpPr/>
          <p:nvPr/>
        </p:nvSpPr>
        <p:spPr>
          <a:xfrm>
            <a:off x="6382512" y="4480560"/>
            <a:ext cx="5166360" cy="850392"/>
          </a:xfrm>
          <a:prstGeom prst="roundRect">
            <a:avLst>
              <a:gd name="adj" fmla="val 7527"/>
            </a:avLst>
          </a:prstGeom>
          <a:solidFill>
            <a:srgbClr val="FFFFFF"/>
          </a:solidFill>
          <a:ln w="12700">
            <a:solidFill>
              <a:srgbClr val="D9DEE5"/>
            </a:solidFill>
            <a:prstDash val="solid"/>
          </a:ln>
        </p:spPr>
      </p:sp>
      <p:sp>
        <p:nvSpPr>
          <p:cNvPr id="28" name="Shape 26"/>
          <p:cNvSpPr/>
          <p:nvPr/>
        </p:nvSpPr>
        <p:spPr>
          <a:xfrm>
            <a:off x="6382512" y="4480560"/>
            <a:ext cx="82296" cy="850392"/>
          </a:xfrm>
          <a:prstGeom prst="rect">
            <a:avLst/>
          </a:prstGeom>
          <a:solidFill>
            <a:srgbClr val="C47B12"/>
          </a:solidFill>
          <a:ln w="12700">
            <a:solidFill>
              <a:srgbClr val="C47B12"/>
            </a:solidFill>
            <a:prstDash val="solid"/>
          </a:ln>
        </p:spPr>
      </p:sp>
      <p:sp>
        <p:nvSpPr>
          <p:cNvPr id="29" name="Text 27"/>
          <p:cNvSpPr/>
          <p:nvPr/>
        </p:nvSpPr>
        <p:spPr>
          <a:xfrm>
            <a:off x="6601968" y="4645152"/>
            <a:ext cx="480060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Same host for baseline and fixes</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Evaluation Gates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4.1-4.4, pp. 43-48</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10</a:t>
            </a:r>
            <a:endParaRPr lang="en-US" sz="1000" dirty="0"/>
          </a:p>
        </p:txBody>
      </p:sp>
      <p:sp>
        <p:nvSpPr>
          <p:cNvPr id="9" name="Shape 7"/>
          <p:cNvSpPr/>
          <p:nvPr/>
        </p:nvSpPr>
        <p:spPr>
          <a:xfrm>
            <a:off x="685800" y="1965960"/>
            <a:ext cx="2011680" cy="3200400"/>
          </a:xfrm>
          <a:prstGeom prst="roundRect">
            <a:avLst>
              <a:gd name="adj" fmla="val 3182"/>
            </a:avLst>
          </a:prstGeom>
          <a:solidFill>
            <a:srgbClr val="FFFFFF"/>
          </a:solidFill>
          <a:ln w="12700">
            <a:solidFill>
              <a:srgbClr val="D9DEE5"/>
            </a:solidFill>
            <a:prstDash val="solid"/>
          </a:ln>
        </p:spPr>
      </p:sp>
      <p:sp>
        <p:nvSpPr>
          <p:cNvPr id="10" name="Shape 8"/>
          <p:cNvSpPr/>
          <p:nvPr/>
        </p:nvSpPr>
        <p:spPr>
          <a:xfrm>
            <a:off x="685800" y="1965960"/>
            <a:ext cx="82296" cy="3200400"/>
          </a:xfrm>
          <a:prstGeom prst="rect">
            <a:avLst/>
          </a:prstGeom>
          <a:solidFill>
            <a:srgbClr val="0B6670"/>
          </a:solidFill>
          <a:ln w="12700">
            <a:solidFill>
              <a:srgbClr val="0B6670"/>
            </a:solidFill>
            <a:prstDash val="solid"/>
          </a:ln>
        </p:spPr>
      </p:sp>
      <p:sp>
        <p:nvSpPr>
          <p:cNvPr id="11" name="Text 9"/>
          <p:cNvSpPr/>
          <p:nvPr/>
        </p:nvSpPr>
        <p:spPr>
          <a:xfrm>
            <a:off x="905256" y="2130552"/>
            <a:ext cx="164592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SonarQube</a:t>
            </a:r>
            <a:endParaRPr lang="en-US" sz="1800" dirty="0"/>
          </a:p>
        </p:txBody>
      </p:sp>
      <p:sp>
        <p:nvSpPr>
          <p:cNvPr id="12" name="Text 10"/>
          <p:cNvSpPr/>
          <p:nvPr/>
        </p:nvSpPr>
        <p:spPr>
          <a:xfrm>
            <a:off x="905256" y="2532888"/>
            <a:ext cx="1618488" cy="2468880"/>
          </a:xfrm>
          <a:prstGeom prst="rect">
            <a:avLst/>
          </a:prstGeom>
          <a:noFill/>
          <a:ln/>
        </p:spPr>
        <p:txBody>
          <a:bodyPr wrap="square" lIns="0" tIns="0" rIns="0" bIns="0" rtlCol="0" anchor="t">
            <a:normAutofit/>
          </a:bodyPr>
          <a:lstStyle/>
          <a:p>
            <a:pPr indent="0" marL="0">
              <a:buNone/>
            </a:pPr>
            <a:r>
              <a:rPr lang="en-US" sz="1600" dirty="0">
                <a:solidFill>
                  <a:srgbClr val="66717E"/>
                </a:solidFill>
                <a:latin typeface="Arial" pitchFamily="34" charset="0"/>
                <a:ea typeface="Arial" pitchFamily="34" charset="-122"/>
                <a:cs typeface="Arial" pitchFamily="34" charset="-120"/>
              </a:rPr>
              <a:t>Static quality</a:t>
            </a:r>
            <a:endParaRPr lang="en-US" sz="1600" dirty="0"/>
          </a:p>
        </p:txBody>
      </p:sp>
      <p:sp>
        <p:nvSpPr>
          <p:cNvPr id="13" name="Shape 11"/>
          <p:cNvSpPr/>
          <p:nvPr/>
        </p:nvSpPr>
        <p:spPr>
          <a:xfrm>
            <a:off x="2971800" y="1965960"/>
            <a:ext cx="2011680" cy="3200400"/>
          </a:xfrm>
          <a:prstGeom prst="roundRect">
            <a:avLst>
              <a:gd name="adj" fmla="val 3182"/>
            </a:avLst>
          </a:prstGeom>
          <a:solidFill>
            <a:srgbClr val="FFFFFF"/>
          </a:solidFill>
          <a:ln w="12700">
            <a:solidFill>
              <a:srgbClr val="D9DEE5"/>
            </a:solidFill>
            <a:prstDash val="solid"/>
          </a:ln>
        </p:spPr>
      </p:sp>
      <p:sp>
        <p:nvSpPr>
          <p:cNvPr id="14" name="Shape 12"/>
          <p:cNvSpPr/>
          <p:nvPr/>
        </p:nvSpPr>
        <p:spPr>
          <a:xfrm>
            <a:off x="2971800" y="1965960"/>
            <a:ext cx="82296" cy="3200400"/>
          </a:xfrm>
          <a:prstGeom prst="rect">
            <a:avLst/>
          </a:prstGeom>
          <a:solidFill>
            <a:srgbClr val="B93A3A"/>
          </a:solidFill>
          <a:ln w="12700">
            <a:solidFill>
              <a:srgbClr val="B93A3A"/>
            </a:solidFill>
            <a:prstDash val="solid"/>
          </a:ln>
        </p:spPr>
      </p:sp>
      <p:sp>
        <p:nvSpPr>
          <p:cNvPr id="15" name="Text 13"/>
          <p:cNvSpPr/>
          <p:nvPr/>
        </p:nvSpPr>
        <p:spPr>
          <a:xfrm>
            <a:off x="3191256" y="2130552"/>
            <a:ext cx="164592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OWASP ZAP</a:t>
            </a:r>
            <a:endParaRPr lang="en-US" sz="1800" dirty="0"/>
          </a:p>
        </p:txBody>
      </p:sp>
      <p:sp>
        <p:nvSpPr>
          <p:cNvPr id="16" name="Text 14"/>
          <p:cNvSpPr/>
          <p:nvPr/>
        </p:nvSpPr>
        <p:spPr>
          <a:xfrm>
            <a:off x="3191256" y="2532888"/>
            <a:ext cx="1618488" cy="2468880"/>
          </a:xfrm>
          <a:prstGeom prst="rect">
            <a:avLst/>
          </a:prstGeom>
          <a:noFill/>
          <a:ln/>
        </p:spPr>
        <p:txBody>
          <a:bodyPr wrap="square" lIns="0" tIns="0" rIns="0" bIns="0" rtlCol="0" anchor="t">
            <a:normAutofit/>
          </a:bodyPr>
          <a:lstStyle/>
          <a:p>
            <a:pPr indent="0" marL="0">
              <a:buNone/>
            </a:pPr>
            <a:r>
              <a:rPr lang="en-US" sz="1600" dirty="0">
                <a:solidFill>
                  <a:srgbClr val="66717E"/>
                </a:solidFill>
                <a:latin typeface="Arial" pitchFamily="34" charset="0"/>
                <a:ea typeface="Arial" pitchFamily="34" charset="-122"/>
                <a:cs typeface="Arial" pitchFamily="34" charset="-120"/>
              </a:rPr>
              <a:t>Security alerts</a:t>
            </a:r>
            <a:endParaRPr lang="en-US" sz="1600" dirty="0"/>
          </a:p>
        </p:txBody>
      </p:sp>
      <p:sp>
        <p:nvSpPr>
          <p:cNvPr id="17" name="Shape 15"/>
          <p:cNvSpPr/>
          <p:nvPr/>
        </p:nvSpPr>
        <p:spPr>
          <a:xfrm>
            <a:off x="5257800" y="1965960"/>
            <a:ext cx="2011680" cy="3200400"/>
          </a:xfrm>
          <a:prstGeom prst="roundRect">
            <a:avLst>
              <a:gd name="adj" fmla="val 3182"/>
            </a:avLst>
          </a:prstGeom>
          <a:solidFill>
            <a:srgbClr val="FFFFFF"/>
          </a:solidFill>
          <a:ln w="12700">
            <a:solidFill>
              <a:srgbClr val="D9DEE5"/>
            </a:solidFill>
            <a:prstDash val="solid"/>
          </a:ln>
        </p:spPr>
      </p:sp>
      <p:sp>
        <p:nvSpPr>
          <p:cNvPr id="18" name="Shape 16"/>
          <p:cNvSpPr/>
          <p:nvPr/>
        </p:nvSpPr>
        <p:spPr>
          <a:xfrm>
            <a:off x="5257800" y="1965960"/>
            <a:ext cx="82296" cy="3200400"/>
          </a:xfrm>
          <a:prstGeom prst="rect">
            <a:avLst/>
          </a:prstGeom>
          <a:solidFill>
            <a:srgbClr val="C47B12"/>
          </a:solidFill>
          <a:ln w="12700">
            <a:solidFill>
              <a:srgbClr val="C47B12"/>
            </a:solidFill>
            <a:prstDash val="solid"/>
          </a:ln>
        </p:spPr>
      </p:sp>
      <p:sp>
        <p:nvSpPr>
          <p:cNvPr id="19" name="Text 17"/>
          <p:cNvSpPr/>
          <p:nvPr/>
        </p:nvSpPr>
        <p:spPr>
          <a:xfrm>
            <a:off x="5477256" y="2130552"/>
            <a:ext cx="164592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Apache JMeter</a:t>
            </a:r>
            <a:endParaRPr lang="en-US" sz="1800" dirty="0"/>
          </a:p>
        </p:txBody>
      </p:sp>
      <p:sp>
        <p:nvSpPr>
          <p:cNvPr id="20" name="Text 18"/>
          <p:cNvSpPr/>
          <p:nvPr/>
        </p:nvSpPr>
        <p:spPr>
          <a:xfrm>
            <a:off x="5477256" y="2532888"/>
            <a:ext cx="1618488" cy="2468880"/>
          </a:xfrm>
          <a:prstGeom prst="rect">
            <a:avLst/>
          </a:prstGeom>
          <a:noFill/>
          <a:ln/>
        </p:spPr>
        <p:txBody>
          <a:bodyPr wrap="square" lIns="0" tIns="0" rIns="0" bIns="0" rtlCol="0" anchor="t">
            <a:normAutofit/>
          </a:bodyPr>
          <a:lstStyle/>
          <a:p>
            <a:pPr indent="0" marL="0">
              <a:buNone/>
            </a:pPr>
            <a:r>
              <a:rPr lang="en-US" sz="1600" dirty="0">
                <a:solidFill>
                  <a:srgbClr val="66717E"/>
                </a:solidFill>
                <a:latin typeface="Arial" pitchFamily="34" charset="0"/>
                <a:ea typeface="Arial" pitchFamily="34" charset="-122"/>
                <a:cs typeface="Arial" pitchFamily="34" charset="-120"/>
              </a:rPr>
              <a:t>Load behavior</a:t>
            </a:r>
            <a:endParaRPr lang="en-US" sz="1600" dirty="0"/>
          </a:p>
        </p:txBody>
      </p:sp>
      <p:sp>
        <p:nvSpPr>
          <p:cNvPr id="21" name="Shape 19"/>
          <p:cNvSpPr/>
          <p:nvPr/>
        </p:nvSpPr>
        <p:spPr>
          <a:xfrm>
            <a:off x="7543800" y="1965960"/>
            <a:ext cx="2011680" cy="3200400"/>
          </a:xfrm>
          <a:prstGeom prst="roundRect">
            <a:avLst>
              <a:gd name="adj" fmla="val 3182"/>
            </a:avLst>
          </a:prstGeom>
          <a:solidFill>
            <a:srgbClr val="FFFFFF"/>
          </a:solidFill>
          <a:ln w="12700">
            <a:solidFill>
              <a:srgbClr val="D9DEE5"/>
            </a:solidFill>
            <a:prstDash val="solid"/>
          </a:ln>
        </p:spPr>
      </p:sp>
      <p:sp>
        <p:nvSpPr>
          <p:cNvPr id="22" name="Shape 20"/>
          <p:cNvSpPr/>
          <p:nvPr/>
        </p:nvSpPr>
        <p:spPr>
          <a:xfrm>
            <a:off x="7543800" y="1965960"/>
            <a:ext cx="82296" cy="3200400"/>
          </a:xfrm>
          <a:prstGeom prst="rect">
            <a:avLst/>
          </a:prstGeom>
          <a:solidFill>
            <a:srgbClr val="2F7D4A"/>
          </a:solidFill>
          <a:ln w="12700">
            <a:solidFill>
              <a:srgbClr val="2F7D4A"/>
            </a:solidFill>
            <a:prstDash val="solid"/>
          </a:ln>
        </p:spPr>
      </p:sp>
      <p:sp>
        <p:nvSpPr>
          <p:cNvPr id="23" name="Text 21"/>
          <p:cNvSpPr/>
          <p:nvPr/>
        </p:nvSpPr>
        <p:spPr>
          <a:xfrm>
            <a:off x="7763256" y="2130552"/>
            <a:ext cx="164592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dotnet test</a:t>
            </a:r>
            <a:endParaRPr lang="en-US" sz="1800" dirty="0"/>
          </a:p>
        </p:txBody>
      </p:sp>
      <p:sp>
        <p:nvSpPr>
          <p:cNvPr id="24" name="Text 22"/>
          <p:cNvSpPr/>
          <p:nvPr/>
        </p:nvSpPr>
        <p:spPr>
          <a:xfrm>
            <a:off x="7763256" y="2532888"/>
            <a:ext cx="1618488" cy="2468880"/>
          </a:xfrm>
          <a:prstGeom prst="rect">
            <a:avLst/>
          </a:prstGeom>
          <a:noFill/>
          <a:ln/>
        </p:spPr>
        <p:txBody>
          <a:bodyPr wrap="square" lIns="0" tIns="0" rIns="0" bIns="0" rtlCol="0" anchor="t">
            <a:normAutofit/>
          </a:bodyPr>
          <a:lstStyle/>
          <a:p>
            <a:pPr indent="0" marL="0">
              <a:buNone/>
            </a:pPr>
            <a:r>
              <a:rPr lang="en-US" sz="1600" dirty="0">
                <a:solidFill>
                  <a:srgbClr val="66717E"/>
                </a:solidFill>
                <a:latin typeface="Arial" pitchFamily="34" charset="0"/>
                <a:ea typeface="Arial" pitchFamily="34" charset="-122"/>
                <a:cs typeface="Arial" pitchFamily="34" charset="-120"/>
              </a:rPr>
              <a:t>Regression safety</a:t>
            </a:r>
            <a:endParaRPr lang="en-US" sz="1600" dirty="0"/>
          </a:p>
        </p:txBody>
      </p:sp>
      <p:sp>
        <p:nvSpPr>
          <p:cNvPr id="25" name="Shape 23"/>
          <p:cNvSpPr/>
          <p:nvPr/>
        </p:nvSpPr>
        <p:spPr>
          <a:xfrm>
            <a:off x="9829800" y="1965960"/>
            <a:ext cx="2011680" cy="3200400"/>
          </a:xfrm>
          <a:prstGeom prst="roundRect">
            <a:avLst>
              <a:gd name="adj" fmla="val 3182"/>
            </a:avLst>
          </a:prstGeom>
          <a:solidFill>
            <a:srgbClr val="FFFFFF"/>
          </a:solidFill>
          <a:ln w="12700">
            <a:solidFill>
              <a:srgbClr val="D9DEE5"/>
            </a:solidFill>
            <a:prstDash val="solid"/>
          </a:ln>
        </p:spPr>
      </p:sp>
      <p:sp>
        <p:nvSpPr>
          <p:cNvPr id="26" name="Shape 24"/>
          <p:cNvSpPr/>
          <p:nvPr/>
        </p:nvSpPr>
        <p:spPr>
          <a:xfrm>
            <a:off x="9829800" y="1965960"/>
            <a:ext cx="82296" cy="3200400"/>
          </a:xfrm>
          <a:prstGeom prst="rect">
            <a:avLst/>
          </a:prstGeom>
          <a:solidFill>
            <a:srgbClr val="20262E"/>
          </a:solidFill>
          <a:ln w="12700">
            <a:solidFill>
              <a:srgbClr val="20262E"/>
            </a:solidFill>
            <a:prstDash val="solid"/>
          </a:ln>
        </p:spPr>
      </p:sp>
      <p:sp>
        <p:nvSpPr>
          <p:cNvPr id="27" name="Text 25"/>
          <p:cNvSpPr/>
          <p:nvPr/>
        </p:nvSpPr>
        <p:spPr>
          <a:xfrm>
            <a:off x="10049256" y="2130552"/>
            <a:ext cx="164592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Git evidence</a:t>
            </a:r>
            <a:endParaRPr lang="en-US" sz="1800" dirty="0"/>
          </a:p>
        </p:txBody>
      </p:sp>
      <p:sp>
        <p:nvSpPr>
          <p:cNvPr id="28" name="Text 26"/>
          <p:cNvSpPr/>
          <p:nvPr/>
        </p:nvSpPr>
        <p:spPr>
          <a:xfrm>
            <a:off x="10049256" y="2532888"/>
            <a:ext cx="1618488" cy="2468880"/>
          </a:xfrm>
          <a:prstGeom prst="rect">
            <a:avLst/>
          </a:prstGeom>
          <a:noFill/>
          <a:ln/>
        </p:spPr>
        <p:txBody>
          <a:bodyPr wrap="square" lIns="0" tIns="0" rIns="0" bIns="0" rtlCol="0" anchor="t">
            <a:normAutofit/>
          </a:bodyPr>
          <a:lstStyle/>
          <a:p>
            <a:pPr indent="0" marL="0">
              <a:buNone/>
            </a:pPr>
            <a:r>
              <a:rPr lang="en-US" sz="1600" dirty="0">
                <a:solidFill>
                  <a:srgbClr val="66717E"/>
                </a:solidFill>
                <a:latin typeface="Arial" pitchFamily="34" charset="0"/>
                <a:ea typeface="Arial" pitchFamily="34" charset="-122"/>
                <a:cs typeface="Arial" pitchFamily="34" charset="-120"/>
              </a:rPr>
              <a:t>Traceability</a:t>
            </a:r>
            <a:endParaRPr lang="en-US" sz="1600" dirty="0"/>
          </a:p>
        </p:txBody>
      </p:sp>
      <p:sp>
        <p:nvSpPr>
          <p:cNvPr id="29" name="Shape 27"/>
          <p:cNvSpPr/>
          <p:nvPr/>
        </p:nvSpPr>
        <p:spPr>
          <a:xfrm>
            <a:off x="4069080" y="5577840"/>
            <a:ext cx="4069080" cy="329184"/>
          </a:xfrm>
          <a:prstGeom prst="roundRect">
            <a:avLst>
              <a:gd name="adj" fmla="val 19444"/>
            </a:avLst>
          </a:prstGeom>
          <a:solidFill>
            <a:srgbClr val="20262E"/>
          </a:solidFill>
          <a:ln w="12700">
            <a:solidFill>
              <a:srgbClr val="20262E"/>
            </a:solidFill>
            <a:prstDash val="solid"/>
          </a:ln>
        </p:spPr>
      </p:sp>
      <p:sp>
        <p:nvSpPr>
          <p:cNvPr id="30" name="Text 28"/>
          <p:cNvSpPr/>
          <p:nvPr/>
        </p:nvSpPr>
        <p:spPr>
          <a:xfrm>
            <a:off x="4160520" y="5623560"/>
            <a:ext cx="3886200" cy="201168"/>
          </a:xfrm>
          <a:prstGeom prst="rect">
            <a:avLst/>
          </a:prstGeom>
          <a:noFill/>
          <a:ln/>
        </p:spPr>
        <p:txBody>
          <a:bodyPr wrap="square" lIns="0" tIns="0" rIns="0" bIns="0" rtlCol="0" anchor="ctr">
            <a:normAutofit/>
          </a:bodyPr>
          <a:lstStyle/>
          <a:p>
            <a:pPr algn="ctr" indent="0" marL="0">
              <a:buNone/>
            </a:pPr>
            <a:r>
              <a:rPr lang="en-US" sz="1050" b="1" dirty="0">
                <a:solidFill>
                  <a:srgbClr val="FFFFFF"/>
                </a:solidFill>
                <a:latin typeface="Arial" pitchFamily="34" charset="0"/>
                <a:ea typeface="Arial" pitchFamily="34" charset="-122"/>
                <a:cs typeface="Arial" pitchFamily="34" charset="-120"/>
              </a:rPr>
              <a:t>No single metric is overall quality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Human-in-the-Loop Use of ChatGPT/Codex</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3.1.3-3.1.4, p. 37 | Section 4.5.4, p. 51</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11</a:t>
            </a:r>
            <a:endParaRPr lang="en-US" sz="1000" dirty="0"/>
          </a:p>
        </p:txBody>
      </p:sp>
      <p:sp>
        <p:nvSpPr>
          <p:cNvPr id="9" name="Shape 7"/>
          <p:cNvSpPr/>
          <p:nvPr/>
        </p:nvSpPr>
        <p:spPr>
          <a:xfrm>
            <a:off x="731520" y="2331720"/>
            <a:ext cx="1618488" cy="1051560"/>
          </a:xfrm>
          <a:prstGeom prst="roundRect">
            <a:avLst>
              <a:gd name="adj" fmla="val 6087"/>
            </a:avLst>
          </a:prstGeom>
          <a:solidFill>
            <a:srgbClr val="FFFFFF"/>
          </a:solidFill>
          <a:ln w="12700">
            <a:solidFill>
              <a:srgbClr val="D9DEE5"/>
            </a:solidFill>
            <a:prstDash val="solid"/>
          </a:ln>
        </p:spPr>
      </p:sp>
      <p:sp>
        <p:nvSpPr>
          <p:cNvPr id="10" name="Text 8"/>
          <p:cNvSpPr/>
          <p:nvPr/>
        </p:nvSpPr>
        <p:spPr>
          <a:xfrm>
            <a:off x="841248"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Tool finding</a:t>
            </a:r>
            <a:endParaRPr lang="en-US" sz="1600" dirty="0"/>
          </a:p>
        </p:txBody>
      </p:sp>
      <p:sp>
        <p:nvSpPr>
          <p:cNvPr id="11" name="Shape 9"/>
          <p:cNvSpPr/>
          <p:nvPr/>
        </p:nvSpPr>
        <p:spPr>
          <a:xfrm>
            <a:off x="2368296" y="2862072"/>
            <a:ext cx="164592" cy="0"/>
          </a:xfrm>
          <a:prstGeom prst="line">
            <a:avLst/>
          </a:prstGeom>
          <a:noFill/>
          <a:ln w="16510">
            <a:solidFill>
              <a:srgbClr val="0B6670"/>
            </a:solidFill>
            <a:prstDash val="solid"/>
            <a:headEnd type="none"/>
            <a:tailEnd type="triangle"/>
          </a:ln>
        </p:spPr>
      </p:sp>
      <p:sp>
        <p:nvSpPr>
          <p:cNvPr id="12" name="Shape 10"/>
          <p:cNvSpPr/>
          <p:nvPr/>
        </p:nvSpPr>
        <p:spPr>
          <a:xfrm>
            <a:off x="2551176" y="2331720"/>
            <a:ext cx="1618488" cy="1051560"/>
          </a:xfrm>
          <a:prstGeom prst="roundRect">
            <a:avLst>
              <a:gd name="adj" fmla="val 6087"/>
            </a:avLst>
          </a:prstGeom>
          <a:solidFill>
            <a:srgbClr val="E8F2F3"/>
          </a:solidFill>
          <a:ln w="12700">
            <a:solidFill>
              <a:srgbClr val="D9DEE5"/>
            </a:solidFill>
            <a:prstDash val="solid"/>
          </a:ln>
        </p:spPr>
      </p:sp>
      <p:sp>
        <p:nvSpPr>
          <p:cNvPr id="13" name="Text 11"/>
          <p:cNvSpPr/>
          <p:nvPr/>
        </p:nvSpPr>
        <p:spPr>
          <a:xfrm>
            <a:off x="2660904"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Context-rich prompt</a:t>
            </a:r>
            <a:endParaRPr lang="en-US" sz="1600" dirty="0"/>
          </a:p>
        </p:txBody>
      </p:sp>
      <p:sp>
        <p:nvSpPr>
          <p:cNvPr id="14" name="Shape 12"/>
          <p:cNvSpPr/>
          <p:nvPr/>
        </p:nvSpPr>
        <p:spPr>
          <a:xfrm>
            <a:off x="4187952" y="2862072"/>
            <a:ext cx="164592" cy="0"/>
          </a:xfrm>
          <a:prstGeom prst="line">
            <a:avLst/>
          </a:prstGeom>
          <a:noFill/>
          <a:ln w="16510">
            <a:solidFill>
              <a:srgbClr val="0B6670"/>
            </a:solidFill>
            <a:prstDash val="solid"/>
            <a:headEnd type="none"/>
            <a:tailEnd type="triangle"/>
          </a:ln>
        </p:spPr>
      </p:sp>
      <p:sp>
        <p:nvSpPr>
          <p:cNvPr id="15" name="Shape 13"/>
          <p:cNvSpPr/>
          <p:nvPr/>
        </p:nvSpPr>
        <p:spPr>
          <a:xfrm>
            <a:off x="4370832" y="2331720"/>
            <a:ext cx="1618488" cy="1051560"/>
          </a:xfrm>
          <a:prstGeom prst="roundRect">
            <a:avLst>
              <a:gd name="adj" fmla="val 6087"/>
            </a:avLst>
          </a:prstGeom>
          <a:solidFill>
            <a:srgbClr val="FFFFFF"/>
          </a:solidFill>
          <a:ln w="12700">
            <a:solidFill>
              <a:srgbClr val="D9DEE5"/>
            </a:solidFill>
            <a:prstDash val="solid"/>
          </a:ln>
        </p:spPr>
      </p:sp>
      <p:sp>
        <p:nvSpPr>
          <p:cNvPr id="16" name="Text 14"/>
          <p:cNvSpPr/>
          <p:nvPr/>
        </p:nvSpPr>
        <p:spPr>
          <a:xfrm>
            <a:off x="4480560"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Candidate patch</a:t>
            </a:r>
            <a:endParaRPr lang="en-US" sz="1600" dirty="0"/>
          </a:p>
        </p:txBody>
      </p:sp>
      <p:sp>
        <p:nvSpPr>
          <p:cNvPr id="17" name="Shape 15"/>
          <p:cNvSpPr/>
          <p:nvPr/>
        </p:nvSpPr>
        <p:spPr>
          <a:xfrm>
            <a:off x="6007608" y="2862072"/>
            <a:ext cx="164592" cy="0"/>
          </a:xfrm>
          <a:prstGeom prst="line">
            <a:avLst/>
          </a:prstGeom>
          <a:noFill/>
          <a:ln w="16510">
            <a:solidFill>
              <a:srgbClr val="0B6670"/>
            </a:solidFill>
            <a:prstDash val="solid"/>
            <a:headEnd type="none"/>
            <a:tailEnd type="triangle"/>
          </a:ln>
        </p:spPr>
      </p:sp>
      <p:sp>
        <p:nvSpPr>
          <p:cNvPr id="18" name="Shape 16"/>
          <p:cNvSpPr/>
          <p:nvPr/>
        </p:nvSpPr>
        <p:spPr>
          <a:xfrm>
            <a:off x="6190488" y="2331720"/>
            <a:ext cx="1618488" cy="1051560"/>
          </a:xfrm>
          <a:prstGeom prst="roundRect">
            <a:avLst>
              <a:gd name="adj" fmla="val 6087"/>
            </a:avLst>
          </a:prstGeom>
          <a:solidFill>
            <a:srgbClr val="E8F2F3"/>
          </a:solidFill>
          <a:ln w="12700">
            <a:solidFill>
              <a:srgbClr val="D9DEE5"/>
            </a:solidFill>
            <a:prstDash val="solid"/>
          </a:ln>
        </p:spPr>
      </p:sp>
      <p:sp>
        <p:nvSpPr>
          <p:cNvPr id="19" name="Text 17"/>
          <p:cNvSpPr/>
          <p:nvPr/>
        </p:nvSpPr>
        <p:spPr>
          <a:xfrm>
            <a:off x="6300216"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Human review</a:t>
            </a:r>
            <a:endParaRPr lang="en-US" sz="1600" dirty="0"/>
          </a:p>
        </p:txBody>
      </p:sp>
      <p:sp>
        <p:nvSpPr>
          <p:cNvPr id="20" name="Shape 18"/>
          <p:cNvSpPr/>
          <p:nvPr/>
        </p:nvSpPr>
        <p:spPr>
          <a:xfrm>
            <a:off x="7827264" y="2862072"/>
            <a:ext cx="164592" cy="0"/>
          </a:xfrm>
          <a:prstGeom prst="line">
            <a:avLst/>
          </a:prstGeom>
          <a:noFill/>
          <a:ln w="16510">
            <a:solidFill>
              <a:srgbClr val="0B6670"/>
            </a:solidFill>
            <a:prstDash val="solid"/>
            <a:headEnd type="none"/>
            <a:tailEnd type="triangle"/>
          </a:ln>
        </p:spPr>
      </p:sp>
      <p:sp>
        <p:nvSpPr>
          <p:cNvPr id="21" name="Shape 19"/>
          <p:cNvSpPr/>
          <p:nvPr/>
        </p:nvSpPr>
        <p:spPr>
          <a:xfrm>
            <a:off x="8010144" y="2331720"/>
            <a:ext cx="1618488" cy="1051560"/>
          </a:xfrm>
          <a:prstGeom prst="roundRect">
            <a:avLst>
              <a:gd name="adj" fmla="val 6087"/>
            </a:avLst>
          </a:prstGeom>
          <a:solidFill>
            <a:srgbClr val="FFFFFF"/>
          </a:solidFill>
          <a:ln w="12700">
            <a:solidFill>
              <a:srgbClr val="D9DEE5"/>
            </a:solidFill>
            <a:prstDash val="solid"/>
          </a:ln>
        </p:spPr>
      </p:sp>
      <p:sp>
        <p:nvSpPr>
          <p:cNvPr id="22" name="Text 20"/>
          <p:cNvSpPr/>
          <p:nvPr/>
        </p:nvSpPr>
        <p:spPr>
          <a:xfrm>
            <a:off x="8119872"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Focused tests</a:t>
            </a:r>
            <a:endParaRPr lang="en-US" sz="1600" dirty="0"/>
          </a:p>
        </p:txBody>
      </p:sp>
      <p:sp>
        <p:nvSpPr>
          <p:cNvPr id="23" name="Shape 21"/>
          <p:cNvSpPr/>
          <p:nvPr/>
        </p:nvSpPr>
        <p:spPr>
          <a:xfrm>
            <a:off x="9646920" y="2862072"/>
            <a:ext cx="164592" cy="0"/>
          </a:xfrm>
          <a:prstGeom prst="line">
            <a:avLst/>
          </a:prstGeom>
          <a:noFill/>
          <a:ln w="16510">
            <a:solidFill>
              <a:srgbClr val="0B6670"/>
            </a:solidFill>
            <a:prstDash val="solid"/>
            <a:headEnd type="none"/>
            <a:tailEnd type="triangle"/>
          </a:ln>
        </p:spPr>
      </p:sp>
      <p:sp>
        <p:nvSpPr>
          <p:cNvPr id="24" name="Shape 22"/>
          <p:cNvSpPr/>
          <p:nvPr/>
        </p:nvSpPr>
        <p:spPr>
          <a:xfrm>
            <a:off x="9829800" y="2331720"/>
            <a:ext cx="1618488" cy="1051560"/>
          </a:xfrm>
          <a:prstGeom prst="roundRect">
            <a:avLst>
              <a:gd name="adj" fmla="val 6087"/>
            </a:avLst>
          </a:prstGeom>
          <a:solidFill>
            <a:srgbClr val="E8F2F3"/>
          </a:solidFill>
          <a:ln w="12700">
            <a:solidFill>
              <a:srgbClr val="D9DEE5"/>
            </a:solidFill>
            <a:prstDash val="solid"/>
          </a:ln>
        </p:spPr>
      </p:sp>
      <p:sp>
        <p:nvSpPr>
          <p:cNvPr id="25" name="Text 23"/>
          <p:cNvSpPr/>
          <p:nvPr/>
        </p:nvSpPr>
        <p:spPr>
          <a:xfrm>
            <a:off x="9939528"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Tool rerun</a:t>
            </a:r>
            <a:endParaRPr lang="en-US" sz="1600" dirty="0"/>
          </a:p>
        </p:txBody>
      </p:sp>
      <p:sp>
        <p:nvSpPr>
          <p:cNvPr id="26" name="Shape 24"/>
          <p:cNvSpPr/>
          <p:nvPr/>
        </p:nvSpPr>
        <p:spPr>
          <a:xfrm>
            <a:off x="2011680" y="4251960"/>
            <a:ext cx="8183880" cy="960120"/>
          </a:xfrm>
          <a:prstGeom prst="roundRect">
            <a:avLst>
              <a:gd name="adj" fmla="val 6667"/>
            </a:avLst>
          </a:prstGeom>
          <a:solidFill>
            <a:srgbClr val="E9F3ED"/>
          </a:solidFill>
          <a:ln w="12700">
            <a:solidFill>
              <a:srgbClr val="2F7D4A"/>
            </a:solidFill>
            <a:prstDash val="solid"/>
          </a:ln>
        </p:spPr>
      </p:sp>
      <p:sp>
        <p:nvSpPr>
          <p:cNvPr id="27" name="Text 25"/>
          <p:cNvSpPr/>
          <p:nvPr/>
        </p:nvSpPr>
        <p:spPr>
          <a:xfrm>
            <a:off x="2240280" y="4507992"/>
            <a:ext cx="7726680" cy="402336"/>
          </a:xfrm>
          <a:prstGeom prst="rect">
            <a:avLst/>
          </a:prstGeom>
          <a:noFill/>
          <a:ln/>
        </p:spPr>
        <p:txBody>
          <a:bodyPr wrap="square" lIns="0" tIns="0" rIns="0" bIns="0" rtlCol="0" anchor="ctr">
            <a:normAutofit/>
          </a:bodyPr>
          <a:lstStyle/>
          <a:p>
            <a:pPr algn="ctr" indent="0" marL="0">
              <a:buNone/>
            </a:pPr>
            <a:r>
              <a:rPr lang="en-US" sz="2200" b="1" dirty="0">
                <a:solidFill>
                  <a:srgbClr val="2F7D4A"/>
                </a:solidFill>
                <a:latin typeface="Arial" pitchFamily="34" charset="0"/>
                <a:ea typeface="Arial" pitchFamily="34" charset="-122"/>
                <a:cs typeface="Arial" pitchFamily="34" charset="-120"/>
              </a:rPr>
              <a:t>Acceptance is determined by evidence, not model confidence</a:t>
            </a:r>
            <a:endParaRPr lang="en-US" sz="2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SonarQube: Clean Closure Without Coverage Loss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Tables 4.2-4.4, p. 44 | Section 4.1.4, p. 46</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12</a:t>
            </a:r>
            <a:endParaRPr lang="en-US" sz="1000" dirty="0"/>
          </a:p>
        </p:txBody>
      </p:sp>
      <p:graphicFrame>
        <p:nvGraphicFramePr>
          <p:cNvPr id="9" name="Chart 0" descr=""/>
          <p:cNvGraphicFramePr/>
          <p:nvPr/>
        </p:nvGraphicFramePr>
        <p:xfrm>
          <a:off x="731520" y="1417320"/>
          <a:ext cx="6537960" cy="429768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7635240" y="1508760"/>
            <a:ext cx="3703320" cy="987552"/>
          </a:xfrm>
          <a:prstGeom prst="roundRect">
            <a:avLst>
              <a:gd name="adj" fmla="val 6481"/>
            </a:avLst>
          </a:prstGeom>
          <a:solidFill>
            <a:srgbClr val="FFFFFF"/>
          </a:solidFill>
          <a:ln w="12700">
            <a:solidFill>
              <a:srgbClr val="D9DEE5"/>
            </a:solidFill>
            <a:prstDash val="solid"/>
          </a:ln>
        </p:spPr>
      </p:sp>
      <p:sp>
        <p:nvSpPr>
          <p:cNvPr id="11" name="Shape 8"/>
          <p:cNvSpPr/>
          <p:nvPr/>
        </p:nvSpPr>
        <p:spPr>
          <a:xfrm>
            <a:off x="7635240" y="1508760"/>
            <a:ext cx="82296" cy="987552"/>
          </a:xfrm>
          <a:prstGeom prst="rect">
            <a:avLst/>
          </a:prstGeom>
          <a:solidFill>
            <a:srgbClr val="2F7D4A"/>
          </a:solidFill>
          <a:ln w="12700">
            <a:solidFill>
              <a:srgbClr val="2F7D4A"/>
            </a:solidFill>
            <a:prstDash val="solid"/>
          </a:ln>
        </p:spPr>
      </p:sp>
      <p:sp>
        <p:nvSpPr>
          <p:cNvPr id="12" name="Text 9"/>
          <p:cNvSpPr/>
          <p:nvPr/>
        </p:nvSpPr>
        <p:spPr>
          <a:xfrm>
            <a:off x="7854696" y="1673352"/>
            <a:ext cx="3337560" cy="320040"/>
          </a:xfrm>
          <a:prstGeom prst="rect">
            <a:avLst/>
          </a:prstGeom>
          <a:noFill/>
          <a:ln/>
        </p:spPr>
        <p:txBody>
          <a:bodyPr wrap="square" lIns="0" tIns="0" rIns="0" bIns="0" rtlCol="0" anchor="ctr">
            <a:normAutofit/>
          </a:bodyPr>
          <a:lstStyle/>
          <a:p>
            <a:pPr indent="0" marL="0">
              <a:buNone/>
            </a:pPr>
            <a:r>
              <a:rPr lang="en-US" sz="1600" b="1" dirty="0">
                <a:solidFill>
                  <a:srgbClr val="20262E"/>
                </a:solidFill>
                <a:latin typeface="Arial" pitchFamily="34" charset="0"/>
                <a:ea typeface="Arial" pitchFamily="34" charset="-122"/>
                <a:cs typeface="Arial" pitchFamily="34" charset="-120"/>
              </a:rPr>
              <a:t>Quality Gate: OK</a:t>
            </a:r>
            <a:endParaRPr lang="en-US" sz="1600" dirty="0"/>
          </a:p>
        </p:txBody>
      </p:sp>
      <p:sp>
        <p:nvSpPr>
          <p:cNvPr id="13" name="Shape 10"/>
          <p:cNvSpPr/>
          <p:nvPr/>
        </p:nvSpPr>
        <p:spPr>
          <a:xfrm>
            <a:off x="7635240" y="2862072"/>
            <a:ext cx="3703320" cy="987552"/>
          </a:xfrm>
          <a:prstGeom prst="roundRect">
            <a:avLst>
              <a:gd name="adj" fmla="val 6481"/>
            </a:avLst>
          </a:prstGeom>
          <a:solidFill>
            <a:srgbClr val="FFFFFF"/>
          </a:solidFill>
          <a:ln w="12700">
            <a:solidFill>
              <a:srgbClr val="D9DEE5"/>
            </a:solidFill>
            <a:prstDash val="solid"/>
          </a:ln>
        </p:spPr>
      </p:sp>
      <p:sp>
        <p:nvSpPr>
          <p:cNvPr id="14" name="Shape 11"/>
          <p:cNvSpPr/>
          <p:nvPr/>
        </p:nvSpPr>
        <p:spPr>
          <a:xfrm>
            <a:off x="7635240" y="2862072"/>
            <a:ext cx="82296" cy="987552"/>
          </a:xfrm>
          <a:prstGeom prst="rect">
            <a:avLst/>
          </a:prstGeom>
          <a:solidFill>
            <a:srgbClr val="2F7D4A"/>
          </a:solidFill>
          <a:ln w="12700">
            <a:solidFill>
              <a:srgbClr val="2F7D4A"/>
            </a:solidFill>
            <a:prstDash val="solid"/>
          </a:ln>
        </p:spPr>
      </p:sp>
      <p:sp>
        <p:nvSpPr>
          <p:cNvPr id="15" name="Text 12"/>
          <p:cNvSpPr/>
          <p:nvPr/>
        </p:nvSpPr>
        <p:spPr>
          <a:xfrm>
            <a:off x="7854696" y="3026664"/>
            <a:ext cx="3337560" cy="320040"/>
          </a:xfrm>
          <a:prstGeom prst="rect">
            <a:avLst/>
          </a:prstGeom>
          <a:noFill/>
          <a:ln/>
        </p:spPr>
        <p:txBody>
          <a:bodyPr wrap="square" lIns="0" tIns="0" rIns="0" bIns="0" rtlCol="0" anchor="ctr">
            <a:normAutofit/>
          </a:bodyPr>
          <a:lstStyle/>
          <a:p>
            <a:pPr indent="0" marL="0">
              <a:buNone/>
            </a:pPr>
            <a:r>
              <a:rPr lang="en-US" sz="1600" b="1" dirty="0">
                <a:solidFill>
                  <a:srgbClr val="20262E"/>
                </a:solidFill>
                <a:latin typeface="Arial" pitchFamily="34" charset="0"/>
                <a:ea typeface="Arial" pitchFamily="34" charset="-122"/>
                <a:cs typeface="Arial" pitchFamily="34" charset="-120"/>
              </a:rPr>
              <a:t>Coverage: 74.3% -&gt; 74.3%</a:t>
            </a:r>
            <a:endParaRPr lang="en-US" sz="1600" dirty="0"/>
          </a:p>
        </p:txBody>
      </p:sp>
      <p:sp>
        <p:nvSpPr>
          <p:cNvPr id="16" name="Shape 13"/>
          <p:cNvSpPr/>
          <p:nvPr/>
        </p:nvSpPr>
        <p:spPr>
          <a:xfrm>
            <a:off x="7635240" y="4215384"/>
            <a:ext cx="3703320" cy="987552"/>
          </a:xfrm>
          <a:prstGeom prst="roundRect">
            <a:avLst>
              <a:gd name="adj" fmla="val 6481"/>
            </a:avLst>
          </a:prstGeom>
          <a:solidFill>
            <a:srgbClr val="FFFFFF"/>
          </a:solidFill>
          <a:ln w="12700">
            <a:solidFill>
              <a:srgbClr val="D9DEE5"/>
            </a:solidFill>
            <a:prstDash val="solid"/>
          </a:ln>
        </p:spPr>
      </p:sp>
      <p:sp>
        <p:nvSpPr>
          <p:cNvPr id="17" name="Shape 14"/>
          <p:cNvSpPr/>
          <p:nvPr/>
        </p:nvSpPr>
        <p:spPr>
          <a:xfrm>
            <a:off x="7635240" y="4215384"/>
            <a:ext cx="82296" cy="987552"/>
          </a:xfrm>
          <a:prstGeom prst="rect">
            <a:avLst/>
          </a:prstGeom>
          <a:solidFill>
            <a:srgbClr val="2F7D4A"/>
          </a:solidFill>
          <a:ln w="12700">
            <a:solidFill>
              <a:srgbClr val="2F7D4A"/>
            </a:solidFill>
            <a:prstDash val="solid"/>
          </a:ln>
        </p:spPr>
      </p:sp>
      <p:sp>
        <p:nvSpPr>
          <p:cNvPr id="18" name="Text 15"/>
          <p:cNvSpPr/>
          <p:nvPr/>
        </p:nvSpPr>
        <p:spPr>
          <a:xfrm>
            <a:off x="7854696" y="4379976"/>
            <a:ext cx="3337560" cy="320040"/>
          </a:xfrm>
          <a:prstGeom prst="rect">
            <a:avLst/>
          </a:prstGeom>
          <a:noFill/>
          <a:ln/>
        </p:spPr>
        <p:txBody>
          <a:bodyPr wrap="square" lIns="0" tIns="0" rIns="0" bIns="0" rtlCol="0" anchor="ctr">
            <a:normAutofit/>
          </a:bodyPr>
          <a:lstStyle/>
          <a:p>
            <a:pPr indent="0" marL="0">
              <a:buNone/>
            </a:pPr>
            <a:r>
              <a:rPr lang="en-US" sz="1600" b="1" dirty="0">
                <a:solidFill>
                  <a:srgbClr val="20262E"/>
                </a:solidFill>
                <a:latin typeface="Arial" pitchFamily="34" charset="0"/>
                <a:ea typeface="Arial" pitchFamily="34" charset="-122"/>
                <a:cs typeface="Arial" pitchFamily="34" charset="-120"/>
              </a:rPr>
              <a:t>Duplicated lines: 0.0% -&gt; 0.0%</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OWASP ZAP: Business-Endpoint Gates Cleared</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4.4, p. 44 | Section 4.1.2, p. 45 | Section 4.5.1, pp. 48-49</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13</a:t>
            </a:r>
            <a:endParaRPr lang="en-US" sz="1000" dirty="0"/>
          </a:p>
        </p:txBody>
      </p:sp>
      <p:sp>
        <p:nvSpPr>
          <p:cNvPr id="9" name="Shape 7"/>
          <p:cNvSpPr/>
          <p:nvPr/>
        </p:nvSpPr>
        <p:spPr>
          <a:xfrm>
            <a:off x="777240" y="1417320"/>
            <a:ext cx="5230368" cy="4480560"/>
          </a:xfrm>
          <a:prstGeom prst="roundRect">
            <a:avLst>
              <a:gd name="adj" fmla="val 1429"/>
            </a:avLst>
          </a:prstGeom>
          <a:solidFill>
            <a:srgbClr val="F8EAEA"/>
          </a:solidFill>
          <a:ln w="12700">
            <a:solidFill>
              <a:srgbClr val="D9DEE5"/>
            </a:solidFill>
            <a:prstDash val="solid"/>
          </a:ln>
        </p:spPr>
      </p:sp>
      <p:sp>
        <p:nvSpPr>
          <p:cNvPr id="10" name="Shape 8"/>
          <p:cNvSpPr/>
          <p:nvPr/>
        </p:nvSpPr>
        <p:spPr>
          <a:xfrm>
            <a:off x="777240" y="1417320"/>
            <a:ext cx="82296" cy="4480560"/>
          </a:xfrm>
          <a:prstGeom prst="rect">
            <a:avLst/>
          </a:prstGeom>
          <a:solidFill>
            <a:srgbClr val="B93A3A"/>
          </a:solidFill>
          <a:ln w="12700">
            <a:solidFill>
              <a:srgbClr val="B93A3A"/>
            </a:solidFill>
            <a:prstDash val="solid"/>
          </a:ln>
        </p:spPr>
      </p:sp>
      <p:sp>
        <p:nvSpPr>
          <p:cNvPr id="11" name="Text 9"/>
          <p:cNvSpPr/>
          <p:nvPr/>
        </p:nvSpPr>
        <p:spPr>
          <a:xfrm>
            <a:off x="996696" y="1581912"/>
            <a:ext cx="4864608" cy="320040"/>
          </a:xfrm>
          <a:prstGeom prst="rect">
            <a:avLst/>
          </a:prstGeom>
          <a:noFill/>
          <a:ln/>
        </p:spPr>
        <p:txBody>
          <a:bodyPr wrap="square" lIns="0" tIns="0" rIns="0" bIns="0" rtlCol="0" anchor="ctr">
            <a:normAutofit/>
          </a:bodyPr>
          <a:lstStyle/>
          <a:p>
            <a:pPr indent="0" marL="0">
              <a:buNone/>
            </a:pPr>
            <a:r>
              <a:rPr lang="en-US" sz="2400" b="1" dirty="0">
                <a:solidFill>
                  <a:srgbClr val="20262E"/>
                </a:solidFill>
                <a:latin typeface="Arial" pitchFamily="34" charset="0"/>
                <a:ea typeface="Arial" pitchFamily="34" charset="-122"/>
                <a:cs typeface="Arial" pitchFamily="34" charset="-120"/>
              </a:rPr>
              <a:t>Baseline scan</a:t>
            </a:r>
            <a:endParaRPr lang="en-US" sz="2400" dirty="0"/>
          </a:p>
        </p:txBody>
      </p:sp>
      <p:sp>
        <p:nvSpPr>
          <p:cNvPr id="12" name="Text 10"/>
          <p:cNvSpPr/>
          <p:nvPr/>
        </p:nvSpPr>
        <p:spPr>
          <a:xfrm>
            <a:off x="996696" y="1984248"/>
            <a:ext cx="4837176" cy="3749040"/>
          </a:xfrm>
          <a:prstGeom prst="rect">
            <a:avLst/>
          </a:prstGeom>
          <a:noFill/>
          <a:ln/>
        </p:spPr>
        <p:txBody>
          <a:bodyPr wrap="square" lIns="0" tIns="0" rIns="0" bIns="0" rtlCol="0" anchor="t">
            <a:normAutofit/>
          </a:bodyPr>
          <a:lstStyle/>
          <a:p>
            <a:pPr indent="0" marL="0">
              <a:buNone/>
            </a:pPr>
            <a:r>
              <a:rPr lang="en-US" sz="2300" dirty="0">
                <a:solidFill>
                  <a:srgbClr val="66717E"/>
                </a:solidFill>
                <a:latin typeface="Arial" pitchFamily="34" charset="0"/>
                <a:ea typeface="Arial" pitchFamily="34" charset="-122"/>
                <a:cs typeface="Arial" pitchFamily="34" charset="-120"/>
              </a:rPr>
              <a:t>Medium  2 -&gt; 0</a:t>
            </a:r>
            <a:endParaRPr lang="en-US" sz="2300" dirty="0"/>
          </a:p>
          <a:p>
            <a:pPr indent="0" marL="0">
              <a:buNone/>
            </a:pPr>
            <a:endParaRPr lang="en-US" sz="2300" dirty="0"/>
          </a:p>
          <a:p>
            <a:pPr indent="0" marL="0">
              <a:buNone/>
            </a:pPr>
            <a:r>
              <a:rPr lang="en-US" sz="2300" dirty="0">
                <a:solidFill>
                  <a:srgbClr val="66717E"/>
                </a:solidFill>
                <a:latin typeface="Arial" pitchFamily="34" charset="0"/>
                <a:ea typeface="Arial" pitchFamily="34" charset="-122"/>
                <a:cs typeface="Arial" pitchFamily="34" charset="-120"/>
              </a:rPr>
              <a:t>Low  6 -&gt; 0</a:t>
            </a:r>
            <a:endParaRPr lang="en-US" sz="2300" dirty="0"/>
          </a:p>
          <a:p>
            <a:pPr indent="0" marL="0">
              <a:buNone/>
            </a:pPr>
            <a:endParaRPr lang="en-US" sz="2300" dirty="0"/>
          </a:p>
          <a:p>
            <a:pPr indent="0" marL="0">
              <a:buNone/>
            </a:pPr>
            <a:r>
              <a:rPr lang="en-US" sz="2300" dirty="0">
                <a:solidFill>
                  <a:srgbClr val="66717E"/>
                </a:solidFill>
                <a:latin typeface="Arial" pitchFamily="34" charset="0"/>
                <a:ea typeface="Arial" pitchFamily="34" charset="-122"/>
                <a:cs typeface="Arial" pitchFamily="34" charset="-120"/>
              </a:rPr>
              <a:t>Informational  3 -&gt; 4</a:t>
            </a:r>
            <a:endParaRPr lang="en-US" sz="2300" dirty="0"/>
          </a:p>
        </p:txBody>
      </p:sp>
      <p:sp>
        <p:nvSpPr>
          <p:cNvPr id="13" name="Shape 11"/>
          <p:cNvSpPr/>
          <p:nvPr/>
        </p:nvSpPr>
        <p:spPr>
          <a:xfrm>
            <a:off x="6199632" y="1417320"/>
            <a:ext cx="5230368" cy="4480560"/>
          </a:xfrm>
          <a:prstGeom prst="roundRect">
            <a:avLst>
              <a:gd name="adj" fmla="val 1429"/>
            </a:avLst>
          </a:prstGeom>
          <a:solidFill>
            <a:srgbClr val="E9F3ED"/>
          </a:solidFill>
          <a:ln w="12700">
            <a:solidFill>
              <a:srgbClr val="D9DEE5"/>
            </a:solidFill>
            <a:prstDash val="solid"/>
          </a:ln>
        </p:spPr>
      </p:sp>
      <p:sp>
        <p:nvSpPr>
          <p:cNvPr id="14" name="Shape 12"/>
          <p:cNvSpPr/>
          <p:nvPr/>
        </p:nvSpPr>
        <p:spPr>
          <a:xfrm>
            <a:off x="6199632" y="1417320"/>
            <a:ext cx="82296" cy="4480560"/>
          </a:xfrm>
          <a:prstGeom prst="rect">
            <a:avLst/>
          </a:prstGeom>
          <a:solidFill>
            <a:srgbClr val="2F7D4A"/>
          </a:solidFill>
          <a:ln w="12700">
            <a:solidFill>
              <a:srgbClr val="2F7D4A"/>
            </a:solidFill>
            <a:prstDash val="solid"/>
          </a:ln>
        </p:spPr>
      </p:sp>
      <p:sp>
        <p:nvSpPr>
          <p:cNvPr id="15" name="Text 13"/>
          <p:cNvSpPr/>
          <p:nvPr/>
        </p:nvSpPr>
        <p:spPr>
          <a:xfrm>
            <a:off x="6419088" y="1581912"/>
            <a:ext cx="4864608" cy="320040"/>
          </a:xfrm>
          <a:prstGeom prst="rect">
            <a:avLst/>
          </a:prstGeom>
          <a:noFill/>
          <a:ln/>
        </p:spPr>
        <p:txBody>
          <a:bodyPr wrap="square" lIns="0" tIns="0" rIns="0" bIns="0" rtlCol="0" anchor="ctr">
            <a:normAutofit/>
          </a:bodyPr>
          <a:lstStyle/>
          <a:p>
            <a:pPr indent="0" marL="0">
              <a:buNone/>
            </a:pPr>
            <a:r>
              <a:rPr lang="en-US" sz="2400" b="1" dirty="0">
                <a:solidFill>
                  <a:srgbClr val="20262E"/>
                </a:solidFill>
                <a:latin typeface="Arial" pitchFamily="34" charset="0"/>
                <a:ea typeface="Arial" pitchFamily="34" charset="-122"/>
                <a:cs typeface="Arial" pitchFamily="34" charset="-120"/>
              </a:rPr>
              <a:t>Authenticated API scan</a:t>
            </a:r>
            <a:endParaRPr lang="en-US" sz="2400" dirty="0"/>
          </a:p>
        </p:txBody>
      </p:sp>
      <p:sp>
        <p:nvSpPr>
          <p:cNvPr id="16" name="Text 14"/>
          <p:cNvSpPr/>
          <p:nvPr/>
        </p:nvSpPr>
        <p:spPr>
          <a:xfrm>
            <a:off x="6419088" y="1984248"/>
            <a:ext cx="4837176" cy="3749040"/>
          </a:xfrm>
          <a:prstGeom prst="rect">
            <a:avLst/>
          </a:prstGeom>
          <a:noFill/>
          <a:ln/>
        </p:spPr>
        <p:txBody>
          <a:bodyPr wrap="square" lIns="0" tIns="0" rIns="0" bIns="0" rtlCol="0" anchor="t">
            <a:normAutofit/>
          </a:bodyPr>
          <a:lstStyle/>
          <a:p>
            <a:pPr indent="0" marL="0">
              <a:buNone/>
            </a:pPr>
            <a:r>
              <a:rPr lang="en-US" sz="2100" dirty="0">
                <a:solidFill>
                  <a:srgbClr val="66717E"/>
                </a:solidFill>
                <a:latin typeface="Arial" pitchFamily="34" charset="0"/>
                <a:ea typeface="Arial" pitchFamily="34" charset="-122"/>
                <a:cs typeface="Arial" pitchFamily="34" charset="-120"/>
              </a:rPr>
              <a:t>Low  3 -&gt; 0</a:t>
            </a:r>
            <a:endParaRPr lang="en-US" sz="2100" dirty="0"/>
          </a:p>
          <a:p>
            <a:pPr indent="0" marL="0">
              <a:buNone/>
            </a:pPr>
            <a:endParaRPr lang="en-US" sz="2100" dirty="0"/>
          </a:p>
          <a:p>
            <a:pPr indent="0" marL="0">
              <a:buNone/>
            </a:pPr>
            <a:r>
              <a:rPr lang="en-US" sz="2100" dirty="0">
                <a:solidFill>
                  <a:srgbClr val="66717E"/>
                </a:solidFill>
                <a:latin typeface="Arial" pitchFamily="34" charset="0"/>
                <a:ea typeface="Arial" pitchFamily="34" charset="-122"/>
                <a:cs typeface="Arial" pitchFamily="34" charset="-120"/>
              </a:rPr>
              <a:t>Informational  5 -&gt; 5</a:t>
            </a:r>
            <a:endParaRPr lang="en-US" sz="2100" dirty="0"/>
          </a:p>
          <a:p>
            <a:pPr indent="0" marL="0">
              <a:buNone/>
            </a:pPr>
            <a:endParaRPr lang="en-US" sz="2100" dirty="0"/>
          </a:p>
          <a:p>
            <a:pPr indent="0" marL="0">
              <a:buNone/>
            </a:pPr>
            <a:r>
              <a:rPr lang="en-US" sz="2100" dirty="0">
                <a:solidFill>
                  <a:srgbClr val="66717E"/>
                </a:solidFill>
                <a:latin typeface="Arial" pitchFamily="34" charset="0"/>
                <a:ea typeface="Arial" pitchFamily="34" charset="-122"/>
                <a:cs typeface="Arial" pitchFamily="34" charset="-120"/>
              </a:rPr>
              <a:t>High 0 | Medium 0 | Low 0 after remediation</a:t>
            </a:r>
            <a:endParaRPr lang="en-US" sz="2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JMeter: Five Workload Profiles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4.3, p. 47 | Section 4.5.2, pp. 49-50</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14</a:t>
            </a:r>
            <a:endParaRPr lang="en-US" sz="1000" dirty="0"/>
          </a:p>
        </p:txBody>
      </p:sp>
      <p:sp>
        <p:nvSpPr>
          <p:cNvPr id="9" name="Shape 7"/>
          <p:cNvSpPr/>
          <p:nvPr/>
        </p:nvSpPr>
        <p:spPr>
          <a:xfrm>
            <a:off x="713232" y="1965960"/>
            <a:ext cx="1993392" cy="1143000"/>
          </a:xfrm>
          <a:prstGeom prst="roundRect">
            <a:avLst>
              <a:gd name="adj" fmla="val 5600"/>
            </a:avLst>
          </a:prstGeom>
          <a:solidFill>
            <a:srgbClr val="FFFFFF"/>
          </a:solidFill>
          <a:ln w="12700">
            <a:solidFill>
              <a:srgbClr val="D9DEE5"/>
            </a:solidFill>
            <a:prstDash val="solid"/>
          </a:ln>
        </p:spPr>
      </p:sp>
      <p:sp>
        <p:nvSpPr>
          <p:cNvPr id="10" name="Text 8"/>
          <p:cNvSpPr/>
          <p:nvPr/>
        </p:nvSpPr>
        <p:spPr>
          <a:xfrm>
            <a:off x="822960" y="2112264"/>
            <a:ext cx="1773936"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p50</a:t>
            </a:r>
            <a:endParaRPr lang="en-US" sz="3000" dirty="0"/>
          </a:p>
        </p:txBody>
      </p:sp>
      <p:sp>
        <p:nvSpPr>
          <p:cNvPr id="11" name="Text 9"/>
          <p:cNvSpPr/>
          <p:nvPr/>
        </p:nvSpPr>
        <p:spPr>
          <a:xfrm>
            <a:off x="859536" y="2624328"/>
            <a:ext cx="1700784"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Normal load</a:t>
            </a:r>
            <a:endParaRPr lang="en-US" sz="1300" dirty="0"/>
          </a:p>
        </p:txBody>
      </p:sp>
      <p:sp>
        <p:nvSpPr>
          <p:cNvPr id="12" name="Shape 10"/>
          <p:cNvSpPr/>
          <p:nvPr/>
        </p:nvSpPr>
        <p:spPr>
          <a:xfrm>
            <a:off x="2999232" y="1965960"/>
            <a:ext cx="1993392" cy="1143000"/>
          </a:xfrm>
          <a:prstGeom prst="roundRect">
            <a:avLst>
              <a:gd name="adj" fmla="val 5600"/>
            </a:avLst>
          </a:prstGeom>
          <a:solidFill>
            <a:srgbClr val="FFFFFF"/>
          </a:solidFill>
          <a:ln w="12700">
            <a:solidFill>
              <a:srgbClr val="D9DEE5"/>
            </a:solidFill>
            <a:prstDash val="solid"/>
          </a:ln>
        </p:spPr>
      </p:sp>
      <p:sp>
        <p:nvSpPr>
          <p:cNvPr id="13" name="Text 11"/>
          <p:cNvSpPr/>
          <p:nvPr/>
        </p:nvSpPr>
        <p:spPr>
          <a:xfrm>
            <a:off x="3108960" y="2112264"/>
            <a:ext cx="1773936"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p100</a:t>
            </a:r>
            <a:endParaRPr lang="en-US" sz="3000" dirty="0"/>
          </a:p>
        </p:txBody>
      </p:sp>
      <p:sp>
        <p:nvSpPr>
          <p:cNvPr id="14" name="Text 12"/>
          <p:cNvSpPr/>
          <p:nvPr/>
        </p:nvSpPr>
        <p:spPr>
          <a:xfrm>
            <a:off x="3145536" y="2624328"/>
            <a:ext cx="1700784"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Higher concurrency</a:t>
            </a:r>
            <a:endParaRPr lang="en-US" sz="1300" dirty="0"/>
          </a:p>
        </p:txBody>
      </p:sp>
      <p:sp>
        <p:nvSpPr>
          <p:cNvPr id="15" name="Shape 13"/>
          <p:cNvSpPr/>
          <p:nvPr/>
        </p:nvSpPr>
        <p:spPr>
          <a:xfrm>
            <a:off x="5285232" y="1965960"/>
            <a:ext cx="1993392" cy="1143000"/>
          </a:xfrm>
          <a:prstGeom prst="roundRect">
            <a:avLst>
              <a:gd name="adj" fmla="val 5600"/>
            </a:avLst>
          </a:prstGeom>
          <a:solidFill>
            <a:srgbClr val="FFFFFF"/>
          </a:solidFill>
          <a:ln w="12700">
            <a:solidFill>
              <a:srgbClr val="D9DEE5"/>
            </a:solidFill>
            <a:prstDash val="solid"/>
          </a:ln>
        </p:spPr>
      </p:sp>
      <p:sp>
        <p:nvSpPr>
          <p:cNvPr id="16" name="Text 14"/>
          <p:cNvSpPr/>
          <p:nvPr/>
        </p:nvSpPr>
        <p:spPr>
          <a:xfrm>
            <a:off x="5394960" y="2112264"/>
            <a:ext cx="1773936"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p500</a:t>
            </a:r>
            <a:endParaRPr lang="en-US" sz="3000" dirty="0"/>
          </a:p>
        </p:txBody>
      </p:sp>
      <p:sp>
        <p:nvSpPr>
          <p:cNvPr id="17" name="Text 15"/>
          <p:cNvSpPr/>
          <p:nvPr/>
        </p:nvSpPr>
        <p:spPr>
          <a:xfrm>
            <a:off x="5431536" y="2624328"/>
            <a:ext cx="1700784"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Heavy concurrency</a:t>
            </a:r>
            <a:endParaRPr lang="en-US" sz="1300" dirty="0"/>
          </a:p>
        </p:txBody>
      </p:sp>
      <p:sp>
        <p:nvSpPr>
          <p:cNvPr id="18" name="Shape 16"/>
          <p:cNvSpPr/>
          <p:nvPr/>
        </p:nvSpPr>
        <p:spPr>
          <a:xfrm>
            <a:off x="7571232" y="1965960"/>
            <a:ext cx="1993392" cy="1143000"/>
          </a:xfrm>
          <a:prstGeom prst="roundRect">
            <a:avLst>
              <a:gd name="adj" fmla="val 5600"/>
            </a:avLst>
          </a:prstGeom>
          <a:solidFill>
            <a:srgbClr val="FFFFFF"/>
          </a:solidFill>
          <a:ln w="12700">
            <a:solidFill>
              <a:srgbClr val="D9DEE5"/>
            </a:solidFill>
            <a:prstDash val="solid"/>
          </a:ln>
        </p:spPr>
      </p:sp>
      <p:sp>
        <p:nvSpPr>
          <p:cNvPr id="19" name="Text 17"/>
          <p:cNvSpPr/>
          <p:nvPr/>
        </p:nvSpPr>
        <p:spPr>
          <a:xfrm>
            <a:off x="7680960" y="2112264"/>
            <a:ext cx="1773936" cy="411480"/>
          </a:xfrm>
          <a:prstGeom prst="rect">
            <a:avLst/>
          </a:prstGeom>
          <a:noFill/>
          <a:ln/>
        </p:spPr>
        <p:txBody>
          <a:bodyPr wrap="square" lIns="0" tIns="0" rIns="0" bIns="0" rtlCol="0" anchor="ctr">
            <a:normAutofit/>
          </a:bodyPr>
          <a:lstStyle/>
          <a:p>
            <a:pPr algn="ctr" indent="0" marL="0">
              <a:buNone/>
            </a:pPr>
            <a:r>
              <a:rPr lang="en-US" sz="3000" b="1" dirty="0">
                <a:solidFill>
                  <a:srgbClr val="C47B12"/>
                </a:solidFill>
                <a:latin typeface="Arial" pitchFamily="34" charset="0"/>
                <a:ea typeface="Arial" pitchFamily="34" charset="-122"/>
                <a:cs typeface="Arial" pitchFamily="34" charset="-120"/>
              </a:rPr>
              <a:t>Soak</a:t>
            </a:r>
            <a:endParaRPr lang="en-US" sz="3000" dirty="0"/>
          </a:p>
        </p:txBody>
      </p:sp>
      <p:sp>
        <p:nvSpPr>
          <p:cNvPr id="20" name="Text 18"/>
          <p:cNvSpPr/>
          <p:nvPr/>
        </p:nvSpPr>
        <p:spPr>
          <a:xfrm>
            <a:off x="7717536" y="2624328"/>
            <a:ext cx="1700784"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Sustained behavior</a:t>
            </a:r>
            <a:endParaRPr lang="en-US" sz="1300" dirty="0"/>
          </a:p>
        </p:txBody>
      </p:sp>
      <p:sp>
        <p:nvSpPr>
          <p:cNvPr id="21" name="Shape 19"/>
          <p:cNvSpPr/>
          <p:nvPr/>
        </p:nvSpPr>
        <p:spPr>
          <a:xfrm>
            <a:off x="9857232" y="1965960"/>
            <a:ext cx="1993392" cy="1143000"/>
          </a:xfrm>
          <a:prstGeom prst="roundRect">
            <a:avLst>
              <a:gd name="adj" fmla="val 5600"/>
            </a:avLst>
          </a:prstGeom>
          <a:solidFill>
            <a:srgbClr val="FFFFFF"/>
          </a:solidFill>
          <a:ln w="12700">
            <a:solidFill>
              <a:srgbClr val="D9DEE5"/>
            </a:solidFill>
            <a:prstDash val="solid"/>
          </a:ln>
        </p:spPr>
      </p:sp>
      <p:sp>
        <p:nvSpPr>
          <p:cNvPr id="22" name="Text 20"/>
          <p:cNvSpPr/>
          <p:nvPr/>
        </p:nvSpPr>
        <p:spPr>
          <a:xfrm>
            <a:off x="9966960" y="2112264"/>
            <a:ext cx="1773936" cy="411480"/>
          </a:xfrm>
          <a:prstGeom prst="rect">
            <a:avLst/>
          </a:prstGeom>
          <a:noFill/>
          <a:ln/>
        </p:spPr>
        <p:txBody>
          <a:bodyPr wrap="square" lIns="0" tIns="0" rIns="0" bIns="0" rtlCol="0" anchor="ctr">
            <a:normAutofit/>
          </a:bodyPr>
          <a:lstStyle/>
          <a:p>
            <a:pPr algn="ctr" indent="0" marL="0">
              <a:buNone/>
            </a:pPr>
            <a:r>
              <a:rPr lang="en-US" sz="3000" b="1" dirty="0">
                <a:solidFill>
                  <a:srgbClr val="C47B12"/>
                </a:solidFill>
                <a:latin typeface="Arial" pitchFamily="34" charset="0"/>
                <a:ea typeface="Arial" pitchFamily="34" charset="-122"/>
                <a:cs typeface="Arial" pitchFamily="34" charset="-120"/>
              </a:rPr>
              <a:t>Spike</a:t>
            </a:r>
            <a:endParaRPr lang="en-US" sz="3000" dirty="0"/>
          </a:p>
        </p:txBody>
      </p:sp>
      <p:sp>
        <p:nvSpPr>
          <p:cNvPr id="23" name="Text 21"/>
          <p:cNvSpPr/>
          <p:nvPr/>
        </p:nvSpPr>
        <p:spPr>
          <a:xfrm>
            <a:off x="10003536" y="2624328"/>
            <a:ext cx="1700784"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Burst and recovery</a:t>
            </a:r>
            <a:endParaRPr lang="en-US" sz="1300" dirty="0"/>
          </a:p>
        </p:txBody>
      </p:sp>
      <p:sp>
        <p:nvSpPr>
          <p:cNvPr id="24" name="Shape 22"/>
          <p:cNvSpPr/>
          <p:nvPr/>
        </p:nvSpPr>
        <p:spPr>
          <a:xfrm>
            <a:off x="731520" y="4069080"/>
            <a:ext cx="2528316" cy="1051560"/>
          </a:xfrm>
          <a:prstGeom prst="roundRect">
            <a:avLst>
              <a:gd name="adj" fmla="val 6087"/>
            </a:avLst>
          </a:prstGeom>
          <a:solidFill>
            <a:srgbClr val="FFFFFF"/>
          </a:solidFill>
          <a:ln w="12700">
            <a:solidFill>
              <a:srgbClr val="D9DEE5"/>
            </a:solidFill>
            <a:prstDash val="solid"/>
          </a:ln>
        </p:spPr>
      </p:sp>
      <p:sp>
        <p:nvSpPr>
          <p:cNvPr id="25" name="Text 23"/>
          <p:cNvSpPr/>
          <p:nvPr/>
        </p:nvSpPr>
        <p:spPr>
          <a:xfrm>
            <a:off x="841248" y="4233672"/>
            <a:ext cx="2308860"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p95 and p99 latency</a:t>
            </a:r>
            <a:endParaRPr lang="en-US" sz="1600" dirty="0"/>
          </a:p>
        </p:txBody>
      </p:sp>
      <p:sp>
        <p:nvSpPr>
          <p:cNvPr id="26" name="Shape 24"/>
          <p:cNvSpPr/>
          <p:nvPr/>
        </p:nvSpPr>
        <p:spPr>
          <a:xfrm>
            <a:off x="3278124" y="4599432"/>
            <a:ext cx="164592" cy="0"/>
          </a:xfrm>
          <a:prstGeom prst="line">
            <a:avLst/>
          </a:prstGeom>
          <a:noFill/>
          <a:ln w="16510">
            <a:solidFill>
              <a:srgbClr val="20262E"/>
            </a:solidFill>
            <a:prstDash val="solid"/>
            <a:headEnd type="none"/>
            <a:tailEnd type="triangle"/>
          </a:ln>
        </p:spPr>
      </p:sp>
      <p:sp>
        <p:nvSpPr>
          <p:cNvPr id="27" name="Shape 25"/>
          <p:cNvSpPr/>
          <p:nvPr/>
        </p:nvSpPr>
        <p:spPr>
          <a:xfrm>
            <a:off x="3461004" y="4069080"/>
            <a:ext cx="2528316" cy="1051560"/>
          </a:xfrm>
          <a:prstGeom prst="roundRect">
            <a:avLst>
              <a:gd name="adj" fmla="val 6087"/>
            </a:avLst>
          </a:prstGeom>
          <a:solidFill>
            <a:srgbClr val="E8F2F3"/>
          </a:solidFill>
          <a:ln w="12700">
            <a:solidFill>
              <a:srgbClr val="D9DEE5"/>
            </a:solidFill>
            <a:prstDash val="solid"/>
          </a:ln>
        </p:spPr>
      </p:sp>
      <p:sp>
        <p:nvSpPr>
          <p:cNvPr id="28" name="Text 26"/>
          <p:cNvSpPr/>
          <p:nvPr/>
        </p:nvSpPr>
        <p:spPr>
          <a:xfrm>
            <a:off x="3570732" y="4233672"/>
            <a:ext cx="2308860"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Throughput</a:t>
            </a:r>
            <a:endParaRPr lang="en-US" sz="1600" dirty="0"/>
          </a:p>
        </p:txBody>
      </p:sp>
      <p:sp>
        <p:nvSpPr>
          <p:cNvPr id="29" name="Shape 27"/>
          <p:cNvSpPr/>
          <p:nvPr/>
        </p:nvSpPr>
        <p:spPr>
          <a:xfrm>
            <a:off x="6007608" y="4599432"/>
            <a:ext cx="164592" cy="0"/>
          </a:xfrm>
          <a:prstGeom prst="line">
            <a:avLst/>
          </a:prstGeom>
          <a:noFill/>
          <a:ln w="16510">
            <a:solidFill>
              <a:srgbClr val="20262E"/>
            </a:solidFill>
            <a:prstDash val="solid"/>
            <a:headEnd type="none"/>
            <a:tailEnd type="triangle"/>
          </a:ln>
        </p:spPr>
      </p:sp>
      <p:sp>
        <p:nvSpPr>
          <p:cNvPr id="30" name="Shape 28"/>
          <p:cNvSpPr/>
          <p:nvPr/>
        </p:nvSpPr>
        <p:spPr>
          <a:xfrm>
            <a:off x="6190488" y="4069080"/>
            <a:ext cx="2528316" cy="1051560"/>
          </a:xfrm>
          <a:prstGeom prst="roundRect">
            <a:avLst>
              <a:gd name="adj" fmla="val 6087"/>
            </a:avLst>
          </a:prstGeom>
          <a:solidFill>
            <a:srgbClr val="FFFFFF"/>
          </a:solidFill>
          <a:ln w="12700">
            <a:solidFill>
              <a:srgbClr val="D9DEE5"/>
            </a:solidFill>
            <a:prstDash val="solid"/>
          </a:ln>
        </p:spPr>
      </p:sp>
      <p:sp>
        <p:nvSpPr>
          <p:cNvPr id="31" name="Text 29"/>
          <p:cNvSpPr/>
          <p:nvPr/>
        </p:nvSpPr>
        <p:spPr>
          <a:xfrm>
            <a:off x="6300216" y="4233672"/>
            <a:ext cx="2308860"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Error rate</a:t>
            </a:r>
            <a:endParaRPr lang="en-US" sz="1600" dirty="0"/>
          </a:p>
        </p:txBody>
      </p:sp>
      <p:sp>
        <p:nvSpPr>
          <p:cNvPr id="32" name="Shape 30"/>
          <p:cNvSpPr/>
          <p:nvPr/>
        </p:nvSpPr>
        <p:spPr>
          <a:xfrm>
            <a:off x="8737092" y="4599432"/>
            <a:ext cx="164592" cy="0"/>
          </a:xfrm>
          <a:prstGeom prst="line">
            <a:avLst/>
          </a:prstGeom>
          <a:noFill/>
          <a:ln w="16510">
            <a:solidFill>
              <a:srgbClr val="20262E"/>
            </a:solidFill>
            <a:prstDash val="solid"/>
            <a:headEnd type="none"/>
            <a:tailEnd type="triangle"/>
          </a:ln>
        </p:spPr>
      </p:sp>
      <p:sp>
        <p:nvSpPr>
          <p:cNvPr id="33" name="Shape 31"/>
          <p:cNvSpPr/>
          <p:nvPr/>
        </p:nvSpPr>
        <p:spPr>
          <a:xfrm>
            <a:off x="8919972" y="4069080"/>
            <a:ext cx="2528316" cy="1051560"/>
          </a:xfrm>
          <a:prstGeom prst="roundRect">
            <a:avLst>
              <a:gd name="adj" fmla="val 6087"/>
            </a:avLst>
          </a:prstGeom>
          <a:solidFill>
            <a:srgbClr val="E8F2F3"/>
          </a:solidFill>
          <a:ln w="12700">
            <a:solidFill>
              <a:srgbClr val="D9DEE5"/>
            </a:solidFill>
            <a:prstDash val="solid"/>
          </a:ln>
        </p:spPr>
      </p:sp>
      <p:sp>
        <p:nvSpPr>
          <p:cNvPr id="34" name="Text 32"/>
          <p:cNvSpPr/>
          <p:nvPr/>
        </p:nvSpPr>
        <p:spPr>
          <a:xfrm>
            <a:off x="9029700" y="4233672"/>
            <a:ext cx="2308860"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Drift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JMeter: Large p95 Reductions, One Honest Caveat</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4.5, pp. 44-45 | Section 4.1.3, p. 45</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15</a:t>
            </a:r>
            <a:endParaRPr lang="en-US" sz="1000" dirty="0"/>
          </a:p>
        </p:txBody>
      </p:sp>
      <p:graphicFrame>
        <p:nvGraphicFramePr>
          <p:cNvPr id="9" name="Chart 0" descr=""/>
          <p:cNvGraphicFramePr/>
          <p:nvPr/>
        </p:nvGraphicFramePr>
        <p:xfrm>
          <a:off x="777240" y="1417320"/>
          <a:ext cx="6583680" cy="438912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7635240" y="1508760"/>
            <a:ext cx="3657600" cy="1417320"/>
          </a:xfrm>
          <a:prstGeom prst="roundRect">
            <a:avLst>
              <a:gd name="adj" fmla="val 4516"/>
            </a:avLst>
          </a:prstGeom>
          <a:solidFill>
            <a:srgbClr val="E9F3ED"/>
          </a:solidFill>
          <a:ln w="12700">
            <a:solidFill>
              <a:srgbClr val="D9DEE5"/>
            </a:solidFill>
            <a:prstDash val="solid"/>
          </a:ln>
        </p:spPr>
      </p:sp>
      <p:sp>
        <p:nvSpPr>
          <p:cNvPr id="11" name="Shape 8"/>
          <p:cNvSpPr/>
          <p:nvPr/>
        </p:nvSpPr>
        <p:spPr>
          <a:xfrm>
            <a:off x="7635240" y="1508760"/>
            <a:ext cx="82296" cy="1417320"/>
          </a:xfrm>
          <a:prstGeom prst="rect">
            <a:avLst/>
          </a:prstGeom>
          <a:solidFill>
            <a:srgbClr val="2F7D4A"/>
          </a:solidFill>
          <a:ln w="12700">
            <a:solidFill>
              <a:srgbClr val="2F7D4A"/>
            </a:solidFill>
            <a:prstDash val="solid"/>
          </a:ln>
        </p:spPr>
      </p:sp>
      <p:sp>
        <p:nvSpPr>
          <p:cNvPr id="12" name="Text 9"/>
          <p:cNvSpPr/>
          <p:nvPr/>
        </p:nvSpPr>
        <p:spPr>
          <a:xfrm>
            <a:off x="7854696" y="1673352"/>
            <a:ext cx="3291840" cy="320040"/>
          </a:xfrm>
          <a:prstGeom prst="rect">
            <a:avLst/>
          </a:prstGeom>
          <a:noFill/>
          <a:ln/>
        </p:spPr>
        <p:txBody>
          <a:bodyPr wrap="square" lIns="0" tIns="0" rIns="0" bIns="0" rtlCol="0" anchor="ctr">
            <a:normAutofit/>
          </a:bodyPr>
          <a:lstStyle/>
          <a:p>
            <a:pPr indent="0" marL="0">
              <a:buNone/>
            </a:pPr>
            <a:r>
              <a:rPr lang="en-US" sz="2000" b="1" dirty="0">
                <a:solidFill>
                  <a:srgbClr val="20262E"/>
                </a:solidFill>
                <a:latin typeface="Arial" pitchFamily="34" charset="0"/>
                <a:ea typeface="Arial" pitchFamily="34" charset="-122"/>
                <a:cs typeface="Arial" pitchFamily="34" charset="-120"/>
              </a:rPr>
              <a:t>Core reliability</a:t>
            </a:r>
            <a:endParaRPr lang="en-US" sz="2000" dirty="0"/>
          </a:p>
        </p:txBody>
      </p:sp>
      <p:sp>
        <p:nvSpPr>
          <p:cNvPr id="13" name="Text 10"/>
          <p:cNvSpPr/>
          <p:nvPr/>
        </p:nvSpPr>
        <p:spPr>
          <a:xfrm>
            <a:off x="7854696" y="2075688"/>
            <a:ext cx="3264408" cy="685800"/>
          </a:xfrm>
          <a:prstGeom prst="rect">
            <a:avLst/>
          </a:prstGeom>
          <a:noFill/>
          <a:ln/>
        </p:spPr>
        <p:txBody>
          <a:bodyPr wrap="square" lIns="0" tIns="0" rIns="0" bIns="0" rtlCol="0" anchor="t">
            <a:normAutofit/>
          </a:bodyPr>
          <a:lstStyle/>
          <a:p>
            <a:pPr indent="0" marL="0">
              <a:buNone/>
            </a:pPr>
            <a:r>
              <a:rPr lang="en-US" sz="1700" dirty="0">
                <a:solidFill>
                  <a:srgbClr val="66717E"/>
                </a:solidFill>
                <a:latin typeface="Arial" pitchFamily="34" charset="0"/>
                <a:ea typeface="Arial" pitchFamily="34" charset="-122"/>
                <a:cs typeface="Arial" pitchFamily="34" charset="-120"/>
              </a:rPr>
              <a:t>0.00% error rate on p50, p100, and p500</a:t>
            </a:r>
            <a:endParaRPr lang="en-US" sz="1700" dirty="0"/>
          </a:p>
        </p:txBody>
      </p:sp>
      <p:sp>
        <p:nvSpPr>
          <p:cNvPr id="14" name="Shape 11"/>
          <p:cNvSpPr/>
          <p:nvPr/>
        </p:nvSpPr>
        <p:spPr>
          <a:xfrm>
            <a:off x="7635240" y="3246120"/>
            <a:ext cx="3657600" cy="1965960"/>
          </a:xfrm>
          <a:prstGeom prst="roundRect">
            <a:avLst>
              <a:gd name="adj" fmla="val 3256"/>
            </a:avLst>
          </a:prstGeom>
          <a:solidFill>
            <a:srgbClr val="F8EAEA"/>
          </a:solidFill>
          <a:ln w="12700">
            <a:solidFill>
              <a:srgbClr val="D9DEE5"/>
            </a:solidFill>
            <a:prstDash val="solid"/>
          </a:ln>
        </p:spPr>
      </p:sp>
      <p:sp>
        <p:nvSpPr>
          <p:cNvPr id="15" name="Shape 12"/>
          <p:cNvSpPr/>
          <p:nvPr/>
        </p:nvSpPr>
        <p:spPr>
          <a:xfrm>
            <a:off x="7635240" y="3246120"/>
            <a:ext cx="82296" cy="1965960"/>
          </a:xfrm>
          <a:prstGeom prst="rect">
            <a:avLst/>
          </a:prstGeom>
          <a:solidFill>
            <a:srgbClr val="B93A3A"/>
          </a:solidFill>
          <a:ln w="12700">
            <a:solidFill>
              <a:srgbClr val="B93A3A"/>
            </a:solidFill>
            <a:prstDash val="solid"/>
          </a:ln>
        </p:spPr>
      </p:sp>
      <p:sp>
        <p:nvSpPr>
          <p:cNvPr id="16" name="Text 13"/>
          <p:cNvSpPr/>
          <p:nvPr/>
        </p:nvSpPr>
        <p:spPr>
          <a:xfrm>
            <a:off x="7854696" y="3410712"/>
            <a:ext cx="3291840" cy="320040"/>
          </a:xfrm>
          <a:prstGeom prst="rect">
            <a:avLst/>
          </a:prstGeom>
          <a:noFill/>
          <a:ln/>
        </p:spPr>
        <p:txBody>
          <a:bodyPr wrap="square" lIns="0" tIns="0" rIns="0" bIns="0" rtlCol="0" anchor="ctr">
            <a:normAutofit/>
          </a:bodyPr>
          <a:lstStyle/>
          <a:p>
            <a:pPr indent="0" marL="0">
              <a:buNone/>
            </a:pPr>
            <a:r>
              <a:rPr lang="en-US" sz="2000" b="1" dirty="0">
                <a:solidFill>
                  <a:srgbClr val="20262E"/>
                </a:solidFill>
                <a:latin typeface="Arial" pitchFamily="34" charset="0"/>
                <a:ea typeface="Arial" pitchFamily="34" charset="-122"/>
                <a:cs typeface="Arial" pitchFamily="34" charset="-120"/>
              </a:rPr>
              <a:t>Caveat retained</a:t>
            </a:r>
            <a:endParaRPr lang="en-US" sz="2000" dirty="0"/>
          </a:p>
        </p:txBody>
      </p:sp>
      <p:sp>
        <p:nvSpPr>
          <p:cNvPr id="17" name="Text 14"/>
          <p:cNvSpPr/>
          <p:nvPr/>
        </p:nvSpPr>
        <p:spPr>
          <a:xfrm>
            <a:off x="7854696" y="3813048"/>
            <a:ext cx="3264408" cy="1234440"/>
          </a:xfrm>
          <a:prstGeom prst="rect">
            <a:avLst/>
          </a:prstGeom>
          <a:noFill/>
          <a:ln/>
        </p:spPr>
        <p:txBody>
          <a:bodyPr wrap="square" lIns="0" tIns="0" rIns="0" bIns="0" rtlCol="0" anchor="t">
            <a:normAutofit/>
          </a:bodyPr>
          <a:lstStyle/>
          <a:p>
            <a:pPr indent="0" marL="0">
              <a:buNone/>
            </a:pPr>
            <a:r>
              <a:rPr lang="en-US" sz="1700" dirty="0">
                <a:solidFill>
                  <a:srgbClr val="66717E"/>
                </a:solidFill>
                <a:latin typeface="Arial" pitchFamily="34" charset="0"/>
                <a:ea typeface="Arial" pitchFamily="34" charset="-122"/>
                <a:cs typeface="Arial" pitchFamily="34" charset="-120"/>
              </a:rPr>
              <a:t>Mixed-workload soak/spike drift heuristics still fail</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Integrity Was a Non-Negotiable Constraint</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API endpoint and role coverage, pp. 30-32 | Section 4.6, pp. 51-58</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16</a:t>
            </a:r>
            <a:endParaRPr lang="en-US" sz="1000" dirty="0"/>
          </a:p>
        </p:txBody>
      </p:sp>
      <p:sp>
        <p:nvSpPr>
          <p:cNvPr id="9" name="Shape 7"/>
          <p:cNvSpPr/>
          <p:nvPr/>
        </p:nvSpPr>
        <p:spPr>
          <a:xfrm>
            <a:off x="777240" y="1325880"/>
            <a:ext cx="5166360" cy="896112"/>
          </a:xfrm>
          <a:prstGeom prst="roundRect">
            <a:avLst>
              <a:gd name="adj" fmla="val 7143"/>
            </a:avLst>
          </a:prstGeom>
          <a:solidFill>
            <a:srgbClr val="FFFFFF"/>
          </a:solidFill>
          <a:ln w="12700">
            <a:solidFill>
              <a:srgbClr val="D9DEE5"/>
            </a:solidFill>
            <a:prstDash val="solid"/>
          </a:ln>
        </p:spPr>
      </p:sp>
      <p:sp>
        <p:nvSpPr>
          <p:cNvPr id="10" name="Shape 8"/>
          <p:cNvSpPr/>
          <p:nvPr/>
        </p:nvSpPr>
        <p:spPr>
          <a:xfrm>
            <a:off x="777240" y="1325880"/>
            <a:ext cx="82296" cy="896112"/>
          </a:xfrm>
          <a:prstGeom prst="rect">
            <a:avLst/>
          </a:prstGeom>
          <a:solidFill>
            <a:srgbClr val="2F7D4A"/>
          </a:solidFill>
          <a:ln w="12700">
            <a:solidFill>
              <a:srgbClr val="2F7D4A"/>
            </a:solidFill>
            <a:prstDash val="solid"/>
          </a:ln>
        </p:spPr>
      </p:sp>
      <p:sp>
        <p:nvSpPr>
          <p:cNvPr id="11" name="Text 9"/>
          <p:cNvSpPr/>
          <p:nvPr/>
        </p:nvSpPr>
        <p:spPr>
          <a:xfrm>
            <a:off x="996696" y="1490472"/>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01</a:t>
            </a:r>
            <a:endParaRPr lang="en-US" sz="1100" dirty="0"/>
          </a:p>
        </p:txBody>
      </p:sp>
      <p:sp>
        <p:nvSpPr>
          <p:cNvPr id="12" name="Text 10"/>
          <p:cNvSpPr/>
          <p:nvPr/>
        </p:nvSpPr>
        <p:spPr>
          <a:xfrm>
            <a:off x="996696" y="1892808"/>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JWT authentication</a:t>
            </a:r>
            <a:endParaRPr lang="en-US" sz="1800" dirty="0"/>
          </a:p>
        </p:txBody>
      </p:sp>
      <p:sp>
        <p:nvSpPr>
          <p:cNvPr id="13" name="Shape 11"/>
          <p:cNvSpPr/>
          <p:nvPr/>
        </p:nvSpPr>
        <p:spPr>
          <a:xfrm>
            <a:off x="6309360" y="1325880"/>
            <a:ext cx="5166360" cy="896112"/>
          </a:xfrm>
          <a:prstGeom prst="roundRect">
            <a:avLst>
              <a:gd name="adj" fmla="val 7143"/>
            </a:avLst>
          </a:prstGeom>
          <a:solidFill>
            <a:srgbClr val="FFFFFF"/>
          </a:solidFill>
          <a:ln w="12700">
            <a:solidFill>
              <a:srgbClr val="D9DEE5"/>
            </a:solidFill>
            <a:prstDash val="solid"/>
          </a:ln>
        </p:spPr>
      </p:sp>
      <p:sp>
        <p:nvSpPr>
          <p:cNvPr id="14" name="Shape 12"/>
          <p:cNvSpPr/>
          <p:nvPr/>
        </p:nvSpPr>
        <p:spPr>
          <a:xfrm>
            <a:off x="6309360" y="1325880"/>
            <a:ext cx="82296" cy="896112"/>
          </a:xfrm>
          <a:prstGeom prst="rect">
            <a:avLst/>
          </a:prstGeom>
          <a:solidFill>
            <a:srgbClr val="2F7D4A"/>
          </a:solidFill>
          <a:ln w="12700">
            <a:solidFill>
              <a:srgbClr val="2F7D4A"/>
            </a:solidFill>
            <a:prstDash val="solid"/>
          </a:ln>
        </p:spPr>
      </p:sp>
      <p:sp>
        <p:nvSpPr>
          <p:cNvPr id="15" name="Text 13"/>
          <p:cNvSpPr/>
          <p:nvPr/>
        </p:nvSpPr>
        <p:spPr>
          <a:xfrm>
            <a:off x="6528816" y="1490472"/>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02</a:t>
            </a:r>
            <a:endParaRPr lang="en-US" sz="1100" dirty="0"/>
          </a:p>
        </p:txBody>
      </p:sp>
      <p:sp>
        <p:nvSpPr>
          <p:cNvPr id="16" name="Text 14"/>
          <p:cNvSpPr/>
          <p:nvPr/>
        </p:nvSpPr>
        <p:spPr>
          <a:xfrm>
            <a:off x="6528816" y="1892808"/>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Role-based authorization</a:t>
            </a:r>
            <a:endParaRPr lang="en-US" sz="1800" dirty="0"/>
          </a:p>
        </p:txBody>
      </p:sp>
      <p:sp>
        <p:nvSpPr>
          <p:cNvPr id="17" name="Shape 15"/>
          <p:cNvSpPr/>
          <p:nvPr/>
        </p:nvSpPr>
        <p:spPr>
          <a:xfrm>
            <a:off x="777240" y="2496312"/>
            <a:ext cx="5166360" cy="896112"/>
          </a:xfrm>
          <a:prstGeom prst="roundRect">
            <a:avLst>
              <a:gd name="adj" fmla="val 7143"/>
            </a:avLst>
          </a:prstGeom>
          <a:solidFill>
            <a:srgbClr val="FFFFFF"/>
          </a:solidFill>
          <a:ln w="12700">
            <a:solidFill>
              <a:srgbClr val="D9DEE5"/>
            </a:solidFill>
            <a:prstDash val="solid"/>
          </a:ln>
        </p:spPr>
      </p:sp>
      <p:sp>
        <p:nvSpPr>
          <p:cNvPr id="18" name="Shape 16"/>
          <p:cNvSpPr/>
          <p:nvPr/>
        </p:nvSpPr>
        <p:spPr>
          <a:xfrm>
            <a:off x="777240" y="2496312"/>
            <a:ext cx="82296" cy="896112"/>
          </a:xfrm>
          <a:prstGeom prst="rect">
            <a:avLst/>
          </a:prstGeom>
          <a:solidFill>
            <a:srgbClr val="2F7D4A"/>
          </a:solidFill>
          <a:ln w="12700">
            <a:solidFill>
              <a:srgbClr val="2F7D4A"/>
            </a:solidFill>
            <a:prstDash val="solid"/>
          </a:ln>
        </p:spPr>
      </p:sp>
      <p:sp>
        <p:nvSpPr>
          <p:cNvPr id="19" name="Text 17"/>
          <p:cNvSpPr/>
          <p:nvPr/>
        </p:nvSpPr>
        <p:spPr>
          <a:xfrm>
            <a:off x="996696" y="2660904"/>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03</a:t>
            </a:r>
            <a:endParaRPr lang="en-US" sz="1100" dirty="0"/>
          </a:p>
        </p:txBody>
      </p:sp>
      <p:sp>
        <p:nvSpPr>
          <p:cNvPr id="20" name="Text 18"/>
          <p:cNvSpPr/>
          <p:nvPr/>
        </p:nvSpPr>
        <p:spPr>
          <a:xfrm>
            <a:off x="996696" y="3063240"/>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Balanced debit and credit</a:t>
            </a:r>
            <a:endParaRPr lang="en-US" sz="1800" dirty="0"/>
          </a:p>
        </p:txBody>
      </p:sp>
      <p:sp>
        <p:nvSpPr>
          <p:cNvPr id="21" name="Shape 19"/>
          <p:cNvSpPr/>
          <p:nvPr/>
        </p:nvSpPr>
        <p:spPr>
          <a:xfrm>
            <a:off x="6309360" y="2496312"/>
            <a:ext cx="5166360" cy="896112"/>
          </a:xfrm>
          <a:prstGeom prst="roundRect">
            <a:avLst>
              <a:gd name="adj" fmla="val 7143"/>
            </a:avLst>
          </a:prstGeom>
          <a:solidFill>
            <a:srgbClr val="FFFFFF"/>
          </a:solidFill>
          <a:ln w="12700">
            <a:solidFill>
              <a:srgbClr val="D9DEE5"/>
            </a:solidFill>
            <a:prstDash val="solid"/>
          </a:ln>
        </p:spPr>
      </p:sp>
      <p:sp>
        <p:nvSpPr>
          <p:cNvPr id="22" name="Shape 20"/>
          <p:cNvSpPr/>
          <p:nvPr/>
        </p:nvSpPr>
        <p:spPr>
          <a:xfrm>
            <a:off x="6309360" y="2496312"/>
            <a:ext cx="82296" cy="896112"/>
          </a:xfrm>
          <a:prstGeom prst="rect">
            <a:avLst/>
          </a:prstGeom>
          <a:solidFill>
            <a:srgbClr val="2F7D4A"/>
          </a:solidFill>
          <a:ln w="12700">
            <a:solidFill>
              <a:srgbClr val="2F7D4A"/>
            </a:solidFill>
            <a:prstDash val="solid"/>
          </a:ln>
        </p:spPr>
      </p:sp>
      <p:sp>
        <p:nvSpPr>
          <p:cNvPr id="23" name="Text 21"/>
          <p:cNvSpPr/>
          <p:nvPr/>
        </p:nvSpPr>
        <p:spPr>
          <a:xfrm>
            <a:off x="6528816" y="2660904"/>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04</a:t>
            </a:r>
            <a:endParaRPr lang="en-US" sz="1100" dirty="0"/>
          </a:p>
        </p:txBody>
      </p:sp>
      <p:sp>
        <p:nvSpPr>
          <p:cNvPr id="24" name="Text 22"/>
          <p:cNvSpPr/>
          <p:nvPr/>
        </p:nvSpPr>
        <p:spPr>
          <a:xfrm>
            <a:off x="6528816" y="3063240"/>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Accounting-period rules</a:t>
            </a:r>
            <a:endParaRPr lang="en-US" sz="1800" dirty="0"/>
          </a:p>
        </p:txBody>
      </p:sp>
      <p:sp>
        <p:nvSpPr>
          <p:cNvPr id="25" name="Shape 23"/>
          <p:cNvSpPr/>
          <p:nvPr/>
        </p:nvSpPr>
        <p:spPr>
          <a:xfrm>
            <a:off x="777240" y="3666744"/>
            <a:ext cx="5166360" cy="896112"/>
          </a:xfrm>
          <a:prstGeom prst="roundRect">
            <a:avLst>
              <a:gd name="adj" fmla="val 7143"/>
            </a:avLst>
          </a:prstGeom>
          <a:solidFill>
            <a:srgbClr val="FFFFFF"/>
          </a:solidFill>
          <a:ln w="12700">
            <a:solidFill>
              <a:srgbClr val="D9DEE5"/>
            </a:solidFill>
            <a:prstDash val="solid"/>
          </a:ln>
        </p:spPr>
      </p:sp>
      <p:sp>
        <p:nvSpPr>
          <p:cNvPr id="26" name="Shape 24"/>
          <p:cNvSpPr/>
          <p:nvPr/>
        </p:nvSpPr>
        <p:spPr>
          <a:xfrm>
            <a:off x="777240" y="3666744"/>
            <a:ext cx="82296" cy="896112"/>
          </a:xfrm>
          <a:prstGeom prst="rect">
            <a:avLst/>
          </a:prstGeom>
          <a:solidFill>
            <a:srgbClr val="2F7D4A"/>
          </a:solidFill>
          <a:ln w="12700">
            <a:solidFill>
              <a:srgbClr val="2F7D4A"/>
            </a:solidFill>
            <a:prstDash val="solid"/>
          </a:ln>
        </p:spPr>
      </p:sp>
      <p:sp>
        <p:nvSpPr>
          <p:cNvPr id="27" name="Text 25"/>
          <p:cNvSpPr/>
          <p:nvPr/>
        </p:nvSpPr>
        <p:spPr>
          <a:xfrm>
            <a:off x="996696" y="3831336"/>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05</a:t>
            </a:r>
            <a:endParaRPr lang="en-US" sz="1100" dirty="0"/>
          </a:p>
        </p:txBody>
      </p:sp>
      <p:sp>
        <p:nvSpPr>
          <p:cNvPr id="28" name="Text 26"/>
          <p:cNvSpPr/>
          <p:nvPr/>
        </p:nvSpPr>
        <p:spPr>
          <a:xfrm>
            <a:off x="996696" y="4233672"/>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Idempotency and concurrency</a:t>
            </a:r>
            <a:endParaRPr lang="en-US" sz="1800" dirty="0"/>
          </a:p>
        </p:txBody>
      </p:sp>
      <p:sp>
        <p:nvSpPr>
          <p:cNvPr id="29" name="Shape 27"/>
          <p:cNvSpPr/>
          <p:nvPr/>
        </p:nvSpPr>
        <p:spPr>
          <a:xfrm>
            <a:off x="6309360" y="3666744"/>
            <a:ext cx="5166360" cy="896112"/>
          </a:xfrm>
          <a:prstGeom prst="roundRect">
            <a:avLst>
              <a:gd name="adj" fmla="val 7143"/>
            </a:avLst>
          </a:prstGeom>
          <a:solidFill>
            <a:srgbClr val="FFFFFF"/>
          </a:solidFill>
          <a:ln w="12700">
            <a:solidFill>
              <a:srgbClr val="D9DEE5"/>
            </a:solidFill>
            <a:prstDash val="solid"/>
          </a:ln>
        </p:spPr>
      </p:sp>
      <p:sp>
        <p:nvSpPr>
          <p:cNvPr id="30" name="Shape 28"/>
          <p:cNvSpPr/>
          <p:nvPr/>
        </p:nvSpPr>
        <p:spPr>
          <a:xfrm>
            <a:off x="6309360" y="3666744"/>
            <a:ext cx="82296" cy="896112"/>
          </a:xfrm>
          <a:prstGeom prst="rect">
            <a:avLst/>
          </a:prstGeom>
          <a:solidFill>
            <a:srgbClr val="2F7D4A"/>
          </a:solidFill>
          <a:ln w="12700">
            <a:solidFill>
              <a:srgbClr val="2F7D4A"/>
            </a:solidFill>
            <a:prstDash val="solid"/>
          </a:ln>
        </p:spPr>
      </p:sp>
      <p:sp>
        <p:nvSpPr>
          <p:cNvPr id="31" name="Text 29"/>
          <p:cNvSpPr/>
          <p:nvPr/>
        </p:nvSpPr>
        <p:spPr>
          <a:xfrm>
            <a:off x="6528816" y="3831336"/>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06</a:t>
            </a:r>
            <a:endParaRPr lang="en-US" sz="1100" dirty="0"/>
          </a:p>
        </p:txBody>
      </p:sp>
      <p:sp>
        <p:nvSpPr>
          <p:cNvPr id="32" name="Text 30"/>
          <p:cNvSpPr/>
          <p:nvPr/>
        </p:nvSpPr>
        <p:spPr>
          <a:xfrm>
            <a:off x="6528816" y="4233672"/>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Audit writes</a:t>
            </a:r>
            <a:endParaRPr lang="en-US" sz="1800" dirty="0"/>
          </a:p>
        </p:txBody>
      </p:sp>
      <p:sp>
        <p:nvSpPr>
          <p:cNvPr id="33" name="Shape 31"/>
          <p:cNvSpPr/>
          <p:nvPr/>
        </p:nvSpPr>
        <p:spPr>
          <a:xfrm>
            <a:off x="777240" y="4837176"/>
            <a:ext cx="5166360" cy="896112"/>
          </a:xfrm>
          <a:prstGeom prst="roundRect">
            <a:avLst>
              <a:gd name="adj" fmla="val 7143"/>
            </a:avLst>
          </a:prstGeom>
          <a:solidFill>
            <a:srgbClr val="FFFFFF"/>
          </a:solidFill>
          <a:ln w="12700">
            <a:solidFill>
              <a:srgbClr val="D9DEE5"/>
            </a:solidFill>
            <a:prstDash val="solid"/>
          </a:ln>
        </p:spPr>
      </p:sp>
      <p:sp>
        <p:nvSpPr>
          <p:cNvPr id="34" name="Shape 32"/>
          <p:cNvSpPr/>
          <p:nvPr/>
        </p:nvSpPr>
        <p:spPr>
          <a:xfrm>
            <a:off x="777240" y="4837176"/>
            <a:ext cx="82296" cy="896112"/>
          </a:xfrm>
          <a:prstGeom prst="rect">
            <a:avLst/>
          </a:prstGeom>
          <a:solidFill>
            <a:srgbClr val="2F7D4A"/>
          </a:solidFill>
          <a:ln w="12700">
            <a:solidFill>
              <a:srgbClr val="2F7D4A"/>
            </a:solidFill>
            <a:prstDash val="solid"/>
          </a:ln>
        </p:spPr>
      </p:sp>
      <p:sp>
        <p:nvSpPr>
          <p:cNvPr id="35" name="Text 33"/>
          <p:cNvSpPr/>
          <p:nvPr/>
        </p:nvSpPr>
        <p:spPr>
          <a:xfrm>
            <a:off x="996696" y="5001768"/>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07</a:t>
            </a:r>
            <a:endParaRPr lang="en-US" sz="1100" dirty="0"/>
          </a:p>
        </p:txBody>
      </p:sp>
      <p:sp>
        <p:nvSpPr>
          <p:cNvPr id="36" name="Text 34"/>
          <p:cNvSpPr/>
          <p:nvPr/>
        </p:nvSpPr>
        <p:spPr>
          <a:xfrm>
            <a:off x="996696" y="5404104"/>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Reconciliation integrity</a:t>
            </a:r>
            <a:endParaRPr lang="en-US" sz="1800" dirty="0"/>
          </a:p>
        </p:txBody>
      </p:sp>
      <p:sp>
        <p:nvSpPr>
          <p:cNvPr id="37" name="Shape 35"/>
          <p:cNvSpPr/>
          <p:nvPr/>
        </p:nvSpPr>
        <p:spPr>
          <a:xfrm>
            <a:off x="6309360" y="4837176"/>
            <a:ext cx="5166360" cy="896112"/>
          </a:xfrm>
          <a:prstGeom prst="roundRect">
            <a:avLst>
              <a:gd name="adj" fmla="val 7143"/>
            </a:avLst>
          </a:prstGeom>
          <a:solidFill>
            <a:srgbClr val="FFFFFF"/>
          </a:solidFill>
          <a:ln w="12700">
            <a:solidFill>
              <a:srgbClr val="D9DEE5"/>
            </a:solidFill>
            <a:prstDash val="solid"/>
          </a:ln>
        </p:spPr>
      </p:sp>
      <p:sp>
        <p:nvSpPr>
          <p:cNvPr id="38" name="Shape 36"/>
          <p:cNvSpPr/>
          <p:nvPr/>
        </p:nvSpPr>
        <p:spPr>
          <a:xfrm>
            <a:off x="6309360" y="4837176"/>
            <a:ext cx="82296" cy="896112"/>
          </a:xfrm>
          <a:prstGeom prst="rect">
            <a:avLst/>
          </a:prstGeom>
          <a:solidFill>
            <a:srgbClr val="2F7D4A"/>
          </a:solidFill>
          <a:ln w="12700">
            <a:solidFill>
              <a:srgbClr val="2F7D4A"/>
            </a:solidFill>
            <a:prstDash val="solid"/>
          </a:ln>
        </p:spPr>
      </p:sp>
      <p:sp>
        <p:nvSpPr>
          <p:cNvPr id="39" name="Text 37"/>
          <p:cNvSpPr/>
          <p:nvPr/>
        </p:nvSpPr>
        <p:spPr>
          <a:xfrm>
            <a:off x="6528816" y="5001768"/>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08</a:t>
            </a:r>
            <a:endParaRPr lang="en-US" sz="1100" dirty="0"/>
          </a:p>
        </p:txBody>
      </p:sp>
      <p:sp>
        <p:nvSpPr>
          <p:cNvPr id="40" name="Text 38"/>
          <p:cNvSpPr/>
          <p:nvPr/>
        </p:nvSpPr>
        <p:spPr>
          <a:xfrm>
            <a:off x="6528816" y="5404104"/>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Regression tests</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Working Application Evidence</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4.6 and Figures 4.1-4.7, pp. 51-58</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17</a:t>
            </a:r>
            <a:endParaRPr lang="en-US" sz="1000" dirty="0"/>
          </a:p>
        </p:txBody>
      </p:sp>
      <p:sp>
        <p:nvSpPr>
          <p:cNvPr id="9" name="Shape 7"/>
          <p:cNvSpPr/>
          <p:nvPr/>
        </p:nvSpPr>
        <p:spPr>
          <a:xfrm>
            <a:off x="713232" y="1234440"/>
            <a:ext cx="5349240" cy="2057400"/>
          </a:xfrm>
          <a:prstGeom prst="roundRect">
            <a:avLst>
              <a:gd name="adj" fmla="val 3111"/>
            </a:avLst>
          </a:prstGeom>
          <a:solidFill>
            <a:srgbClr val="FFFFFF"/>
          </a:solidFill>
          <a:ln w="12700">
            <a:solidFill>
              <a:srgbClr val="D9DEE5"/>
            </a:solidFill>
            <a:prstDash val="solid"/>
          </a:ln>
        </p:spPr>
      </p:sp>
      <p:pic>
        <p:nvPicPr>
          <p:cNvPr id="10" name="Image 0" descr="C:\Users\Asus\.codex\worktrees\final-thesis-defense\financial-accounting\Document\outputs\web-app-evidence\02-dashboard-admin.png">    </p:cNvPr>
          <p:cNvPicPr>
            <a:picLocks noChangeAspect="1"/>
          </p:cNvPicPr>
          <p:nvPr/>
        </p:nvPicPr>
        <p:blipFill>
          <a:blip r:embed="rId1"/>
          <a:stretch>
            <a:fillRect/>
          </a:stretch>
        </p:blipFill>
        <p:spPr>
          <a:xfrm>
            <a:off x="1906524" y="1234440"/>
            <a:ext cx="2962656" cy="2057400"/>
          </a:xfrm>
          <a:prstGeom prst="rect">
            <a:avLst/>
          </a:prstGeom>
        </p:spPr>
      </p:pic>
      <p:sp>
        <p:nvSpPr>
          <p:cNvPr id="11" name="Text 8"/>
          <p:cNvSpPr/>
          <p:nvPr/>
        </p:nvSpPr>
        <p:spPr>
          <a:xfrm>
            <a:off x="713232" y="3337560"/>
            <a:ext cx="5349240" cy="246888"/>
          </a:xfrm>
          <a:prstGeom prst="rect">
            <a:avLst/>
          </a:prstGeom>
          <a:noFill/>
          <a:ln/>
        </p:spPr>
        <p:txBody>
          <a:bodyPr wrap="square" lIns="0" tIns="0" rIns="0" bIns="0" rtlCol="0" anchor="ctr">
            <a:normAutofit/>
          </a:bodyPr>
          <a:lstStyle/>
          <a:p>
            <a:pPr algn="ctr" indent="0" marL="0">
              <a:buNone/>
            </a:pPr>
            <a:r>
              <a:rPr lang="en-US" sz="1150" b="1" dirty="0">
                <a:solidFill>
                  <a:srgbClr val="66717E"/>
                </a:solidFill>
                <a:latin typeface="Arial" pitchFamily="34" charset="0"/>
                <a:ea typeface="Arial" pitchFamily="34" charset="-122"/>
                <a:cs typeface="Arial" pitchFamily="34" charset="-120"/>
              </a:rPr>
              <a:t>Admin dashboard and live API counts</a:t>
            </a:r>
            <a:endParaRPr lang="en-US" sz="1150" dirty="0"/>
          </a:p>
        </p:txBody>
      </p:sp>
      <p:sp>
        <p:nvSpPr>
          <p:cNvPr id="12" name="Shape 9"/>
          <p:cNvSpPr/>
          <p:nvPr/>
        </p:nvSpPr>
        <p:spPr>
          <a:xfrm>
            <a:off x="6400800" y="1234440"/>
            <a:ext cx="5349240" cy="2057400"/>
          </a:xfrm>
          <a:prstGeom prst="roundRect">
            <a:avLst>
              <a:gd name="adj" fmla="val 3111"/>
            </a:avLst>
          </a:prstGeom>
          <a:solidFill>
            <a:srgbClr val="FFFFFF"/>
          </a:solidFill>
          <a:ln w="12700">
            <a:solidFill>
              <a:srgbClr val="D9DEE5"/>
            </a:solidFill>
            <a:prstDash val="solid"/>
          </a:ln>
        </p:spPr>
      </p:sp>
      <p:pic>
        <p:nvPicPr>
          <p:cNvPr id="13" name="Image 1" descr="C:\Users\Asus\.codex\worktrees\final-thesis-defense\financial-accounting\Document\outputs\web-app-evidence\03-reports-trial-balance.png">    </p:cNvPr>
          <p:cNvPicPr>
            <a:picLocks noChangeAspect="1"/>
          </p:cNvPicPr>
          <p:nvPr/>
        </p:nvPicPr>
        <p:blipFill>
          <a:blip r:embed="rId2"/>
          <a:stretch>
            <a:fillRect/>
          </a:stretch>
        </p:blipFill>
        <p:spPr>
          <a:xfrm>
            <a:off x="8635857" y="1234440"/>
            <a:ext cx="879126" cy="2057400"/>
          </a:xfrm>
          <a:prstGeom prst="rect">
            <a:avLst/>
          </a:prstGeom>
        </p:spPr>
      </p:pic>
      <p:sp>
        <p:nvSpPr>
          <p:cNvPr id="14" name="Text 10"/>
          <p:cNvSpPr/>
          <p:nvPr/>
        </p:nvSpPr>
        <p:spPr>
          <a:xfrm>
            <a:off x="6400800" y="3337560"/>
            <a:ext cx="5349240" cy="246888"/>
          </a:xfrm>
          <a:prstGeom prst="rect">
            <a:avLst/>
          </a:prstGeom>
          <a:noFill/>
          <a:ln/>
        </p:spPr>
        <p:txBody>
          <a:bodyPr wrap="square" lIns="0" tIns="0" rIns="0" bIns="0" rtlCol="0" anchor="ctr">
            <a:normAutofit/>
          </a:bodyPr>
          <a:lstStyle/>
          <a:p>
            <a:pPr algn="ctr" indent="0" marL="0">
              <a:buNone/>
            </a:pPr>
            <a:r>
              <a:rPr lang="en-US" sz="1150" b="1" dirty="0">
                <a:solidFill>
                  <a:srgbClr val="66717E"/>
                </a:solidFill>
                <a:latin typeface="Arial" pitchFamily="34" charset="0"/>
                <a:ea typeface="Arial" pitchFamily="34" charset="-122"/>
                <a:cs typeface="Arial" pitchFamily="34" charset="-120"/>
              </a:rPr>
              <a:t>Trial balance from reports API</a:t>
            </a:r>
            <a:endParaRPr lang="en-US" sz="1150" dirty="0"/>
          </a:p>
        </p:txBody>
      </p:sp>
      <p:sp>
        <p:nvSpPr>
          <p:cNvPr id="15" name="Shape 11"/>
          <p:cNvSpPr/>
          <p:nvPr/>
        </p:nvSpPr>
        <p:spPr>
          <a:xfrm>
            <a:off x="713232" y="3749040"/>
            <a:ext cx="5349240" cy="2057400"/>
          </a:xfrm>
          <a:prstGeom prst="roundRect">
            <a:avLst>
              <a:gd name="adj" fmla="val 3111"/>
            </a:avLst>
          </a:prstGeom>
          <a:solidFill>
            <a:srgbClr val="FFFFFF"/>
          </a:solidFill>
          <a:ln w="12700">
            <a:solidFill>
              <a:srgbClr val="D9DEE5"/>
            </a:solidFill>
            <a:prstDash val="solid"/>
          </a:ln>
        </p:spPr>
      </p:sp>
      <p:pic>
        <p:nvPicPr>
          <p:cNvPr id="16" name="Image 2" descr="C:\Users\Asus\.codex\worktrees\final-thesis-defense\financial-accounting\Document\outputs\web-app-evidence\05-auditor-role-view.png">    </p:cNvPr>
          <p:cNvPicPr>
            <a:picLocks noChangeAspect="1"/>
          </p:cNvPicPr>
          <p:nvPr/>
        </p:nvPicPr>
        <p:blipFill>
          <a:blip r:embed="rId3"/>
          <a:stretch>
            <a:fillRect/>
          </a:stretch>
        </p:blipFill>
        <p:spPr>
          <a:xfrm>
            <a:off x="2763346" y="3749040"/>
            <a:ext cx="1249012" cy="2057400"/>
          </a:xfrm>
          <a:prstGeom prst="rect">
            <a:avLst/>
          </a:prstGeom>
        </p:spPr>
      </p:pic>
      <p:sp>
        <p:nvSpPr>
          <p:cNvPr id="17" name="Text 12"/>
          <p:cNvSpPr/>
          <p:nvPr/>
        </p:nvSpPr>
        <p:spPr>
          <a:xfrm>
            <a:off x="713232" y="5852160"/>
            <a:ext cx="5349240" cy="246888"/>
          </a:xfrm>
          <a:prstGeom prst="rect">
            <a:avLst/>
          </a:prstGeom>
          <a:noFill/>
          <a:ln/>
        </p:spPr>
        <p:txBody>
          <a:bodyPr wrap="square" lIns="0" tIns="0" rIns="0" bIns="0" rtlCol="0" anchor="ctr">
            <a:normAutofit/>
          </a:bodyPr>
          <a:lstStyle/>
          <a:p>
            <a:pPr algn="ctr" indent="0" marL="0">
              <a:buNone/>
            </a:pPr>
            <a:r>
              <a:rPr lang="en-US" sz="1150" b="1" dirty="0">
                <a:solidFill>
                  <a:srgbClr val="66717E"/>
                </a:solidFill>
                <a:latin typeface="Arial" pitchFamily="34" charset="0"/>
                <a:ea typeface="Arial" pitchFamily="34" charset="-122"/>
                <a:cs typeface="Arial" pitchFamily="34" charset="-120"/>
              </a:rPr>
              <a:t>Auditor read-only navigation</a:t>
            </a:r>
            <a:endParaRPr lang="en-US" sz="1150" dirty="0"/>
          </a:p>
        </p:txBody>
      </p:sp>
      <p:sp>
        <p:nvSpPr>
          <p:cNvPr id="18" name="Shape 13"/>
          <p:cNvSpPr/>
          <p:nvPr/>
        </p:nvSpPr>
        <p:spPr>
          <a:xfrm>
            <a:off x="6400800" y="3749040"/>
            <a:ext cx="5349240" cy="2057400"/>
          </a:xfrm>
          <a:prstGeom prst="roundRect">
            <a:avLst>
              <a:gd name="adj" fmla="val 3111"/>
            </a:avLst>
          </a:prstGeom>
          <a:solidFill>
            <a:srgbClr val="FFFFFF"/>
          </a:solidFill>
          <a:ln w="12700">
            <a:solidFill>
              <a:srgbClr val="D9DEE5"/>
            </a:solidFill>
            <a:prstDash val="solid"/>
          </a:ln>
        </p:spPr>
      </p:sp>
      <p:pic>
        <p:nvPicPr>
          <p:cNvPr id="19" name="Image 3" descr="C:\Users\Asus\.codex\worktrees\final-thesis-defense\financial-accounting\Document\outputs\web-app-evidence\07-journal-entry-details.png">    </p:cNvPr>
          <p:cNvPicPr>
            <a:picLocks noChangeAspect="1"/>
          </p:cNvPicPr>
          <p:nvPr/>
        </p:nvPicPr>
        <p:blipFill>
          <a:blip r:embed="rId4"/>
          <a:stretch>
            <a:fillRect/>
          </a:stretch>
        </p:blipFill>
        <p:spPr>
          <a:xfrm>
            <a:off x="8485485" y="3749040"/>
            <a:ext cx="1179871" cy="2057400"/>
          </a:xfrm>
          <a:prstGeom prst="rect">
            <a:avLst/>
          </a:prstGeom>
        </p:spPr>
      </p:pic>
      <p:sp>
        <p:nvSpPr>
          <p:cNvPr id="20" name="Text 14"/>
          <p:cNvSpPr/>
          <p:nvPr/>
        </p:nvSpPr>
        <p:spPr>
          <a:xfrm>
            <a:off x="6400800" y="5852160"/>
            <a:ext cx="5349240" cy="246888"/>
          </a:xfrm>
          <a:prstGeom prst="rect">
            <a:avLst/>
          </a:prstGeom>
          <a:noFill/>
          <a:ln/>
        </p:spPr>
        <p:txBody>
          <a:bodyPr wrap="square" lIns="0" tIns="0" rIns="0" bIns="0" rtlCol="0" anchor="ctr">
            <a:normAutofit/>
          </a:bodyPr>
          <a:lstStyle/>
          <a:p>
            <a:pPr algn="ctr" indent="0" marL="0">
              <a:buNone/>
            </a:pPr>
            <a:r>
              <a:rPr lang="en-US" sz="1150" b="1" dirty="0">
                <a:solidFill>
                  <a:srgbClr val="66717E"/>
                </a:solidFill>
                <a:latin typeface="Arial" pitchFamily="34" charset="0"/>
                <a:ea typeface="Arial" pitchFamily="34" charset="-122"/>
                <a:cs typeface="Arial" pitchFamily="34" charset="-120"/>
              </a:rPr>
              <a:t>Debit and credit line evidence</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B93A3A"/>
          </a:solidFill>
          <a:ln w="12700">
            <a:solidFill>
              <a:srgbClr val="B93A3A"/>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B93A3A"/>
                </a:solidFill>
                <a:latin typeface="Arial" pitchFamily="34" charset="0"/>
                <a:ea typeface="Arial" pitchFamily="34" charset="-122"/>
                <a:cs typeface="Arial" pitchFamily="34" charset="-120"/>
              </a:rPr>
              <a:t>COMPARISON</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GPT-5.4 vs GPT-5.5: Trade-offs, Not a Universal Winner</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Tables 4.7-4.11, pp. 59-60</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B93A3A"/>
                </a:solidFill>
                <a:latin typeface="Arial" pitchFamily="34" charset="0"/>
                <a:ea typeface="Arial" pitchFamily="34" charset="-122"/>
                <a:cs typeface="Arial" pitchFamily="34" charset="-120"/>
              </a:rPr>
              <a:t>18</a:t>
            </a:r>
            <a:endParaRPr lang="en-US" sz="1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713232" y="1417320"/>
          <a:ext cx="10789920" cy="4480560"/>
        </p:xfrm>
        <a:graphic>
          <a:graphicData uri="http://schemas.openxmlformats.org/drawingml/2006/table">
            <a:tbl>
              <a:tblPr/>
              <a:tblGrid>
                <a:gridCol w="1417320"/>
                <a:gridCol w="3154680"/>
                <a:gridCol w="3154680"/>
                <a:gridCol w="3063240"/>
              </a:tblGrid>
              <a:tr h="786384">
                <a:tc>
                  <a:txBody>
                    <a:bodyPr/>
                    <a:lstStyle/>
                    <a:p>
                      <a:pPr indent="0" marL="0">
                        <a:buNone/>
                      </a:pPr>
                      <a:r>
                        <a:rPr lang="en-US" sz="1500" b="1" dirty="0">
                          <a:solidFill>
                            <a:srgbClr val="FFFFFF"/>
                          </a:solidFill>
                          <a:latin typeface="Arial" pitchFamily="34" charset="0"/>
                          <a:ea typeface="Arial" pitchFamily="34" charset="-122"/>
                          <a:cs typeface="Arial" pitchFamily="34" charset="-120"/>
                        </a:rPr>
                        <a:t>Area</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GPT-5.4</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GPT-5.5</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Reading</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r>
              <a:tr h="786384">
                <a:tc>
                  <a:txBody>
                    <a:bodyPr/>
                    <a:lstStyle/>
                    <a:p>
                      <a:pPr indent="0" marL="0">
                        <a:buNone/>
                      </a:pPr>
                      <a:r>
                        <a:rPr lang="en-US" sz="1500" dirty="0">
                          <a:solidFill>
                            <a:srgbClr val="20262E"/>
                          </a:solidFill>
                          <a:latin typeface="Arial" pitchFamily="34" charset="0"/>
                          <a:ea typeface="Arial" pitchFamily="34" charset="-122"/>
                          <a:cs typeface="Arial" pitchFamily="34" charset="-120"/>
                        </a:rPr>
                        <a:t>SonarQube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 code smells; 74.3% coverage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 code smells; 74.3% coverage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Tie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786384">
                <a:tc>
                  <a:txBody>
                    <a:bodyPr/>
                    <a:lstStyle/>
                    <a:p>
                      <a:pPr indent="0" marL="0">
                        <a:buNone/>
                      </a:pPr>
                      <a:r>
                        <a:rPr lang="en-US" sz="1500" dirty="0">
                          <a:solidFill>
                            <a:srgbClr val="20262E"/>
                          </a:solidFill>
                          <a:latin typeface="Arial" pitchFamily="34" charset="0"/>
                          <a:ea typeface="Arial" pitchFamily="34" charset="-122"/>
                          <a:cs typeface="Arial" pitchFamily="34" charset="-120"/>
                        </a:rPr>
                        <a:t>ZAP</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Cleaner residual output</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Business gate passes; more residuals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GPT-5.4 cleaner</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786384">
                <a:tc>
                  <a:txBody>
                    <a:bodyPr/>
                    <a:lstStyle/>
                    <a:p>
                      <a:pPr indent="0" marL="0">
                        <a:buNone/>
                      </a:pPr>
                      <a:r>
                        <a:rPr lang="en-US" sz="1500" dirty="0">
                          <a:solidFill>
                            <a:srgbClr val="20262E"/>
                          </a:solidFill>
                          <a:latin typeface="Arial" pitchFamily="34" charset="0"/>
                          <a:ea typeface="Arial" pitchFamily="34" charset="-122"/>
                          <a:cs typeface="Arial" pitchFamily="34" charset="-120"/>
                        </a:rPr>
                        <a:t>JMeter</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Selected tail wins; p50 regression</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Balanced profiles; best spike tail</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GPT-5.5 balanced</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786384">
                <a:tc>
                  <a:txBody>
                    <a:bodyPr/>
                    <a:lstStyle/>
                    <a:p>
                      <a:pPr indent="0" marL="0">
                        <a:buNone/>
                      </a:pPr>
                      <a:r>
                        <a:rPr lang="en-US" sz="1500" dirty="0">
                          <a:solidFill>
                            <a:srgbClr val="20262E"/>
                          </a:solidFill>
                          <a:latin typeface="Arial" pitchFamily="34" charset="0"/>
                          <a:ea typeface="Arial" pitchFamily="34" charset="-122"/>
                          <a:cs typeface="Arial" pitchFamily="34" charset="-120"/>
                        </a:rPr>
                        <a:t>Patch size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Larger</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Smaller</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GPT-5.5 lower change risk</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B93A3A"/>
          </a:solidFill>
          <a:ln w="12700">
            <a:solidFill>
              <a:srgbClr val="B93A3A"/>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B93A3A"/>
                </a:solidFill>
                <a:latin typeface="Arial" pitchFamily="34" charset="0"/>
                <a:ea typeface="Arial" pitchFamily="34" charset="-122"/>
                <a:cs typeface="Arial" pitchFamily="34" charset="-120"/>
              </a:rPr>
              <a:t>COMPARISON</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New-API v2 Controlled Retest</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4.12 and v2 result, pp. 61-62</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B93A3A"/>
                </a:solidFill>
                <a:latin typeface="Arial" pitchFamily="34" charset="0"/>
                <a:ea typeface="Arial" pitchFamily="34" charset="-122"/>
                <a:cs typeface="Arial" pitchFamily="34" charset="-120"/>
              </a:rPr>
              <a:t>19</a:t>
            </a:r>
            <a:endParaRPr lang="en-US" sz="1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1097280" y="1325880"/>
          <a:ext cx="9966960" cy="4800600"/>
        </p:xfrm>
        <a:graphic>
          <a:graphicData uri="http://schemas.openxmlformats.org/drawingml/2006/table">
            <a:tbl>
              <a:tblPr/>
              <a:tblGrid>
                <a:gridCol w="3291840"/>
                <a:gridCol w="3337560"/>
                <a:gridCol w="3337560"/>
              </a:tblGrid>
              <a:tr h="658368">
                <a:tc>
                  <a:txBody>
                    <a:bodyPr/>
                    <a:lstStyle/>
                    <a:p>
                      <a:pPr indent="0" marL="0">
                        <a:buNone/>
                      </a:pPr>
                      <a:r>
                        <a:rPr lang="en-US" sz="1600" b="1" dirty="0">
                          <a:solidFill>
                            <a:srgbClr val="FFFFFF"/>
                          </a:solidFill>
                          <a:latin typeface="Arial" pitchFamily="34" charset="0"/>
                          <a:ea typeface="Arial" pitchFamily="34" charset="-122"/>
                          <a:cs typeface="Arial" pitchFamily="34" charset="-120"/>
                        </a:rPr>
                        <a:t>Measure</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GPT-5.4</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GPT-5.5</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r>
              <a:tr h="658368">
                <a:tc>
                  <a:txBody>
                    <a:bodyPr/>
                    <a:lstStyle/>
                    <a:p>
                      <a:pPr indent="0" marL="0">
                        <a:buNone/>
                      </a:pPr>
                      <a:r>
                        <a:rPr lang="en-US" sz="1600" dirty="0">
                          <a:solidFill>
                            <a:srgbClr val="20262E"/>
                          </a:solidFill>
                          <a:latin typeface="Arial" pitchFamily="34" charset="0"/>
                          <a:ea typeface="Arial" pitchFamily="34" charset="-122"/>
                          <a:cs typeface="Arial" pitchFamily="34" charset="-120"/>
                        </a:rPr>
                        <a:t>Sonar issues</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600" dirty="0">
                          <a:solidFill>
                            <a:srgbClr val="20262E"/>
                          </a:solidFill>
                          <a:latin typeface="Arial" pitchFamily="34" charset="0"/>
                          <a:ea typeface="Arial" pitchFamily="34" charset="-122"/>
                          <a:cs typeface="Arial" pitchFamily="34" charset="-120"/>
                        </a:rPr>
                        <a:t>0</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600" dirty="0">
                          <a:solidFill>
                            <a:srgbClr val="20262E"/>
                          </a:solidFill>
                          <a:latin typeface="Arial" pitchFamily="34" charset="0"/>
                          <a:ea typeface="Arial" pitchFamily="34" charset="-122"/>
                          <a:cs typeface="Arial" pitchFamily="34" charset="-120"/>
                        </a:rPr>
                        <a:t>0</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658368">
                <a:tc>
                  <a:txBody>
                    <a:bodyPr/>
                    <a:lstStyle/>
                    <a:p>
                      <a:pPr indent="0" marL="0">
                        <a:buNone/>
                      </a:pPr>
                      <a:r>
                        <a:rPr lang="en-US" sz="1600" dirty="0">
                          <a:solidFill>
                            <a:srgbClr val="20262E"/>
                          </a:solidFill>
                          <a:latin typeface="Arial" pitchFamily="34" charset="0"/>
                          <a:ea typeface="Arial" pitchFamily="34" charset="-122"/>
                          <a:cs typeface="Arial" pitchFamily="34" charset="-120"/>
                        </a:rPr>
                        <a:t>Coverage</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600" dirty="0">
                          <a:solidFill>
                            <a:srgbClr val="20262E"/>
                          </a:solidFill>
                          <a:latin typeface="Arial" pitchFamily="34" charset="0"/>
                          <a:ea typeface="Arial" pitchFamily="34" charset="-122"/>
                          <a:cs typeface="Arial" pitchFamily="34" charset="-120"/>
                        </a:rPr>
                        <a:t>76.2%</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600" dirty="0">
                          <a:solidFill>
                            <a:srgbClr val="20262E"/>
                          </a:solidFill>
                          <a:latin typeface="Arial" pitchFamily="34" charset="0"/>
                          <a:ea typeface="Arial" pitchFamily="34" charset="-122"/>
                          <a:cs typeface="Arial" pitchFamily="34" charset="-120"/>
                        </a:rPr>
                        <a:t>74.8%</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658368">
                <a:tc>
                  <a:txBody>
                    <a:bodyPr/>
                    <a:lstStyle/>
                    <a:p>
                      <a:pPr indent="0" marL="0">
                        <a:buNone/>
                      </a:pPr>
                      <a:r>
                        <a:rPr lang="en-US" sz="1600" dirty="0">
                          <a:solidFill>
                            <a:srgbClr val="20262E"/>
                          </a:solidFill>
                          <a:latin typeface="Arial" pitchFamily="34" charset="0"/>
                          <a:ea typeface="Arial" pitchFamily="34" charset="-122"/>
                          <a:cs typeface="Arial" pitchFamily="34" charset="-120"/>
                        </a:rPr>
                        <a:t>ZAP verified alerts</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600" dirty="0">
                          <a:solidFill>
                            <a:srgbClr val="20262E"/>
                          </a:solidFill>
                          <a:latin typeface="Arial" pitchFamily="34" charset="0"/>
                          <a:ea typeface="Arial" pitchFamily="34" charset="-122"/>
                          <a:cs typeface="Arial" pitchFamily="34" charset="-120"/>
                        </a:rPr>
                        <a:t>12</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600" dirty="0">
                          <a:solidFill>
                            <a:srgbClr val="20262E"/>
                          </a:solidFill>
                          <a:latin typeface="Arial" pitchFamily="34" charset="0"/>
                          <a:ea typeface="Arial" pitchFamily="34" charset="-122"/>
                          <a:cs typeface="Arial" pitchFamily="34" charset="-120"/>
                        </a:rPr>
                        <a:t>12</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658368">
                <a:tc>
                  <a:txBody>
                    <a:bodyPr/>
                    <a:lstStyle/>
                    <a:p>
                      <a:pPr indent="0" marL="0">
                        <a:buNone/>
                      </a:pPr>
                      <a:r>
                        <a:rPr lang="en-US" sz="1600" dirty="0">
                          <a:solidFill>
                            <a:srgbClr val="20262E"/>
                          </a:solidFill>
                          <a:latin typeface="Arial" pitchFamily="34" charset="0"/>
                          <a:ea typeface="Arial" pitchFamily="34" charset="-122"/>
                          <a:cs typeface="Arial" pitchFamily="34" charset="-120"/>
                        </a:rPr>
                        <a:t>Public tests</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600" dirty="0">
                          <a:solidFill>
                            <a:srgbClr val="20262E"/>
                          </a:solidFill>
                          <a:latin typeface="Arial" pitchFamily="34" charset="0"/>
                          <a:ea typeface="Arial" pitchFamily="34" charset="-122"/>
                          <a:cs typeface="Arial" pitchFamily="34" charset="-120"/>
                        </a:rPr>
                        <a:t>152 passed</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600" dirty="0">
                          <a:solidFill>
                            <a:srgbClr val="20262E"/>
                          </a:solidFill>
                          <a:latin typeface="Arial" pitchFamily="34" charset="0"/>
                          <a:ea typeface="Arial" pitchFamily="34" charset="-122"/>
                          <a:cs typeface="Arial" pitchFamily="34" charset="-120"/>
                        </a:rPr>
                        <a:t>151 passed</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658368">
                <a:tc>
                  <a:txBody>
                    <a:bodyPr/>
                    <a:lstStyle/>
                    <a:p>
                      <a:pPr indent="0" marL="0">
                        <a:buNone/>
                      </a:pPr>
                      <a:r>
                        <a:rPr lang="en-US" sz="1600" dirty="0">
                          <a:solidFill>
                            <a:srgbClr val="20262E"/>
                          </a:solidFill>
                          <a:latin typeface="Arial" pitchFamily="34" charset="0"/>
                          <a:ea typeface="Arial" pitchFamily="34" charset="-122"/>
                          <a:cs typeface="Arial" pitchFamily="34" charset="-120"/>
                        </a:rPr>
                        <a:t>JMeter</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600" dirty="0">
                          <a:solidFill>
                            <a:srgbClr val="20262E"/>
                          </a:solidFill>
                          <a:latin typeface="Arial" pitchFamily="34" charset="0"/>
                          <a:ea typeface="Arial" pitchFamily="34" charset="-122"/>
                          <a:cs typeface="Arial" pitchFamily="34" charset="-120"/>
                        </a:rPr>
                        <a:t>No valid candidate</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600" dirty="0">
                          <a:solidFill>
                            <a:srgbClr val="20262E"/>
                          </a:solidFill>
                          <a:latin typeface="Arial" pitchFamily="34" charset="0"/>
                          <a:ea typeface="Arial" pitchFamily="34" charset="-122"/>
                          <a:cs typeface="Arial" pitchFamily="34" charset="-120"/>
                        </a:rPr>
                        <a:t>Frozen candidate</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F7D4A"/>
          </a:solidFill>
          <a:ln w="12700">
            <a:solidFill>
              <a:srgbClr val="2F7D4A"/>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F7D4A"/>
                </a:solidFill>
                <a:latin typeface="Arial" pitchFamily="34" charset="0"/>
                <a:ea typeface="Arial" pitchFamily="34" charset="-122"/>
                <a:cs typeface="Arial" pitchFamily="34" charset="-120"/>
              </a:rPr>
              <a:t>SYNTHESIS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Contributions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5.3, p. 63 | Sections 3.1.3-3.1.4, p. 37</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F7D4A"/>
                </a:solidFill>
                <a:latin typeface="Arial" pitchFamily="34" charset="0"/>
                <a:ea typeface="Arial" pitchFamily="34" charset="-122"/>
                <a:cs typeface="Arial" pitchFamily="34" charset="-120"/>
              </a:rPr>
              <a:t>20</a:t>
            </a:r>
            <a:endParaRPr lang="en-US" sz="1000" dirty="0"/>
          </a:p>
        </p:txBody>
      </p:sp>
      <p:sp>
        <p:nvSpPr>
          <p:cNvPr id="9" name="Shape 7"/>
          <p:cNvSpPr/>
          <p:nvPr/>
        </p:nvSpPr>
        <p:spPr>
          <a:xfrm>
            <a:off x="731520" y="1600200"/>
            <a:ext cx="3429000" cy="4434840"/>
          </a:xfrm>
          <a:prstGeom prst="roundRect">
            <a:avLst>
              <a:gd name="adj" fmla="val 1867"/>
            </a:avLst>
          </a:prstGeom>
          <a:solidFill>
            <a:srgbClr val="FFFFFF"/>
          </a:solidFill>
          <a:ln w="12700">
            <a:solidFill>
              <a:srgbClr val="D9DEE5"/>
            </a:solidFill>
            <a:prstDash val="solid"/>
          </a:ln>
        </p:spPr>
      </p:sp>
      <p:sp>
        <p:nvSpPr>
          <p:cNvPr id="10" name="Shape 8"/>
          <p:cNvSpPr/>
          <p:nvPr/>
        </p:nvSpPr>
        <p:spPr>
          <a:xfrm>
            <a:off x="731520" y="1600200"/>
            <a:ext cx="82296" cy="4434840"/>
          </a:xfrm>
          <a:prstGeom prst="rect">
            <a:avLst/>
          </a:prstGeom>
          <a:solidFill>
            <a:srgbClr val="0B6670"/>
          </a:solidFill>
          <a:ln w="12700">
            <a:solidFill>
              <a:srgbClr val="0B6670"/>
            </a:solidFill>
            <a:prstDash val="solid"/>
          </a:ln>
        </p:spPr>
      </p:sp>
      <p:sp>
        <p:nvSpPr>
          <p:cNvPr id="11" name="Text 9"/>
          <p:cNvSpPr/>
          <p:nvPr/>
        </p:nvSpPr>
        <p:spPr>
          <a:xfrm>
            <a:off x="950976" y="1764792"/>
            <a:ext cx="3063240" cy="320040"/>
          </a:xfrm>
          <a:prstGeom prst="rect">
            <a:avLst/>
          </a:prstGeom>
          <a:noFill/>
          <a:ln/>
        </p:spPr>
        <p:txBody>
          <a:bodyPr wrap="square" lIns="0" tIns="0" rIns="0" bIns="0" rtlCol="0" anchor="ctr">
            <a:normAutofit/>
          </a:bodyPr>
          <a:lstStyle/>
          <a:p>
            <a:pPr indent="0" marL="0">
              <a:buNone/>
            </a:pPr>
            <a:r>
              <a:rPr lang="en-US" sz="2300" b="1" dirty="0">
                <a:solidFill>
                  <a:srgbClr val="20262E"/>
                </a:solidFill>
                <a:latin typeface="Arial" pitchFamily="34" charset="0"/>
                <a:ea typeface="Arial" pitchFamily="34" charset="-122"/>
                <a:cs typeface="Arial" pitchFamily="34" charset="-120"/>
              </a:rPr>
              <a:t>Empirical</a:t>
            </a:r>
            <a:endParaRPr lang="en-US" sz="2300" dirty="0"/>
          </a:p>
        </p:txBody>
      </p:sp>
      <p:sp>
        <p:nvSpPr>
          <p:cNvPr id="12" name="Text 10"/>
          <p:cNvSpPr/>
          <p:nvPr/>
        </p:nvSpPr>
        <p:spPr>
          <a:xfrm>
            <a:off x="950976" y="2167128"/>
            <a:ext cx="3035808" cy="3703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Measured before/after evidence on one production-complexity API</a:t>
            </a:r>
            <a:endParaRPr lang="en-US" sz="1800" dirty="0"/>
          </a:p>
        </p:txBody>
      </p:sp>
      <p:sp>
        <p:nvSpPr>
          <p:cNvPr id="13" name="Shape 11"/>
          <p:cNvSpPr/>
          <p:nvPr/>
        </p:nvSpPr>
        <p:spPr>
          <a:xfrm>
            <a:off x="4507992" y="1600200"/>
            <a:ext cx="3429000" cy="4434840"/>
          </a:xfrm>
          <a:prstGeom prst="roundRect">
            <a:avLst>
              <a:gd name="adj" fmla="val 1867"/>
            </a:avLst>
          </a:prstGeom>
          <a:solidFill>
            <a:srgbClr val="FFFFFF"/>
          </a:solidFill>
          <a:ln w="12700">
            <a:solidFill>
              <a:srgbClr val="D9DEE5"/>
            </a:solidFill>
            <a:prstDash val="solid"/>
          </a:ln>
        </p:spPr>
      </p:sp>
      <p:sp>
        <p:nvSpPr>
          <p:cNvPr id="14" name="Shape 12"/>
          <p:cNvSpPr/>
          <p:nvPr/>
        </p:nvSpPr>
        <p:spPr>
          <a:xfrm>
            <a:off x="4507992" y="1600200"/>
            <a:ext cx="82296" cy="4434840"/>
          </a:xfrm>
          <a:prstGeom prst="rect">
            <a:avLst/>
          </a:prstGeom>
          <a:solidFill>
            <a:srgbClr val="2F7D4A"/>
          </a:solidFill>
          <a:ln w="12700">
            <a:solidFill>
              <a:srgbClr val="2F7D4A"/>
            </a:solidFill>
            <a:prstDash val="solid"/>
          </a:ln>
        </p:spPr>
      </p:sp>
      <p:sp>
        <p:nvSpPr>
          <p:cNvPr id="15" name="Text 13"/>
          <p:cNvSpPr/>
          <p:nvPr/>
        </p:nvSpPr>
        <p:spPr>
          <a:xfrm>
            <a:off x="4727448" y="1764792"/>
            <a:ext cx="3063240" cy="320040"/>
          </a:xfrm>
          <a:prstGeom prst="rect">
            <a:avLst/>
          </a:prstGeom>
          <a:noFill/>
          <a:ln/>
        </p:spPr>
        <p:txBody>
          <a:bodyPr wrap="square" lIns="0" tIns="0" rIns="0" bIns="0" rtlCol="0" anchor="ctr">
            <a:normAutofit/>
          </a:bodyPr>
          <a:lstStyle/>
          <a:p>
            <a:pPr indent="0" marL="0">
              <a:buNone/>
            </a:pPr>
            <a:r>
              <a:rPr lang="en-US" sz="2300" b="1" dirty="0">
                <a:solidFill>
                  <a:srgbClr val="20262E"/>
                </a:solidFill>
                <a:latin typeface="Arial" pitchFamily="34" charset="0"/>
                <a:ea typeface="Arial" pitchFamily="34" charset="-122"/>
                <a:cs typeface="Arial" pitchFamily="34" charset="-120"/>
              </a:rPr>
              <a:t>Methodological</a:t>
            </a:r>
            <a:endParaRPr lang="en-US" sz="2300" dirty="0"/>
          </a:p>
        </p:txBody>
      </p:sp>
      <p:sp>
        <p:nvSpPr>
          <p:cNvPr id="16" name="Text 14"/>
          <p:cNvSpPr/>
          <p:nvPr/>
        </p:nvSpPr>
        <p:spPr>
          <a:xfrm>
            <a:off x="4727448" y="2167128"/>
            <a:ext cx="3035808" cy="3703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Branch-isolated, scanner-gated acceptance workflow</a:t>
            </a:r>
            <a:endParaRPr lang="en-US" sz="1800" dirty="0"/>
          </a:p>
        </p:txBody>
      </p:sp>
      <p:sp>
        <p:nvSpPr>
          <p:cNvPr id="17" name="Shape 15"/>
          <p:cNvSpPr/>
          <p:nvPr/>
        </p:nvSpPr>
        <p:spPr>
          <a:xfrm>
            <a:off x="8284464" y="1600200"/>
            <a:ext cx="3429000" cy="4434840"/>
          </a:xfrm>
          <a:prstGeom prst="roundRect">
            <a:avLst>
              <a:gd name="adj" fmla="val 1867"/>
            </a:avLst>
          </a:prstGeom>
          <a:solidFill>
            <a:srgbClr val="FFFFFF"/>
          </a:solidFill>
          <a:ln w="12700">
            <a:solidFill>
              <a:srgbClr val="D9DEE5"/>
            </a:solidFill>
            <a:prstDash val="solid"/>
          </a:ln>
        </p:spPr>
      </p:sp>
      <p:sp>
        <p:nvSpPr>
          <p:cNvPr id="18" name="Shape 16"/>
          <p:cNvSpPr/>
          <p:nvPr/>
        </p:nvSpPr>
        <p:spPr>
          <a:xfrm>
            <a:off x="8284464" y="1600200"/>
            <a:ext cx="82296" cy="4434840"/>
          </a:xfrm>
          <a:prstGeom prst="rect">
            <a:avLst/>
          </a:prstGeom>
          <a:solidFill>
            <a:srgbClr val="C47B12"/>
          </a:solidFill>
          <a:ln w="12700">
            <a:solidFill>
              <a:srgbClr val="C47B12"/>
            </a:solidFill>
            <a:prstDash val="solid"/>
          </a:ln>
        </p:spPr>
      </p:sp>
      <p:sp>
        <p:nvSpPr>
          <p:cNvPr id="19" name="Text 17"/>
          <p:cNvSpPr/>
          <p:nvPr/>
        </p:nvSpPr>
        <p:spPr>
          <a:xfrm>
            <a:off x="8503920" y="1764792"/>
            <a:ext cx="3063240" cy="320040"/>
          </a:xfrm>
          <a:prstGeom prst="rect">
            <a:avLst/>
          </a:prstGeom>
          <a:noFill/>
          <a:ln/>
        </p:spPr>
        <p:txBody>
          <a:bodyPr wrap="square" lIns="0" tIns="0" rIns="0" bIns="0" rtlCol="0" anchor="ctr">
            <a:normAutofit/>
          </a:bodyPr>
          <a:lstStyle/>
          <a:p>
            <a:pPr indent="0" marL="0">
              <a:buNone/>
            </a:pPr>
            <a:r>
              <a:rPr lang="en-US" sz="2300" b="1" dirty="0">
                <a:solidFill>
                  <a:srgbClr val="20262E"/>
                </a:solidFill>
                <a:latin typeface="Arial" pitchFamily="34" charset="0"/>
                <a:ea typeface="Arial" pitchFamily="34" charset="-122"/>
                <a:cs typeface="Arial" pitchFamily="34" charset="-120"/>
              </a:rPr>
              <a:t>Practical</a:t>
            </a:r>
            <a:endParaRPr lang="en-US" sz="2300" dirty="0"/>
          </a:p>
        </p:txBody>
      </p:sp>
      <p:sp>
        <p:nvSpPr>
          <p:cNvPr id="20" name="Text 18"/>
          <p:cNvSpPr/>
          <p:nvPr/>
        </p:nvSpPr>
        <p:spPr>
          <a:xfrm>
            <a:off x="8503920" y="2167128"/>
            <a:ext cx="3035808" cy="3703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Traceable prompts, patches, tests, screenshots, and tool outputs</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F7D4A"/>
          </a:solidFill>
          <a:ln w="12700">
            <a:solidFill>
              <a:srgbClr val="2F7D4A"/>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F7D4A"/>
                </a:solidFill>
                <a:latin typeface="Arial" pitchFamily="34" charset="0"/>
                <a:ea typeface="Arial" pitchFamily="34" charset="-122"/>
                <a:cs typeface="Arial" pitchFamily="34" charset="-120"/>
              </a:rPr>
              <a:t>SYNTHESIS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Limitations and Future Work</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1.6, p. 12 | Section 4.7.6-4.7.7, pp. 61-62 | Section 5.4, p. 63</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F7D4A"/>
                </a:solidFill>
                <a:latin typeface="Arial" pitchFamily="34" charset="0"/>
                <a:ea typeface="Arial" pitchFamily="34" charset="-122"/>
                <a:cs typeface="Arial" pitchFamily="34" charset="-120"/>
              </a:rPr>
              <a:t>21</a:t>
            </a:r>
            <a:endParaRPr lang="en-US" sz="1000" dirty="0"/>
          </a:p>
        </p:txBody>
      </p:sp>
      <p:sp>
        <p:nvSpPr>
          <p:cNvPr id="9" name="Shape 7"/>
          <p:cNvSpPr/>
          <p:nvPr/>
        </p:nvSpPr>
        <p:spPr>
          <a:xfrm>
            <a:off x="731520" y="1280160"/>
            <a:ext cx="5166360" cy="749808"/>
          </a:xfrm>
          <a:prstGeom prst="roundRect">
            <a:avLst>
              <a:gd name="adj" fmla="val 8537"/>
            </a:avLst>
          </a:prstGeom>
          <a:solidFill>
            <a:srgbClr val="F8EAEA"/>
          </a:solidFill>
          <a:ln w="12700">
            <a:solidFill>
              <a:srgbClr val="D9DEE5"/>
            </a:solidFill>
            <a:prstDash val="solid"/>
          </a:ln>
        </p:spPr>
      </p:sp>
      <p:sp>
        <p:nvSpPr>
          <p:cNvPr id="10" name="Shape 8"/>
          <p:cNvSpPr/>
          <p:nvPr/>
        </p:nvSpPr>
        <p:spPr>
          <a:xfrm>
            <a:off x="6309360" y="1280160"/>
            <a:ext cx="5166360" cy="749808"/>
          </a:xfrm>
          <a:prstGeom prst="roundRect">
            <a:avLst>
              <a:gd name="adj" fmla="val 8537"/>
            </a:avLst>
          </a:prstGeom>
          <a:solidFill>
            <a:srgbClr val="E9F3ED"/>
          </a:solidFill>
          <a:ln w="12700">
            <a:solidFill>
              <a:srgbClr val="D9DEE5"/>
            </a:solidFill>
            <a:prstDash val="solid"/>
          </a:ln>
        </p:spPr>
      </p:sp>
      <p:sp>
        <p:nvSpPr>
          <p:cNvPr id="11" name="Text 9"/>
          <p:cNvSpPr/>
          <p:nvPr/>
        </p:nvSpPr>
        <p:spPr>
          <a:xfrm>
            <a:off x="896112" y="1389888"/>
            <a:ext cx="4800600" cy="502920"/>
          </a:xfrm>
          <a:prstGeom prst="rect">
            <a:avLst/>
          </a:prstGeom>
          <a:noFill/>
          <a:ln/>
        </p:spPr>
        <p:txBody>
          <a:bodyPr wrap="square" lIns="0" tIns="0" rIns="0" bIns="0" rtlCol="0" anchor="ctr">
            <a:normAutofit/>
          </a:bodyPr>
          <a:lstStyle/>
          <a:p>
            <a:pPr indent="0" marL="0">
              <a:buNone/>
            </a:pPr>
            <a:r>
              <a:rPr lang="en-US" sz="1550" b="1" dirty="0">
                <a:solidFill>
                  <a:srgbClr val="B93A3A"/>
                </a:solidFill>
                <a:latin typeface="Arial" pitchFamily="34" charset="0"/>
                <a:ea typeface="Arial" pitchFamily="34" charset="-122"/>
                <a:cs typeface="Arial" pitchFamily="34" charset="-120"/>
              </a:rPr>
              <a:t>One C# API and local SQL Server</a:t>
            </a:r>
            <a:endParaRPr lang="en-US" sz="1550" dirty="0"/>
          </a:p>
        </p:txBody>
      </p:sp>
      <p:sp>
        <p:nvSpPr>
          <p:cNvPr id="12" name="Shape 10"/>
          <p:cNvSpPr/>
          <p:nvPr/>
        </p:nvSpPr>
        <p:spPr>
          <a:xfrm>
            <a:off x="5925312" y="1655064"/>
            <a:ext cx="347472" cy="0"/>
          </a:xfrm>
          <a:prstGeom prst="line">
            <a:avLst/>
          </a:prstGeom>
          <a:noFill/>
          <a:ln w="15240">
            <a:solidFill>
              <a:srgbClr val="66717E"/>
            </a:solidFill>
            <a:prstDash val="solid"/>
            <a:headEnd type="none"/>
            <a:tailEnd type="triangle"/>
          </a:ln>
        </p:spPr>
      </p:sp>
      <p:sp>
        <p:nvSpPr>
          <p:cNvPr id="13" name="Text 11"/>
          <p:cNvSpPr/>
          <p:nvPr/>
        </p:nvSpPr>
        <p:spPr>
          <a:xfrm>
            <a:off x="6473952" y="1389888"/>
            <a:ext cx="4800600" cy="502920"/>
          </a:xfrm>
          <a:prstGeom prst="rect">
            <a:avLst/>
          </a:prstGeom>
          <a:noFill/>
          <a:ln/>
        </p:spPr>
        <p:txBody>
          <a:bodyPr wrap="square" lIns="0" tIns="0" rIns="0" bIns="0" rtlCol="0" anchor="ctr">
            <a:normAutofit/>
          </a:bodyPr>
          <a:lstStyle/>
          <a:p>
            <a:pPr indent="0" marL="0">
              <a:buNone/>
            </a:pPr>
            <a:r>
              <a:rPr lang="en-US" sz="1550" b="1" dirty="0">
                <a:solidFill>
                  <a:srgbClr val="2F7D4A"/>
                </a:solidFill>
                <a:latin typeface="Arial" pitchFamily="34" charset="0"/>
                <a:ea typeface="Arial" pitchFamily="34" charset="-122"/>
                <a:cs typeface="Arial" pitchFamily="34" charset="-120"/>
              </a:rPr>
              <a:t>Replicate across frameworks, domains, and cloud environments</a:t>
            </a:r>
            <a:endParaRPr lang="en-US" sz="1550" dirty="0"/>
          </a:p>
        </p:txBody>
      </p:sp>
      <p:sp>
        <p:nvSpPr>
          <p:cNvPr id="14" name="Shape 12"/>
          <p:cNvSpPr/>
          <p:nvPr/>
        </p:nvSpPr>
        <p:spPr>
          <a:xfrm>
            <a:off x="731520" y="2240280"/>
            <a:ext cx="5166360" cy="749808"/>
          </a:xfrm>
          <a:prstGeom prst="roundRect">
            <a:avLst>
              <a:gd name="adj" fmla="val 8537"/>
            </a:avLst>
          </a:prstGeom>
          <a:solidFill>
            <a:srgbClr val="F8EAEA"/>
          </a:solidFill>
          <a:ln w="12700">
            <a:solidFill>
              <a:srgbClr val="D9DEE5"/>
            </a:solidFill>
            <a:prstDash val="solid"/>
          </a:ln>
        </p:spPr>
      </p:sp>
      <p:sp>
        <p:nvSpPr>
          <p:cNvPr id="15" name="Shape 13"/>
          <p:cNvSpPr/>
          <p:nvPr/>
        </p:nvSpPr>
        <p:spPr>
          <a:xfrm>
            <a:off x="6309360" y="2240280"/>
            <a:ext cx="5166360" cy="749808"/>
          </a:xfrm>
          <a:prstGeom prst="roundRect">
            <a:avLst>
              <a:gd name="adj" fmla="val 8537"/>
            </a:avLst>
          </a:prstGeom>
          <a:solidFill>
            <a:srgbClr val="E9F3ED"/>
          </a:solidFill>
          <a:ln w="12700">
            <a:solidFill>
              <a:srgbClr val="D9DEE5"/>
            </a:solidFill>
            <a:prstDash val="solid"/>
          </a:ln>
        </p:spPr>
      </p:sp>
      <p:sp>
        <p:nvSpPr>
          <p:cNvPr id="16" name="Text 14"/>
          <p:cNvSpPr/>
          <p:nvPr/>
        </p:nvSpPr>
        <p:spPr>
          <a:xfrm>
            <a:off x="896112" y="2350008"/>
            <a:ext cx="4800600" cy="502920"/>
          </a:xfrm>
          <a:prstGeom prst="rect">
            <a:avLst/>
          </a:prstGeom>
          <a:noFill/>
          <a:ln/>
        </p:spPr>
        <p:txBody>
          <a:bodyPr wrap="square" lIns="0" tIns="0" rIns="0" bIns="0" rtlCol="0" anchor="ctr">
            <a:normAutofit/>
          </a:bodyPr>
          <a:lstStyle/>
          <a:p>
            <a:pPr indent="0" marL="0">
              <a:buNone/>
            </a:pPr>
            <a:r>
              <a:rPr lang="en-US" sz="1550" b="1" dirty="0">
                <a:solidFill>
                  <a:srgbClr val="B93A3A"/>
                </a:solidFill>
                <a:latin typeface="Arial" pitchFamily="34" charset="0"/>
                <a:ea typeface="Arial" pitchFamily="34" charset="-122"/>
                <a:cs typeface="Arial" pitchFamily="34" charset="-120"/>
              </a:rPr>
              <a:t>No repeated stochastic model runs</a:t>
            </a:r>
            <a:endParaRPr lang="en-US" sz="1550" dirty="0"/>
          </a:p>
        </p:txBody>
      </p:sp>
      <p:sp>
        <p:nvSpPr>
          <p:cNvPr id="17" name="Shape 15"/>
          <p:cNvSpPr/>
          <p:nvPr/>
        </p:nvSpPr>
        <p:spPr>
          <a:xfrm>
            <a:off x="5925312" y="2615184"/>
            <a:ext cx="347472" cy="0"/>
          </a:xfrm>
          <a:prstGeom prst="line">
            <a:avLst/>
          </a:prstGeom>
          <a:noFill/>
          <a:ln w="15240">
            <a:solidFill>
              <a:srgbClr val="66717E"/>
            </a:solidFill>
            <a:prstDash val="solid"/>
            <a:headEnd type="none"/>
            <a:tailEnd type="triangle"/>
          </a:ln>
        </p:spPr>
      </p:sp>
      <p:sp>
        <p:nvSpPr>
          <p:cNvPr id="18" name="Text 16"/>
          <p:cNvSpPr/>
          <p:nvPr/>
        </p:nvSpPr>
        <p:spPr>
          <a:xfrm>
            <a:off x="6473952" y="2350008"/>
            <a:ext cx="4800600" cy="502920"/>
          </a:xfrm>
          <a:prstGeom prst="rect">
            <a:avLst/>
          </a:prstGeom>
          <a:noFill/>
          <a:ln/>
        </p:spPr>
        <p:txBody>
          <a:bodyPr wrap="square" lIns="0" tIns="0" rIns="0" bIns="0" rtlCol="0" anchor="ctr">
            <a:normAutofit/>
          </a:bodyPr>
          <a:lstStyle/>
          <a:p>
            <a:pPr indent="0" marL="0">
              <a:buNone/>
            </a:pPr>
            <a:r>
              <a:rPr lang="en-US" sz="1550" b="1" dirty="0">
                <a:solidFill>
                  <a:srgbClr val="2F7D4A"/>
                </a:solidFill>
                <a:latin typeface="Arial" pitchFamily="34" charset="0"/>
                <a:ea typeface="Arial" pitchFamily="34" charset="-122"/>
                <a:cs typeface="Arial" pitchFamily="34" charset="-120"/>
              </a:rPr>
              <a:t>Estimate output variance across repeated prompts</a:t>
            </a:r>
            <a:endParaRPr lang="en-US" sz="1550" dirty="0"/>
          </a:p>
        </p:txBody>
      </p:sp>
      <p:sp>
        <p:nvSpPr>
          <p:cNvPr id="19" name="Shape 17"/>
          <p:cNvSpPr/>
          <p:nvPr/>
        </p:nvSpPr>
        <p:spPr>
          <a:xfrm>
            <a:off x="731520" y="3200400"/>
            <a:ext cx="5166360" cy="749808"/>
          </a:xfrm>
          <a:prstGeom prst="roundRect">
            <a:avLst>
              <a:gd name="adj" fmla="val 8537"/>
            </a:avLst>
          </a:prstGeom>
          <a:solidFill>
            <a:srgbClr val="F8EAEA"/>
          </a:solidFill>
          <a:ln w="12700">
            <a:solidFill>
              <a:srgbClr val="D9DEE5"/>
            </a:solidFill>
            <a:prstDash val="solid"/>
          </a:ln>
        </p:spPr>
      </p:sp>
      <p:sp>
        <p:nvSpPr>
          <p:cNvPr id="20" name="Shape 18"/>
          <p:cNvSpPr/>
          <p:nvPr/>
        </p:nvSpPr>
        <p:spPr>
          <a:xfrm>
            <a:off x="6309360" y="3200400"/>
            <a:ext cx="5166360" cy="749808"/>
          </a:xfrm>
          <a:prstGeom prst="roundRect">
            <a:avLst>
              <a:gd name="adj" fmla="val 8537"/>
            </a:avLst>
          </a:prstGeom>
          <a:solidFill>
            <a:srgbClr val="E9F3ED"/>
          </a:solidFill>
          <a:ln w="12700">
            <a:solidFill>
              <a:srgbClr val="D9DEE5"/>
            </a:solidFill>
            <a:prstDash val="solid"/>
          </a:ln>
        </p:spPr>
      </p:sp>
      <p:sp>
        <p:nvSpPr>
          <p:cNvPr id="21" name="Text 19"/>
          <p:cNvSpPr/>
          <p:nvPr/>
        </p:nvSpPr>
        <p:spPr>
          <a:xfrm>
            <a:off x="896112" y="3310128"/>
            <a:ext cx="4800600" cy="502920"/>
          </a:xfrm>
          <a:prstGeom prst="rect">
            <a:avLst/>
          </a:prstGeom>
          <a:noFill/>
          <a:ln/>
        </p:spPr>
        <p:txBody>
          <a:bodyPr wrap="square" lIns="0" tIns="0" rIns="0" bIns="0" rtlCol="0" anchor="ctr">
            <a:normAutofit/>
          </a:bodyPr>
          <a:lstStyle/>
          <a:p>
            <a:pPr indent="0" marL="0">
              <a:buNone/>
            </a:pPr>
            <a:r>
              <a:rPr lang="en-US" sz="1550" b="1" dirty="0">
                <a:solidFill>
                  <a:srgbClr val="B93A3A"/>
                </a:solidFill>
                <a:latin typeface="Arial" pitchFamily="34" charset="0"/>
                <a:ea typeface="Arial" pitchFamily="34" charset="-122"/>
                <a:cs typeface="Arial" pitchFamily="34" charset="-120"/>
              </a:rPr>
              <a:t>Tool-specific detection limits</a:t>
            </a:r>
            <a:endParaRPr lang="en-US" sz="1550" dirty="0"/>
          </a:p>
        </p:txBody>
      </p:sp>
      <p:sp>
        <p:nvSpPr>
          <p:cNvPr id="22" name="Shape 20"/>
          <p:cNvSpPr/>
          <p:nvPr/>
        </p:nvSpPr>
        <p:spPr>
          <a:xfrm>
            <a:off x="5925312" y="3575304"/>
            <a:ext cx="347472" cy="0"/>
          </a:xfrm>
          <a:prstGeom prst="line">
            <a:avLst/>
          </a:prstGeom>
          <a:noFill/>
          <a:ln w="15240">
            <a:solidFill>
              <a:srgbClr val="66717E"/>
            </a:solidFill>
            <a:prstDash val="solid"/>
            <a:headEnd type="none"/>
            <a:tailEnd type="triangle"/>
          </a:ln>
        </p:spPr>
      </p:sp>
      <p:sp>
        <p:nvSpPr>
          <p:cNvPr id="23" name="Text 21"/>
          <p:cNvSpPr/>
          <p:nvPr/>
        </p:nvSpPr>
        <p:spPr>
          <a:xfrm>
            <a:off x="6473952" y="3310128"/>
            <a:ext cx="4800600" cy="502920"/>
          </a:xfrm>
          <a:prstGeom prst="rect">
            <a:avLst/>
          </a:prstGeom>
          <a:noFill/>
          <a:ln/>
        </p:spPr>
        <p:txBody>
          <a:bodyPr wrap="square" lIns="0" tIns="0" rIns="0" bIns="0" rtlCol="0" anchor="ctr">
            <a:normAutofit/>
          </a:bodyPr>
          <a:lstStyle/>
          <a:p>
            <a:pPr indent="0" marL="0">
              <a:buNone/>
            </a:pPr>
            <a:r>
              <a:rPr lang="en-US" sz="1550" b="1" dirty="0">
                <a:solidFill>
                  <a:srgbClr val="2F7D4A"/>
                </a:solidFill>
                <a:latin typeface="Arial" pitchFamily="34" charset="0"/>
                <a:ea typeface="Arial" pitchFamily="34" charset="-122"/>
                <a:cs typeface="Arial" pitchFamily="34" charset="-120"/>
              </a:rPr>
              <a:t>Add manual penetration and profiling methods</a:t>
            </a:r>
            <a:endParaRPr lang="en-US" sz="1550" dirty="0"/>
          </a:p>
        </p:txBody>
      </p:sp>
      <p:sp>
        <p:nvSpPr>
          <p:cNvPr id="24" name="Shape 22"/>
          <p:cNvSpPr/>
          <p:nvPr/>
        </p:nvSpPr>
        <p:spPr>
          <a:xfrm>
            <a:off x="731520" y="4160520"/>
            <a:ext cx="5166360" cy="749808"/>
          </a:xfrm>
          <a:prstGeom prst="roundRect">
            <a:avLst>
              <a:gd name="adj" fmla="val 8537"/>
            </a:avLst>
          </a:prstGeom>
          <a:solidFill>
            <a:srgbClr val="F8EAEA"/>
          </a:solidFill>
          <a:ln w="12700">
            <a:solidFill>
              <a:srgbClr val="D9DEE5"/>
            </a:solidFill>
            <a:prstDash val="solid"/>
          </a:ln>
        </p:spPr>
      </p:sp>
      <p:sp>
        <p:nvSpPr>
          <p:cNvPr id="25" name="Shape 23"/>
          <p:cNvSpPr/>
          <p:nvPr/>
        </p:nvSpPr>
        <p:spPr>
          <a:xfrm>
            <a:off x="6309360" y="4160520"/>
            <a:ext cx="5166360" cy="749808"/>
          </a:xfrm>
          <a:prstGeom prst="roundRect">
            <a:avLst>
              <a:gd name="adj" fmla="val 8537"/>
            </a:avLst>
          </a:prstGeom>
          <a:solidFill>
            <a:srgbClr val="E9F3ED"/>
          </a:solidFill>
          <a:ln w="12700">
            <a:solidFill>
              <a:srgbClr val="D9DEE5"/>
            </a:solidFill>
            <a:prstDash val="solid"/>
          </a:ln>
        </p:spPr>
      </p:sp>
      <p:sp>
        <p:nvSpPr>
          <p:cNvPr id="26" name="Text 24"/>
          <p:cNvSpPr/>
          <p:nvPr/>
        </p:nvSpPr>
        <p:spPr>
          <a:xfrm>
            <a:off x="896112" y="4270248"/>
            <a:ext cx="4800600" cy="502920"/>
          </a:xfrm>
          <a:prstGeom prst="rect">
            <a:avLst/>
          </a:prstGeom>
          <a:noFill/>
          <a:ln/>
        </p:spPr>
        <p:txBody>
          <a:bodyPr wrap="square" lIns="0" tIns="0" rIns="0" bIns="0" rtlCol="0" anchor="ctr">
            <a:normAutofit/>
          </a:bodyPr>
          <a:lstStyle/>
          <a:p>
            <a:pPr indent="0" marL="0">
              <a:buNone/>
            </a:pPr>
            <a:r>
              <a:rPr lang="en-US" sz="1550" b="1" dirty="0">
                <a:solidFill>
                  <a:srgbClr val="B93A3A"/>
                </a:solidFill>
                <a:latin typeface="Arial" pitchFamily="34" charset="0"/>
                <a:ea typeface="Arial" pitchFamily="34" charset="-122"/>
                <a:cs typeface="Arial" pitchFamily="34" charset="-120"/>
              </a:rPr>
              <a:t>Mixed-workload drift confounding</a:t>
            </a:r>
            <a:endParaRPr lang="en-US" sz="1550" dirty="0"/>
          </a:p>
        </p:txBody>
      </p:sp>
      <p:sp>
        <p:nvSpPr>
          <p:cNvPr id="27" name="Shape 25"/>
          <p:cNvSpPr/>
          <p:nvPr/>
        </p:nvSpPr>
        <p:spPr>
          <a:xfrm>
            <a:off x="5925312" y="4535424"/>
            <a:ext cx="347472" cy="0"/>
          </a:xfrm>
          <a:prstGeom prst="line">
            <a:avLst/>
          </a:prstGeom>
          <a:noFill/>
          <a:ln w="15240">
            <a:solidFill>
              <a:srgbClr val="66717E"/>
            </a:solidFill>
            <a:prstDash val="solid"/>
            <a:headEnd type="none"/>
            <a:tailEnd type="triangle"/>
          </a:ln>
        </p:spPr>
      </p:sp>
      <p:sp>
        <p:nvSpPr>
          <p:cNvPr id="28" name="Text 26"/>
          <p:cNvSpPr/>
          <p:nvPr/>
        </p:nvSpPr>
        <p:spPr>
          <a:xfrm>
            <a:off x="6473952" y="4270248"/>
            <a:ext cx="4800600" cy="502920"/>
          </a:xfrm>
          <a:prstGeom prst="rect">
            <a:avLst/>
          </a:prstGeom>
          <a:noFill/>
          <a:ln/>
        </p:spPr>
        <p:txBody>
          <a:bodyPr wrap="square" lIns="0" tIns="0" rIns="0" bIns="0" rtlCol="0" anchor="ctr">
            <a:normAutofit/>
          </a:bodyPr>
          <a:lstStyle/>
          <a:p>
            <a:pPr indent="0" marL="0">
              <a:buNone/>
            </a:pPr>
            <a:r>
              <a:rPr lang="en-US" sz="1550" b="1" dirty="0">
                <a:solidFill>
                  <a:srgbClr val="2F7D4A"/>
                </a:solidFill>
                <a:latin typeface="Arial" pitchFamily="34" charset="0"/>
                <a:ea typeface="Arial" pitchFamily="34" charset="-122"/>
                <a:cs typeface="Arial" pitchFamily="34" charset="-120"/>
              </a:rPr>
              <a:t>Separate workload composition from time degradation</a:t>
            </a:r>
            <a:endParaRPr lang="en-US" sz="1550" dirty="0"/>
          </a:p>
        </p:txBody>
      </p:sp>
      <p:sp>
        <p:nvSpPr>
          <p:cNvPr id="29" name="Shape 27"/>
          <p:cNvSpPr/>
          <p:nvPr/>
        </p:nvSpPr>
        <p:spPr>
          <a:xfrm>
            <a:off x="731520" y="5120640"/>
            <a:ext cx="5166360" cy="749808"/>
          </a:xfrm>
          <a:prstGeom prst="roundRect">
            <a:avLst>
              <a:gd name="adj" fmla="val 8537"/>
            </a:avLst>
          </a:prstGeom>
          <a:solidFill>
            <a:srgbClr val="F8EAEA"/>
          </a:solidFill>
          <a:ln w="12700">
            <a:solidFill>
              <a:srgbClr val="D9DEE5"/>
            </a:solidFill>
            <a:prstDash val="solid"/>
          </a:ln>
        </p:spPr>
      </p:sp>
      <p:sp>
        <p:nvSpPr>
          <p:cNvPr id="30" name="Shape 28"/>
          <p:cNvSpPr/>
          <p:nvPr/>
        </p:nvSpPr>
        <p:spPr>
          <a:xfrm>
            <a:off x="6309360" y="5120640"/>
            <a:ext cx="5166360" cy="749808"/>
          </a:xfrm>
          <a:prstGeom prst="roundRect">
            <a:avLst>
              <a:gd name="adj" fmla="val 8537"/>
            </a:avLst>
          </a:prstGeom>
          <a:solidFill>
            <a:srgbClr val="E9F3ED"/>
          </a:solidFill>
          <a:ln w="12700">
            <a:solidFill>
              <a:srgbClr val="D9DEE5"/>
            </a:solidFill>
            <a:prstDash val="solid"/>
          </a:ln>
        </p:spPr>
      </p:sp>
      <p:sp>
        <p:nvSpPr>
          <p:cNvPr id="31" name="Text 29"/>
          <p:cNvSpPr/>
          <p:nvPr/>
        </p:nvSpPr>
        <p:spPr>
          <a:xfrm>
            <a:off x="896112" y="5230368"/>
            <a:ext cx="4800600" cy="502920"/>
          </a:xfrm>
          <a:prstGeom prst="rect">
            <a:avLst/>
          </a:prstGeom>
          <a:noFill/>
          <a:ln/>
        </p:spPr>
        <p:txBody>
          <a:bodyPr wrap="square" lIns="0" tIns="0" rIns="0" bIns="0" rtlCol="0" anchor="ctr">
            <a:normAutofit/>
          </a:bodyPr>
          <a:lstStyle/>
          <a:p>
            <a:pPr indent="0" marL="0">
              <a:buNone/>
            </a:pPr>
            <a:r>
              <a:rPr lang="en-US" sz="1550" b="1" dirty="0">
                <a:solidFill>
                  <a:srgbClr val="B93A3A"/>
                </a:solidFill>
                <a:latin typeface="Arial" pitchFamily="34" charset="0"/>
                <a:ea typeface="Arial" pitchFamily="34" charset="-122"/>
                <a:cs typeface="Arial" pitchFamily="34" charset="-120"/>
              </a:rPr>
              <a:t>Incomplete GPT-5.4 v2 JMeter track</a:t>
            </a:r>
            <a:endParaRPr lang="en-US" sz="1550" dirty="0"/>
          </a:p>
        </p:txBody>
      </p:sp>
      <p:sp>
        <p:nvSpPr>
          <p:cNvPr id="32" name="Shape 30"/>
          <p:cNvSpPr/>
          <p:nvPr/>
        </p:nvSpPr>
        <p:spPr>
          <a:xfrm>
            <a:off x="5925312" y="5495544"/>
            <a:ext cx="347472" cy="0"/>
          </a:xfrm>
          <a:prstGeom prst="line">
            <a:avLst/>
          </a:prstGeom>
          <a:noFill/>
          <a:ln w="15240">
            <a:solidFill>
              <a:srgbClr val="66717E"/>
            </a:solidFill>
            <a:prstDash val="solid"/>
            <a:headEnd type="none"/>
            <a:tailEnd type="triangle"/>
          </a:ln>
        </p:spPr>
      </p:sp>
      <p:sp>
        <p:nvSpPr>
          <p:cNvPr id="33" name="Text 31"/>
          <p:cNvSpPr/>
          <p:nvPr/>
        </p:nvSpPr>
        <p:spPr>
          <a:xfrm>
            <a:off x="6473952" y="5230368"/>
            <a:ext cx="4800600" cy="502920"/>
          </a:xfrm>
          <a:prstGeom prst="rect">
            <a:avLst/>
          </a:prstGeom>
          <a:noFill/>
          <a:ln/>
        </p:spPr>
        <p:txBody>
          <a:bodyPr wrap="square" lIns="0" tIns="0" rIns="0" bIns="0" rtlCol="0" anchor="ctr">
            <a:normAutofit/>
          </a:bodyPr>
          <a:lstStyle/>
          <a:p>
            <a:pPr indent="0" marL="0">
              <a:buNone/>
            </a:pPr>
            <a:r>
              <a:rPr lang="en-US" sz="1550" b="1" dirty="0">
                <a:solidFill>
                  <a:srgbClr val="2F7D4A"/>
                </a:solidFill>
                <a:latin typeface="Arial" pitchFamily="34" charset="0"/>
                <a:ea typeface="Arial" pitchFamily="34" charset="-122"/>
                <a:cs typeface="Arial" pitchFamily="34" charset="-120"/>
              </a:rPr>
              <a:t>Run a fresh paired remediation candidate</a:t>
            </a:r>
            <a:endParaRPr lang="en-US" sz="1550" dirty="0"/>
          </a:p>
        </p:txBody>
      </p:sp>
      <p:sp>
        <p:nvSpPr>
          <p:cNvPr id="34" name="Text 32"/>
          <p:cNvSpPr/>
          <p:nvPr/>
        </p:nvSpPr>
        <p:spPr>
          <a:xfrm>
            <a:off x="731520" y="6126480"/>
            <a:ext cx="5166360" cy="182880"/>
          </a:xfrm>
          <a:prstGeom prst="rect">
            <a:avLst/>
          </a:prstGeom>
          <a:noFill/>
          <a:ln/>
        </p:spPr>
        <p:txBody>
          <a:bodyPr wrap="square" lIns="0" tIns="0" rIns="0" bIns="0" rtlCol="0" anchor="ctr">
            <a:normAutofit/>
          </a:bodyPr>
          <a:lstStyle/>
          <a:p>
            <a:pPr algn="ctr" indent="0" marL="0">
              <a:buNone/>
            </a:pPr>
            <a:r>
              <a:rPr lang="en-US" sz="900" b="1" dirty="0">
                <a:solidFill>
                  <a:srgbClr val="B93A3A"/>
                </a:solidFill>
                <a:latin typeface="Arial" pitchFamily="34" charset="0"/>
                <a:ea typeface="Arial" pitchFamily="34" charset="-122"/>
                <a:cs typeface="Arial" pitchFamily="34" charset="-120"/>
              </a:rPr>
              <a:t>LIMITATION</a:t>
            </a:r>
            <a:endParaRPr lang="en-US" sz="900" dirty="0"/>
          </a:p>
        </p:txBody>
      </p:sp>
      <p:sp>
        <p:nvSpPr>
          <p:cNvPr id="35" name="Text 33"/>
          <p:cNvSpPr/>
          <p:nvPr/>
        </p:nvSpPr>
        <p:spPr>
          <a:xfrm>
            <a:off x="6309360" y="6126480"/>
            <a:ext cx="5166360" cy="182880"/>
          </a:xfrm>
          <a:prstGeom prst="rect">
            <a:avLst/>
          </a:prstGeom>
          <a:noFill/>
          <a:ln/>
        </p:spPr>
        <p:txBody>
          <a:bodyPr wrap="square" lIns="0" tIns="0" rIns="0" bIns="0" rtlCol="0" anchor="ctr">
            <a:normAutofit/>
          </a:bodyPr>
          <a:lstStyle/>
          <a:p>
            <a:pPr algn="ctr" indent="0" marL="0">
              <a:buNone/>
            </a:pPr>
            <a:r>
              <a:rPr lang="en-US" sz="900" b="1" dirty="0">
                <a:solidFill>
                  <a:srgbClr val="2F7D4A"/>
                </a:solidFill>
                <a:latin typeface="Arial" pitchFamily="34" charset="0"/>
                <a:ea typeface="Arial" pitchFamily="34" charset="-122"/>
                <a:cs typeface="Arial" pitchFamily="34" charset="-120"/>
              </a:rPr>
              <a:t>NEXT EVIDENCE</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F7D4A"/>
          </a:solidFill>
          <a:ln w="12700">
            <a:solidFill>
              <a:srgbClr val="2F7D4A"/>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F7D4A"/>
                </a:solidFill>
                <a:latin typeface="Arial" pitchFamily="34" charset="0"/>
                <a:ea typeface="Arial" pitchFamily="34" charset="-122"/>
                <a:cs typeface="Arial" pitchFamily="34" charset="-120"/>
              </a:rPr>
              <a:t>CLOSING</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Conclusion</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Chapter 5, p. 63</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F7D4A"/>
                </a:solidFill>
                <a:latin typeface="Arial" pitchFamily="34" charset="0"/>
                <a:ea typeface="Arial" pitchFamily="34" charset="-122"/>
                <a:cs typeface="Arial" pitchFamily="34" charset="-120"/>
              </a:rPr>
              <a:t>22</a:t>
            </a:r>
            <a:endParaRPr lang="en-US" sz="1000" dirty="0"/>
          </a:p>
        </p:txBody>
      </p:sp>
      <p:sp>
        <p:nvSpPr>
          <p:cNvPr id="9" name="Shape 7"/>
          <p:cNvSpPr/>
          <p:nvPr/>
        </p:nvSpPr>
        <p:spPr>
          <a:xfrm>
            <a:off x="822960" y="1325880"/>
            <a:ext cx="10515600" cy="868680"/>
          </a:xfrm>
          <a:prstGeom prst="roundRect">
            <a:avLst>
              <a:gd name="adj" fmla="val 7368"/>
            </a:avLst>
          </a:prstGeom>
          <a:solidFill>
            <a:srgbClr val="FFFFFF"/>
          </a:solidFill>
          <a:ln w="12700">
            <a:solidFill>
              <a:srgbClr val="D9DEE5"/>
            </a:solidFill>
            <a:prstDash val="solid"/>
          </a:ln>
        </p:spPr>
      </p:sp>
      <p:sp>
        <p:nvSpPr>
          <p:cNvPr id="10" name="Shape 8"/>
          <p:cNvSpPr/>
          <p:nvPr/>
        </p:nvSpPr>
        <p:spPr>
          <a:xfrm>
            <a:off x="822960" y="1325880"/>
            <a:ext cx="82296" cy="868680"/>
          </a:xfrm>
          <a:prstGeom prst="rect">
            <a:avLst/>
          </a:prstGeom>
          <a:solidFill>
            <a:srgbClr val="2F7D4A"/>
          </a:solidFill>
          <a:ln w="12700">
            <a:solidFill>
              <a:srgbClr val="2F7D4A"/>
            </a:solidFill>
            <a:prstDash val="solid"/>
          </a:ln>
        </p:spPr>
      </p:sp>
      <p:sp>
        <p:nvSpPr>
          <p:cNvPr id="11" name="Text 9"/>
          <p:cNvSpPr/>
          <p:nvPr/>
        </p:nvSpPr>
        <p:spPr>
          <a:xfrm>
            <a:off x="1042416" y="1490472"/>
            <a:ext cx="10149840" cy="320040"/>
          </a:xfrm>
          <a:prstGeom prst="rect">
            <a:avLst/>
          </a:prstGeom>
          <a:noFill/>
          <a:ln/>
        </p:spPr>
        <p:txBody>
          <a:bodyPr wrap="square" lIns="0" tIns="0" rIns="0" bIns="0" rtlCol="0" anchor="ctr">
            <a:normAutofit/>
          </a:bodyPr>
          <a:lstStyle/>
          <a:p>
            <a:pPr indent="0" marL="0">
              <a:buNone/>
            </a:pPr>
            <a:r>
              <a:rPr lang="en-US" sz="1900" b="1" dirty="0">
                <a:solidFill>
                  <a:srgbClr val="20262E"/>
                </a:solidFill>
                <a:latin typeface="Arial" pitchFamily="34" charset="0"/>
                <a:ea typeface="Arial" pitchFamily="34" charset="-122"/>
                <a:cs typeface="Arial" pitchFamily="34" charset="-120"/>
              </a:rPr>
              <a:t>1</a:t>
            </a:r>
            <a:endParaRPr lang="en-US" sz="1900" dirty="0"/>
          </a:p>
        </p:txBody>
      </p:sp>
      <p:sp>
        <p:nvSpPr>
          <p:cNvPr id="12" name="Text 10"/>
          <p:cNvSpPr/>
          <p:nvPr/>
        </p:nvSpPr>
        <p:spPr>
          <a:xfrm>
            <a:off x="1042416" y="1892808"/>
            <a:ext cx="10122408" cy="137160"/>
          </a:xfrm>
          <a:prstGeom prst="rect">
            <a:avLst/>
          </a:prstGeom>
          <a:noFill/>
          <a:ln/>
        </p:spPr>
        <p:txBody>
          <a:bodyPr wrap="square" lIns="0" tIns="0" rIns="0" bIns="0" rtlCol="0" anchor="t">
            <a:normAutofit/>
          </a:bodyPr>
          <a:lstStyle/>
          <a:p>
            <a:pPr indent="0" marL="0">
              <a:buNone/>
            </a:pPr>
            <a:r>
              <a:rPr lang="en-US" sz="1900" dirty="0">
                <a:solidFill>
                  <a:srgbClr val="66717E"/>
                </a:solidFill>
                <a:latin typeface="Arial" pitchFamily="34" charset="0"/>
                <a:ea typeface="Arial" pitchFamily="34" charset="-122"/>
                <a:cs typeface="Arial" pitchFamily="34" charset="-120"/>
              </a:rPr>
              <a:t>Measured gains across quality, security, and latency</a:t>
            </a:r>
            <a:endParaRPr lang="en-US" sz="1900" dirty="0"/>
          </a:p>
        </p:txBody>
      </p:sp>
      <p:sp>
        <p:nvSpPr>
          <p:cNvPr id="13" name="Shape 11"/>
          <p:cNvSpPr/>
          <p:nvPr/>
        </p:nvSpPr>
        <p:spPr>
          <a:xfrm>
            <a:off x="822960" y="2514600"/>
            <a:ext cx="10515600" cy="868680"/>
          </a:xfrm>
          <a:prstGeom prst="roundRect">
            <a:avLst>
              <a:gd name="adj" fmla="val 7368"/>
            </a:avLst>
          </a:prstGeom>
          <a:solidFill>
            <a:srgbClr val="FFFFFF"/>
          </a:solidFill>
          <a:ln w="12700">
            <a:solidFill>
              <a:srgbClr val="D9DEE5"/>
            </a:solidFill>
            <a:prstDash val="solid"/>
          </a:ln>
        </p:spPr>
      </p:sp>
      <p:sp>
        <p:nvSpPr>
          <p:cNvPr id="14" name="Shape 12"/>
          <p:cNvSpPr/>
          <p:nvPr/>
        </p:nvSpPr>
        <p:spPr>
          <a:xfrm>
            <a:off x="822960" y="2514600"/>
            <a:ext cx="82296" cy="868680"/>
          </a:xfrm>
          <a:prstGeom prst="rect">
            <a:avLst/>
          </a:prstGeom>
          <a:solidFill>
            <a:srgbClr val="2F7D4A"/>
          </a:solidFill>
          <a:ln w="12700">
            <a:solidFill>
              <a:srgbClr val="2F7D4A"/>
            </a:solidFill>
            <a:prstDash val="solid"/>
          </a:ln>
        </p:spPr>
      </p:sp>
      <p:sp>
        <p:nvSpPr>
          <p:cNvPr id="15" name="Text 13"/>
          <p:cNvSpPr/>
          <p:nvPr/>
        </p:nvSpPr>
        <p:spPr>
          <a:xfrm>
            <a:off x="1042416" y="2679192"/>
            <a:ext cx="10149840" cy="320040"/>
          </a:xfrm>
          <a:prstGeom prst="rect">
            <a:avLst/>
          </a:prstGeom>
          <a:noFill/>
          <a:ln/>
        </p:spPr>
        <p:txBody>
          <a:bodyPr wrap="square" lIns="0" tIns="0" rIns="0" bIns="0" rtlCol="0" anchor="ctr">
            <a:normAutofit/>
          </a:bodyPr>
          <a:lstStyle/>
          <a:p>
            <a:pPr indent="0" marL="0">
              <a:buNone/>
            </a:pPr>
            <a:r>
              <a:rPr lang="en-US" sz="1900" b="1" dirty="0">
                <a:solidFill>
                  <a:srgbClr val="20262E"/>
                </a:solidFill>
                <a:latin typeface="Arial" pitchFamily="34" charset="0"/>
                <a:ea typeface="Arial" pitchFamily="34" charset="-122"/>
                <a:cs typeface="Arial" pitchFamily="34" charset="-120"/>
              </a:rPr>
              <a:t>2</a:t>
            </a:r>
            <a:endParaRPr lang="en-US" sz="1900" dirty="0"/>
          </a:p>
        </p:txBody>
      </p:sp>
      <p:sp>
        <p:nvSpPr>
          <p:cNvPr id="16" name="Text 14"/>
          <p:cNvSpPr/>
          <p:nvPr/>
        </p:nvSpPr>
        <p:spPr>
          <a:xfrm>
            <a:off x="1042416" y="3081528"/>
            <a:ext cx="10122408" cy="137160"/>
          </a:xfrm>
          <a:prstGeom prst="rect">
            <a:avLst/>
          </a:prstGeom>
          <a:noFill/>
          <a:ln/>
        </p:spPr>
        <p:txBody>
          <a:bodyPr wrap="square" lIns="0" tIns="0" rIns="0" bIns="0" rtlCol="0" anchor="t">
            <a:normAutofit/>
          </a:bodyPr>
          <a:lstStyle/>
          <a:p>
            <a:pPr indent="0" marL="0">
              <a:buNone/>
            </a:pPr>
            <a:r>
              <a:rPr lang="en-US" sz="1900" dirty="0">
                <a:solidFill>
                  <a:srgbClr val="66717E"/>
                </a:solidFill>
                <a:latin typeface="Arial" pitchFamily="34" charset="0"/>
                <a:ea typeface="Arial" pitchFamily="34" charset="-122"/>
                <a:cs typeface="Arial" pitchFamily="34" charset="-120"/>
              </a:rPr>
              <a:t>Human review and independent tools remained essential</a:t>
            </a:r>
            <a:endParaRPr lang="en-US" sz="1900" dirty="0"/>
          </a:p>
        </p:txBody>
      </p:sp>
      <p:sp>
        <p:nvSpPr>
          <p:cNvPr id="17" name="Shape 15"/>
          <p:cNvSpPr/>
          <p:nvPr/>
        </p:nvSpPr>
        <p:spPr>
          <a:xfrm>
            <a:off x="822960" y="3703320"/>
            <a:ext cx="10515600" cy="868680"/>
          </a:xfrm>
          <a:prstGeom prst="roundRect">
            <a:avLst>
              <a:gd name="adj" fmla="val 7368"/>
            </a:avLst>
          </a:prstGeom>
          <a:solidFill>
            <a:srgbClr val="FFFFFF"/>
          </a:solidFill>
          <a:ln w="12700">
            <a:solidFill>
              <a:srgbClr val="D9DEE5"/>
            </a:solidFill>
            <a:prstDash val="solid"/>
          </a:ln>
        </p:spPr>
      </p:sp>
      <p:sp>
        <p:nvSpPr>
          <p:cNvPr id="18" name="Shape 16"/>
          <p:cNvSpPr/>
          <p:nvPr/>
        </p:nvSpPr>
        <p:spPr>
          <a:xfrm>
            <a:off x="822960" y="3703320"/>
            <a:ext cx="82296" cy="868680"/>
          </a:xfrm>
          <a:prstGeom prst="rect">
            <a:avLst/>
          </a:prstGeom>
          <a:solidFill>
            <a:srgbClr val="2F7D4A"/>
          </a:solidFill>
          <a:ln w="12700">
            <a:solidFill>
              <a:srgbClr val="2F7D4A"/>
            </a:solidFill>
            <a:prstDash val="solid"/>
          </a:ln>
        </p:spPr>
      </p:sp>
      <p:sp>
        <p:nvSpPr>
          <p:cNvPr id="19" name="Text 17"/>
          <p:cNvSpPr/>
          <p:nvPr/>
        </p:nvSpPr>
        <p:spPr>
          <a:xfrm>
            <a:off x="1042416" y="3867912"/>
            <a:ext cx="10149840" cy="320040"/>
          </a:xfrm>
          <a:prstGeom prst="rect">
            <a:avLst/>
          </a:prstGeom>
          <a:noFill/>
          <a:ln/>
        </p:spPr>
        <p:txBody>
          <a:bodyPr wrap="square" lIns="0" tIns="0" rIns="0" bIns="0" rtlCol="0" anchor="ctr">
            <a:normAutofit/>
          </a:bodyPr>
          <a:lstStyle/>
          <a:p>
            <a:pPr indent="0" marL="0">
              <a:buNone/>
            </a:pPr>
            <a:r>
              <a:rPr lang="en-US" sz="1900" b="1" dirty="0">
                <a:solidFill>
                  <a:srgbClr val="20262E"/>
                </a:solidFill>
                <a:latin typeface="Arial" pitchFamily="34" charset="0"/>
                <a:ea typeface="Arial" pitchFamily="34" charset="-122"/>
                <a:cs typeface="Arial" pitchFamily="34" charset="-120"/>
              </a:rPr>
              <a:t>3</a:t>
            </a:r>
            <a:endParaRPr lang="en-US" sz="1900" dirty="0"/>
          </a:p>
        </p:txBody>
      </p:sp>
      <p:sp>
        <p:nvSpPr>
          <p:cNvPr id="20" name="Text 18"/>
          <p:cNvSpPr/>
          <p:nvPr/>
        </p:nvSpPr>
        <p:spPr>
          <a:xfrm>
            <a:off x="1042416" y="4270248"/>
            <a:ext cx="10122408" cy="137160"/>
          </a:xfrm>
          <a:prstGeom prst="rect">
            <a:avLst/>
          </a:prstGeom>
          <a:noFill/>
          <a:ln/>
        </p:spPr>
        <p:txBody>
          <a:bodyPr wrap="square" lIns="0" tIns="0" rIns="0" bIns="0" rtlCol="0" anchor="t">
            <a:normAutofit/>
          </a:bodyPr>
          <a:lstStyle/>
          <a:p>
            <a:pPr indent="0" marL="0">
              <a:buNone/>
            </a:pPr>
            <a:r>
              <a:rPr lang="en-US" sz="1900" dirty="0">
                <a:solidFill>
                  <a:srgbClr val="66717E"/>
                </a:solidFill>
                <a:latin typeface="Arial" pitchFamily="34" charset="0"/>
                <a:ea typeface="Arial" pitchFamily="34" charset="-122"/>
                <a:cs typeface="Arial" pitchFamily="34" charset="-120"/>
              </a:rPr>
              <a:t>The strongest contribution is the controlled audit-to-fix workflow</a:t>
            </a:r>
            <a:endParaRPr lang="en-US" sz="1900" dirty="0"/>
          </a:p>
        </p:txBody>
      </p:sp>
      <p:sp>
        <p:nvSpPr>
          <p:cNvPr id="21" name="Shape 19"/>
          <p:cNvSpPr/>
          <p:nvPr/>
        </p:nvSpPr>
        <p:spPr>
          <a:xfrm>
            <a:off x="1965960" y="5166360"/>
            <a:ext cx="8229600" cy="804672"/>
          </a:xfrm>
          <a:prstGeom prst="roundRect">
            <a:avLst>
              <a:gd name="adj" fmla="val 7955"/>
            </a:avLst>
          </a:prstGeom>
          <a:solidFill>
            <a:srgbClr val="152027"/>
          </a:solidFill>
          <a:ln w="12700">
            <a:solidFill>
              <a:srgbClr val="152027"/>
            </a:solidFill>
            <a:prstDash val="solid"/>
          </a:ln>
        </p:spPr>
      </p:sp>
      <p:sp>
        <p:nvSpPr>
          <p:cNvPr id="22" name="Text 20"/>
          <p:cNvSpPr/>
          <p:nvPr/>
        </p:nvSpPr>
        <p:spPr>
          <a:xfrm>
            <a:off x="2194560" y="5349240"/>
            <a:ext cx="7772400" cy="365760"/>
          </a:xfrm>
          <a:prstGeom prst="rect">
            <a:avLst/>
          </a:prstGeom>
          <a:noFill/>
          <a:ln/>
        </p:spPr>
        <p:txBody>
          <a:bodyPr wrap="square" lIns="0" tIns="0" rIns="0" bIns="0" rtlCol="0" anchor="ctr">
            <a:normAutofit/>
          </a:bodyPr>
          <a:lstStyle/>
          <a:p>
            <a:pPr algn="ctr" indent="0" marL="0">
              <a:buNone/>
            </a:pPr>
            <a:r>
              <a:rPr lang="en-US" sz="2400" b="1" dirty="0">
                <a:solidFill>
                  <a:srgbClr val="FFFFFF"/>
                </a:solidFill>
                <a:latin typeface="Arial" pitchFamily="34" charset="0"/>
                <a:ea typeface="Arial" pitchFamily="34" charset="-122"/>
                <a:cs typeface="Arial" pitchFamily="34" charset="-120"/>
              </a:rPr>
              <a:t>Use the model to propose. Use evidence to decide.</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Branch and Commit Provenance</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4.6, p. 59</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23</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10515600" cy="4114800"/>
        </p:xfrm>
        <a:graphic>
          <a:graphicData uri="http://schemas.openxmlformats.org/drawingml/2006/table">
            <a:tbl>
              <a:tblPr/>
              <a:tblGrid>
                <a:gridCol w="2286000"/>
                <a:gridCol w="3840480"/>
                <a:gridCol w="4389120"/>
              </a:tblGrid>
              <a:tr h="640080">
                <a:tc>
                  <a:txBody>
                    <a:bodyPr/>
                    <a:lstStyle/>
                    <a:p>
                      <a:pPr indent="0" marL="0">
                        <a:buNone/>
                      </a:pPr>
                      <a:r>
                        <a:rPr lang="en-US" sz="1500" b="1" dirty="0">
                          <a:solidFill>
                            <a:srgbClr val="FFFFFF"/>
                          </a:solidFill>
                          <a:latin typeface="Arial" pitchFamily="34" charset="0"/>
                          <a:ea typeface="Arial" pitchFamily="34" charset="-122"/>
                          <a:cs typeface="Arial" pitchFamily="34" charset="-120"/>
                        </a:rPr>
                        <a:t>Track</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Branch</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Evidence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r>
              <a:tr h="640080">
                <a:tc>
                  <a:txBody>
                    <a:bodyPr/>
                    <a:lstStyle/>
                    <a:p>
                      <a:pPr indent="0" marL="0">
                        <a:buNone/>
                      </a:pPr>
                      <a:r>
                        <a:rPr lang="en-US" sz="1500" dirty="0">
                          <a:solidFill>
                            <a:srgbClr val="20262E"/>
                          </a:solidFill>
                          <a:latin typeface="Arial" pitchFamily="34" charset="0"/>
                          <a:ea typeface="Arial" pitchFamily="34" charset="-122"/>
                          <a:cs typeface="Arial" pitchFamily="34" charset="-120"/>
                        </a:rPr>
                        <a:t>Original baseline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baseline-v0.1</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Shared starting point</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640080">
                <a:tc>
                  <a:txBody>
                    <a:bodyPr/>
                    <a:lstStyle/>
                    <a:p>
                      <a:pPr indent="0" marL="0">
                        <a:buNone/>
                      </a:pPr>
                      <a:r>
                        <a:rPr lang="en-US" sz="1500" dirty="0">
                          <a:solidFill>
                            <a:srgbClr val="20262E"/>
                          </a:solidFill>
                          <a:latin typeface="Arial" pitchFamily="34" charset="0"/>
                          <a:ea typeface="Arial" pitchFamily="34" charset="-122"/>
                          <a:cs typeface="Arial" pitchFamily="34" charset="-120"/>
                        </a:rPr>
                        <a:t>Original Sonar</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baseline-sonarqube-v1</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Static-quality rerun</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640080">
                <a:tc>
                  <a:txBody>
                    <a:bodyPr/>
                    <a:lstStyle/>
                    <a:p>
                      <a:pPr indent="0" marL="0">
                        <a:buNone/>
                      </a:pPr>
                      <a:r>
                        <a:rPr lang="en-US" sz="1500" dirty="0">
                          <a:solidFill>
                            <a:srgbClr val="20262E"/>
                          </a:solidFill>
                          <a:latin typeface="Arial" pitchFamily="34" charset="0"/>
                          <a:ea typeface="Arial" pitchFamily="34" charset="-122"/>
                          <a:cs typeface="Arial" pitchFamily="34" charset="-120"/>
                        </a:rPr>
                        <a:t>Original ZAP</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baseline-zap-v1</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Baseline and authenticated scans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640080">
                <a:tc>
                  <a:txBody>
                    <a:bodyPr/>
                    <a:lstStyle/>
                    <a:p>
                      <a:pPr indent="0" marL="0">
                        <a:buNone/>
                      </a:pPr>
                      <a:r>
                        <a:rPr lang="en-US" sz="1500" dirty="0">
                          <a:solidFill>
                            <a:srgbClr val="20262E"/>
                          </a:solidFill>
                          <a:latin typeface="Arial" pitchFamily="34" charset="0"/>
                          <a:ea typeface="Arial" pitchFamily="34" charset="-122"/>
                          <a:cs typeface="Arial" pitchFamily="34" charset="-120"/>
                        </a:rPr>
                        <a:t>Original JMeter</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baseline-jmeter-v1</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Five workload profiles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640080">
                <a:tc>
                  <a:txBody>
                    <a:bodyPr/>
                    <a:lstStyle/>
                    <a:p>
                      <a:pPr indent="0" marL="0">
                        <a:buNone/>
                      </a:pPr>
                      <a:r>
                        <a:rPr lang="en-US" sz="1500" dirty="0">
                          <a:solidFill>
                            <a:srgbClr val="20262E"/>
                          </a:solidFill>
                          <a:latin typeface="Arial" pitchFamily="34" charset="0"/>
                          <a:ea typeface="Arial" pitchFamily="34" charset="-122"/>
                          <a:cs typeface="Arial" pitchFamily="34" charset="-120"/>
                        </a:rPr>
                        <a:t>GPT-5.5 comparison</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codex/gpt-5.5-comparison</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Paired model evidence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Endpoint and Role Coverage</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API scope, pp. 30-32</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24</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58368" y="1280160"/>
          <a:ext cx="7635240" cy="4754880"/>
        </p:xfrm>
        <a:graphic>
          <a:graphicData uri="http://schemas.openxmlformats.org/drawingml/2006/table">
            <a:tbl>
              <a:tblPr/>
              <a:tblGrid>
                <a:gridCol w="2103120"/>
                <a:gridCol w="1325880"/>
                <a:gridCol w="1508760"/>
                <a:gridCol w="1280160"/>
                <a:gridCol w="1417320"/>
              </a:tblGrid>
              <a:tr h="502920">
                <a:tc>
                  <a:txBody>
                    <a:bodyPr/>
                    <a:lstStyle/>
                    <a:p>
                      <a:pPr indent="0" marL="0">
                        <a:buNone/>
                      </a:pPr>
                      <a:r>
                        <a:rPr lang="en-US" sz="1250" b="1" dirty="0">
                          <a:solidFill>
                            <a:srgbClr val="FFFFFF"/>
                          </a:solidFill>
                          <a:latin typeface="Arial" pitchFamily="34" charset="0"/>
                          <a:ea typeface="Arial" pitchFamily="34" charset="-122"/>
                          <a:cs typeface="Arial" pitchFamily="34" charset="-120"/>
                        </a:rPr>
                        <a:t>Endpoint group</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Admin</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FinanceManager</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User</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Auditor</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/auth</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Full</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Role-based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Own scope</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Limited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/users</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Full</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Role-based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Own scope</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Limited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/accounts</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Full</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Role-based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Own scope</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/journal-entries</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Full</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Role-based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Own scope</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/periods</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Full</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Role-based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Own scope</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/reports</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Full</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Role-based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Own scope</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/audit-logs</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Admin</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Own scope</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
        <p:nvSpPr>
          <p:cNvPr id="10" name="Shape 7"/>
          <p:cNvSpPr/>
          <p:nvPr/>
        </p:nvSpPr>
        <p:spPr>
          <a:xfrm>
            <a:off x="8549640" y="1417320"/>
            <a:ext cx="2743200" cy="1828800"/>
          </a:xfrm>
          <a:prstGeom prst="roundRect">
            <a:avLst>
              <a:gd name="adj" fmla="val 3500"/>
            </a:avLst>
          </a:prstGeom>
          <a:solidFill>
            <a:srgbClr val="FFFFFF"/>
          </a:solidFill>
          <a:ln w="12700">
            <a:solidFill>
              <a:srgbClr val="D9DEE5"/>
            </a:solidFill>
            <a:prstDash val="solid"/>
          </a:ln>
        </p:spPr>
      </p:sp>
      <p:pic>
        <p:nvPicPr>
          <p:cNvPr id="11" name="Image 0" descr="C:\Users\Asus\.codex\worktrees\final-thesis-defense\financial-accounting\Document\outputs\web-app-evidence\01-login.png">    </p:cNvPr>
          <p:cNvPicPr>
            <a:picLocks noChangeAspect="1"/>
          </p:cNvPicPr>
          <p:nvPr/>
        </p:nvPicPr>
        <p:blipFill>
          <a:blip r:embed="rId1"/>
          <a:stretch>
            <a:fillRect/>
          </a:stretch>
        </p:blipFill>
        <p:spPr>
          <a:xfrm>
            <a:off x="8604504" y="1417320"/>
            <a:ext cx="2633472" cy="1828800"/>
          </a:xfrm>
          <a:prstGeom prst="rect">
            <a:avLst/>
          </a:prstGeom>
        </p:spPr>
      </p:pic>
      <p:sp>
        <p:nvSpPr>
          <p:cNvPr id="12" name="Shape 8"/>
          <p:cNvSpPr/>
          <p:nvPr/>
        </p:nvSpPr>
        <p:spPr>
          <a:xfrm>
            <a:off x="8549640" y="3657600"/>
            <a:ext cx="2743200" cy="1828800"/>
          </a:xfrm>
          <a:prstGeom prst="roundRect">
            <a:avLst>
              <a:gd name="adj" fmla="val 3500"/>
            </a:avLst>
          </a:prstGeom>
          <a:solidFill>
            <a:srgbClr val="FFFFFF"/>
          </a:solidFill>
          <a:ln w="12700">
            <a:solidFill>
              <a:srgbClr val="D9DEE5"/>
            </a:solidFill>
            <a:prstDash val="solid"/>
          </a:ln>
        </p:spPr>
      </p:sp>
      <p:pic>
        <p:nvPicPr>
          <p:cNvPr id="13" name="Image 1" descr="C:\Users\Asus\.codex\worktrees\final-thesis-defense\financial-accounting\Document\outputs\web-app-evidence\04-audit-logs.png">    </p:cNvPr>
          <p:cNvPicPr>
            <a:picLocks noChangeAspect="1"/>
          </p:cNvPicPr>
          <p:nvPr/>
        </p:nvPicPr>
        <p:blipFill>
          <a:blip r:embed="rId2"/>
          <a:stretch>
            <a:fillRect/>
          </a:stretch>
        </p:blipFill>
        <p:spPr>
          <a:xfrm>
            <a:off x="8604504" y="3657600"/>
            <a:ext cx="2633472" cy="18288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Full SonarQube Metrics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Tables 4.2 and 4.4, p. 44</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25</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31520" y="1280160"/>
          <a:ext cx="10744200" cy="4937760"/>
        </p:xfrm>
        <a:graphic>
          <a:graphicData uri="http://schemas.openxmlformats.org/drawingml/2006/table">
            <a:tbl>
              <a:tblPr/>
              <a:tblGrid>
                <a:gridCol w="3581400"/>
                <a:gridCol w="3581400"/>
                <a:gridCol w="3581400"/>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Metric</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Baseline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After</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Retained findings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28</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Code smells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21</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Coverage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74.3%</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74.3%</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Duplicated lines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Quality Gate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OK</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OK</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Full OWASP ZAP Outcomes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4.1.2, p. 45</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731520" y="1280160"/>
          <a:ext cx="10744200" cy="4937760"/>
        </p:xfrm>
        <a:graphic>
          <a:graphicData uri="http://schemas.openxmlformats.org/drawingml/2006/table">
            <a:tbl>
              <a:tblPr/>
              <a:tblGrid>
                <a:gridCol w="2686050"/>
                <a:gridCol w="2686050"/>
                <a:gridCol w="2686050"/>
                <a:gridCol w="2686050"/>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Scan</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Severity</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Before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After</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Baseline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Medium</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2</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Baseline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Low</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6</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Baseline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Informational</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Authenticated</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Low</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Authenticated</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Informational</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Full JMeter Total p95 Results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4.1.3, p. 45</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27</a:t>
            </a:r>
            <a:endParaRPr lang="en-US" sz="1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731520" y="1280160"/>
          <a:ext cx="10744200" cy="4937760"/>
        </p:xfrm>
        <a:graphic>
          <a:graphicData uri="http://schemas.openxmlformats.org/drawingml/2006/table">
            <a:tbl>
              <a:tblPr/>
              <a:tblGrid>
                <a:gridCol w="2686050"/>
                <a:gridCol w="2686050"/>
                <a:gridCol w="2686050"/>
                <a:gridCol w="2686050"/>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Profile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Baseline ms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After ms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Reduction</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p50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49.45</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13.00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73.7%</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p100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261.95</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34.00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87.0%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p500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176.00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28.00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84.1%</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Soak</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970.95</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56.00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94.2%</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Spike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6795.00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1420.00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79.1%</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Patch Size and Regression Evidence</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4.11, p. 60</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28</a:t>
            </a:r>
            <a:endParaRPr lang="en-US" sz="10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31520" y="1280160"/>
          <a:ext cx="10744200" cy="4937760"/>
        </p:xfrm>
        <a:graphic>
          <a:graphicData uri="http://schemas.openxmlformats.org/drawingml/2006/table">
            <a:tbl>
              <a:tblPr/>
              <a:tblGrid>
                <a:gridCol w="2686050"/>
                <a:gridCol w="2686050"/>
                <a:gridCol w="2686050"/>
                <a:gridCol w="2686050"/>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Track</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GPT-5.4 files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GPT-5.5 files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Verification</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SonarQube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13</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13</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 smells; gate OK</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ZAP</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Business gate passed</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JMeter</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13</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8</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 errors; drift gate passed in normalized runs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New-API v2 Detailed Results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4.12, p. 61</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29</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731520" y="1280160"/>
          <a:ext cx="10744200" cy="4937760"/>
        </p:xfrm>
        <a:graphic>
          <a:graphicData uri="http://schemas.openxmlformats.org/drawingml/2006/table">
            <a:tbl>
              <a:tblPr/>
              <a:tblGrid>
                <a:gridCol w="3581400"/>
                <a:gridCol w="3581400"/>
                <a:gridCol w="3581400"/>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Measure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GPT-5.4</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GPT-5.5</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Sonar issues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Coverage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76.2%</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74.8%</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Cognitive complexity</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340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329</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ZAP verified alerts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12</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12</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Public tests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152 passed</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151 passed</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JMeter</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No valid candidate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Frozen candidate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Threats to Validity</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1.6, 4.7.6, and 5.4</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30</a:t>
            </a:r>
            <a:endParaRPr lang="en-US" sz="1000" dirty="0"/>
          </a:p>
        </p:txBody>
      </p:sp>
      <p:sp>
        <p:nvSpPr>
          <p:cNvPr id="9" name="Shape 7"/>
          <p:cNvSpPr/>
          <p:nvPr/>
        </p:nvSpPr>
        <p:spPr>
          <a:xfrm>
            <a:off x="731520" y="1280160"/>
            <a:ext cx="5166360" cy="2057400"/>
          </a:xfrm>
          <a:prstGeom prst="roundRect">
            <a:avLst>
              <a:gd name="adj" fmla="val 3111"/>
            </a:avLst>
          </a:prstGeom>
          <a:solidFill>
            <a:srgbClr val="FFFFFF"/>
          </a:solidFill>
          <a:ln w="12700">
            <a:solidFill>
              <a:srgbClr val="D9DEE5"/>
            </a:solidFill>
            <a:prstDash val="solid"/>
          </a:ln>
        </p:spPr>
      </p:sp>
      <p:sp>
        <p:nvSpPr>
          <p:cNvPr id="10" name="Shape 8"/>
          <p:cNvSpPr/>
          <p:nvPr/>
        </p:nvSpPr>
        <p:spPr>
          <a:xfrm>
            <a:off x="731520" y="1280160"/>
            <a:ext cx="82296" cy="2057400"/>
          </a:xfrm>
          <a:prstGeom prst="rect">
            <a:avLst/>
          </a:prstGeom>
          <a:solidFill>
            <a:srgbClr val="0B6670"/>
          </a:solidFill>
          <a:ln w="12700">
            <a:solidFill>
              <a:srgbClr val="0B6670"/>
            </a:solidFill>
            <a:prstDash val="solid"/>
          </a:ln>
        </p:spPr>
      </p:sp>
      <p:sp>
        <p:nvSpPr>
          <p:cNvPr id="11" name="Text 9"/>
          <p:cNvSpPr/>
          <p:nvPr/>
        </p:nvSpPr>
        <p:spPr>
          <a:xfrm>
            <a:off x="950976" y="1444752"/>
            <a:ext cx="480060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Internal</a:t>
            </a:r>
            <a:endParaRPr lang="en-US" sz="2100" dirty="0"/>
          </a:p>
        </p:txBody>
      </p:sp>
      <p:sp>
        <p:nvSpPr>
          <p:cNvPr id="12" name="Text 10"/>
          <p:cNvSpPr/>
          <p:nvPr/>
        </p:nvSpPr>
        <p:spPr>
          <a:xfrm>
            <a:off x="950976" y="1847088"/>
            <a:ext cx="4773168" cy="1325880"/>
          </a:xfrm>
          <a:prstGeom prst="rect">
            <a:avLst/>
          </a:prstGeom>
          <a:noFill/>
          <a:ln/>
        </p:spPr>
        <p:txBody>
          <a:bodyPr wrap="square" lIns="0" tIns="0" rIns="0" bIns="0" rtlCol="0" anchor="t">
            <a:normAutofit/>
          </a:bodyPr>
          <a:lstStyle/>
          <a:p>
            <a:pPr indent="0" marL="0">
              <a:buNone/>
            </a:pPr>
            <a:r>
              <a:rPr lang="en-US" sz="1550" dirty="0">
                <a:solidFill>
                  <a:srgbClr val="66717E"/>
                </a:solidFill>
                <a:latin typeface="Arial" pitchFamily="34" charset="0"/>
                <a:ea typeface="Arial" pitchFamily="34" charset="-122"/>
                <a:cs typeface="Arial" pitchFamily="34" charset="-120"/>
              </a:rPr>
              <a:t>Branch differences</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Tool configuration</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Cache and warm-up effects</a:t>
            </a:r>
            <a:endParaRPr lang="en-US" sz="1550" dirty="0"/>
          </a:p>
        </p:txBody>
      </p:sp>
      <p:sp>
        <p:nvSpPr>
          <p:cNvPr id="13" name="Shape 11"/>
          <p:cNvSpPr/>
          <p:nvPr/>
        </p:nvSpPr>
        <p:spPr>
          <a:xfrm>
            <a:off x="6263640" y="1280160"/>
            <a:ext cx="5166360" cy="2057400"/>
          </a:xfrm>
          <a:prstGeom prst="roundRect">
            <a:avLst>
              <a:gd name="adj" fmla="val 3111"/>
            </a:avLst>
          </a:prstGeom>
          <a:solidFill>
            <a:srgbClr val="FFFFFF"/>
          </a:solidFill>
          <a:ln w="12700">
            <a:solidFill>
              <a:srgbClr val="D9DEE5"/>
            </a:solidFill>
            <a:prstDash val="solid"/>
          </a:ln>
        </p:spPr>
      </p:sp>
      <p:sp>
        <p:nvSpPr>
          <p:cNvPr id="14" name="Shape 12"/>
          <p:cNvSpPr/>
          <p:nvPr/>
        </p:nvSpPr>
        <p:spPr>
          <a:xfrm>
            <a:off x="6263640" y="1280160"/>
            <a:ext cx="82296" cy="2057400"/>
          </a:xfrm>
          <a:prstGeom prst="rect">
            <a:avLst/>
          </a:prstGeom>
          <a:solidFill>
            <a:srgbClr val="C47B12"/>
          </a:solidFill>
          <a:ln w="12700">
            <a:solidFill>
              <a:srgbClr val="C47B12"/>
            </a:solidFill>
            <a:prstDash val="solid"/>
          </a:ln>
        </p:spPr>
      </p:sp>
      <p:sp>
        <p:nvSpPr>
          <p:cNvPr id="15" name="Text 13"/>
          <p:cNvSpPr/>
          <p:nvPr/>
        </p:nvSpPr>
        <p:spPr>
          <a:xfrm>
            <a:off x="6483096" y="1444752"/>
            <a:ext cx="480060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Construct</a:t>
            </a:r>
            <a:endParaRPr lang="en-US" sz="2100" dirty="0"/>
          </a:p>
        </p:txBody>
      </p:sp>
      <p:sp>
        <p:nvSpPr>
          <p:cNvPr id="16" name="Text 14"/>
          <p:cNvSpPr/>
          <p:nvPr/>
        </p:nvSpPr>
        <p:spPr>
          <a:xfrm>
            <a:off x="6483096" y="1847088"/>
            <a:ext cx="4773168" cy="1325880"/>
          </a:xfrm>
          <a:prstGeom prst="rect">
            <a:avLst/>
          </a:prstGeom>
          <a:noFill/>
          <a:ln/>
        </p:spPr>
        <p:txBody>
          <a:bodyPr wrap="square" lIns="0" tIns="0" rIns="0" bIns="0" rtlCol="0" anchor="t">
            <a:normAutofit/>
          </a:bodyPr>
          <a:lstStyle/>
          <a:p>
            <a:pPr indent="0" marL="0">
              <a:buNone/>
            </a:pPr>
            <a:r>
              <a:rPr lang="en-US" sz="1550" dirty="0">
                <a:solidFill>
                  <a:srgbClr val="66717E"/>
                </a:solidFill>
                <a:latin typeface="Arial" pitchFamily="34" charset="0"/>
                <a:ea typeface="Arial" pitchFamily="34" charset="-122"/>
                <a:cs typeface="Arial" pitchFamily="34" charset="-120"/>
              </a:rPr>
              <a:t>Scanner coverage</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Metric definitions</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Drift heuristic</a:t>
            </a:r>
            <a:endParaRPr lang="en-US" sz="1550" dirty="0"/>
          </a:p>
        </p:txBody>
      </p:sp>
      <p:sp>
        <p:nvSpPr>
          <p:cNvPr id="17" name="Shape 15"/>
          <p:cNvSpPr/>
          <p:nvPr/>
        </p:nvSpPr>
        <p:spPr>
          <a:xfrm>
            <a:off x="731520" y="3703320"/>
            <a:ext cx="5166360" cy="2057400"/>
          </a:xfrm>
          <a:prstGeom prst="roundRect">
            <a:avLst>
              <a:gd name="adj" fmla="val 3111"/>
            </a:avLst>
          </a:prstGeom>
          <a:solidFill>
            <a:srgbClr val="FFFFFF"/>
          </a:solidFill>
          <a:ln w="12700">
            <a:solidFill>
              <a:srgbClr val="D9DEE5"/>
            </a:solidFill>
            <a:prstDash val="solid"/>
          </a:ln>
        </p:spPr>
      </p:sp>
      <p:sp>
        <p:nvSpPr>
          <p:cNvPr id="18" name="Shape 16"/>
          <p:cNvSpPr/>
          <p:nvPr/>
        </p:nvSpPr>
        <p:spPr>
          <a:xfrm>
            <a:off x="731520" y="3703320"/>
            <a:ext cx="82296" cy="2057400"/>
          </a:xfrm>
          <a:prstGeom prst="rect">
            <a:avLst/>
          </a:prstGeom>
          <a:solidFill>
            <a:srgbClr val="B93A3A"/>
          </a:solidFill>
          <a:ln w="12700">
            <a:solidFill>
              <a:srgbClr val="B93A3A"/>
            </a:solidFill>
            <a:prstDash val="solid"/>
          </a:ln>
        </p:spPr>
      </p:sp>
      <p:sp>
        <p:nvSpPr>
          <p:cNvPr id="19" name="Text 17"/>
          <p:cNvSpPr/>
          <p:nvPr/>
        </p:nvSpPr>
        <p:spPr>
          <a:xfrm>
            <a:off x="950976" y="3867912"/>
            <a:ext cx="480060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External</a:t>
            </a:r>
            <a:endParaRPr lang="en-US" sz="2100" dirty="0"/>
          </a:p>
        </p:txBody>
      </p:sp>
      <p:sp>
        <p:nvSpPr>
          <p:cNvPr id="20" name="Text 18"/>
          <p:cNvSpPr/>
          <p:nvPr/>
        </p:nvSpPr>
        <p:spPr>
          <a:xfrm>
            <a:off x="950976" y="4270248"/>
            <a:ext cx="4773168" cy="1325880"/>
          </a:xfrm>
          <a:prstGeom prst="rect">
            <a:avLst/>
          </a:prstGeom>
          <a:noFill/>
          <a:ln/>
        </p:spPr>
        <p:txBody>
          <a:bodyPr wrap="square" lIns="0" tIns="0" rIns="0" bIns="0" rtlCol="0" anchor="t">
            <a:normAutofit/>
          </a:bodyPr>
          <a:lstStyle/>
          <a:p>
            <a:pPr indent="0" marL="0">
              <a:buNone/>
            </a:pPr>
            <a:r>
              <a:rPr lang="en-US" sz="1550" dirty="0">
                <a:solidFill>
                  <a:srgbClr val="66717E"/>
                </a:solidFill>
                <a:latin typeface="Arial" pitchFamily="34" charset="0"/>
                <a:ea typeface="Arial" pitchFamily="34" charset="-122"/>
                <a:cs typeface="Arial" pitchFamily="34" charset="-120"/>
              </a:rPr>
              <a:t>One API</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One host</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One language and domain</a:t>
            </a:r>
            <a:endParaRPr lang="en-US" sz="1550" dirty="0"/>
          </a:p>
        </p:txBody>
      </p:sp>
      <p:sp>
        <p:nvSpPr>
          <p:cNvPr id="21" name="Shape 19"/>
          <p:cNvSpPr/>
          <p:nvPr/>
        </p:nvSpPr>
        <p:spPr>
          <a:xfrm>
            <a:off x="6263640" y="3703320"/>
            <a:ext cx="5166360" cy="2057400"/>
          </a:xfrm>
          <a:prstGeom prst="roundRect">
            <a:avLst>
              <a:gd name="adj" fmla="val 3111"/>
            </a:avLst>
          </a:prstGeom>
          <a:solidFill>
            <a:srgbClr val="FFFFFF"/>
          </a:solidFill>
          <a:ln w="12700">
            <a:solidFill>
              <a:srgbClr val="D9DEE5"/>
            </a:solidFill>
            <a:prstDash val="solid"/>
          </a:ln>
        </p:spPr>
      </p:sp>
      <p:sp>
        <p:nvSpPr>
          <p:cNvPr id="22" name="Shape 20"/>
          <p:cNvSpPr/>
          <p:nvPr/>
        </p:nvSpPr>
        <p:spPr>
          <a:xfrm>
            <a:off x="6263640" y="3703320"/>
            <a:ext cx="82296" cy="2057400"/>
          </a:xfrm>
          <a:prstGeom prst="rect">
            <a:avLst/>
          </a:prstGeom>
          <a:solidFill>
            <a:srgbClr val="2F7D4A"/>
          </a:solidFill>
          <a:ln w="12700">
            <a:solidFill>
              <a:srgbClr val="2F7D4A"/>
            </a:solidFill>
            <a:prstDash val="solid"/>
          </a:ln>
        </p:spPr>
      </p:sp>
      <p:sp>
        <p:nvSpPr>
          <p:cNvPr id="23" name="Text 21"/>
          <p:cNvSpPr/>
          <p:nvPr/>
        </p:nvSpPr>
        <p:spPr>
          <a:xfrm>
            <a:off x="6483096" y="3867912"/>
            <a:ext cx="480060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Conclusion</a:t>
            </a:r>
            <a:endParaRPr lang="en-US" sz="2100" dirty="0"/>
          </a:p>
        </p:txBody>
      </p:sp>
      <p:sp>
        <p:nvSpPr>
          <p:cNvPr id="24" name="Text 22"/>
          <p:cNvSpPr/>
          <p:nvPr/>
        </p:nvSpPr>
        <p:spPr>
          <a:xfrm>
            <a:off x="6483096" y="4270248"/>
            <a:ext cx="4773168" cy="1325880"/>
          </a:xfrm>
          <a:prstGeom prst="rect">
            <a:avLst/>
          </a:prstGeom>
          <a:noFill/>
          <a:ln/>
        </p:spPr>
        <p:txBody>
          <a:bodyPr wrap="square" lIns="0" tIns="0" rIns="0" bIns="0" rtlCol="0" anchor="t">
            <a:normAutofit/>
          </a:bodyPr>
          <a:lstStyle/>
          <a:p>
            <a:pPr indent="0" marL="0">
              <a:buNone/>
            </a:pPr>
            <a:r>
              <a:rPr lang="en-US" sz="1550" dirty="0">
                <a:solidFill>
                  <a:srgbClr val="66717E"/>
                </a:solidFill>
                <a:latin typeface="Arial" pitchFamily="34" charset="0"/>
                <a:ea typeface="Arial" pitchFamily="34" charset="-122"/>
                <a:cs typeface="Arial" pitchFamily="34" charset="-120"/>
              </a:rPr>
              <a:t>No repeated model runs</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Incomplete v2 JMeter pair</a:t>
            </a:r>
            <a:endParaRPr lang="en-US" sz="15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Prompt and Human-Effort Traceability</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3.1.3-3.1.4, p. 37</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31</a:t>
            </a:r>
            <a:endParaRPr lang="en-US" sz="1000" dirty="0"/>
          </a:p>
        </p:txBody>
      </p:sp>
      <p:sp>
        <p:nvSpPr>
          <p:cNvPr id="9" name="Shape 7"/>
          <p:cNvSpPr/>
          <p:nvPr/>
        </p:nvSpPr>
        <p:spPr>
          <a:xfrm>
            <a:off x="731520" y="1828800"/>
            <a:ext cx="1618488" cy="1051560"/>
          </a:xfrm>
          <a:prstGeom prst="roundRect">
            <a:avLst>
              <a:gd name="adj" fmla="val 6087"/>
            </a:avLst>
          </a:prstGeom>
          <a:solidFill>
            <a:srgbClr val="FFFFFF"/>
          </a:solidFill>
          <a:ln w="12700">
            <a:solidFill>
              <a:srgbClr val="D9DEE5"/>
            </a:solidFill>
            <a:prstDash val="solid"/>
          </a:ln>
        </p:spPr>
      </p:sp>
      <p:sp>
        <p:nvSpPr>
          <p:cNvPr id="10" name="Text 8"/>
          <p:cNvSpPr/>
          <p:nvPr/>
        </p:nvSpPr>
        <p:spPr>
          <a:xfrm>
            <a:off x="841248"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Raw finding</a:t>
            </a:r>
            <a:endParaRPr lang="en-US" sz="1600" dirty="0"/>
          </a:p>
        </p:txBody>
      </p:sp>
      <p:sp>
        <p:nvSpPr>
          <p:cNvPr id="11" name="Shape 9"/>
          <p:cNvSpPr/>
          <p:nvPr/>
        </p:nvSpPr>
        <p:spPr>
          <a:xfrm>
            <a:off x="2368296" y="2359152"/>
            <a:ext cx="164592" cy="0"/>
          </a:xfrm>
          <a:prstGeom prst="line">
            <a:avLst/>
          </a:prstGeom>
          <a:noFill/>
          <a:ln w="16510">
            <a:solidFill>
              <a:srgbClr val="0B6670"/>
            </a:solidFill>
            <a:prstDash val="solid"/>
            <a:headEnd type="none"/>
            <a:tailEnd type="triangle"/>
          </a:ln>
        </p:spPr>
      </p:sp>
      <p:sp>
        <p:nvSpPr>
          <p:cNvPr id="12" name="Shape 10"/>
          <p:cNvSpPr/>
          <p:nvPr/>
        </p:nvSpPr>
        <p:spPr>
          <a:xfrm>
            <a:off x="2551176" y="1828800"/>
            <a:ext cx="1618488" cy="1051560"/>
          </a:xfrm>
          <a:prstGeom prst="roundRect">
            <a:avLst>
              <a:gd name="adj" fmla="val 6087"/>
            </a:avLst>
          </a:prstGeom>
          <a:solidFill>
            <a:srgbClr val="E8F2F3"/>
          </a:solidFill>
          <a:ln w="12700">
            <a:solidFill>
              <a:srgbClr val="D9DEE5"/>
            </a:solidFill>
            <a:prstDash val="solid"/>
          </a:ln>
        </p:spPr>
      </p:sp>
      <p:sp>
        <p:nvSpPr>
          <p:cNvPr id="13" name="Text 11"/>
          <p:cNvSpPr/>
          <p:nvPr/>
        </p:nvSpPr>
        <p:spPr>
          <a:xfrm>
            <a:off x="2660904"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Bounded prompt</a:t>
            </a:r>
            <a:endParaRPr lang="en-US" sz="1600" dirty="0"/>
          </a:p>
        </p:txBody>
      </p:sp>
      <p:sp>
        <p:nvSpPr>
          <p:cNvPr id="14" name="Shape 12"/>
          <p:cNvSpPr/>
          <p:nvPr/>
        </p:nvSpPr>
        <p:spPr>
          <a:xfrm>
            <a:off x="4187952" y="2359152"/>
            <a:ext cx="164592" cy="0"/>
          </a:xfrm>
          <a:prstGeom prst="line">
            <a:avLst/>
          </a:prstGeom>
          <a:noFill/>
          <a:ln w="16510">
            <a:solidFill>
              <a:srgbClr val="0B6670"/>
            </a:solidFill>
            <a:prstDash val="solid"/>
            <a:headEnd type="none"/>
            <a:tailEnd type="triangle"/>
          </a:ln>
        </p:spPr>
      </p:sp>
      <p:sp>
        <p:nvSpPr>
          <p:cNvPr id="15" name="Shape 13"/>
          <p:cNvSpPr/>
          <p:nvPr/>
        </p:nvSpPr>
        <p:spPr>
          <a:xfrm>
            <a:off x="4370832" y="1828800"/>
            <a:ext cx="1618488" cy="1051560"/>
          </a:xfrm>
          <a:prstGeom prst="roundRect">
            <a:avLst>
              <a:gd name="adj" fmla="val 6087"/>
            </a:avLst>
          </a:prstGeom>
          <a:solidFill>
            <a:srgbClr val="FFFFFF"/>
          </a:solidFill>
          <a:ln w="12700">
            <a:solidFill>
              <a:srgbClr val="D9DEE5"/>
            </a:solidFill>
            <a:prstDash val="solid"/>
          </a:ln>
        </p:spPr>
      </p:sp>
      <p:sp>
        <p:nvSpPr>
          <p:cNvPr id="16" name="Text 14"/>
          <p:cNvSpPr/>
          <p:nvPr/>
        </p:nvSpPr>
        <p:spPr>
          <a:xfrm>
            <a:off x="4480560"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Candidate change</a:t>
            </a:r>
            <a:endParaRPr lang="en-US" sz="1600" dirty="0"/>
          </a:p>
        </p:txBody>
      </p:sp>
      <p:sp>
        <p:nvSpPr>
          <p:cNvPr id="17" name="Shape 15"/>
          <p:cNvSpPr/>
          <p:nvPr/>
        </p:nvSpPr>
        <p:spPr>
          <a:xfrm>
            <a:off x="6007608" y="2359152"/>
            <a:ext cx="164592" cy="0"/>
          </a:xfrm>
          <a:prstGeom prst="line">
            <a:avLst/>
          </a:prstGeom>
          <a:noFill/>
          <a:ln w="16510">
            <a:solidFill>
              <a:srgbClr val="0B6670"/>
            </a:solidFill>
            <a:prstDash val="solid"/>
            <a:headEnd type="none"/>
            <a:tailEnd type="triangle"/>
          </a:ln>
        </p:spPr>
      </p:sp>
      <p:sp>
        <p:nvSpPr>
          <p:cNvPr id="18" name="Shape 16"/>
          <p:cNvSpPr/>
          <p:nvPr/>
        </p:nvSpPr>
        <p:spPr>
          <a:xfrm>
            <a:off x="6190488" y="1828800"/>
            <a:ext cx="1618488" cy="1051560"/>
          </a:xfrm>
          <a:prstGeom prst="roundRect">
            <a:avLst>
              <a:gd name="adj" fmla="val 6087"/>
            </a:avLst>
          </a:prstGeom>
          <a:solidFill>
            <a:srgbClr val="E8F2F3"/>
          </a:solidFill>
          <a:ln w="12700">
            <a:solidFill>
              <a:srgbClr val="D9DEE5"/>
            </a:solidFill>
            <a:prstDash val="solid"/>
          </a:ln>
        </p:spPr>
      </p:sp>
      <p:sp>
        <p:nvSpPr>
          <p:cNvPr id="19" name="Text 17"/>
          <p:cNvSpPr/>
          <p:nvPr/>
        </p:nvSpPr>
        <p:spPr>
          <a:xfrm>
            <a:off x="6300216"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Human decision</a:t>
            </a:r>
            <a:endParaRPr lang="en-US" sz="1600" dirty="0"/>
          </a:p>
        </p:txBody>
      </p:sp>
      <p:sp>
        <p:nvSpPr>
          <p:cNvPr id="20" name="Shape 18"/>
          <p:cNvSpPr/>
          <p:nvPr/>
        </p:nvSpPr>
        <p:spPr>
          <a:xfrm>
            <a:off x="7827264" y="2359152"/>
            <a:ext cx="164592" cy="0"/>
          </a:xfrm>
          <a:prstGeom prst="line">
            <a:avLst/>
          </a:prstGeom>
          <a:noFill/>
          <a:ln w="16510">
            <a:solidFill>
              <a:srgbClr val="0B6670"/>
            </a:solidFill>
            <a:prstDash val="solid"/>
            <a:headEnd type="none"/>
            <a:tailEnd type="triangle"/>
          </a:ln>
        </p:spPr>
      </p:sp>
      <p:sp>
        <p:nvSpPr>
          <p:cNvPr id="21" name="Shape 19"/>
          <p:cNvSpPr/>
          <p:nvPr/>
        </p:nvSpPr>
        <p:spPr>
          <a:xfrm>
            <a:off x="8010144" y="1828800"/>
            <a:ext cx="1618488" cy="1051560"/>
          </a:xfrm>
          <a:prstGeom prst="roundRect">
            <a:avLst>
              <a:gd name="adj" fmla="val 6087"/>
            </a:avLst>
          </a:prstGeom>
          <a:solidFill>
            <a:srgbClr val="FFFFFF"/>
          </a:solidFill>
          <a:ln w="12700">
            <a:solidFill>
              <a:srgbClr val="D9DEE5"/>
            </a:solidFill>
            <a:prstDash val="solid"/>
          </a:ln>
        </p:spPr>
      </p:sp>
      <p:sp>
        <p:nvSpPr>
          <p:cNvPr id="22" name="Text 20"/>
          <p:cNvSpPr/>
          <p:nvPr/>
        </p:nvSpPr>
        <p:spPr>
          <a:xfrm>
            <a:off x="8119872"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Focused test</a:t>
            </a:r>
            <a:endParaRPr lang="en-US" sz="1600" dirty="0"/>
          </a:p>
        </p:txBody>
      </p:sp>
      <p:sp>
        <p:nvSpPr>
          <p:cNvPr id="23" name="Shape 21"/>
          <p:cNvSpPr/>
          <p:nvPr/>
        </p:nvSpPr>
        <p:spPr>
          <a:xfrm>
            <a:off x="9646920" y="2359152"/>
            <a:ext cx="164592" cy="0"/>
          </a:xfrm>
          <a:prstGeom prst="line">
            <a:avLst/>
          </a:prstGeom>
          <a:noFill/>
          <a:ln w="16510">
            <a:solidFill>
              <a:srgbClr val="0B6670"/>
            </a:solidFill>
            <a:prstDash val="solid"/>
            <a:headEnd type="none"/>
            <a:tailEnd type="triangle"/>
          </a:ln>
        </p:spPr>
      </p:sp>
      <p:sp>
        <p:nvSpPr>
          <p:cNvPr id="24" name="Shape 22"/>
          <p:cNvSpPr/>
          <p:nvPr/>
        </p:nvSpPr>
        <p:spPr>
          <a:xfrm>
            <a:off x="9829800" y="1828800"/>
            <a:ext cx="1618488" cy="1051560"/>
          </a:xfrm>
          <a:prstGeom prst="roundRect">
            <a:avLst>
              <a:gd name="adj" fmla="val 6087"/>
            </a:avLst>
          </a:prstGeom>
          <a:solidFill>
            <a:srgbClr val="E8F2F3"/>
          </a:solidFill>
          <a:ln w="12700">
            <a:solidFill>
              <a:srgbClr val="D9DEE5"/>
            </a:solidFill>
            <a:prstDash val="solid"/>
          </a:ln>
        </p:spPr>
      </p:sp>
      <p:sp>
        <p:nvSpPr>
          <p:cNvPr id="25" name="Text 23"/>
          <p:cNvSpPr/>
          <p:nvPr/>
        </p:nvSpPr>
        <p:spPr>
          <a:xfrm>
            <a:off x="9939528"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Remeasurement</a:t>
            </a:r>
            <a:endParaRPr lang="en-US" sz="1600" dirty="0"/>
          </a:p>
        </p:txBody>
      </p:sp>
      <p:sp>
        <p:nvSpPr>
          <p:cNvPr id="26" name="Text 24"/>
          <p:cNvSpPr/>
          <p:nvPr/>
        </p:nvSpPr>
        <p:spPr>
          <a:xfrm>
            <a:off x="2103120" y="3886200"/>
            <a:ext cx="4663440" cy="1737360"/>
          </a:xfrm>
          <a:prstGeom prst="rect">
            <a:avLst/>
          </a:prstGeom>
          <a:noFill/>
          <a:ln/>
        </p:spPr>
        <p:txBody>
          <a:bodyPr wrap="square" lIns="0" tIns="0" rIns="0" bIns="0" rtlCol="0" anchor="t">
            <a:normAutofit/>
          </a:bodyPr>
          <a:lstStyle/>
          <a:p>
            <a:pPr marL="190500" indent="-190500">
              <a:buSzPct val="100000"/>
              <a:buChar char="•"/>
            </a:pPr>
            <a:r>
              <a:rPr lang="en-US" sz="1700" dirty="0">
                <a:solidFill>
                  <a:srgbClr val="20262E"/>
                </a:solidFill>
                <a:latin typeface="Arial" pitchFamily="34" charset="0"/>
                <a:ea typeface="Arial" pitchFamily="34" charset="-122"/>
                <a:cs typeface="Arial" pitchFamily="34" charset="-120"/>
              </a:rPr>
              <a:t>No suppression</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No weakened test</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No feature deletion</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No unverified acceptance</a:t>
            </a:r>
            <a:endParaRPr lang="en-US" sz="1700" dirty="0"/>
          </a:p>
        </p:txBody>
      </p:sp>
      <p:sp>
        <p:nvSpPr>
          <p:cNvPr id="27" name="Shape 25"/>
          <p:cNvSpPr/>
          <p:nvPr/>
        </p:nvSpPr>
        <p:spPr>
          <a:xfrm>
            <a:off x="7315200" y="3749040"/>
            <a:ext cx="3840480" cy="2057400"/>
          </a:xfrm>
          <a:prstGeom prst="roundRect">
            <a:avLst>
              <a:gd name="adj" fmla="val 3111"/>
            </a:avLst>
          </a:prstGeom>
          <a:solidFill>
            <a:srgbClr val="FFFFFF"/>
          </a:solidFill>
          <a:ln w="12700">
            <a:solidFill>
              <a:srgbClr val="D9DEE5"/>
            </a:solidFill>
            <a:prstDash val="solid"/>
          </a:ln>
        </p:spPr>
      </p:sp>
      <p:pic>
        <p:nvPicPr>
          <p:cNvPr id="28" name="Image 0" descr="C:\Users\Asus\.codex\worktrees\final-thesis-defense\financial-accounting\Document\outputs\web-app-evidence\06-research-evidence.png">    </p:cNvPr>
          <p:cNvPicPr>
            <a:picLocks noChangeAspect="1"/>
          </p:cNvPicPr>
          <p:nvPr/>
        </p:nvPicPr>
        <p:blipFill>
          <a:blip r:embed="rId1"/>
          <a:stretch>
            <a:fillRect/>
          </a:stretch>
        </p:blipFill>
        <p:spPr>
          <a:xfrm>
            <a:off x="7754112" y="3749040"/>
            <a:ext cx="2962656" cy="20574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Selected References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References, pp. 63-64</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32</a:t>
            </a:r>
            <a:endParaRPr lang="en-US" sz="1000" dirty="0"/>
          </a:p>
        </p:txBody>
      </p:sp>
      <p:sp>
        <p:nvSpPr>
          <p:cNvPr id="9" name="Text 7"/>
          <p:cNvSpPr/>
          <p:nvPr/>
        </p:nvSpPr>
        <p:spPr>
          <a:xfrm>
            <a:off x="822960" y="1325880"/>
            <a:ext cx="10469880" cy="4800600"/>
          </a:xfrm>
          <a:prstGeom prst="rect">
            <a:avLst/>
          </a:prstGeom>
          <a:noFill/>
          <a:ln/>
        </p:spPr>
        <p:txBody>
          <a:bodyPr wrap="square" lIns="0" tIns="0" rIns="0" bIns="0" rtlCol="0" anchor="t">
            <a:normAutofit/>
          </a:bodyPr>
          <a:lstStyle/>
          <a:p>
            <a:pPr marL="190500" indent="-190500">
              <a:buSzPct val="100000"/>
              <a:buChar char="•"/>
            </a:pPr>
            <a:r>
              <a:rPr lang="en-US" sz="1700" dirty="0">
                <a:solidFill>
                  <a:srgbClr val="20262E"/>
                </a:solidFill>
                <a:latin typeface="Arial" pitchFamily="34" charset="0"/>
                <a:ea typeface="Arial" pitchFamily="34" charset="-122"/>
                <a:cs typeface="Arial" pitchFamily="34" charset="-120"/>
              </a:rPr>
              <a:t>Hou et al. (2024) - LLMs for software engineering review</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Khoury et al. (2023) - Security of ChatGPT-generated code</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Sandoval et al. (2023) - Security implications of LLM assistants</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Lenarduzzi et al. (2020) - Limits of SonarQube rules</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Zhang et al. (2023) - Web API issues and expectations</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Graduate School of Engineering, Science and 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Improving Security and Performance of Financial RESTful APIs Using ChatGPT in ASP.NET Core</dc:title>
  <dc:subject>Final Thesis Defense</dc:subject>
  <dc:creator>Zaw Ye Htut Ko</dc:creator>
  <cp:lastModifiedBy>Zaw Ye Htut Ko</cp:lastModifiedBy>
  <cp:revision>1</cp:revision>
  <dcterms:created xsi:type="dcterms:W3CDTF">2026-09-19T15:18:16Z</dcterms:created>
  <dcterms:modified xsi:type="dcterms:W3CDTF">2026-09-19T15:18:16Z</dcterms:modified>
</cp:coreProperties>
</file>