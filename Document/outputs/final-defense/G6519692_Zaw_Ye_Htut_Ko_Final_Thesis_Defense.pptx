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Codex 5.4 as an advisor.</a:t>
            </a:r>
          </a:p>
          <a:p>
            <a:r>
              <a:t>SHOW IF ASKED: backup slide 27 (claim-to-evidence map)</a:t>
            </a:r>
          </a:p>
          <a:p>
            <a:r>
              <a:t>APPENDIX: Appendix M</a:t>
            </a:r>
          </a:p>
          <a:p/>
          <a:p>
            <a:r>
              <a:t>SCRIPT:</a:t>
            </a:r>
          </a:p>
          <a:p>
            <a:r>
              <a:t>Good morning. I evaluate whether ChatGPT, used through Codex 5.4, can help improve an existing financial accounting API. The model suggests changes; I review and apply selected ones; SonarQube, OWASP ZAP, and JMeter show what the measured results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results are mixed: code quality improved, security has one remaining alert, and core speed missed its target.</a:t>
            </a:r>
          </a:p>
          <a:p>
            <a:r>
              <a:t>SHOW IF ASKED: backup slides 29-31 (three measured outcomes)</a:t>
            </a:r>
          </a:p>
          <a:p>
            <a:r>
              <a:t>APPENDIX: Appendices E-G and M</a:t>
            </a:r>
          </a:p>
          <a:p/>
          <a:p>
            <a:r>
              <a:t>SCRIPT:</a:t>
            </a:r>
          </a:p>
          <a:p>
            <a:r>
              <a:t>Here is the result first. SonarQube issues fell from 17 to zero. ZAP's selected checks passed, but the API scan still had one Medium alert because the local site used HTTP. JMeter response times at 100 and 500 simulated users were above our study limits. Soak and spike improved, but they are separate tests.</a:t>
            </a:r>
          </a:p>
          <a:p/>
          <a:p>
            <a:r>
              <a:t>SOURCE: Current report Table 4.5 and Appendix M.</a:t>
            </a:r>
          </a:p>
          <a:p>
            <a:r>
              <a:t>CAUTION: Do not claim that the 50, 100, or 500 VU core p95 values improved; all three increased.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Code, security, and speed need different checks.</a:t>
            </a:r>
          </a:p>
          <a:p>
            <a:r>
              <a:t>SHOW IF ASKED: backup slides 29-31 (the three risks)</a:t>
            </a:r>
          </a:p>
          <a:p>
            <a:r>
              <a:t>APPENDIX: Appendices E-G</a:t>
            </a:r>
          </a:p>
          <a:p/>
          <a:p>
            <a:r>
              <a:t>SCRIPT:</a:t>
            </a:r>
          </a:p>
          <a:p>
            <a:r>
              <a:t>A program can have confusing code, unsafe web settings, and slow requests at the same time. One tool cannot check all three. I used SonarQube to read code, ZAP to test the running API, and JMeter to send load. I also ran tests to check that accounting behavior still worked.</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I ask one measurable question for each tool.</a:t>
            </a:r>
          </a:p>
          <a:p>
            <a:r>
              <a:t>SHOW IF ASKED: backup slides 29-31 (one answer per tool)</a:t>
            </a:r>
          </a:p>
          <a:p>
            <a:r>
              <a:t>APPENDIX: Appendix M</a:t>
            </a:r>
          </a:p>
          <a:p/>
          <a:p>
            <a:r>
              <a:t>SCRIPT:</a:t>
            </a:r>
          </a:p>
          <a:p>
            <a:r>
              <a:t>First, did the code warnings decrease, and did coverage or complexity get worse? Second, did security alerts decrease, and what remained? Third, did the API stay within the response-time limits at the three user counts? I answer each question with the tool's before-and-after result, not with an AI opinion.</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This is an applied single-case evaluation, not a new algorithm.</a:t>
            </a:r>
          </a:p>
          <a:p>
            <a:r>
              <a:t>SHOW IF ASKED: backup slides 34 and 42-44 (API behavior)</a:t>
            </a:r>
          </a:p>
          <a:p>
            <a:r>
              <a:t>APPENDIX: Appendices B-D, H, and J</a:t>
            </a:r>
          </a:p>
          <a:p/>
          <a:p>
            <a:r>
              <a:t>SCRIPT:</a:t>
            </a:r>
          </a:p>
          <a:p>
            <a:r>
              <a:t>This is applied research: I study one existing financial accounting API and ask what happens when ChatGPT helps me address measured problems. I am not inventing a new algorithm or a scoring matrix. Why ChatGPT? It is the one assistant named in my research question, and through Codex 5.4 I can give it an actual scanner finding plus repository code and ask for a candidate change. I keep that one assistant fixed so I can examine this workflow in depth; I am not comparing AI assistants or claiming ChatGPT is the best one. I review the proposed edits, while tests and the three independent tools decide the outcomes.</a:t>
            </a:r>
          </a:p>
          <a:p/>
          <a:p>
            <a:r>
              <a:t>SOURCE: Current report §§1.6 and 3.1-3.3, Table 3.3 and §3.6.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tool's change has its own branch.</a:t>
            </a:r>
          </a:p>
          <a:p>
            <a:r>
              <a:t>SHOW IF ASKED: backup slide 28 (branch details)</a:t>
            </a:r>
          </a:p>
          <a:p>
            <a:r>
              <a:t>APPENDIX: Appendix A</a:t>
            </a:r>
          </a:p>
          <a:p/>
          <a:p>
            <a:r>
              <a:t>SCRIPT:</a:t>
            </a:r>
          </a:p>
          <a:p>
            <a:r>
              <a:t>I used one saved baseline version as the starting point. I put the code-quality, security, and performance changes on separate branches. That lets me compare each changed version with the same starting code, one tool at a time. The exact technical references are available in Appendix A if the committee wants them.</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suggestion must be checked before it becomes a result.</a:t>
            </a:r>
          </a:p>
          <a:p>
            <a:r>
              <a:t>SHOW IF ASKED: backup slides 28 and 32-33 (source and tests)</a:t>
            </a:r>
          </a:p>
          <a:p>
            <a:r>
              <a:t>APPENDIX: Appendices A, E-G, I, and K</a:t>
            </a:r>
          </a:p>
          <a:p/>
          <a:p>
            <a:r>
              <a:t>SCRIPT:</a:t>
            </a:r>
          </a:p>
          <a:p>
            <a:r>
              <a:t>First I saved the baseline result. Next I gave Codex a specific tool warning and the relevant code. Then I reviewed the suggested edit, ran tests, and ran the same tool again. Finally I compared the new number with the baseline and the study rule. A patch that looks good is not automatically a success.</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120 accounts are seeded test data, not customer records.</a:t>
            </a:r>
          </a:p>
          <a:p>
            <a:r>
              <a:t>SHOW IF ASKED: next slide 9 (seed and run records)</a:t>
            </a:r>
          </a:p>
          <a:p>
            <a:r>
              <a:t>APPENDIX: Appendix H; Tables 3.10-3.11</a:t>
            </a:r>
          </a:p>
          <a:p/>
          <a:p>
            <a:r>
              <a:t>SCRIPT:</a:t>
            </a:r>
          </a:p>
          <a:p>
            <a:r>
              <a:t>The test scripts created 120 accounts and 30,000 journal entries. At least 5,000 entries were posted, so the report endpoints had data to process. This is not a screenshot of 120 individual accounts: the count is recorded in the run record. We used one local computer and one fresh run per branch, so the result is limited to this setup.</a:t>
            </a:r>
          </a:p>
          <a:p/>
          <a:p>
            <a:r>
              <a:t>SOURCE: Next slide 9; branch-verification.json dataset counts; current report Tables 3.10-3.11 and Appendix 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The seed settings and the run record agree on the dataset size.</a:t>
            </a:r>
          </a:p>
          <a:p>
            <a:r>
              <a:t>SHOW IF ASKED: backup slide 27 (evidence map)</a:t>
            </a:r>
          </a:p>
          <a:p>
            <a:r>
              <a:t>APPENDIX: Appendix H</a:t>
            </a:r>
          </a:p>
          <a:p/>
          <a:p>
            <a:r>
              <a:t>SCRIPT:</a:t>
            </a:r>
          </a:p>
          <a:p>
            <a:r>
              <a:t>I used the repository seed script to request 120 accounts, 30,000 journal entries, and at least 5,000 posted entries. The run record on the right reports those same counts. I omit the local demo credential from this excerpt. Appendix H has the fuller seed explanation.</a:t>
            </a:r>
          </a:p>
          <a:p/>
          <a:p>
            <a:r>
              <a:t>SOURCE: Appendix H; current report Tables 3.10-3.11; branch-verification.json and scripts/phase4/seed-test-data.ps1.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 has a rule, but the measured numbers still matter.</a:t>
            </a:r>
          </a:p>
          <a:p>
            <a:r>
              <a:t>SHOW IF ASKED: backup slides 29-31 (results and rules)</a:t>
            </a:r>
          </a:p>
          <a:p>
            <a:r>
              <a:t>APPENDIX: Appendices K and M</a:t>
            </a:r>
          </a:p>
          <a:p/>
          <a:p>
            <a:r>
              <a:t>SCRIPT:</a:t>
            </a:r>
          </a:p>
          <a:p>
            <a:r>
              <a:t>I named 100 simulated users the peak scenario and 500 the heavier-load scenario in the test plan. This was not a measured peak from real customers. The study set p95 targets of 500 milliseconds and 1,200 milliseconds respectively. Those numbers are study choices, not universal standards. I compare the after-fix result with each target and still report the actual time, so the committee can see more than a pass/fail label.</a:t>
            </a:r>
          </a:p>
          <a:p/>
          <a:p>
            <a:r>
              <a:t>SOURCE: Current report Table 4.1 and §4.1;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A proposal passes through my review and independent measurement.</a:t>
            </a:r>
          </a:p>
          <a:p>
            <a:r>
              <a:t>SHOW IF ASKED: slide 15; backup slides 32-33 (before/after code)</a:t>
            </a:r>
          </a:p>
          <a:p>
            <a:r>
              <a:t>APPENDIX: Appendices E-G, I, and K</a:t>
            </a:r>
          </a:p>
          <a:p/>
          <a:p>
            <a:r>
              <a:t>SCRIPT:</a:t>
            </a:r>
          </a:p>
          <a:p>
            <a:r>
              <a:t>Read this diagram from left to right. On the left, I start with a real tool finding and the source code needed to understand it. For example, SonarQube flagged eight controller parameters. In the middle, Codex proposes a change, but it does not decide whether that change is correct. I reviewed the request DTO for accounting behavior and access control before using it. On the right, I run focused tests and rerun the same tool on the changed branch. I compare that result with the saved baseline and the study target. SonarQube's unique issue count went from 17 to zero; JMeter did not meet its main speed target. The arrows represent checks, not automatic acceptance of an AI suggestion.</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three branches changed different parts of the API.</a:t>
            </a:r>
          </a:p>
          <a:p>
            <a:r>
              <a:t>SHOW IF ASKED: slide 15; backup slides 32-33 (actual changes)</a:t>
            </a:r>
          </a:p>
          <a:p>
            <a:r>
              <a:t>APPENDIX: Appendices E-G</a:t>
            </a:r>
          </a:p>
          <a:p/>
          <a:p>
            <a:r>
              <a:t>SCRIPT:</a:t>
            </a:r>
          </a:p>
          <a:p>
            <a:r>
              <a:t>For code quality, I replaced eight controller parameters with one request object. For security, I put security headers before Swagger. For performance, I added ledger caching and stopped saving a new report snapshot on that read path. These are the code changes I made; the next slides show whether the measurements improved.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100 seconds</a:t>
            </a:r>
          </a:p>
          <a:p>
            <a:r>
              <a:t>KEY MESSAGE: The zeros and the small coverage decrease have different meanings.</a:t>
            </a:r>
          </a:p>
          <a:p>
            <a:r>
              <a:t>SHOW IF ASKED: next slides 14-15 (scan and code proof)</a:t>
            </a:r>
          </a:p>
          <a:p>
            <a:r>
              <a:t>APPENDIX: Appendices E and L</a:t>
            </a:r>
          </a:p>
          <a:p/>
          <a:p>
            <a:r>
              <a:t>SCRIPT:</a:t>
            </a:r>
          </a:p>
          <a:p>
            <a:r>
              <a:t>SonarQube reported 17 unique baseline issues and zero after the changes. Why do Bugs and Vulnerabilities show zero even at baseline? In the legacy issue-type field, all 17 were classified as code smells. SonarQube's newer impact labels also marked some of those same issues as Reliability or Security concerns. Those labels overlap; they are not additional unique bugs or vulnerabilities. Duplicated-line density was 0.0 percent in both scans: the tool did not report duplicated lines at its displayed precision in this analyzed scope. It does not prove the whole codebase has no repeated logic. Coverage moved from 74.4 to 74.3 percent, a decrease of 0.1 percentage point. The saved summaries give the percentages but not the underlying covered and uncovered counts, so I cannot identify the exact cause. Cyclomatic complexity roughly counts decision paths through code; it rose from 886 to 889. I report both changes as small regressions. The Quality Gate said OK on both branches but its saved conditions list was empty, so the issue count is the clearer comparison.</a:t>
            </a:r>
          </a:p>
          <a:p/>
          <a:p>
            <a:r>
              <a:t>SOURCE: Next slides 14-15; backup slides 29 and 35-36; SonarQube quality-gate.json and summary.json; current report Table 4.2, Appendices E and L.</a:t>
            </a:r>
          </a:p>
          <a:p>
            <a:r>
              <a:t>CAUTION: The full report lists OK/OK; explain that the captured gate response has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Both dashboards say OK, but the issue count is the useful comparison.</a:t>
            </a:r>
          </a:p>
          <a:p>
            <a:r>
              <a:t>SHOW IF ASKED: next slide 15; backup slides 29 and 35-36</a:t>
            </a:r>
          </a:p>
          <a:p>
            <a:r>
              <a:t>APPENDIX: Appendix L, Figures L.1-L.4</a:t>
            </a:r>
          </a:p>
          <a:p/>
          <a:p>
            <a:r>
              <a:t>SCRIPT:</a:t>
            </a:r>
          </a:p>
          <a:p>
            <a:r>
              <a:t>If asked why both Quality Gates passed, point out that the saved gate files show OK with an empty list of conditions on each branch. That status therefore did not distinguish the scans. The baseline had 17 distinct issues; the changed branch had zero. Coverage moved from 74.4 to 74.3 percent, so I show that small decrease too. These are screenshots of the tool, not a new chart I made.</a:t>
            </a:r>
          </a:p>
          <a:p/>
          <a:p>
            <a:r>
              <a:t>SOURCE: Next slide 15; backup slides 29 and 35-36; Appendix L Figures L.1-L.4; sonar/baseline and remediation quality-gate.json.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These two code excerpts show what changed, but they do not stand for all 17 issues.</a:t>
            </a:r>
          </a:p>
          <a:p>
            <a:r>
              <a:t>SHOW IF ASKED: backup slide 32 (larger S107 example)</a:t>
            </a:r>
          </a:p>
          <a:p>
            <a:r>
              <a:t>APPENDIX: Appendix E, Listings E.1-E.2</a:t>
            </a:r>
          </a:p>
          <a:p/>
          <a:p>
            <a:r>
              <a:t>SCRIPT:</a:t>
            </a:r>
          </a:p>
          <a:p>
            <a:r>
              <a:t>Here are two representative before-and-after changes I reviewed. The S107 controller action passed eight query values separately; after the change it accepts one query object. The S6966 startup call changed from app.Run to await app.RunAsync. Appendix E shows fuller excerpts. The SonarQube issue lists on the preceding slide and in backup show the measured 17-to-zero result.</a:t>
            </a:r>
          </a:p>
          <a:p/>
          <a:p>
            <a:r>
              <a:t>SOURCE: Appendix E Listings E.1-E.2; backup slide 32 for the larger S107 example; Appendix L Figures L.2 and L.4 for the issue lists.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 seconds</a:t>
            </a:r>
          </a:p>
          <a:p>
            <a:r>
              <a:t>KEY MESSAGE: The passive scan improved, but it is only one view of security.</a:t>
            </a:r>
          </a:p>
          <a:p>
            <a:r>
              <a:t>SHOW IF ASKED: next slide 17 (fresh ZAP proof)</a:t>
            </a:r>
          </a:p>
          <a:p>
            <a:r>
              <a:t>APPENDIX: Appendices F and M</a:t>
            </a:r>
          </a:p>
          <a:p/>
          <a:p>
            <a:r>
              <a:t>SCRIPT:</a:t>
            </a:r>
          </a:p>
          <a:p>
            <a:r>
              <a:t>I am showing the passive scan before and after the changes. This scan observes normal responses and their headers; it does not sign in. In the upper screenshot, ZAP reports three Medium and six Low alert types. In the lower screenshot, both counts are zero. These are screenshots of report cards rendered from my current raw ZAP scan data. They are not a claim that the protected API is free of alerts. I will show that separate scan on the next slide.</a:t>
            </a:r>
          </a:p>
          <a:p/>
          <a:p>
            <a:r>
              <a:t>SOURCE: Next slide 17; backup slide 30; current report §4.3; Appendix F; fresh passive raw ZAP JSON and summaries.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The signed-in scan improved, but it did not clear every raw alert.</a:t>
            </a:r>
          </a:p>
          <a:p>
            <a:r>
              <a:t>SHOW IF ASKED: backup slide 30 (raw ZAP counts)</a:t>
            </a:r>
          </a:p>
          <a:p>
            <a:r>
              <a:t>APPENDIX: Appendix F</a:t>
            </a:r>
          </a:p>
          <a:p/>
          <a:p>
            <a:r>
              <a:t>SCRIPT:</a:t>
            </a:r>
          </a:p>
          <a:p>
            <a:r>
              <a:t>I am showing the signed-in API scan before and after the changes. Unlike the passive scan, this test signs in and exercises protected routes. Low alert types fell from three to zero, while Medium stayed at one. The remaining alert is called HTTP Only Site: my local scan target was served over HTTP. The selected security rules passed, but that pass result is different from saying every raw alert disappeared. I would need a working HTTPS endpoint and another scan before calling this Medium alert cleared. These screenshots were rendered from the current raw ZAP scan data; the raw counts and the alert are in Appendix F.</a:t>
            </a:r>
          </a:p>
          <a:p/>
          <a:p>
            <a:r>
              <a:t>SOURCE: Backup slide 30; current report §4.3; Appendix F and Appendix M; fresh API raw ZAP JSON, summaries, alert 10106.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User count and response-time percentile are different things.</a:t>
            </a:r>
          </a:p>
          <a:p>
            <a:r>
              <a:t>SHOW IF ASKED: backup slides 31 and 37-41 (JMeter profiles)</a:t>
            </a:r>
          </a:p>
          <a:p>
            <a:r>
              <a:t>APPENDIX: Appendices K and L</a:t>
            </a:r>
          </a:p>
          <a:p/>
          <a:p>
            <a:r>
              <a:t>SCRIPT:</a:t>
            </a:r>
          </a:p>
          <a:p>
            <a:r>
              <a:t>VU means simulated users. The 50, 100, and 500 VU tests use different user counts; 100 VU is only the planned peak scenario, not a measured customer peak. Soak keeps traffic going for a long time. Spike sends a sudden burst. p95 is a time in milliseconds: 95 percent of requests finish at or below it. Soak and spike are extra tests; they do not replace the three core user-count checks.</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code changes did not meet the core speed target; the precise cause is unknown.</a:t>
            </a:r>
          </a:p>
          <a:p>
            <a:r>
              <a:t>SHOW IF ASKED: next slides 20-21 (native 100/500 VU dashboards)</a:t>
            </a:r>
          </a:p>
          <a:p>
            <a:r>
              <a:t>APPENDIX: Appendices G, K, L, and N</a:t>
            </a:r>
          </a:p>
          <a:p/>
          <a:p>
            <a:r>
              <a:t>SCRIPT:</a:t>
            </a:r>
          </a:p>
          <a:p>
            <a:r>
              <a:t>The performance branch cached account-ledger data and stopped saving a new report snapshot on that read path. These changes were intended to reduce repeated work. JMeter measured response times, throughput, and errors. At 100 and 500 simulated users, the p95 response times were higher after the change and exceeded our study limits. CPU, memory, database-query, and cache-hit measurements were outside this study's measured scope, so I can report the slowdown but cannot identify one cause for it.</a:t>
            </a:r>
          </a:p>
          <a:p/>
          <a:p>
            <a:r>
              <a:t>SOURCE: Next slides 20-21 for native JMeter proof; backup slide 33 and Appendix G for the code; Appendix N for the measurement limits.</a:t>
            </a:r>
          </a:p>
          <a:p>
            <a:r>
              <a:t>CAUTION: Do not say caching or the host caused the slowdown; the evidence does not isolate either cause.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100 VU, the after-fix p95 exceeded the study limit.</a:t>
            </a:r>
          </a:p>
          <a:p>
            <a:r>
              <a:t>SHOW IF ASKED: backup slide 38 (larger 100 VU dashboard)</a:t>
            </a:r>
          </a:p>
          <a:p>
            <a:r>
              <a:t>APPENDIX: Appendix L, Figures L.10 and L.15</a:t>
            </a:r>
          </a:p>
          <a:p/>
          <a:p>
            <a:r>
              <a:t>SCRIPT:</a:t>
            </a:r>
          </a:p>
          <a:p>
            <a:r>
              <a:t>These are the native JMeter statistics views for 100 VU. Point to the Total row and the 95th-percentile column. It changed from 255.9 to 1146.9 milliseconds; the study limit was 500 milliseconds. The screenshots show the measured time, while the test rule supplies the not-met judgment. They do not establish why the code ran slower.</a:t>
            </a:r>
          </a:p>
          <a:p/>
          <a:p>
            <a:r>
              <a:t>SOURCE: Appendix L Figures L.10 and L.15;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500 VU, the after-fix p95 exceeded the study limit.</a:t>
            </a:r>
          </a:p>
          <a:p>
            <a:r>
              <a:t>SHOW IF ASKED: backup slide 39 (larger 500 VU dashboard)</a:t>
            </a:r>
          </a:p>
          <a:p>
            <a:r>
              <a:t>APPENDIX: Appendix L, Figures L.11 and L.16</a:t>
            </a:r>
          </a:p>
          <a:p/>
          <a:p>
            <a:r>
              <a:t>SCRIPT:</a:t>
            </a:r>
          </a:p>
          <a:p>
            <a:r>
              <a:t>These are the native JMeter statistics views for 500 VU. Point to the Total row and the 95th-percentile column. It changed from 106 to 1547.95 milliseconds; the study limit was 1,200 milliseconds. The screenshots show the measured time, while the test rule supplies the not-met judgment. They do not establish why the code ran slower.</a:t>
            </a:r>
          </a:p>
          <a:p/>
          <a:p>
            <a:r>
              <a:t>SOURCE: Appendix L Figures L.11 and L.16;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Exactly which measurements improved differs by test shape.</a:t>
            </a:r>
          </a:p>
          <a:p>
            <a:r>
              <a:t>SHOW IF ASKED: backup slides 31 and 40-41 (soak and spike)</a:t>
            </a:r>
          </a:p>
          <a:p>
            <a:r>
              <a:t>APPENDIX: Appendix L, Figures L.12-L.13 and L.17-L.18</a:t>
            </a:r>
          </a:p>
          <a:p/>
          <a:p>
            <a:r>
              <a:t>SCRIPT:</a:t>
            </a:r>
          </a:p>
          <a:p>
            <a:r>
              <a:t>Soak means repeated traffic over time; I look for performance getting worse as requests continue. Spike means many users arrive quickly; I look at the burst and whether response times recover afterward. In these runs, total p95 fell from 443.95 to 171 milliseconds for soak and from about 33.4 to 4.7 seconds for spike. These whole-run numbers are not direct proof of no soak drift or spike recovery. The core 50, 100, and 500 VU p95 results worsened, so I cannot claim overall performance success.</a:t>
            </a:r>
          </a:p>
          <a:p/>
          <a:p>
            <a:r>
              <a:t>SOURCE: Fresh JMeter baseline/remediation summary.json; current report §4.4; Appendix L Figures L.12-L.13 and L.17-L.18.</a:t>
            </a:r>
          </a:p>
          <a:p>
            <a:r>
              <a:t>CAUTION: Do not claim a fixed three-hour soak or exactly 100 total threads: the runner configures 100 core plus 30 report threads and has no fixed-duration scheduler.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One report endpoint improved in one test and slowed in another.</a:t>
            </a:r>
          </a:p>
          <a:p>
            <a:r>
              <a:t>SHOW IF ASKED: backup slides 33 and 40-41 (mixed endpoint behavior)</a:t>
            </a:r>
          </a:p>
          <a:p>
            <a:r>
              <a:t>APPENDIX: Appendix G; Table 4.4</a:t>
            </a:r>
          </a:p>
          <a:p/>
          <a:p>
            <a:r>
              <a:t>SCRIPT:</a:t>
            </a:r>
          </a:p>
          <a:p>
            <a:r>
              <a:t>The GET /reports/account-ledger endpoint got slower during the long soak test: p95 rose from about 742 to 3,826 milliseconds. During the sudden spike test it improved, from about 50.3 seconds to 12.9 seconds. This does not tell us why. It shows that I cannot claim every report request became faster under every workload.</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These are app screens, not speed-test results.</a:t>
            </a:r>
          </a:p>
          <a:p>
            <a:r>
              <a:t>SHOW IF ASKED: backup slides 42-44 (browser views)</a:t>
            </a:r>
          </a:p>
          <a:p>
            <a:r>
              <a:t>APPENDIX: Appendix J; Figures 4.2-4.7</a:t>
            </a:r>
          </a:p>
          <a:p/>
          <a:p>
            <a:r>
              <a:t>SCRIPT:</a:t>
            </a:r>
          </a:p>
          <a:p>
            <a:r>
              <a:t>The pictures show the admin dashboard and a journal entry whose debit and credit lines balance. They help demonstrate that I can use the API through the web app. They do not show how fast the API is. For performance evidence, use backup slide 31 or the JMeter dashboards on slides 37-41.</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study does not support a blanket claim that everything improved.</a:t>
            </a:r>
          </a:p>
          <a:p>
            <a:r>
              <a:t>SHOW IF ASKED: backup slides 29-31 (outcome details)</a:t>
            </a:r>
          </a:p>
          <a:p>
            <a:r>
              <a:t>APPENDIX: Appendices M and N</a:t>
            </a:r>
          </a:p>
          <a:p/>
          <a:p>
            <a:r>
              <a:t>SCRIPT:</a:t>
            </a:r>
          </a:p>
          <a:p>
            <a:r>
              <a:t>Code warnings fell from 17 to zero, although coverage fell a little and complexity rose. ZAP's selected checks passed, but the local HTTP alert stayed. JMeter missed the main 100- and 500-user speed targets even though soak and spike improved. This is one API on one computer with one fresh run per branch. We did not save CPU and memory readings for those runs, so I would repeat the tests before claiming the result applies elsewhere.</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contribution is a way to check AI suggestions, including when they do not work.</a:t>
            </a:r>
          </a:p>
          <a:p>
            <a:r>
              <a:t>SHOW IF ASKED: backup slide 27 (where every claim is checked)</a:t>
            </a:r>
          </a:p>
          <a:p>
            <a:r>
              <a:t>APPENDIX: Appendices A, M, and N</a:t>
            </a:r>
          </a:p>
          <a:p/>
          <a:p>
            <a:r>
              <a:t>SCRIPT:</a:t>
            </a:r>
          </a:p>
          <a:p>
            <a:r>
              <a:t>This was an applied case study, not a new algorithm, scoring matrix, or comparison of AI assistants. Codex helped me propose code changes. I reviewed them, and the original tools measured the results. Code warnings reached zero and selected security checks passed, but the main performance target was not met. My contribution is the traceable process and this honest mixed result, not a claim that ChatGPT always improves an API.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Start with the claim in the left column. The middle column names the raw result file; the right column names the report section. The first row confirms the 120 seeded accounts used by the tests.</a:t>
            </a:r>
          </a:p>
          <a:p/>
          <a:p>
            <a:r>
              <a:t>SOURCE: branch-verification.json dataset counts; current report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if asked for proof. Point to the relevant number or code change, then name the source shown on the slide.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Point to Total unique issues: 17 before, zero after. The gate status is OK on both, but no gate conditions were saved, so do not use that status alone to claim improvement. Coverage slipped by 0.1 percentage point.</a:t>
            </a:r>
          </a:p>
          <a:p/>
          <a:p>
            <a:r>
              <a:t>SOURCE: Current report Table 4.2; fresh SonarQube summary.json and quality-gate.json.</a:t>
            </a:r>
          </a:p>
          <a:p>
            <a:r>
              <a:t>CAUTION: * MQR impacts overlap; do not sum them as unique issues. Both saved gate files have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Point to the Auth API after-fix row: Medium is still one, while Low is zero. The Medium is HTTP Only Site because the local scan used HTTP. The configured rule gate passed, but this raw alert was not cleared; an HTTPS retest is needed.</a:t>
            </a:r>
          </a:p>
          <a:p/>
          <a:p>
            <a:r>
              <a:t>SOURCE: Current report §4.3 and fresh ZAP summary.json.</a:t>
            </a:r>
          </a:p>
          <a:p>
            <a:r>
              <a:t>CAUTION: Configured gate PASS does not mean every raw API Medium alert cleared.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Point to the 100- and 500-VU rows. Their after-fix p95 values are higher than before and exceed the study limits, so the core target was not met. Soak and spike have lower p95 after the fix, but those are separate tests.</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if asked for proof. Point to the relevant number or code change, then name the source shown on the slide.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The left side shows the security-header change. The right side shows my performance attempt: cache ledger data and avoid a report snapshot write on this read path. This proves the change was made, not that it made the API faster. For speed numbers, open backup slide 31 and dashboards 38-39.</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if asked for proof. Point to the relevant number or code change, then name the source shown on the slide.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The two current screenshots show different issue counts: 17 before and zero after. Both show Quality Gate OK, but the saved gate files contain no conditions. Do not present OK/OK as the evidence of improvement; use the issue counts and disclose that coverage fell slightly.</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Point to the issue list: the baseline has 17 distinct findings and the changed branch has zero. These are the direct issue-count views; the gate status is separate.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 VU · baseline vs remediation.</a:t>
            </a:r>
          </a:p>
          <a:p/>
          <a:p>
            <a:r>
              <a:t>SCRIPT:</a:t>
            </a:r>
          </a:p>
          <a:p>
            <a:r>
              <a:t>At 50 simulated users, total p95 rose from 33 to 199.9 milliseconds. It is slower after the code change, even though it stayed below this study's 300-millisecond limit.</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100 VU · baseline vs remediation.</a:t>
            </a:r>
          </a:p>
          <a:p/>
          <a:p>
            <a:r>
              <a:t>SCRIPT:</a:t>
            </a:r>
          </a:p>
          <a:p>
            <a:r>
              <a:t>In the Total row, find the 95th-percentile response time. At 100 VU, it rose from 255.9 to 1146.9 milliseconds. The after-fix value is above this study's 500-millisecond limit, so the core target was not met. This is a measurement, not proof of what caused the slowdown.</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500 VU · baseline vs remediation.</a:t>
            </a:r>
          </a:p>
          <a:p/>
          <a:p>
            <a:r>
              <a:t>SCRIPT:</a:t>
            </a:r>
          </a:p>
          <a:p>
            <a:r>
              <a:t>In the Total row, find the 95th-percentile response time. At 500 VU, it rose from 106 to 1547.95 milliseconds. The after-fix value is above this study's 1200-millisecond limit, so the core target was not met. This is a measurement, not proof of what caused the slowdown.</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This long steady soak test had a lower total p95 after the change: 443.95 to 171 milliseconds. That is an improvement for this test only. It does not change the unmet 100- and 500-user core targets on slide 31.</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This sudden spike test had a lower total p95 after the change: 33401.8 to 4730.85 milliseconds. That is an improvement for this test only. It does not change the unmet 100- and 500-user core targets on slide 31.</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 screens—not load-test data.</a:t>
            </a:r>
          </a:p>
          <a:p/>
          <a:p>
            <a:r>
              <a:t>SCRIPT:</a:t>
            </a:r>
          </a:p>
          <a:p>
            <a:r>
              <a:t>These pictures show that I can use the application and see its accounting screens. They do not measure speed. For JMeter response times, open backup slide 31 or dashboards 37-41.</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These pictures show that I can use the application and see its accounting screens. They do not measure speed. For JMeter response times, open backup slide 31 or dashboards 37-41.</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These pictures show that I can use the application and see its accounting screens. They do not measure speed. For JMeter response times, open backup slide 31 or dashboards 37-41.</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1.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fresh evidence is mixed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§4.5; Table 4.5; Appendix M</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13232" y="1426464"/>
            <a:ext cx="3456432"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STATIC QUALITY</a:t>
            </a:r>
          </a:p>
        </p:txBody>
      </p:sp>
      <p:sp>
        <p:nvSpPr>
          <p:cNvPr id="11" name="TextBox 10"/>
          <p:cNvSpPr txBox="1"/>
          <p:nvPr/>
        </p:nvSpPr>
        <p:spPr>
          <a:xfrm>
            <a:off x="8778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to 0</a:t>
            </a:r>
          </a:p>
        </p:txBody>
      </p:sp>
      <p:sp>
        <p:nvSpPr>
          <p:cNvPr id="12" name="TextBox 11"/>
          <p:cNvSpPr txBox="1"/>
          <p:nvPr/>
        </p:nvSpPr>
        <p:spPr>
          <a:xfrm>
            <a:off x="8778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Unique SonarQube issues</a:t>
            </a:r>
          </a:p>
        </p:txBody>
      </p:sp>
      <p:sp>
        <p:nvSpPr>
          <p:cNvPr id="13" name="Rounded Rectangle 12"/>
          <p:cNvSpPr/>
          <p:nvPr/>
        </p:nvSpPr>
        <p:spPr>
          <a:xfrm>
            <a:off x="4370832" y="1426464"/>
            <a:ext cx="3456432"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SECURITY</a:t>
            </a:r>
          </a:p>
        </p:txBody>
      </p:sp>
      <p:sp>
        <p:nvSpPr>
          <p:cNvPr id="15" name="TextBox 14"/>
          <p:cNvSpPr txBox="1"/>
          <p:nvPr/>
        </p:nvSpPr>
        <p:spPr>
          <a:xfrm>
            <a:off x="45354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Gate PASS</a:t>
            </a:r>
          </a:p>
        </p:txBody>
      </p:sp>
      <p:sp>
        <p:nvSpPr>
          <p:cNvPr id="16" name="TextBox 15"/>
          <p:cNvSpPr txBox="1"/>
          <p:nvPr/>
        </p:nvSpPr>
        <p:spPr>
          <a:xfrm>
            <a:off x="45354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One raw API Medium remains</a:t>
            </a:r>
          </a:p>
        </p:txBody>
      </p:sp>
      <p:sp>
        <p:nvSpPr>
          <p:cNvPr id="17" name="Rounded Rectangle 16"/>
          <p:cNvSpPr/>
          <p:nvPr/>
        </p:nvSpPr>
        <p:spPr>
          <a:xfrm>
            <a:off x="8028431" y="1426464"/>
            <a:ext cx="3456432" cy="1115568"/>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PERFORMANCE</a:t>
            </a:r>
          </a:p>
        </p:txBody>
      </p:sp>
      <p:sp>
        <p:nvSpPr>
          <p:cNvPr id="19" name="TextBox 18"/>
          <p:cNvSpPr txBox="1"/>
          <p:nvPr/>
        </p:nvSpPr>
        <p:spPr>
          <a:xfrm>
            <a:off x="8193023"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3373D"/>
                </a:solidFill>
                <a:latin typeface="Arial"/>
              </a:rPr>
              <a:t>Target not met</a:t>
            </a:r>
          </a:p>
        </p:txBody>
      </p:sp>
      <p:sp>
        <p:nvSpPr>
          <p:cNvPr id="20" name="TextBox 19"/>
          <p:cNvSpPr txBox="1"/>
          <p:nvPr/>
        </p:nvSpPr>
        <p:spPr>
          <a:xfrm>
            <a:off x="8193023"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100 and 500 VU exceed limits</a:t>
            </a:r>
          </a:p>
        </p:txBody>
      </p:sp>
      <p:sp>
        <p:nvSpPr>
          <p:cNvPr id="21" name="Rounded Rectangle 20"/>
          <p:cNvSpPr/>
          <p:nvPr/>
        </p:nvSpPr>
        <p:spPr>
          <a:xfrm>
            <a:off x="713232" y="2999232"/>
            <a:ext cx="10771632" cy="24140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310128"/>
            <a:ext cx="9966960" cy="329184"/>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Defensible conclusion</a:t>
            </a:r>
          </a:p>
        </p:txBody>
      </p:sp>
      <p:sp>
        <p:nvSpPr>
          <p:cNvPr id="23" name="TextBox 22"/>
          <p:cNvSpPr txBox="1"/>
          <p:nvPr/>
        </p:nvSpPr>
        <p:spPr>
          <a:xfrm>
            <a:off x="960120" y="3749039"/>
            <a:ext cx="9966960" cy="1188720"/>
          </a:xfrm>
          <a:prstGeom prst="rect">
            <a:avLst/>
          </a:prstGeom>
          <a:noFill/>
        </p:spPr>
        <p:txBody>
          <a:bodyPr wrap="square" lIns="18288" rIns="18288" tIns="18288" bIns="18288" anchor="ctr">
            <a:spAutoFit/>
          </a:bodyPr>
          <a:lstStyle/>
          <a:p>
            <a:pPr algn="l">
              <a:spcBef>
                <a:spcPts val="0"/>
              </a:spcBef>
              <a:spcAft>
                <a:spcPts val="0"/>
              </a:spcAft>
            </a:pPr>
            <a:r>
              <a:rPr sz="2300" b="0">
                <a:solidFill>
                  <a:srgbClr val="252B33"/>
                </a:solidFill>
                <a:latin typeface="Arial"/>
              </a:rPr>
              <a:t>ChatGPT-guided remediation closed the fresh static issues and passed the configured ZAP gate. It did not meet the predefined core performance target, despite lower soak and spike p95 values.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An applied case study of one existing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§§1.6 and 3.1-3.3; Table 3.3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81328"/>
            <a:ext cx="3438144" cy="359359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466C"/>
                </a:solidFill>
                <a:latin typeface="Arial"/>
              </a:rPr>
              <a:t>WHAT I STUDIED</a:t>
            </a:r>
          </a:p>
        </p:txBody>
      </p:sp>
      <p:sp>
        <p:nvSpPr>
          <p:cNvPr id="11" name="TextBox 10"/>
          <p:cNvSpPr txBox="1"/>
          <p:nvPr/>
        </p:nvSpPr>
        <p:spPr>
          <a:xfrm>
            <a:off x="932688"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466C"/>
                </a:solidFill>
                <a:latin typeface="Arial"/>
              </a:rPr>
              <a:t>Applied case study</a:t>
            </a:r>
          </a:p>
        </p:txBody>
      </p:sp>
      <p:sp>
        <p:nvSpPr>
          <p:cNvPr id="12" name="TextBox 11"/>
          <p:cNvSpPr txBox="1"/>
          <p:nvPr/>
        </p:nvSpPr>
        <p:spPr>
          <a:xfrm>
            <a:off x="932688"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One ASP.NET Core financial API with accounts, journal entries, reports, and four user roles.</a:t>
            </a:r>
          </a:p>
        </p:txBody>
      </p:sp>
      <p:sp>
        <p:nvSpPr>
          <p:cNvPr id="13" name="Rounded Rectangle 12"/>
          <p:cNvSpPr/>
          <p:nvPr/>
        </p:nvSpPr>
        <p:spPr>
          <a:xfrm>
            <a:off x="4370832" y="1481328"/>
            <a:ext cx="3438144" cy="3593592"/>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0F676D"/>
                </a:solidFill>
                <a:latin typeface="Arial"/>
              </a:rPr>
              <a:t>WHY THIS ASSISTANT</a:t>
            </a:r>
          </a:p>
        </p:txBody>
      </p:sp>
      <p:sp>
        <p:nvSpPr>
          <p:cNvPr id="15" name="TextBox 14"/>
          <p:cNvSpPr txBox="1"/>
          <p:nvPr/>
        </p:nvSpPr>
        <p:spPr>
          <a:xfrm>
            <a:off x="4572000"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Why ChatGPT?</a:t>
            </a:r>
          </a:p>
        </p:txBody>
      </p:sp>
      <p:sp>
        <p:nvSpPr>
          <p:cNvPr id="16" name="TextBox 15"/>
          <p:cNvSpPr txBox="1"/>
          <p:nvPr/>
        </p:nvSpPr>
        <p:spPr>
          <a:xfrm>
            <a:off x="4572000"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Chosen for this case because Codex 5.4 can use scanner findings and source context to propose traceable code edits.</a:t>
            </a:r>
          </a:p>
        </p:txBody>
      </p:sp>
      <p:sp>
        <p:nvSpPr>
          <p:cNvPr id="17" name="Rounded Rectangle 16"/>
          <p:cNvSpPr/>
          <p:nvPr/>
        </p:nvSpPr>
        <p:spPr>
          <a:xfrm>
            <a:off x="8010144" y="1481328"/>
            <a:ext cx="3438144" cy="3593592"/>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6F46"/>
                </a:solidFill>
                <a:latin typeface="Arial"/>
              </a:rPr>
              <a:t>HOW I JUDGED IT</a:t>
            </a:r>
          </a:p>
        </p:txBody>
      </p:sp>
      <p:sp>
        <p:nvSpPr>
          <p:cNvPr id="19" name="TextBox 18"/>
          <p:cNvSpPr txBox="1"/>
          <p:nvPr/>
        </p:nvSpPr>
        <p:spPr>
          <a:xfrm>
            <a:off x="8211312"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6F46"/>
                </a:solidFill>
                <a:latin typeface="Arial"/>
              </a:rPr>
              <a:t>Measured comparison</a:t>
            </a:r>
          </a:p>
        </p:txBody>
      </p:sp>
      <p:sp>
        <p:nvSpPr>
          <p:cNvPr id="20" name="TextBox 19"/>
          <p:cNvSpPr txBox="1"/>
          <p:nvPr/>
        </p:nvSpPr>
        <p:spPr>
          <a:xfrm>
            <a:off x="8211312"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One baseline and isolated branches; tests, SonarQube, ZAP, and JMeter judge the changes.</a:t>
            </a:r>
          </a:p>
        </p:txBody>
      </p:sp>
      <p:sp>
        <p:nvSpPr>
          <p:cNvPr id="21" name="Rounded Rectangle 20"/>
          <p:cNvSpPr/>
          <p:nvPr/>
        </p:nvSpPr>
        <p:spPr>
          <a:xfrm>
            <a:off x="768096" y="5376672"/>
            <a:ext cx="10643616" cy="68580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522976"/>
            <a:ext cx="10241280" cy="38404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Contribution: evidence-backed AI-assisted remediation—not a new algorithm, matrix, or model comparison.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Code before the changes</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each changed branch with the same starting code—one tool at a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Codex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I review, run tests, and rerun the same tool</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unmet targets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local setup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Seeded count in run record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Windows 11</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The next slide shows the seed settings and recorded counts (Appendix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the 120-account count comes from</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H; Tables 3.10-3.11; branch-verification.json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sp>
        <p:nvSpPr>
          <p:cNvPr id="9" name="Rounded Rectangle 8"/>
          <p:cNvSpPr/>
          <p:nvPr/>
        </p:nvSpPr>
        <p:spPr>
          <a:xfrm>
            <a:off x="731520"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Seed script settings</a:t>
            </a:r>
          </a:p>
        </p:txBody>
      </p:sp>
      <p:sp>
        <p:nvSpPr>
          <p:cNvPr id="12" name="TextBox 11"/>
          <p:cNvSpPr txBox="1"/>
          <p:nvPr/>
        </p:nvSpPr>
        <p:spPr>
          <a:xfrm>
            <a:off x="987552" y="2212848"/>
            <a:ext cx="4663440" cy="384048"/>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Courier New"/>
              </a:rPr>
              <a:t>scripts/phase4/seed-test-data.ps1</a:t>
            </a:r>
          </a:p>
        </p:txBody>
      </p:sp>
      <p:sp>
        <p:nvSpPr>
          <p:cNvPr id="13" name="TextBox 12"/>
          <p:cNvSpPr txBox="1"/>
          <p:nvPr/>
        </p:nvSpPr>
        <p:spPr>
          <a:xfrm>
            <a:off x="987552" y="2788920"/>
            <a:ext cx="4645152" cy="1947672"/>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AccountCount = 120
JournalEntryCount = 30000
MinimumPostedEntries = 5000</a:t>
            </a:r>
          </a:p>
        </p:txBody>
      </p:sp>
      <p:sp>
        <p:nvSpPr>
          <p:cNvPr id="14" name="TextBox 13"/>
          <p:cNvSpPr txBox="1"/>
          <p:nvPr/>
        </p:nvSpPr>
        <p:spPr>
          <a:xfrm>
            <a:off x="6510528"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Recorded in the run</a:t>
            </a:r>
          </a:p>
        </p:txBody>
      </p:sp>
      <p:sp>
        <p:nvSpPr>
          <p:cNvPr id="15" name="TextBox 14"/>
          <p:cNvSpPr txBox="1"/>
          <p:nvPr/>
        </p:nvSpPr>
        <p:spPr>
          <a:xfrm>
            <a:off x="6510528" y="2212848"/>
            <a:ext cx="4663440" cy="640080"/>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Courier New"/>
              </a:rPr>
              <a:t>docs/appendix/verification-runs/research/branch-verification.json</a:t>
            </a:r>
          </a:p>
        </p:txBody>
      </p:sp>
      <p:sp>
        <p:nvSpPr>
          <p:cNvPr id="16" name="TextBox 15"/>
          <p:cNvSpPr txBox="1"/>
          <p:nvPr/>
        </p:nvSpPr>
        <p:spPr>
          <a:xfrm>
            <a:off x="6510528" y="2880360"/>
            <a:ext cx="4645152" cy="1856231"/>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accounts: 120
journalEntries: 30,000
postedEntries: 5,000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Outcomes were judged by tool-specific measures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Control metric</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Compare unique issues; show gate status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Residual HTTP-only observation disclosed</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50/100/500 VU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≤500 ms; 500 VU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138928"/>
            <a:ext cx="10716768" cy="87782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266944"/>
            <a:ext cx="10222992" cy="640080"/>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Study scenarios: 100 VU = planned peak; 500 VU = heavier load. These are not measured production traffic.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From a tool warning to a measured result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sp>
        <p:nvSpPr>
          <p:cNvPr id="9" name="Rounded Rectangle 8"/>
          <p:cNvSpPr/>
          <p:nvPr/>
        </p:nvSpPr>
        <p:spPr>
          <a:xfrm>
            <a:off x="731520" y="1591056"/>
            <a:ext cx="3429000" cy="287121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0F676D"/>
                </a:solidFill>
                <a:latin typeface="Arial"/>
              </a:rPr>
              <a:t>01  INPUT</a:t>
            </a:r>
          </a:p>
        </p:txBody>
      </p:sp>
      <p:sp>
        <p:nvSpPr>
          <p:cNvPr id="11" name="TextBox 10"/>
          <p:cNvSpPr txBox="1"/>
          <p:nvPr/>
        </p:nvSpPr>
        <p:spPr>
          <a:xfrm>
            <a:off x="914400"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Start with evidence</a:t>
            </a:r>
          </a:p>
        </p:txBody>
      </p:sp>
      <p:sp>
        <p:nvSpPr>
          <p:cNvPr id="12" name="TextBox 11"/>
          <p:cNvSpPr txBox="1"/>
          <p:nvPr/>
        </p:nvSpPr>
        <p:spPr>
          <a:xfrm>
            <a:off x="914400"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Tool finding + relevant code</a:t>
            </a:r>
          </a:p>
        </p:txBody>
      </p:sp>
      <p:sp>
        <p:nvSpPr>
          <p:cNvPr id="13" name="TextBox 12"/>
          <p:cNvSpPr txBox="1"/>
          <p:nvPr/>
        </p:nvSpPr>
        <p:spPr>
          <a:xfrm>
            <a:off x="914400"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Example: SonarQube flags eight controller parameters.</a:t>
            </a:r>
          </a:p>
        </p:txBody>
      </p:sp>
      <p:sp>
        <p:nvSpPr>
          <p:cNvPr id="14" name="Rounded Rectangle 13"/>
          <p:cNvSpPr/>
          <p:nvPr/>
        </p:nvSpPr>
        <p:spPr>
          <a:xfrm>
            <a:off x="4379976" y="1591056"/>
            <a:ext cx="3429000" cy="2871216"/>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466C"/>
                </a:solidFill>
                <a:latin typeface="Arial"/>
              </a:rPr>
              <a:t>02  HUMAN DECISION</a:t>
            </a:r>
          </a:p>
        </p:txBody>
      </p:sp>
      <p:sp>
        <p:nvSpPr>
          <p:cNvPr id="16" name="TextBox 15"/>
          <p:cNvSpPr txBox="1"/>
          <p:nvPr/>
        </p:nvSpPr>
        <p:spPr>
          <a:xfrm>
            <a:off x="4562856"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24466C"/>
                </a:solidFill>
                <a:latin typeface="Arial"/>
              </a:rPr>
              <a:t>Review the proposed fix</a:t>
            </a:r>
          </a:p>
        </p:txBody>
      </p:sp>
      <p:sp>
        <p:nvSpPr>
          <p:cNvPr id="17" name="TextBox 16"/>
          <p:cNvSpPr txBox="1"/>
          <p:nvPr/>
        </p:nvSpPr>
        <p:spPr>
          <a:xfrm>
            <a:off x="4562856"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Codex suggests; I decide.</a:t>
            </a:r>
          </a:p>
        </p:txBody>
      </p:sp>
      <p:sp>
        <p:nvSpPr>
          <p:cNvPr id="18" name="TextBox 17"/>
          <p:cNvSpPr txBox="1"/>
          <p:nvPr/>
        </p:nvSpPr>
        <p:spPr>
          <a:xfrm>
            <a:off x="4562856"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I check correctness, accounting behavior, and access control.</a:t>
            </a:r>
          </a:p>
        </p:txBody>
      </p:sp>
      <p:sp>
        <p:nvSpPr>
          <p:cNvPr id="19" name="Rounded Rectangle 18"/>
          <p:cNvSpPr/>
          <p:nvPr/>
        </p:nvSpPr>
        <p:spPr>
          <a:xfrm>
            <a:off x="8028431" y="1591056"/>
            <a:ext cx="3429000" cy="287121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1"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6F46"/>
                </a:solidFill>
                <a:latin typeface="Arial"/>
              </a:rPr>
              <a:t>03  INDEPENDENT CHECK</a:t>
            </a:r>
          </a:p>
        </p:txBody>
      </p:sp>
      <p:sp>
        <p:nvSpPr>
          <p:cNvPr id="21" name="TextBox 20"/>
          <p:cNvSpPr txBox="1"/>
          <p:nvPr/>
        </p:nvSpPr>
        <p:spPr>
          <a:xfrm>
            <a:off x="8211311"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246F46"/>
                </a:solidFill>
                <a:latin typeface="Arial"/>
              </a:rPr>
              <a:t>Verify the outcome</a:t>
            </a:r>
          </a:p>
        </p:txBody>
      </p:sp>
      <p:sp>
        <p:nvSpPr>
          <p:cNvPr id="22" name="TextBox 21"/>
          <p:cNvSpPr txBox="1"/>
          <p:nvPr/>
        </p:nvSpPr>
        <p:spPr>
          <a:xfrm>
            <a:off x="8211311"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Run tests; rerun the same tool.</a:t>
            </a:r>
          </a:p>
        </p:txBody>
      </p:sp>
      <p:sp>
        <p:nvSpPr>
          <p:cNvPr id="23" name="TextBox 22"/>
          <p:cNvSpPr txBox="1"/>
          <p:nvPr/>
        </p:nvSpPr>
        <p:spPr>
          <a:xfrm>
            <a:off x="8211311"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Compare with the saved baseline and the study target.</a:t>
            </a:r>
          </a:p>
        </p:txBody>
      </p:sp>
      <p:sp>
        <p:nvSpPr>
          <p:cNvPr id="24" name="TextBox 23"/>
          <p:cNvSpPr txBox="1"/>
          <p:nvPr/>
        </p:nvSpPr>
        <p:spPr>
          <a:xfrm>
            <a:off x="4169663" y="2788920"/>
            <a:ext cx="201168" cy="384048"/>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5B6874"/>
                </a:solidFill>
                <a:latin typeface="Arial"/>
              </a:rPr>
              <a:t>→</a:t>
            </a:r>
          </a:p>
        </p:txBody>
      </p:sp>
      <p:sp>
        <p:nvSpPr>
          <p:cNvPr id="25" name="TextBox 24"/>
          <p:cNvSpPr txBox="1"/>
          <p:nvPr/>
        </p:nvSpPr>
        <p:spPr>
          <a:xfrm>
            <a:off x="7818120" y="2788920"/>
            <a:ext cx="201168" cy="384048"/>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5B6874"/>
                </a:solidFill>
                <a:latin typeface="Arial"/>
              </a:rPr>
              <a:t>→</a:t>
            </a:r>
          </a:p>
        </p:txBody>
      </p:sp>
      <p:sp>
        <p:nvSpPr>
          <p:cNvPr id="26" name="Rounded Rectangle 25"/>
          <p:cNvSpPr/>
          <p:nvPr/>
        </p:nvSpPr>
        <p:spPr>
          <a:xfrm>
            <a:off x="768096" y="4718304"/>
            <a:ext cx="10643616" cy="62179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846320"/>
            <a:ext cx="10131552"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Concrete result: request DTO adopted; SonarQube unique issues 17 → 0.</a:t>
            </a:r>
          </a:p>
        </p:txBody>
      </p:sp>
      <p:sp>
        <p:nvSpPr>
          <p:cNvPr id="28" name="Rounded Rectangle 27"/>
          <p:cNvSpPr/>
          <p:nvPr/>
        </p:nvSpPr>
        <p:spPr>
          <a:xfrm>
            <a:off x="768096" y="5495544"/>
            <a:ext cx="10643616" cy="612648"/>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5623560"/>
            <a:ext cx="10131552" cy="33832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An AI proposal is not proof: the JMeter branch did not meet its main speed target.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branches changed different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12</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Cache ledger data; avoid repeated report snapshot writes</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Reduce repeated report and database work</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closed all 17 fresh issues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Rounded Rectangle 8"/>
          <p:cNvSpPr/>
          <p:nvPr/>
        </p:nvSpPr>
        <p:spPr>
          <a:xfrm>
            <a:off x="731520"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UNIQUE ISSUES</a:t>
            </a:r>
          </a:p>
        </p:txBody>
      </p:sp>
      <p:sp>
        <p:nvSpPr>
          <p:cNvPr id="11" name="TextBox 10"/>
          <p:cNvSpPr txBox="1"/>
          <p:nvPr/>
        </p:nvSpPr>
        <p:spPr>
          <a:xfrm>
            <a:off x="896112"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 0</a:t>
            </a:r>
          </a:p>
        </p:txBody>
      </p:sp>
      <p:sp>
        <p:nvSpPr>
          <p:cNvPr id="12" name="TextBox 11"/>
          <p:cNvSpPr txBox="1"/>
          <p:nvPr/>
        </p:nvSpPr>
        <p:spPr>
          <a:xfrm>
            <a:off x="896112"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Current run</a:t>
            </a:r>
          </a:p>
        </p:txBody>
      </p:sp>
      <p:sp>
        <p:nvSpPr>
          <p:cNvPr id="13" name="Rounded Rectangle 12"/>
          <p:cNvSpPr/>
          <p:nvPr/>
        </p:nvSpPr>
        <p:spPr>
          <a:xfrm>
            <a:off x="4370832"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QUALITY GATE</a:t>
            </a:r>
          </a:p>
        </p:txBody>
      </p:sp>
      <p:sp>
        <p:nvSpPr>
          <p:cNvPr id="15" name="TextBox 14"/>
          <p:cNvSpPr txBox="1"/>
          <p:nvPr/>
        </p:nvSpPr>
        <p:spPr>
          <a:xfrm>
            <a:off x="4535424"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OK → OK</a:t>
            </a:r>
          </a:p>
        </p:txBody>
      </p:sp>
      <p:sp>
        <p:nvSpPr>
          <p:cNvPr id="16" name="TextBox 15"/>
          <p:cNvSpPr txBox="1"/>
          <p:nvPr/>
        </p:nvSpPr>
        <p:spPr>
          <a:xfrm>
            <a:off x="4535424"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No gate conditions recorded</a:t>
            </a:r>
          </a:p>
        </p:txBody>
      </p:sp>
      <p:sp>
        <p:nvSpPr>
          <p:cNvPr id="17" name="Rounded Rectangle 16"/>
          <p:cNvSpPr/>
          <p:nvPr/>
        </p:nvSpPr>
        <p:spPr>
          <a:xfrm>
            <a:off x="8010144" y="1371600"/>
            <a:ext cx="343814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COVERAGE</a:t>
            </a:r>
          </a:p>
        </p:txBody>
      </p:sp>
      <p:sp>
        <p:nvSpPr>
          <p:cNvPr id="19" name="TextBox 18"/>
          <p:cNvSpPr txBox="1"/>
          <p:nvPr/>
        </p:nvSpPr>
        <p:spPr>
          <a:xfrm>
            <a:off x="8174736"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74.4 → 74.3%</a:t>
            </a:r>
          </a:p>
        </p:txBody>
      </p:sp>
      <p:sp>
        <p:nvSpPr>
          <p:cNvPr id="20" name="TextBox 19"/>
          <p:cNvSpPr txBox="1"/>
          <p:nvPr/>
        </p:nvSpPr>
        <p:spPr>
          <a:xfrm>
            <a:off x="8174736"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Down 0.1 percentage point</a:t>
            </a:r>
          </a:p>
        </p:txBody>
      </p:sp>
      <p:sp>
        <p:nvSpPr>
          <p:cNvPr id="21" name="Rounded Rectangle 20"/>
          <p:cNvSpPr/>
          <p:nvPr/>
        </p:nvSpPr>
        <p:spPr>
          <a:xfrm>
            <a:off x="731520" y="2852928"/>
            <a:ext cx="3438144" cy="245973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3063240"/>
            <a:ext cx="3054096" cy="630936"/>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Bugs 0 · Vulnerabilities 0</a:t>
            </a:r>
          </a:p>
        </p:txBody>
      </p:sp>
      <p:sp>
        <p:nvSpPr>
          <p:cNvPr id="23" name="TextBox 22"/>
          <p:cNvSpPr txBox="1"/>
          <p:nvPr/>
        </p:nvSpPr>
        <p:spPr>
          <a:xfrm>
            <a:off x="914400" y="3794760"/>
            <a:ext cx="3054096" cy="1271016"/>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All 17 baseline issues were legacy Code Smells. Newer impact labels can still mention Reliability or Security.</a:t>
            </a:r>
          </a:p>
        </p:txBody>
      </p:sp>
      <p:sp>
        <p:nvSpPr>
          <p:cNvPr id="24" name="Rounded Rectangle 23"/>
          <p:cNvSpPr/>
          <p:nvPr/>
        </p:nvSpPr>
        <p:spPr>
          <a:xfrm>
            <a:off x="4370832" y="2852928"/>
            <a:ext cx="3438144" cy="245973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53712" y="3063240"/>
            <a:ext cx="3054096" cy="630936"/>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Duplicated-line density 0.0%</a:t>
            </a:r>
          </a:p>
        </p:txBody>
      </p:sp>
      <p:sp>
        <p:nvSpPr>
          <p:cNvPr id="26" name="TextBox 25"/>
          <p:cNvSpPr txBox="1"/>
          <p:nvPr/>
        </p:nvSpPr>
        <p:spPr>
          <a:xfrm>
            <a:off x="4553712" y="3794760"/>
            <a:ext cx="3054096" cy="1271016"/>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SonarQube reported 0.0% for the analyzed code; that is not proof of no repeated code.</a:t>
            </a:r>
          </a:p>
        </p:txBody>
      </p:sp>
      <p:sp>
        <p:nvSpPr>
          <p:cNvPr id="27" name="Rounded Rectangle 26"/>
          <p:cNvSpPr/>
          <p:nvPr/>
        </p:nvSpPr>
        <p:spPr>
          <a:xfrm>
            <a:off x="8010144" y="2852928"/>
            <a:ext cx="3438144" cy="245973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93023" y="3063240"/>
            <a:ext cx="3054096" cy="630936"/>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Coverage: 0.1 percentage point down</a:t>
            </a:r>
          </a:p>
        </p:txBody>
      </p:sp>
      <p:sp>
        <p:nvSpPr>
          <p:cNvPr id="29" name="TextBox 28"/>
          <p:cNvSpPr txBox="1"/>
          <p:nvPr/>
        </p:nvSpPr>
        <p:spPr>
          <a:xfrm>
            <a:off x="8193023" y="3794760"/>
            <a:ext cx="3054096" cy="1271016"/>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74.4% → 74.3%. This is a small measured decrease; saved summaries do not explain its exact cause.</a:t>
            </a:r>
          </a:p>
        </p:txBody>
      </p:sp>
      <p:sp>
        <p:nvSpPr>
          <p:cNvPr id="30" name="TextBox 29"/>
          <p:cNvSpPr txBox="1"/>
          <p:nvPr/>
        </p:nvSpPr>
        <p:spPr>
          <a:xfrm>
            <a:off x="786384" y="5632704"/>
            <a:ext cx="10616184" cy="411480"/>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Impact labels overlap (Reliability 2, Security 1, Maintainability 16); complexity rose 886 → 889.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changed; gate status did not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14</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13248"/>
            <a:ext cx="10643616" cy="685800"/>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495544"/>
            <a:ext cx="10232136" cy="502920"/>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Gate OK/OK has no recorded conditions; the measured improvement is 17 issues → 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Two SonarQube fixes in source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E, Listings E.1-E.2</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15</a:t>
            </a:r>
          </a:p>
        </p:txBody>
      </p:sp>
      <p:sp>
        <p:nvSpPr>
          <p:cNvPr id="9" name="Rounded Rectangle 8"/>
          <p:cNvSpPr/>
          <p:nvPr/>
        </p:nvSpPr>
        <p:spPr>
          <a:xfrm>
            <a:off x="731520"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3373D"/>
                </a:solidFill>
                <a:latin typeface="Arial"/>
              </a:rPr>
              <a:t>BEFORE · shared baseline</a:t>
            </a:r>
          </a:p>
        </p:txBody>
      </p:sp>
      <p:sp>
        <p:nvSpPr>
          <p:cNvPr id="12" name="TextBox 11"/>
          <p:cNvSpPr txBox="1"/>
          <p:nvPr/>
        </p:nvSpPr>
        <p:spPr>
          <a:xfrm>
            <a:off x="6464808"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6F46"/>
                </a:solidFill>
                <a:latin typeface="Arial"/>
              </a:rPr>
              <a:t>AFTER · SonarQube branch</a:t>
            </a:r>
          </a:p>
        </p:txBody>
      </p:sp>
      <p:sp>
        <p:nvSpPr>
          <p:cNvPr id="13" name="TextBox 12"/>
          <p:cNvSpPr txBox="1"/>
          <p:nvPr/>
        </p:nvSpPr>
        <p:spPr>
          <a:xfrm>
            <a:off x="960120"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eight query inputs</a:t>
            </a:r>
          </a:p>
        </p:txBody>
      </p:sp>
      <p:sp>
        <p:nvSpPr>
          <p:cNvPr id="14" name="TextBox 13"/>
          <p:cNvSpPr txBox="1"/>
          <p:nvPr/>
        </p:nvSpPr>
        <p:spPr>
          <a:xfrm>
            <a:off x="6464808"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one query DTO</a:t>
            </a:r>
          </a:p>
        </p:txBody>
      </p:sp>
      <p:sp>
        <p:nvSpPr>
          <p:cNvPr id="15" name="TextBox 14"/>
          <p:cNvSpPr txBox="1"/>
          <p:nvPr/>
        </p:nvSpPr>
        <p:spPr>
          <a:xfrm>
            <a:off x="960120"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from, to, status, accountId,
  search, page, pageSize, sort
)</a:t>
            </a:r>
          </a:p>
        </p:txBody>
      </p:sp>
      <p:sp>
        <p:nvSpPr>
          <p:cNvPr id="16" name="TextBox 15"/>
          <p:cNvSpPr txBox="1"/>
          <p:nvPr/>
        </p:nvSpPr>
        <p:spPr>
          <a:xfrm>
            <a:off x="6464808"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JournalEntryQueryDto query
)</a:t>
            </a:r>
          </a:p>
        </p:txBody>
      </p:sp>
      <p:sp>
        <p:nvSpPr>
          <p:cNvPr id="17" name="TextBox 16"/>
          <p:cNvSpPr txBox="1"/>
          <p:nvPr/>
        </p:nvSpPr>
        <p:spPr>
          <a:xfrm>
            <a:off x="960120"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host startup</a:t>
            </a:r>
          </a:p>
        </p:txBody>
      </p:sp>
      <p:sp>
        <p:nvSpPr>
          <p:cNvPr id="18" name="TextBox 17"/>
          <p:cNvSpPr txBox="1"/>
          <p:nvPr/>
        </p:nvSpPr>
        <p:spPr>
          <a:xfrm>
            <a:off x="6464808"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async host startup</a:t>
            </a:r>
          </a:p>
        </p:txBody>
      </p:sp>
      <p:sp>
        <p:nvSpPr>
          <p:cNvPr id="19" name="TextBox 18"/>
          <p:cNvSpPr txBox="1"/>
          <p:nvPr/>
        </p:nvSpPr>
        <p:spPr>
          <a:xfrm>
            <a:off x="960120"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app.Run();</a:t>
            </a:r>
          </a:p>
        </p:txBody>
      </p:sp>
      <p:sp>
        <p:nvSpPr>
          <p:cNvPr id="20" name="TextBox 19"/>
          <p:cNvSpPr txBox="1"/>
          <p:nvPr/>
        </p:nvSpPr>
        <p:spPr>
          <a:xfrm>
            <a:off x="6464808"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await app.RunAsync();</a:t>
            </a:r>
          </a:p>
        </p:txBody>
      </p:sp>
      <p:sp>
        <p:nvSpPr>
          <p:cNvPr id="21" name="TextBox 20"/>
          <p:cNvSpPr txBox="1"/>
          <p:nvPr/>
        </p:nvSpPr>
        <p:spPr>
          <a:xfrm>
            <a:off x="768096" y="5925312"/>
            <a:ext cx="10698480" cy="347472"/>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246F46"/>
                </a:solidFill>
                <a:latin typeface="Arial"/>
              </a:rPr>
              <a:t>These are representative changes, not all 17 issue fixes; the full excerpts are in Appendix 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passive alerts cleared;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16</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PASSIVE SCAN · BASELINE</a:t>
            </a:r>
          </a:p>
        </p:txBody>
      </p:sp>
      <p:pic>
        <p:nvPicPr>
          <p:cNvPr id="10" name="Picture 9" descr="zap-fresh-passive-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PASSIVE SCAN · AFTER FIXES</a:t>
            </a:r>
          </a:p>
        </p:txBody>
      </p:sp>
      <p:pic>
        <p:nvPicPr>
          <p:cNvPr id="13" name="Picture 12" descr="zap-fresh-passive-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6F46"/>
                </a:solidFill>
                <a:latin typeface="Arial"/>
              </a:rPr>
              <a:t>Medium 3 → 0    |    Low 6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This scan observes ordinary responses and headers. The signed-in API scan follows on slide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Signed-in API scan: Low cleared; one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and alert 10106;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AUTHENTICATED API SCAN · BASELINE</a:t>
            </a:r>
          </a:p>
        </p:txBody>
      </p:sp>
      <p:pic>
        <p:nvPicPr>
          <p:cNvPr id="10" name="Picture 9" descr="zap-fresh-api-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AUTHENTICATED API SCAN · AFTER FIXES</a:t>
            </a:r>
          </a:p>
        </p:txBody>
      </p:sp>
      <p:pic>
        <p:nvPicPr>
          <p:cNvPr id="13" name="Picture 12" descr="zap-fresh-api-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BE7414"/>
                </a:solidFill>
                <a:latin typeface="Arial"/>
              </a:rPr>
              <a:t>Medium 1 → 1    |    Low 3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Remaining Medium: HTTP Only Site. Configured rules passed; HTTPS needs a separate retest.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tested three user counts, plus soak and spike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18</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 VU</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scenario</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100 VU</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Planned peak scenario</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500 VU</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Heavier-load scenario</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steady</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test</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Sudden-load test</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VU means simulated users; p95 is the time within which 95% of requests finish.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Core performance target was not met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19</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NOT MET: 100 VU 1,146.9 &gt; 500 ms; 500 VU 1,547.95 &gt; 1,200 ms</a:t>
            </a:r>
          </a:p>
        </p:txBody>
      </p:sp>
      <p:sp>
        <p:nvSpPr>
          <p:cNvPr id="12" name="TextBox 11"/>
          <p:cNvSpPr txBox="1"/>
          <p:nvPr/>
        </p:nvSpPr>
        <p:spPr>
          <a:xfrm>
            <a:off x="950976" y="5833872"/>
            <a:ext cx="10195560" cy="466344"/>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Fixes: cache ledger data; avoid report snapshot writes. Exact cause of slowdown not isolated.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20</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1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255.9 → 1146.9 ms; study limit 500 ms — target not met.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21</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5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106 → 1547.95 ms; study limit 1,200 ms — target not met.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Soak/spike p95 fell; core p95 rose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22</a:t>
            </a:r>
          </a:p>
        </p:txBody>
      </p:sp>
      <p:sp>
        <p:nvSpPr>
          <p:cNvPr id="9" name="Rounded Rectangle 8"/>
          <p:cNvSpPr/>
          <p:nvPr/>
        </p:nvSpPr>
        <p:spPr>
          <a:xfrm>
            <a:off x="731520"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246F46"/>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TextBox 12"/>
          <p:cNvSpPr txBox="1"/>
          <p:nvPr/>
        </p:nvSpPr>
        <p:spPr>
          <a:xfrm>
            <a:off x="1005840"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lower; average time and throughput worse</a:t>
            </a:r>
          </a:p>
        </p:txBody>
      </p:sp>
      <p:sp>
        <p:nvSpPr>
          <p:cNvPr id="14" name="Rounded Rectangle 13"/>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6" name="TextBox 15"/>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7" name="TextBox 16"/>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8" name="TextBox 17"/>
          <p:cNvSpPr txBox="1"/>
          <p:nvPr/>
        </p:nvSpPr>
        <p:spPr>
          <a:xfrm>
            <a:off x="6528816"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and average time lower; throughput higher</a:t>
            </a:r>
          </a:p>
        </p:txBody>
      </p:sp>
      <p:sp>
        <p:nvSpPr>
          <p:cNvPr id="19" name="TextBox 18"/>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3373D"/>
                </a:solidFill>
                <a:latin typeface="Arial"/>
              </a:rPr>
              <a:t>Core 50, 100, and 500 VU p95 all worsened; these separate gains do not reverse that result.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GET /reports/account-ledger behaved differently</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23</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same endpoint behaved differently under two workloads. These results do not identify one cause.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24</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results are different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25</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and 500 VU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Soak/spike p95</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Improved separately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Tail p95 fell; other measures were mixed</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Limits: one API · one host · one run per branch · CPU/RAM and service tiers not controlled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contribution is the traceable check-and-fix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26</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primary JMeter target was not met despite lower soak and spike p95.</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fresh run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27</a:t>
            </a:r>
          </a:p>
        </p:txBody>
      </p:sp>
      <p:graphicFrame>
        <p:nvGraphicFramePr>
          <p:cNvPr id="9" name="Table 8"/>
          <p:cNvGraphicFramePr>
            <a:graphicFrameLocks noGrp="1"/>
          </p:cNvGraphicFramePr>
          <p:nvPr/>
        </p:nvGraphicFramePr>
        <p:xfrm>
          <a:off x="731520" y="1389888"/>
          <a:ext cx="10716766" cy="4187952"/>
        </p:xfrm>
        <a:graphic>
          <a:graphicData uri="http://schemas.openxmlformats.org/drawingml/2006/table">
            <a:tbl>
              <a:tblPr firstRow="1" bandRow="1">
                <a:tableStyleId>{5C22544A-7EE6-4342-B048-85BDC9FD1C3A}</a:tableStyleId>
              </a:tblPr>
              <a:tblGrid>
                <a:gridCol w="2464856"/>
                <a:gridCol w="3215030"/>
                <a:gridCol w="5036880"/>
              </a:tblGrid>
              <a:tr h="697992">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697992">
                <a:tc>
                  <a:txBody>
                    <a:bodyPr/>
                    <a:lstStyle/>
                    <a:p>
                      <a:pPr algn="l">
                        <a:spcAft>
                          <a:spcPts val="0"/>
                        </a:spcAft>
                      </a:pPr>
                      <a:r>
                        <a:rPr sz="1600" b="0">
                          <a:solidFill>
                            <a:srgbClr val="252B33"/>
                          </a:solidFill>
                          <a:latin typeface="Arial"/>
                        </a:rPr>
                        <a:t>Dataset: 120 accounts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branch-verification.json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Tables 3.10-3.11 · Appendix H</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Static issues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ZAP raw/gate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§4.3 · Appendices F and M</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JMeter p95/gate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Working API</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28</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739140">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739140">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Reproduction</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codex/thesis-reproducibility-v1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efa19cea</a:t>
                      </a:r>
                    </a:p>
                  </a:txBody>
                  <a:tcPr marL="109728" marR="91440" marT="36576" marB="36576">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29</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OK/OK; no conditions saved</a:t>
                      </a:r>
                    </a:p>
                  </a:txBody>
                  <a:tcPr marL="109728" marR="91440" marT="36576" marB="36576">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30</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31</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(100 VU and 500 VU thresholds).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32</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33</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Cache account-ledger data
+ stop report snapshot writes on this read path
The core speed target was not met.</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This shows what changed in code; slide 31 shows the measured performance result.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34</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35</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17 issues → 0; gate OK/OK (no conditions recorded); coverage 74.4% → 74.3%.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36</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TARGET NOT MET.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TARGET NOT MET.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40</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SOAK p95 LOWER.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SPIKE p95 LOWER.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 screens—not load-test data</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42</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43</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44</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Codex 5.4,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