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r>
              <a:t>SHOW IF ASKED: backup slide 27 (claim-to-evidence map)</a:t>
            </a:r>
          </a:p>
          <a:p>
            <a:r>
              <a:t>APPENDIX: Appendix M</a:t>
            </a:r>
          </a:p>
          <a:p/>
          <a:p>
            <a:r>
              <a:t>SCRIPT:</a:t>
            </a:r>
          </a:p>
          <a:p>
            <a:r>
              <a:t>Good morning. I evaluate whether ChatGPT, used through Codex 5.4, can help improve an existing financial accounting API. The model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results are mixed: code quality improved, security has one remaining alert, and core speed missed its target.</a:t>
            </a:r>
          </a:p>
          <a:p>
            <a:r>
              <a:t>SHOW IF ASKED: backup slides 29-31 (three measured outcomes)</a:t>
            </a:r>
          </a:p>
          <a:p>
            <a:r>
              <a:t>APPENDIX: Appendices E-G and M</a:t>
            </a:r>
          </a:p>
          <a:p/>
          <a:p>
            <a:r>
              <a:t>SCRIPT:</a:t>
            </a:r>
          </a:p>
          <a:p>
            <a:r>
              <a:t>Here is the result first. SonarQube issues fell from 17 to zero. ZAP's selected checks passed, but the API scan still had one Medium alert because the local site used HTTP. JMeter response times at 100 and 500 simulated users were above our study limits. Soak and spike improved, but they are separate tests.</a:t>
            </a:r>
          </a:p>
          <a:p/>
          <a:p>
            <a:r>
              <a:t>SOURCE: Current report Table 4.5 and Appendix M.</a:t>
            </a:r>
          </a:p>
          <a:p>
            <a:r>
              <a:t>CAUTION: Do not claim that the 50, 100, or 500 VU core p95 values improved; all three increased.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29-31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29-31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All comparisons use the same accounting API.</a:t>
            </a:r>
          </a:p>
          <a:p>
            <a:r>
              <a:t>SHOW IF ASKED: backup slides 34 and 42-44 (API behavior)</a:t>
            </a:r>
          </a:p>
          <a:p>
            <a:r>
              <a:t>APPENDIX: Appendices B-D, H, and J</a:t>
            </a:r>
          </a:p>
          <a:p/>
          <a:p>
            <a:r>
              <a:t>SCRIPT:</a:t>
            </a:r>
          </a:p>
          <a:p>
            <a:r>
              <a:t>This API has login, four user roles, accounts, journal entries, reports, and an audit log. It uses a local SQL Server database. I compared a baseline with changed versions of this same API. The web screenshots later show that the app can be used; those screenshots are not JMeter performance measurements.</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28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28 and 32-33 (source and tests)</a:t>
            </a:r>
          </a:p>
          <a:p>
            <a:r>
              <a:t>APPENDIX: Appendices A, E-G, I, and K</a:t>
            </a:r>
          </a:p>
          <a:p/>
          <a:p>
            <a:r>
              <a:t>SCRIPT:</a:t>
            </a:r>
          </a:p>
          <a:p>
            <a:r>
              <a:t>First I saved the baseline result. Next I gave Codex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27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29-31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Codex suggested changes; I checked and measured them.</a:t>
            </a:r>
          </a:p>
          <a:p>
            <a:r>
              <a:t>SHOW IF ASKED: slide 15; backup slides 32-33 (before/after code)</a:t>
            </a:r>
          </a:p>
          <a:p>
            <a:r>
              <a:t>APPENDIX: Appendices E-G, I, and K</a:t>
            </a:r>
          </a:p>
          <a:p/>
          <a:p>
            <a:r>
              <a:t>SCRIPT:</a:t>
            </a:r>
          </a:p>
          <a:p>
            <a:r>
              <a:t>Here is one example. SonarQube flagged a controller with eight query parameters. I showed Codex that warning and the relevant code. It suggested a request DTO. I reviewed the edit, ran tests, and scanned the changed branch again. SonarQube issues went from 17 to zero. I followed the same check-again process for ZAP and JMeter, including the JMeter target that was not met.</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32-33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measurable SonarQube improvement is 17 distinct issues to zero.</a:t>
            </a:r>
          </a:p>
          <a:p>
            <a:r>
              <a:t>SHOW IF ASKED: next slides 14-15 (scan and code proof)</a:t>
            </a:r>
          </a:p>
          <a:p>
            <a:r>
              <a:t>APPENDIX: Appendices E and L</a:t>
            </a:r>
          </a:p>
          <a:p/>
          <a:p>
            <a:r>
              <a:t>SCRIPT:</a:t>
            </a:r>
          </a:p>
          <a:p>
            <a:r>
              <a:t>SonarQube reported 17 distinct issues before the code change and zero after it. Cyclomatic complexity is a rough count of the different decision paths through code, such as branches. Its total rose from 886 to 889, a small increase; that is not an improvement. Coverage also fell slightly from 74.4 to 74.3 percent. Both gate statuses say OK, but the saved gate records list no conditions, so I rely mainly on the issue count. The reliability, security, and maintainability labels overlap and are not extra issues to add to 17.</a:t>
            </a:r>
          </a:p>
          <a:p/>
          <a:p>
            <a:r>
              <a:t>SOURCE: Next slides 14-15; backup slides 29 and 35-36; SonarQube quality-gate.json and summary.json; current report Table 4.2, Appendices E and L.</a:t>
            </a:r>
          </a:p>
          <a:p>
            <a:r>
              <a:t>CAUTION: The full report lists OK/OK; explain that the captured gate response has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Both dashboards say OK, but the issue count is the useful comparison.</a:t>
            </a:r>
          </a:p>
          <a:p>
            <a:r>
              <a:t>SHOW IF ASKED: next slide 15; backup slides 29 and 35-36</a:t>
            </a:r>
          </a:p>
          <a:p>
            <a:r>
              <a:t>APPENDIX: Appendix L, Figures L.1-L.4</a:t>
            </a:r>
          </a:p>
          <a:p/>
          <a:p>
            <a:r>
              <a:t>SCRIPT:</a:t>
            </a:r>
          </a:p>
          <a:p>
            <a:r>
              <a:t>If asked why both Quality Gates passed, point out that the saved gate files show OK with an empty list of conditions on each branch. That status therefore did not distinguish the scans. The baseline had 17 distinct issues; the changed branch had zero. Coverage moved from 74.4 to 74.3 percent, so I show that small decrease too. These are screenshots of the tool, not a new chart I made.</a:t>
            </a:r>
          </a:p>
          <a:p/>
          <a:p>
            <a:r>
              <a:t>SOURCE: Next slide 15; backup slides 29 and 35-36; Appendix L Figures L.1-L.4; sonar/baseline and remediation quality-gate.json.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32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32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remaining Medium alert is about the test connection.</a:t>
            </a:r>
          </a:p>
          <a:p>
            <a:r>
              <a:t>SHOW IF ASKED: next slide 17 (fresh ZAP proof)</a:t>
            </a:r>
          </a:p>
          <a:p>
            <a:r>
              <a:t>APPENDIX: Appendices F and M</a:t>
            </a:r>
          </a:p>
          <a:p/>
          <a:p>
            <a:r>
              <a:t>SCRIPT:</a:t>
            </a:r>
          </a:p>
          <a:p>
            <a:r>
              <a:t>The passive scan watches normal responses and headers; Medium and Low alerts fell from three and six to zero. The authenticated API scan signs in and exercises protected routes; its Low alerts fell from three to zero, but one Medium remained. ZAP named it HTTP Only Site because this local test used HTTP. I cannot call it cleared without setting up HTTPS and repeating the scan. The configured rules passed, but that is a separate judgment from the raw alert count.</a:t>
            </a:r>
          </a:p>
          <a:p/>
          <a:p>
            <a:r>
              <a:t>SOURCE: Next slide 17; backup slide 30; current report §4.3, Appendices F and M; ZAP raw API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50 seconds</a:t>
            </a:r>
          </a:p>
          <a:p>
            <a:r>
              <a:t>KEY MESSAGE: Passive and signed-in API scans test different parts of the running service.</a:t>
            </a:r>
          </a:p>
          <a:p>
            <a:r>
              <a:t>SHOW IF ASKED: backup slide 30 (raw ZAP counts)</a:t>
            </a:r>
          </a:p>
          <a:p>
            <a:r>
              <a:t>APPENDIX: Appendix F</a:t>
            </a:r>
          </a:p>
          <a:p/>
          <a:p>
            <a:r>
              <a:t>SCRIPT:</a:t>
            </a:r>
          </a:p>
          <a:p>
            <a:r>
              <a:t>On the left, the passive scan observed regular responses and their headers. Its Medium and Low counts both fell to zero. On the right, the API scan signed in and tested protected routes. Its Low count fell to zero, but one Medium stayed. The raw alert calls it HTTP Only Site because our local scan target used HTTP. I did not evaluate that alert under HTTPS, so I cannot call it cleared; a working HTTPS endpoint and another scan would be needed.</a:t>
            </a:r>
          </a:p>
          <a:p/>
          <a:p>
            <a:r>
              <a:t>SOURCE: Current ZAP baseline/remediation summary.json; raw API alert 10106; Appendix F and Appendix 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31 and 37-41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33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38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39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31 and 40-41 (soak and spike)</a:t>
            </a:r>
          </a:p>
          <a:p>
            <a:r>
              <a:t>APPENDIX: Appendix L, Figures L.12-L.13 and L.17-L.18</a:t>
            </a:r>
          </a:p>
          <a:p/>
          <a:p>
            <a:r>
              <a:t>SCRIPT:</a:t>
            </a:r>
          </a:p>
          <a:p>
            <a:r>
              <a:t>At 50, 100, and 500 simulated users, the total p95 response time got worse after the change; none of those core p95 results improved. In the long soak test, total p95 and p99 were lower, but average response time rose and throughput fell. In the sudden spike test, p95, p99, and average response time were lower, throughput increased, and the error rate fell to zero. I call the evidence mixed because these gains are specific to soak and spike, while the primary user-count speed targets were not met.</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33 and 40-41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42-44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31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29-31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27 (where every claim is checked)</a:t>
            </a:r>
          </a:p>
          <a:p>
            <a:r>
              <a:t>APPENDIX: Appendices A, M, and N</a:t>
            </a:r>
          </a:p>
          <a:p/>
          <a:p>
            <a:r>
              <a:t>SCRIPT:</a:t>
            </a:r>
          </a:p>
          <a:p>
            <a:r>
              <a:t>Codex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31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31 or dashboards 37-41.</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31 or dashboards 37-41.</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31 or dashboards 37-41.</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8.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lower soak and spike p95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study tested one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Relevant code</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Suggested edit</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I check</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I run 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Measure again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An AI suggestion is not proof: I check it, then the same tool measures the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No gate conditions recorded</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57600"/>
            <a:ext cx="9948672" cy="75895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17 findings had overlapping impacts: Reliability 2, Security 1, Maintainability 16. Complexity rose 886 → 889; duplication stayed 0.0%.</a:t>
            </a:r>
          </a:p>
        </p:txBody>
      </p:sp>
      <p:sp>
        <p:nvSpPr>
          <p:cNvPr id="24" name="TextBox 23"/>
          <p:cNvSpPr txBox="1"/>
          <p:nvPr/>
        </p:nvSpPr>
        <p:spPr>
          <a:xfrm>
            <a:off x="996696" y="4480560"/>
            <a:ext cx="9948672" cy="40233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Cyclomatic complexity counts possible decision paths through code; a higher count can need more tests.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changed; gate status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Gate OK/OK has no recorded conditions; the measured improvement is 17 issues →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
        <p:nvSpPr>
          <p:cNvPr id="18" name="TextBox 17"/>
          <p:cNvSpPr txBox="1"/>
          <p:nvPr/>
        </p:nvSpPr>
        <p:spPr>
          <a:xfrm>
            <a:off x="777240" y="5751576"/>
            <a:ext cx="10652760" cy="42062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Local HTTP caused the alert; an HTTPS retest is needed before claiming it is cleared.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records: two different scans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ZAP summary.json and API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Rounded Rectangle 8"/>
          <p:cNvSpPr/>
          <p:nvPr/>
        </p:nvSpPr>
        <p:spPr>
          <a:xfrm>
            <a:off x="731520" y="1453896"/>
            <a:ext cx="5175504" cy="4123944"/>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45352" y="1453896"/>
            <a:ext cx="5175504" cy="4123944"/>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746504"/>
            <a:ext cx="4663440" cy="35661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PASSIVE SCAN</a:t>
            </a:r>
          </a:p>
        </p:txBody>
      </p:sp>
      <p:sp>
        <p:nvSpPr>
          <p:cNvPr id="12" name="TextBox 11"/>
          <p:cNvSpPr txBox="1"/>
          <p:nvPr/>
        </p:nvSpPr>
        <p:spPr>
          <a:xfrm>
            <a:off x="978408" y="2267712"/>
            <a:ext cx="4663440" cy="7772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Observes ordinary responses and headers; it does not sign in.</a:t>
            </a:r>
          </a:p>
        </p:txBody>
      </p:sp>
      <p:sp>
        <p:nvSpPr>
          <p:cNvPr id="13" name="TextBox 12"/>
          <p:cNvSpPr txBox="1"/>
          <p:nvPr/>
        </p:nvSpPr>
        <p:spPr>
          <a:xfrm>
            <a:off x="978408" y="3300984"/>
            <a:ext cx="4663440" cy="1252728"/>
          </a:xfrm>
          <a:prstGeom prst="rect">
            <a:avLst/>
          </a:prstGeom>
          <a:noFill/>
        </p:spPr>
        <p:txBody>
          <a:bodyPr wrap="square" lIns="18288" rIns="18288" tIns="18288" bIns="18288" anchor="ctr">
            <a:spAutoFit/>
          </a:bodyPr>
          <a:lstStyle/>
          <a:p>
            <a:pPr algn="l">
              <a:spcBef>
                <a:spcPts val="0"/>
              </a:spcBef>
              <a:spcAft>
                <a:spcPts val="0"/>
              </a:spcAft>
            </a:pPr>
            <a:r>
              <a:rPr sz="2800" b="1">
                <a:solidFill>
                  <a:srgbClr val="246F46"/>
                </a:solidFill>
                <a:latin typeface="Arial"/>
              </a:rPr>
              <a:t>Medium 3 → 0
Low 6 → 0</a:t>
            </a:r>
          </a:p>
        </p:txBody>
      </p:sp>
      <p:sp>
        <p:nvSpPr>
          <p:cNvPr id="14" name="TextBox 13"/>
          <p:cNvSpPr txBox="1"/>
          <p:nvPr/>
        </p:nvSpPr>
        <p:spPr>
          <a:xfrm>
            <a:off x="6492240" y="1746504"/>
            <a:ext cx="4663440" cy="356616"/>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AUTHENTICATED API SCAN</a:t>
            </a:r>
          </a:p>
        </p:txBody>
      </p:sp>
      <p:sp>
        <p:nvSpPr>
          <p:cNvPr id="15" name="TextBox 14"/>
          <p:cNvSpPr txBox="1"/>
          <p:nvPr/>
        </p:nvSpPr>
        <p:spPr>
          <a:xfrm>
            <a:off x="6492240" y="2267712"/>
            <a:ext cx="4663440" cy="77724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Signs in and tests protected API routes.</a:t>
            </a:r>
          </a:p>
        </p:txBody>
      </p:sp>
      <p:sp>
        <p:nvSpPr>
          <p:cNvPr id="16" name="TextBox 15"/>
          <p:cNvSpPr txBox="1"/>
          <p:nvPr/>
        </p:nvSpPr>
        <p:spPr>
          <a:xfrm>
            <a:off x="6492240" y="3300984"/>
            <a:ext cx="4663440" cy="1252728"/>
          </a:xfrm>
          <a:prstGeom prst="rect">
            <a:avLst/>
          </a:prstGeom>
          <a:noFill/>
        </p:spPr>
        <p:txBody>
          <a:bodyPr wrap="square" lIns="18288" rIns="18288" tIns="18288" bIns="18288" anchor="ctr">
            <a:spAutoFit/>
          </a:bodyPr>
          <a:lstStyle/>
          <a:p>
            <a:pPr algn="l">
              <a:spcBef>
                <a:spcPts val="0"/>
              </a:spcBef>
              <a:spcAft>
                <a:spcPts val="0"/>
              </a:spcAft>
            </a:pPr>
            <a:r>
              <a:rPr sz="2800" b="1">
                <a:solidFill>
                  <a:srgbClr val="BE7414"/>
                </a:solidFill>
                <a:latin typeface="Arial"/>
              </a:rPr>
              <a:t>Medium 1 → 1
Low 3 → 0</a:t>
            </a:r>
          </a:p>
        </p:txBody>
      </p:sp>
      <p:sp>
        <p:nvSpPr>
          <p:cNvPr id="17" name="Rounded Rectangle 16"/>
          <p:cNvSpPr/>
          <p:nvPr/>
        </p:nvSpPr>
        <p:spPr>
          <a:xfrm>
            <a:off x="768096" y="5715000"/>
            <a:ext cx="10643616" cy="502920"/>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5760720"/>
            <a:ext cx="10305288"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Remaining Medium: HTTP Only Site. Local scan used HTTP; an HTTPS retest is needed.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29</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30</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31</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32</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34</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