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Static quality succeeded; security has a disclosed residual; core performance failed.</a:t>
            </a:r>
          </a:p>
          <a:p/>
          <a:p>
            <a:r>
              <a:t>SCRIPT:</a:t>
            </a:r>
          </a:p>
          <a:p>
            <a:r>
              <a:t>I want to give the result before the details. The fresh September reproduction reduced SonarQube issues from seventeen to zero. ZAP passed the configured rule gate, but one raw Medium HTTP-only observation remained in the authenticated scan. JMeter's primary core gate failed at the 100 and 500 VU workloads. Improvements in soak and spike do not cancel that failure.</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three risks need different measurements.</a:t>
            </a:r>
          </a:p>
          <a:p/>
          <a:p>
            <a:r>
              <a:t>SCRIPT:</a:t>
            </a:r>
          </a:p>
          <a:p>
            <a:r>
              <a:t>A financial API can have source-code warnings, runtime security observations, and slow responses at the same time. These failures have different causes. That is why the study uses three independent tools and checks that remediation does not break the accounting behavior.</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Each research question has an acceptance rule.</a:t>
            </a:r>
          </a:p>
          <a:p/>
          <a:p>
            <a:r>
              <a:t>SCRIPT:</a:t>
            </a:r>
          </a:p>
          <a:p>
            <a:r>
              <a:t>The first question is about code quality: can the issue count fall without overlooking coverage and complexity? The second is about security: can configured scanner rules pass while raw observations remain visible? The third is about performance: do the primary load gates pass, not just selected stress profiles? These rules were used to judge the results in Chapter Four.</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This is one nontrivial API, not a set of unrelated projects.</a:t>
            </a:r>
          </a:p>
          <a:p/>
          <a:p>
            <a:r>
              <a:t>SCRIPT:</a:t>
            </a:r>
          </a:p>
          <a:p>
            <a:r>
              <a:t>The evaluated system has accounting workflows, a SQL Server database, JWT authentication, four exact role names, protected write operations, report generation, and audit logging. The same API is measured before and after each tool-specific branch. The dashboard later in this talk is a demonstration client, not the benchmark dataset itself.</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Branch isolation makes each before-and-after comparison traceable.</a:t>
            </a:r>
          </a:p>
          <a:p/>
          <a:p>
            <a:r>
              <a:t>SCRIPT:</a:t>
            </a:r>
          </a:p>
          <a:p>
            <a:r>
              <a:t>We froze a common baseline at commit 7a0469d9. The SonarQube, ZAP, and JMeter changes were assessed on separate refs. The exact tested commits are recorded, so a later change to a branch name cannot silently change the result. I compare each remediation branch to that same baseline, one tool at a time.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model's suggestion is a candidate, not the result.</a:t>
            </a:r>
          </a:p>
          <a:p/>
          <a:p>
            <a:r>
              <a:t>SCRIPT:</a:t>
            </a:r>
          </a:p>
          <a:p>
            <a:r>
              <a:t>Phase one captures the baseline. Phase two supplies a tool finding, relevant code, and a narrow instruction to the model. Phase three is human review, tests, and a fresh run of the same measuring tool. Phase four compares the branch result with the baseline using the original decision rule. This prevents an attractive patch from being called successful just because it looks plausible.</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comparison uses a reproducible local setup but only one host.</a:t>
            </a:r>
          </a:p>
          <a:p/>
          <a:p>
            <a:r>
              <a:t>SCRIPT:</a:t>
            </a:r>
          </a:p>
          <a:p>
            <a:r>
              <a:t>The seeded database contains 120 accounts and thirty thousand journal entries, with at least five thousand posted entries. The benchmark used one Windows 11 host, ASP.NET Core 8, local SQL Server, and pinned tool versions. These controls help repeat the run, but one host and one fresh run per branch are still important limitations.</a:t>
            </a:r>
          </a:p>
          <a:p/>
          <a:p>
            <a:r>
              <a:t>SOURCE: Current report Tables 3.2 and 3.11, Appendix H and verification summaries.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result is not called successful because one chart looks better.</a:t>
            </a:r>
          </a:p>
          <a:p/>
          <a:p>
            <a:r>
              <a:t>SCRIPT:</a:t>
            </a:r>
          </a:p>
          <a:p>
            <a:r>
              <a:t>Static analysis has an issue count and a Quality Gate, but coverage and complexity also matter. ZAP has a configured gate, while raw observations still have to be disclosed. JMeter has primary 50, 100, and 500 VU core checks; 100 VU must stay at or below five hundred milliseconds and 500 VU at or below twelve hundred. We also require tests and role behavior to stay intact.</a:t>
            </a:r>
          </a:p>
          <a:p/>
          <a:p>
            <a:r>
              <a:t>SOURCE: Current report Table 4.1 and §4.1.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 is an advisor under a human-controlled test loop.</a:t>
            </a:r>
          </a:p>
          <a:p/>
          <a:p>
            <a:r>
              <a:t>SCRIPT:</a:t>
            </a:r>
          </a:p>
          <a:p>
            <a:r>
              <a:t>The prompt contains the scanner or benchmark finding, a small relevant source excerpt, and constraints such as keeping tests and contracts intact. Codex suggests a patch. A human reviews it, the focused test suite runs, and the original tool is rerun. A patch can still fail its measured target; the JMeter result is the clearest example of that boundary.</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Similar-looking code changes can have very different measured outcomes.</a:t>
            </a:r>
          </a:p>
          <a:p/>
          <a:p>
            <a:r>
              <a:t>SCRIPT:</a:t>
            </a:r>
          </a:p>
          <a:p>
            <a:r>
              <a:t>For maintainability, a request DTO replaced a controller action with eight query parameters. For security, header middleware moved ahead of Swagger and UI exposure was constrained. For performance, the JMeter branch added ledger caching and reduced report persistence work. These are mechanisms, not proof of success by themselves; the tool results on the next slides show what actually happened.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fresh issue count reached zero, with small control-metric regressions disclosed.</a:t>
            </a:r>
          </a:p>
          <a:p/>
          <a:p>
            <a:r>
              <a:t>SCRIPT:</a:t>
            </a:r>
          </a:p>
          <a:p>
            <a:r>
              <a:t>SonarQube found seventeen distinct issues on the shared baseline and none on the SonarQube remediation branch. Both Quality Gates were OK. Coverage slipped from 74.4 to 74.3 percent and cyclomatic complexity rose by three, so I do not call those measures unchanged. The newer Reliability, Security, and Maintainability impact counts overlap; they are not nineteen separate issues.</a:t>
            </a:r>
          </a:p>
          <a:p/>
          <a:p>
            <a:r>
              <a:t>SOURCE: Current report Table 4.2, Appendix E, Figures L.1-L.4.</a:t>
            </a:r>
          </a:p>
          <a:p>
            <a:r>
              <a:t>CAUTION: Legacy Bugs and Vulnerabilities are both zero; the MQR Security impact is a different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tool views correspond to the pinned baseline and remediation commits.</a:t>
            </a:r>
          </a:p>
          <a:p/>
          <a:p>
            <a:r>
              <a:t>SCRIPT:</a:t>
            </a:r>
          </a:p>
          <a:p>
            <a:r>
              <a:t>These are native SonarQube captures from the fresh September reproduction, not a chart invented for the presentation. The baseline overview shows Security, Reliability, and Maintainability impacts plus 74.4 percent coverage. The remediation overview shows zero open issues and 74.3 percent coverage. Appendix L also includes the issue-list views if the committee asks for rule-level detail.</a:t>
            </a:r>
          </a:p>
          <a:p/>
          <a:p>
            <a:r>
              <a:t>SOURCE: Appendix L Figures L.1-L.4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configured ZAP rule gate passed, but one raw Medium alert remains.</a:t>
            </a:r>
          </a:p>
          <a:p/>
          <a:p>
            <a:r>
              <a:t>SCRIPT:</a:t>
            </a:r>
          </a:p>
          <a:p>
            <a:r>
              <a:t>In the fresh passive scan, Medium went from three to zero and Low from six to zero. In the authenticated API scan, Low went from three to zero, but Medium remained one. That observation is HTTP Only Site on the local HTTP transport. The configured business-endpoint rule set passed on both branches, but I do not say every raw Medium alert was eliminated.</a:t>
            </a:r>
          </a:p>
          <a:p/>
          <a:p>
            <a:r>
              <a:t>SOURCE: Current report §4.3, fresh ZAP baseline/remediation summary.json, Appendix F.</a:t>
            </a:r>
          </a:p>
          <a:p>
            <a:r>
              <a:t>CAUTION: Do not use the older March dashboard screenshot as proof of zero fresh API Medium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p>
            <a:r>
              <a:t>SCRIPT:</a:t>
            </a:r>
          </a:p>
          <a:p>
            <a:r>
              <a:t>The side-by-side ZAP screenshots were rendered from earlier March scan reports, and I label them historical on purpose. They show the tool's native alert summary and evidence layout. The current numerical claim comes from September's machine-readable scan JSON: one raw authenticated API Medium remains. This is why the thesis separates visual captures from fresh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Stress improvements cannot stand in for the core gate.</a:t>
            </a:r>
          </a:p>
          <a:p/>
          <a:p>
            <a:r>
              <a:t>SCRIPT:</a:t>
            </a:r>
          </a:p>
          <a:p>
            <a:r>
              <a:t>The 50, 100, and 500 virtual-user profiles exercise increasingly heavy core load. These are workload sizes, whereas p50, p90, p95, and p99 are response-time percentiles measured in milliseconds. Archived JMeter folder IDs retain p50, p100, and p500 for traceability. Soak and spike add sustained and sudden-load evidence; they are additional interpretation, not a substitute for the primary core gate.</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primary performance criterion was not achieved.</a:t>
            </a:r>
          </a:p>
          <a:p/>
          <a:p>
            <a:r>
              <a:t>SCRIPT:</a:t>
            </a:r>
          </a:p>
          <a:p>
            <a:r>
              <a:t>All three fresh core total-p95 values increased. At 50 VU, p95 rose from thirty-three to about two hundred milliseconds; at 100 VU, from about two hundred fifty-six to one thousand one hundred forty-seven; at 500 VU, from one hundred six to one thousand five hundred forty-eight. Errors stayed at zero, but the 100 VU and 500 VU limits were exceeded, so the remediation core gate failed.</a:t>
            </a:r>
          </a:p>
          <a:p/>
          <a:p>
            <a:r>
              <a:t>SOURCE: Fresh JMeter baseline/remediation summary.json; current report §4.4 and Table 4.5.</a:t>
            </a:r>
          </a:p>
          <a:p>
            <a:r>
              <a:t>CAUTION: Do not carry the older March core-gate PASS into this fresh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Stress gains are real but do not reverse the failed primary gate.</a:t>
            </a:r>
          </a:p>
          <a:p/>
          <a:p>
            <a:r>
              <a:t>SCRIPT:</a:t>
            </a:r>
          </a:p>
          <a:p>
            <a:r>
              <a:t>The soak aggregate p95 fell from 443.95 to 171 milliseconds. Spike aggregate p95 fell from about 33.4 seconds to 4.73 seconds, and spike errors fell to zero. These are meaningful fresh stress-profile gains, but the core 100 VU and 500 VU gate remains failed. I therefore call performance mixed, not generally improved.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account-ledger endpoint is a concrete counterexample to a universal speedup claim.</a:t>
            </a:r>
          </a:p>
          <a:p/>
          <a:p>
            <a:r>
              <a:t>SCRIPT:</a:t>
            </a:r>
          </a:p>
          <a:p>
            <a:r>
              <a:t>Under the fresh soak run, account-ledger p95 rose from about 742 to 3,826 milliseconds. Under spike it fell from about 50.3 seconds to 12.9 seconds. The summary report endpoints also improved under spike, but this one endpoint shows why a code mechanism or one workload cannot be generalized to all load conditions.</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application evidence demonstrates the user-visible API path.</a:t>
            </a:r>
          </a:p>
          <a:p/>
          <a:p>
            <a:r>
              <a:t>SCRIPT:</a:t>
            </a:r>
          </a:p>
          <a:p>
            <a:r>
              <a:t>A React client signs in with JWT, shows roles, calls the accounting API, and presents reports and journal-entry lines. The dashboard and expanded journal detail shown here are captured from that workflow. They are not performance measurements, and their live displayed counts should not be confused with the fixed JMeter seed dataset. Other browser views, including auditor restrictions, are in the appendix.</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thesis supports some improvements, not a blanket success claim.</a:t>
            </a:r>
          </a:p>
          <a:p/>
          <a:p>
            <a:r>
              <a:t>SCRIPT:</a:t>
            </a:r>
          </a:p>
          <a:p>
            <a:r>
              <a:t>Code quality met its primary criterion while coverage and cyclomatic complexity had small regressions. ZAP's configured rule gate passed, but the raw HTTP-only Medium remained. JMeter core performance did not meet its gate, though stress aggregates improved. This is one API on one host with one fresh run per branch, so the results are bounded and should be replicated before broader generalization.</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Human review and repeatable tools decide which AI suggestions count.</a:t>
            </a:r>
          </a:p>
          <a:p/>
          <a:p>
            <a:r>
              <a:t>SCRIPT:</a:t>
            </a:r>
          </a:p>
          <a:p>
            <a:r>
              <a:t>My answer is qualified. ChatGPT through Codex 5.4 helped close fresh static issues and pass the configured security gate. The same controlled workflow also showed a failed primary performance result rather than hiding it behind better stress charts. The contribution is a traceable method for asking the model to improve existing code and then allowing independent evidence to accept, limit, or reject the claim.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Open this slide only if the committee asks for the underlying records. Read the classification and source line before interpreting the screenshot or table.</a:t>
            </a:r>
          </a:p>
          <a:p/>
          <a:p>
            <a:r>
              <a:t>SOURCE: Current report Appendices A-N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only if the committee asks for the underlying records. Read the classification and source line before interpreting the screenshot or table.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Open this slide only if the committee asks for the underlying records. Read the classification and source line before interpreting the screenshot or table.</a:t>
            </a:r>
          </a:p>
          <a:p/>
          <a:p>
            <a:r>
              <a:t>SOURCE: Current report Table 4.2; fresh SonarQube summary.json.</a:t>
            </a:r>
          </a:p>
          <a:p>
            <a:r>
              <a:t>CAUTION: * MQR impacts overlap; do not sum them as unique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Open this slide only if the committee asks for the underlying records. Read the classification and source line before interpreting the screenshot or table.</a:t>
            </a:r>
          </a:p>
          <a:p/>
          <a:p>
            <a:r>
              <a:t>SOURCE: Current report §4.3 and fresh ZAP summary.json.</a:t>
            </a:r>
          </a:p>
          <a:p>
            <a:r>
              <a:t>CAUTION: Do not infer fresh zero-Medium API outcome from historical March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Open this slide only if the committee asks for the underlying records. Read the classification and source line before interpreting the screenshot or table.</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only if the committee asks for the underlying records. Read the classification and source line before interpreting the screenshot or table.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Open this slide only if the committee asks for the underlying records. Read the classification and source line before interpreting the screenshot or table.</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only if the committee asks for the underlying records. Read the classification and source line before interpreting the screenshot or table.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Open this slide only if the committee asks for the underlying records. Read the classification and source line before interpreting the screenshot or table.</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Open this slide only if the committee asks for the underlying records. Read the classification and source line before interpreting the screenshot or table.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Open this slide only if the committee asks for the underlying records. Read the classification and source line before interpreting the screenshot or table.</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Open this slide only if the committee asks for the underlying records. Read the classification and source line before interpreting the screenshot or table.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Open this slide only if the committee asks for the underlying records. Read the classification and source line before interpreting the screenshot or table.</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Open this slide only if the committee asks for the underlying records. Read the classification and source line before interpreting the screenshot or table.</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Open this slide only if the committee asks for the underlying records. Read the classification and source line before interpreting the screenshot or table.</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Open this slide only if the committee asks for the underlying records. Read the classification and source line before interpreting the screenshot or table.</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Open this slide only if the committee asks for the underlying records. Read the classification and source line before interpreting the screenshot or table.</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administration and reporting.</a:t>
            </a:r>
          </a:p>
          <a:p/>
          <a:p>
            <a:r>
              <a:t>SCRIPT:</a:t>
            </a:r>
          </a:p>
          <a:p>
            <a:r>
              <a:t>Open this slide only if the committee asks for the underlying records. Read the classification and source line before interpreting the screenshot or table.</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Open this slide only if the committee asks for the underlying records. Read the classification and source line before interpreting the screenshot or table.</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Open this slide only if the committee asks for the underlying records. Read the classification and source line before interpreting the screenshot or table.</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Core FAIL</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primary JMeter core performance gate,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unit of analysis is an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failures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controlled environment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Deterministic seed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September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 single host and one fresh run per branch limit generalization.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Success was decided by tool-specific gates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Close fresh issues; Quality Gate OK</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230368"/>
            <a:ext cx="10716768" cy="60350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303520"/>
            <a:ext cx="10195560" cy="44805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A better stress-profile number cannot override a failed core performance 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Codex proposed; humans and tools decided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Native 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Bounded code context</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Candidate patch</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review</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Tool rerun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Every accepted interpretation is linked to a branch, a tested commit, and a machine-readable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Ledger caching; avoid report write amplification</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Repeated report calculation and database pressure</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Fresh September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 pass</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Native SonarQube views support the metric 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Sep 22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53949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550408"/>
            <a:ext cx="10232136" cy="37490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Fresh source screenshots; use Appendix L for the larger overview and issue views.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Fresh September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measured three core profiles and two stress profiles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load</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Higher concurrency</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Heavy concurrency</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sustained</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behavior</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Surge and recovery</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50/100/500 VU are workload sizes; p95 is a latency percentile.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JMeter core gate failed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FAIL: 100 VU 1,146.9 &gt; 500 ms; 500 VU 1,547.95 &gt; 1,200 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but they are secondary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B3373D"/>
                </a:solidFill>
                <a:latin typeface="Arial"/>
              </a:rPr>
              <a:t>The core 100 VU and 500 VU failures still determine the overall performance judgment.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Caching and query changes can help one workload while making another worse. Endpoint results and core aggregate gates must both be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decision is deliberately asymmetric</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fresh run per branch · tool-specific coverage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result is the controlled audit-to-fix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fresh primary JMeter core gate failed despite stress gains.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3895344"/>
        </p:xfrm>
        <a:graphic>
          <a:graphicData uri="http://schemas.openxmlformats.org/drawingml/2006/table">
            <a:tbl>
              <a:tblPr firstRow="1" bandRow="1">
                <a:tableStyleId>{5C22544A-7EE6-4342-B048-85BDC9FD1C3A}</a:tableStyleId>
              </a:tblPr>
              <a:tblGrid>
                <a:gridCol w="2464856"/>
                <a:gridCol w="3215030"/>
                <a:gridCol w="5036880"/>
              </a:tblGrid>
              <a:tr h="779068">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779068">
                <a:tc>
                  <a:txBody>
                    <a:bodyPr/>
                    <a:lstStyle/>
                    <a:p>
                      <a:pPr algn="l">
                        <a:spcAft>
                          <a:spcPts val="0"/>
                        </a:spcAft>
                      </a:pPr>
                      <a:r>
                        <a:rPr sz="1600" b="0">
                          <a:solidFill>
                            <a:srgbClr val="252B33"/>
                          </a:solidFill>
                          <a:latin typeface="Arial"/>
                        </a:rPr>
                        <a:t>Static issues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FFFFF"/>
                    </a:solidFill>
                  </a:tcPr>
                </a:tc>
              </a:tr>
              <a:tr h="779068">
                <a:tc>
                  <a:txBody>
                    <a:bodyPr/>
                    <a:lstStyle/>
                    <a:p>
                      <a:pPr algn="l">
                        <a:spcAft>
                          <a:spcPts val="0"/>
                        </a:spcAft>
                      </a:pPr>
                      <a:r>
                        <a:rPr sz="1600" b="0">
                          <a:solidFill>
                            <a:srgbClr val="252B33"/>
                          </a:solidFill>
                          <a:latin typeface="Arial"/>
                        </a:rPr>
                        <a:t>ZAP raw/gate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7F9FC"/>
                    </a:solidFill>
                  </a:tcPr>
                </a:tc>
              </a:tr>
              <a:tr h="779068">
                <a:tc>
                  <a:txBody>
                    <a:bodyPr/>
                    <a:lstStyle/>
                    <a:p>
                      <a:pPr algn="l">
                        <a:spcAft>
                          <a:spcPts val="0"/>
                        </a:spcAft>
                      </a:pPr>
                      <a:r>
                        <a:rPr sz="1600" b="0">
                          <a:solidFill>
                            <a:srgbClr val="252B33"/>
                          </a:solidFill>
                          <a:latin typeface="Arial"/>
                        </a:rPr>
                        <a:t>JMeter p95/gate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FFFFF"/>
                    </a:solidFill>
                  </a:tcPr>
                </a:tc>
              </a:tr>
              <a:tr h="779072">
                <a:tc>
                  <a:txBody>
                    <a:bodyPr/>
                    <a:lstStyle/>
                    <a:p>
                      <a:pPr algn="l">
                        <a:spcAft>
                          <a:spcPts val="0"/>
                        </a:spcAft>
                      </a:pPr>
                      <a:r>
                        <a:rPr sz="1600" b="0">
                          <a:solidFill>
                            <a:srgbClr val="252B33"/>
                          </a:solidFill>
                          <a:latin typeface="Arial"/>
                        </a:rPr>
                        <a:t>Working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7F9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 on both</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Account-ledger payload cache
+ avoid snapshot write pressure
Fresh load behavior remains mixed; core gate FAIL.</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A code-level mechanism is evidence of implementation, not evidence that a load gate passed.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17 unique issues → 0; Quality Gate OK/OK;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FAIL.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STRESS GAIN.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STRESS GAIN.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administration and reporting</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