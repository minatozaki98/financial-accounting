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 id="295" r:id="rId47"/>
    <p:sldId id="296" r:id="rId48"/>
    <p:sldId id="297" r:id="rId49"/>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 Id="rId47" Type="http://schemas.openxmlformats.org/officeDocument/2006/relationships/slide" Target="slides/slide40.xml"/><Relationship Id="rId48" Type="http://schemas.openxmlformats.org/officeDocument/2006/relationships/slide" Target="slides/slide41.xml"/><Relationship Id="rId49" Type="http://schemas.openxmlformats.org/officeDocument/2006/relationships/slide" Target="slides/slide42.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_rels/notesSlide4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0.xml"/></Relationships>
</file>

<file path=ppt/notesSlides/_rels/notesSlide4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1.xml"/></Relationships>
</file>

<file path=ppt/notesSlides/_rels/notesSlide4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2.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45 seconds</a:t>
            </a:r>
          </a:p>
          <a:p>
            <a:r>
              <a:t>KEY MESSAGE: This is an evidence-based evaluation of Codex 5.4 as an advisor.</a:t>
            </a:r>
          </a:p>
          <a:p>
            <a:r>
              <a:t>SHOW IF ASKED: backup slide 23 (claim-to-evidence map)</a:t>
            </a:r>
          </a:p>
          <a:p>
            <a:r>
              <a:t>APPENDIX: Appendix M</a:t>
            </a:r>
          </a:p>
          <a:p/>
          <a:p>
            <a:r>
              <a:t>SCRIPT:</a:t>
            </a:r>
          </a:p>
          <a:p>
            <a:r>
              <a:t>Good morning. I evaluate whether ChatGPT, used through Codex 5.4, can help improve an existing financial accounting API. The model proposes changes; people review them; SonarQube, OWASP ZAP, and JMeter decide what the measured results actually support.</a:t>
            </a:r>
          </a:p>
          <a:p/>
          <a:p>
            <a:r>
              <a:t>SOURCE: Current full report title page and Abstract.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results are mixed: code quality improved, security has one remaining alert, and core speed missed its target.</a:t>
            </a:r>
          </a:p>
          <a:p>
            <a:r>
              <a:t>SHOW IF ASKED: backup slides 25-27 (three measured outcomes)</a:t>
            </a:r>
          </a:p>
          <a:p>
            <a:r>
              <a:t>APPENDIX: Appendices E-G and M</a:t>
            </a:r>
          </a:p>
          <a:p/>
          <a:p>
            <a:r>
              <a:t>SCRIPT:</a:t>
            </a:r>
          </a:p>
          <a:p>
            <a:r>
              <a:t>Here is the result first. SonarQube issues fell from 17 to zero. ZAP's selected checks passed, but the API scan still had one Medium alert because the local site used HTTP. JMeter response times at 100 and 500 simulated users were above our study limits. Soak and spike improved, but they are separate tests.</a:t>
            </a:r>
          </a:p>
          <a:p/>
          <a:p>
            <a:r>
              <a:t>SOURCE: Current report Table 4.5 and Appendix M.</a:t>
            </a:r>
          </a:p>
          <a:p>
            <a:r>
              <a:t>CAUTION: Do not repeat the historical claim that all core JMeter profiles improved.</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Code, security, and speed need different checks.</a:t>
            </a:r>
          </a:p>
          <a:p>
            <a:r>
              <a:t>SHOW IF ASKED: backup slides 25-27 (the three risks)</a:t>
            </a:r>
          </a:p>
          <a:p>
            <a:r>
              <a:t>APPENDIX: Appendices E-G</a:t>
            </a:r>
          </a:p>
          <a:p/>
          <a:p>
            <a:r>
              <a:t>SCRIPT:</a:t>
            </a:r>
          </a:p>
          <a:p>
            <a:r>
              <a:t>A program can have confusing code, unsafe web settings, and slow requests at the same time. One tool cannot check all three. I used SonarQube to read code, ZAP to test the running API, and JMeter to send load. I also ran tests to check that accounting behavior still worked.</a:t>
            </a:r>
          </a:p>
          <a:p/>
          <a:p>
            <a:r>
              <a:t>SOURCE: Current report Chapter 1 and §3.1.</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65 seconds</a:t>
            </a:r>
          </a:p>
          <a:p>
            <a:r>
              <a:t>KEY MESSAGE: I ask one measurable question for each tool.</a:t>
            </a:r>
          </a:p>
          <a:p>
            <a:r>
              <a:t>SHOW IF ASKED: backup slides 25-27 (one answer per tool)</a:t>
            </a:r>
          </a:p>
          <a:p>
            <a:r>
              <a:t>APPENDIX: Appendix M</a:t>
            </a:r>
          </a:p>
          <a:p/>
          <a:p>
            <a:r>
              <a:t>SCRIPT:</a:t>
            </a:r>
          </a:p>
          <a:p>
            <a:r>
              <a:t>First, did the code warnings decrease, and did coverage or complexity get worse? Second, did security alerts decrease, and what remained? Third, did the API stay within the response-time limits at the three user counts? I answer each question with the tool's before-and-after result, not with an AI opinion.</a:t>
            </a:r>
          </a:p>
          <a:p/>
          <a:p>
            <a:r>
              <a:t>SOURCE: Current report §1.5 and Table 4.1.</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All comparisons use the same accounting API.</a:t>
            </a:r>
          </a:p>
          <a:p>
            <a:r>
              <a:t>SHOW IF ASKED: backup slides 30 and 40-42 (API behavior)</a:t>
            </a:r>
          </a:p>
          <a:p>
            <a:r>
              <a:t>APPENDIX: Appendices B-D, H, and J</a:t>
            </a:r>
          </a:p>
          <a:p/>
          <a:p>
            <a:r>
              <a:t>SCRIPT:</a:t>
            </a:r>
          </a:p>
          <a:p>
            <a:r>
              <a:t>This API has login, four user roles, accounts, journal entries, reports, and an audit log. It uses a local SQL Server database. I compared a baseline with changed versions of this same API. The web screenshots later show that the app can be used; those screenshots are not JMeter performance measurements.</a:t>
            </a:r>
          </a:p>
          <a:p/>
          <a:p>
            <a:r>
              <a:t>SOURCE: Current report §§3.1-3.2, Table 3.3,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Each tool's change has its own branch.</a:t>
            </a:r>
          </a:p>
          <a:p>
            <a:r>
              <a:t>SHOW IF ASKED: backup slide 24 (tested commits)</a:t>
            </a:r>
          </a:p>
          <a:p>
            <a:r>
              <a:t>APPENDIX: Appendix A</a:t>
            </a:r>
          </a:p>
          <a:p/>
          <a:p>
            <a:r>
              <a:t>SCRIPT:</a:t>
            </a:r>
          </a:p>
          <a:p>
            <a:r>
              <a:t>I used one saved baseline version as the starting point. I put the code-quality, security, and performance changes on separate branches. That lets me compare each changed version with the same starting code. I also recorded the exact commits so the code being compared cannot silently change later.</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suggestion must be checked before it becomes a result.</a:t>
            </a:r>
          </a:p>
          <a:p>
            <a:r>
              <a:t>SHOW IF ASKED: backup slides 24 and 28-29 (source and tests)</a:t>
            </a:r>
          </a:p>
          <a:p>
            <a:r>
              <a:t>APPENDIX: Appendices A, E-G, I, and K</a:t>
            </a:r>
          </a:p>
          <a:p/>
          <a:p>
            <a:r>
              <a:t>SCRIPT:</a:t>
            </a:r>
          </a:p>
          <a:p>
            <a:r>
              <a:t>First I saved the baseline result. Next I gave Codex a specific tool warning and the relevant code. Then I reviewed the suggested edit, ran tests, and ran the same tool again. Finally I compared the new number with the baseline and the study rule. A patch that looks good is not automatically a success.</a:t>
            </a:r>
          </a:p>
          <a:p/>
          <a:p>
            <a:r>
              <a:t>SOURCE: Current report §3.1.1 and Figures 3.1-3.4.</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The 120 accounts are seeded test data, not customer records.</a:t>
            </a:r>
          </a:p>
          <a:p>
            <a:r>
              <a:t>SHOW IF ASKED: backup slide 23 (120-account run record)</a:t>
            </a:r>
          </a:p>
          <a:p>
            <a:r>
              <a:t>APPENDIX: Appendix H; Tables 3.10-3.11</a:t>
            </a:r>
          </a:p>
          <a:p/>
          <a:p>
            <a:r>
              <a:t>SCRIPT:</a:t>
            </a:r>
          </a:p>
          <a:p>
            <a:r>
              <a:t>The test scripts created 120 accounts and 30,000 journal entries. At least 5,000 entries were posted, so the report endpoints had data to process. This is not a screenshot of 120 individual accounts: the count is recorded in the run record. We used one local computer and one fresh run per branch, so the result is limited to this setup.</a:t>
            </a:r>
          </a:p>
          <a:p/>
          <a:p>
            <a:r>
              <a:t>SOURCE: Backup slide 23; branch-verification.json dataset counts; current report Tables 3.10-3.11 and Appendix H.</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Each tool has a rule, but the measured numbers still matter.</a:t>
            </a:r>
          </a:p>
          <a:p>
            <a:r>
              <a:t>SHOW IF ASKED: backup slides 25-27 (results checked against the rules)</a:t>
            </a:r>
          </a:p>
          <a:p>
            <a:r>
              <a:t>APPENDIX: Appendices K and M</a:t>
            </a:r>
          </a:p>
          <a:p/>
          <a:p>
            <a:r>
              <a:t>SCRIPT:</a:t>
            </a:r>
          </a:p>
          <a:p>
            <a:r>
              <a:t>I named 100 simulated users the peak scenario and 500 the heavier-load scenario in the test plan. This was not a measured peak from real customers. The study set p95 targets of 500 milliseconds and 1,200 milliseconds respectively. Those numbers are study choices, not universal standards. I compare the after-fix result with each target and still report the actual time, so the committee can see more than a pass/fail label.</a:t>
            </a:r>
          </a:p>
          <a:p/>
          <a:p>
            <a:r>
              <a:t>SOURCE: Current report Table 4.1 and §4.1; Document/JMETER_ZAP_TEST_PLAN.md §4.6.</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Codex suggested changes; I checked and measured them.</a:t>
            </a:r>
          </a:p>
          <a:p>
            <a:r>
              <a:t>SHOW IF ASKED: backup slides 28-29 (before/after code)</a:t>
            </a:r>
          </a:p>
          <a:p>
            <a:r>
              <a:t>APPENDIX: Appendices E-G, I, and K</a:t>
            </a:r>
          </a:p>
          <a:p/>
          <a:p>
            <a:r>
              <a:t>SCRIPT:</a:t>
            </a:r>
          </a:p>
          <a:p>
            <a:r>
              <a:t>Here is one example. SonarQube flagged a controller with eight query parameters. I showed Codex that warning and the relevant code. It suggested a request DTO. I reviewed the edit, ran tests, and scanned the changed branch again. SonarQube issues went from 17 to zero. I followed the same check-again process for ZAP and JMeter, including the JMeter target that was not met.</a:t>
            </a:r>
          </a:p>
          <a:p/>
          <a:p>
            <a:r>
              <a:t>SOURCE: Current report §§3.1.3-3.1.4, Appendices I and K.</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 three branches changed different parts of the API.</a:t>
            </a:r>
          </a:p>
          <a:p>
            <a:r>
              <a:t>SHOW IF ASKED: backup slides 28-29 (actual code changes)</a:t>
            </a:r>
          </a:p>
          <a:p>
            <a:r>
              <a:t>APPENDIX: Appendices E-G</a:t>
            </a:r>
          </a:p>
          <a:p/>
          <a:p>
            <a:r>
              <a:t>SCRIPT:</a:t>
            </a:r>
          </a:p>
          <a:p>
            <a:r>
              <a:t>For code quality, I replaced eight controller parameters with one request object. For security, I put security headers before Swagger. For performance, I added ledger caching and stopped saving a new report snapshot on that read path. These are the code changes I made; the next slides show whether the measurements improved.</a:t>
            </a:r>
          </a:p>
          <a:p/>
          <a:p>
            <a:r>
              <a:t>SOURCE: Current report Table 4.3 and Appendices E-G.</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measurable SonarQube improvement is 17 distinct issues to zero.</a:t>
            </a:r>
          </a:p>
          <a:p>
            <a:r>
              <a:t>SHOW IF ASKED: backup slides 25 and 31-32 (SonarQube data)</a:t>
            </a:r>
          </a:p>
          <a:p>
            <a:r>
              <a:t>APPENDIX: Appendices E, L, and M</a:t>
            </a:r>
          </a:p>
          <a:p/>
          <a:p>
            <a:r>
              <a:t>SCRIPT:</a:t>
            </a:r>
          </a:p>
          <a:p>
            <a:r>
              <a:t>SonarQube reported 17 distinct issues before the code change and zero after it. The gate status says OK for both scans, but the saved gate records contain no conditions, so I do not use OK alone as proof that the original code had no problems. Coverage fell slightly from 74.4 to 74.3 percent and complexity rose by three. The reliability, security, and maintainability labels can overlap; they are not extra issues to add to 17.</a:t>
            </a:r>
          </a:p>
          <a:p/>
          <a:p>
            <a:r>
              <a:t>SOURCE: Backup slides 25 and 31-32; SonarQube quality-gate.json and summary.json; current report Table 4.2, Appendices E and L.</a:t>
            </a:r>
          </a:p>
          <a:p>
            <a:r>
              <a:t>CAUTION: The full report lists OK/OK; explain that the captured gate response has an empty conditions list.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Both dashboards say OK, but the issue count is the useful comparison.</a:t>
            </a:r>
          </a:p>
          <a:p>
            <a:r>
              <a:t>SHOW IF ASKED: backup slides 25 and 31-32 (SonarQube detail)</a:t>
            </a:r>
          </a:p>
          <a:p>
            <a:r>
              <a:t>APPENDIX: Appendix L, Figures L.1-L.4</a:t>
            </a:r>
          </a:p>
          <a:p/>
          <a:p>
            <a:r>
              <a:t>SCRIPT:</a:t>
            </a:r>
          </a:p>
          <a:p>
            <a:r>
              <a:t>If asked why both Quality Gates passed, point out that the saved gate files show OK with an empty list of conditions on each branch. That status therefore did not distinguish the scans. The baseline had 17 distinct issues; the changed branch had zero. Coverage moved from 74.4 to 74.3 percent, so I show that small decrease too. These are screenshots of the tool, not a new chart I made.</a:t>
            </a:r>
          </a:p>
          <a:p/>
          <a:p>
            <a:r>
              <a:t>SOURCE: Backup slides 25 and 31-32; Appendix L Figures L.1-L.4; sonar/baseline and remediation quality-gate.json.</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remaining Medium alert is about the test connection.</a:t>
            </a:r>
          </a:p>
          <a:p>
            <a:r>
              <a:t>SHOW IF ASKED: backup slide 26 (current ZAP counts)</a:t>
            </a:r>
          </a:p>
          <a:p>
            <a:r>
              <a:t>APPENDIX: Appendices F and M</a:t>
            </a:r>
          </a:p>
          <a:p/>
          <a:p>
            <a:r>
              <a:t>SCRIPT:</a:t>
            </a:r>
          </a:p>
          <a:p>
            <a:r>
              <a:t>ZAP saw that this local API was served over HTTP, not HTTPS, and named the alert HTTP Only Site. The other low-level API alerts went from three to zero. I cannot say the Medium alert was fixed, because I did not run this scan against a working HTTPS endpoint. It is not impossible to fix: set up HTTPS and repeat the scan. The configured rule gate passed, but the raw Medium alert remains visible.</a:t>
            </a:r>
          </a:p>
          <a:p/>
          <a:p>
            <a:r>
              <a:t>SOURCE: Backup slide 26; current report §4.3, Appendices F and M; ZAP remediation raw API JSON alert 10106.</a:t>
            </a:r>
          </a:p>
          <a:p>
            <a:r>
              <a:t>CAUTION: The screenshots on backup slides 33-34 are historical; use slide 26 for current alert counts.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A dashboard screenshot and a fresh measurement can have different provenance.</a:t>
            </a:r>
          </a:p>
          <a:p>
            <a:r>
              <a:t>SHOW IF ASKED: backup slide 26 for current counts; slides 33-34 for historical images</a:t>
            </a:r>
          </a:p>
          <a:p>
            <a:r>
              <a:t>APPENDIX: Appendix L, Figures L.5-L.8</a:t>
            </a:r>
          </a:p>
          <a:p/>
          <a:p>
            <a:r>
              <a:t>SCRIPT:</a:t>
            </a:r>
          </a:p>
          <a:p>
            <a:r>
              <a:t>The side-by-side ZAP screenshots were rendered from earlier scan reports, and I label them historical on purpose. They show the tool's native alert summary and evidence layout. The current numerical claim comes from the fresh machine-readable scan JSON: one raw authenticated API Medium remains. This is why the thesis separates visual captures from current gate judgments.</a:t>
            </a:r>
          </a:p>
          <a:p/>
          <a:p>
            <a:r>
              <a:t>SOURCE: Dashboard-capture manifest, Appendix L Figures L.7-L.8, fresh ZAP summary.json.</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60 seconds</a:t>
            </a:r>
          </a:p>
          <a:p>
            <a:r>
              <a:t>KEY MESSAGE: User count and response-time percentile are different things.</a:t>
            </a:r>
          </a:p>
          <a:p>
            <a:r>
              <a:t>SHOW IF ASKED: backup slides 27 and 35-39 (JMeter profiles)</a:t>
            </a:r>
          </a:p>
          <a:p>
            <a:r>
              <a:t>APPENDIX: Appendices K and L</a:t>
            </a:r>
          </a:p>
          <a:p/>
          <a:p>
            <a:r>
              <a:t>SCRIPT:</a:t>
            </a:r>
          </a:p>
          <a:p>
            <a:r>
              <a:t>VU means simulated users. The 50, 100, and 500 VU tests use different user counts; 100 VU is only the planned peak scenario, not a measured customer peak. Soak keeps traffic going for a long time. Spike sends a sudden burst. p95 is a time in milliseconds: 95 percent of requests finish at or below it. Soak and spike are extra tests; they do not replace the three core user-count checks.</a:t>
            </a:r>
          </a:p>
          <a:p/>
          <a:p>
            <a:r>
              <a:t>SOURCE: Current report §§3.8 and 4.4, Appendix K.</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90 seconds</a:t>
            </a:r>
          </a:p>
          <a:p>
            <a:r>
              <a:t>KEY MESSAGE: The code changes did not meet the core speed target; the precise cause is unknown.</a:t>
            </a:r>
          </a:p>
          <a:p>
            <a:r>
              <a:t>SHOW IF ASKED: backup slides 27, 29, and 36-37 (result, code, dashboards)</a:t>
            </a:r>
          </a:p>
          <a:p>
            <a:r>
              <a:t>APPENDIX: Appendices G, K, L, and N</a:t>
            </a:r>
          </a:p>
          <a:p/>
          <a:p>
            <a:r>
              <a:t>SCRIPT:</a:t>
            </a:r>
          </a:p>
          <a:p>
            <a:r>
              <a:t>The performance branch cached account-ledger data and stopped saving a new report snapshot on that read path. These changes were meant to reduce repeated work. In the fresh run, 100-user p95 rose from 255.9 to 1,146.9 milliseconds and 500-user p95 rose from 106 to 1,547.95 milliseconds. Both exceeded our study limits, although request errors stayed at zero. I cannot identify one cause for the slowdown: we have one run and no saved CPU, memory, database-query, or cache-hit measurements. I would repeat the tests with those measurements before blaming the code or the test computer.</a:t>
            </a:r>
          </a:p>
          <a:p/>
          <a:p>
            <a:r>
              <a:t>SOURCE: Backup slide 29 and Appendix G for the code; slide 27 and slides 36-37 for the numbers and dashboards; Appendices K, L, and N for controls and limits.</a:t>
            </a:r>
          </a:p>
          <a:p>
            <a:r>
              <a:t>CAUTION: Do not say caching or the host caused the slowdown; the evidence does not isolate either cause.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75 seconds</a:t>
            </a:r>
          </a:p>
          <a:p>
            <a:r>
              <a:t>KEY MESSAGE: Two additional tests improved, but the main user-count checks did not.</a:t>
            </a:r>
          </a:p>
          <a:p>
            <a:r>
              <a:t>SHOW IF ASKED: backup slides 27 and 38-39 (soak and spike)</a:t>
            </a:r>
          </a:p>
          <a:p>
            <a:r>
              <a:t>APPENDIX: Appendix L, Figures L.12-L.13 and L.17-L.18</a:t>
            </a:r>
          </a:p>
          <a:p/>
          <a:p>
            <a:r>
              <a:t>SCRIPT:</a:t>
            </a:r>
          </a:p>
          <a:p>
            <a:r>
              <a:t>Soak kept traffic going steadily; its total p95 fell from 443.95 to 171 milliseconds. Spike sent a sudden burst; its total p95 fell from about 33.4 seconds to 4.73 seconds. These are better results for those two tests. They are not the same thing as the 500-VU user-count test, and they do not erase the slower 100- and 500-VU core results. That is why I say the performance evidence is mixed.</a:t>
            </a:r>
          </a:p>
          <a:p/>
          <a:p>
            <a:r>
              <a:t>SOURCE: Fresh JMeter baseline/remediation summary.json;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One report endpoint improved in one test and slowed in another.</a:t>
            </a:r>
          </a:p>
          <a:p>
            <a:r>
              <a:t>SHOW IF ASKED: backup slides 27, 29, and 38-39 (mixed endpoint behavior)</a:t>
            </a:r>
          </a:p>
          <a:p>
            <a:r>
              <a:t>APPENDIX: Appendix G; Table 4.4</a:t>
            </a:r>
          </a:p>
          <a:p/>
          <a:p>
            <a:r>
              <a:t>SCRIPT:</a:t>
            </a:r>
          </a:p>
          <a:p>
            <a:r>
              <a:t>The account-ledger endpoint got slower during the long soak test: p95 rose from about 742 to 3,826 milliseconds. During the sudden spike test it improved, from about 50.3 seconds to 12.9 seconds. This does not tell us why. It shows that I cannot claim every report request became faster under every workload.</a:t>
            </a:r>
          </a:p>
          <a:p/>
          <a:p>
            <a:r>
              <a:t>SOURCE: Current report Table 4.4 and Appendix G.</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70 seconds</a:t>
            </a:r>
          </a:p>
          <a:p>
            <a:r>
              <a:t>KEY MESSAGE: These are app screens, not speed-test results.</a:t>
            </a:r>
          </a:p>
          <a:p>
            <a:r>
              <a:t>SHOW IF ASKED: backup slides 40-42 (browser views)</a:t>
            </a:r>
          </a:p>
          <a:p>
            <a:r>
              <a:t>APPENDIX: Appendix J; Figures 4.2-4.7</a:t>
            </a:r>
          </a:p>
          <a:p/>
          <a:p>
            <a:r>
              <a:t>SCRIPT:</a:t>
            </a:r>
          </a:p>
          <a:p>
            <a:r>
              <a:t>The pictures show the admin dashboard and a journal entry whose debit and credit lines balance. They help demonstrate that a person can use the API through the web app. They do not show how fast the API is. For performance evidence, use backup slide 27 or the JMeter dashboards on slides 35-39.</a:t>
            </a:r>
          </a:p>
          <a:p/>
          <a:p>
            <a:r>
              <a:t>SOURCE: Current report §4.6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study does not support a blanket claim that everything improved.</a:t>
            </a:r>
          </a:p>
          <a:p>
            <a:r>
              <a:t>SHOW IF ASKED: backup slides 25-27 (outcome details)</a:t>
            </a:r>
          </a:p>
          <a:p>
            <a:r>
              <a:t>APPENDIX: Appendices M and N</a:t>
            </a:r>
          </a:p>
          <a:p/>
          <a:p>
            <a:r>
              <a:t>SCRIPT:</a:t>
            </a:r>
          </a:p>
          <a:p>
            <a:r>
              <a:t>Code warnings fell from 17 to zero, although coverage fell a little and complexity rose. ZAP's selected checks passed, but the local HTTP alert stayed. JMeter missed the main 100- and 500-user speed targets even though soak and spike improved. This is one API on one computer with one fresh run per branch. We did not save CPU and memory readings for those runs, so I would repeat the tests before claiming the result applies elsewhere.</a:t>
            </a:r>
          </a:p>
          <a:p/>
          <a:p>
            <a:r>
              <a:t>SOURCE: Current report Table 4.5 and Appendix N.</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80 seconds</a:t>
            </a:r>
          </a:p>
          <a:p>
            <a:r>
              <a:t>KEY MESSAGE: The contribution is a way to check AI suggestions, including when they do not work.</a:t>
            </a:r>
          </a:p>
          <a:p>
            <a:r>
              <a:t>SHOW IF ASKED: backup slide 23 (where every claim is checked)</a:t>
            </a:r>
          </a:p>
          <a:p>
            <a:r>
              <a:t>APPENDIX: Appendices A, M, and N</a:t>
            </a:r>
          </a:p>
          <a:p/>
          <a:p>
            <a:r>
              <a:t>SCRIPT:</a:t>
            </a:r>
          </a:p>
          <a:p>
            <a:r>
              <a:t>Codex helped me propose code changes. A person reviewed them, and the original tools measured the results. Code warnings reached zero and selected security checks passed, but the main performance target was not met. My contribution is the traceable process and this honest mixed result, not a claim that ChatGPT always improves an API. Thank you; I welcome questions.</a:t>
            </a:r>
          </a:p>
          <a:p/>
          <a:p>
            <a:r>
              <a:t>SOURCE: Current report Chapter 5 and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evidence map.</a:t>
            </a:r>
          </a:p>
          <a:p/>
          <a:p>
            <a:r>
              <a:t>SCRIPT:</a:t>
            </a:r>
          </a:p>
          <a:p>
            <a:r>
              <a:t>Start with the claim in the left column. The middle column names the raw result file; the right column names the report section. The first row confirms the 120 seeded accounts used by the tests.</a:t>
            </a:r>
          </a:p>
          <a:p/>
          <a:p>
            <a:r>
              <a:t>SOURCE: branch-verification.json dataset counts; current report Appendices A-N.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branch provenance.</a:t>
            </a:r>
          </a:p>
          <a:p/>
          <a:p>
            <a:r>
              <a:t>SCRIPT:</a:t>
            </a:r>
          </a:p>
          <a:p>
            <a:r>
              <a:t>Open this slide if asked for proof. Point to the relevant number or code change, then name the source shown on the slide.</a:t>
            </a:r>
          </a:p>
          <a:p/>
          <a:p>
            <a:r>
              <a:t>SOURCE: Current report Appendix A and Table 3.1.</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SonarQube metrics.</a:t>
            </a:r>
          </a:p>
          <a:p/>
          <a:p>
            <a:r>
              <a:t>SCRIPT:</a:t>
            </a:r>
          </a:p>
          <a:p>
            <a:r>
              <a:t>Point to Total unique issues: 17 before, zero after. The gate status is OK on both, but no gate conditions were saved, so do not use that status alone to claim improvement. Coverage slipped by 0.1 percentage point.</a:t>
            </a:r>
          </a:p>
          <a:p/>
          <a:p>
            <a:r>
              <a:t>SOURCE: Current report Table 4.2; fresh SonarQube summary.json and quality-gate.json.</a:t>
            </a:r>
          </a:p>
          <a:p>
            <a:r>
              <a:t>CAUTION: * MQR impacts overlap; do not sum them as unique issues. Both saved gate files have an empty conditions list.</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ZAP outcomes.</a:t>
            </a:r>
          </a:p>
          <a:p/>
          <a:p>
            <a:r>
              <a:t>SCRIPT:</a:t>
            </a:r>
          </a:p>
          <a:p>
            <a:r>
              <a:t>Point to the Auth API after-fix row: Medium is still one, while Low is zero. The Medium is HTTP Only Site because the local scan used HTTP. The configured rule gate passed, but this raw alert was not cleared; an HTTPS retest is needed.</a:t>
            </a:r>
          </a:p>
          <a:p/>
          <a:p>
            <a:r>
              <a:t>SOURCE: Current report §4.3 and fresh ZAP summary.json.</a:t>
            </a:r>
          </a:p>
          <a:p>
            <a:r>
              <a:t>CAUTION: Do not infer fresh zero-Medium API outcome from historical dashboards.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full fresh JMeter matrix.</a:t>
            </a:r>
          </a:p>
          <a:p/>
          <a:p>
            <a:r>
              <a:t>SCRIPT:</a:t>
            </a:r>
          </a:p>
          <a:p>
            <a:r>
              <a:t>Point to the 100- and 500-VU rows. Their after-fix p95 values are higher than before and exceed the study limits, so the core target was not met. Soak and spike have lower p95 after the fix, but those are separate tests.</a:t>
            </a:r>
          </a:p>
          <a:p/>
          <a:p>
            <a:r>
              <a:t>SOURCE: Fresh JMeter baseline/remediation summary.json and current report §4.4.</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S107 controller DTO change.</a:t>
            </a:r>
          </a:p>
          <a:p/>
          <a:p>
            <a:r>
              <a:t>SCRIPT:</a:t>
            </a:r>
          </a:p>
          <a:p>
            <a:r>
              <a:t>Open this slide if asked for proof. Point to the relevant number or code change, then name the source shown on the slide.</a:t>
            </a:r>
          </a:p>
          <a:p/>
          <a:p>
            <a:r>
              <a:t>SOURCE: Current report Listing E.1, Table 4.3, Appendix E.</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security and performance source paths.</a:t>
            </a:r>
          </a:p>
          <a:p/>
          <a:p>
            <a:r>
              <a:t>SCRIPT:</a:t>
            </a:r>
          </a:p>
          <a:p>
            <a:r>
              <a:t>The left side shows the security-header change. The right side shows the performance attempt: cache ledger data and avoid a report snapshot write on this read path. This proves the change was made, not that it made the API faster. For speed numbers, open backup slide 27 and dashboards 36-37.</a:t>
            </a:r>
          </a:p>
          <a:p/>
          <a:p>
            <a:r>
              <a:t>SOURCE: Current report Appendices F and G.</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authorization and accounting evidence.</a:t>
            </a:r>
          </a:p>
          <a:p/>
          <a:p>
            <a:r>
              <a:t>SCRIPT:</a:t>
            </a:r>
          </a:p>
          <a:p>
            <a:r>
              <a:t>Open this slide if asked for proof. Point to the relevant number or code change, then name the source shown on the slide.</a:t>
            </a:r>
          </a:p>
          <a:p/>
          <a:p>
            <a:r>
              <a:t>SOURCE: Current report Appendices C, D, I and Figures 4.2-4.7.</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overview · baseline vs remediation.</a:t>
            </a:r>
          </a:p>
          <a:p/>
          <a:p>
            <a:r>
              <a:t>SCRIPT:</a:t>
            </a:r>
          </a:p>
          <a:p>
            <a:r>
              <a:t>The two current screenshots show different issue counts: 17 before and zero after. Both show Quality Gate OK, but the saved gate files contain no conditions. Do not present OK/OK as the evidence of improvement; use the issue counts and disclose that coverage fell slightly.</a:t>
            </a:r>
          </a:p>
          <a:p/>
          <a:p>
            <a:r>
              <a:t>SOURCE: Appendix L Figures L.1 and L.3</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SonarQube issues · baseline vs remediation.</a:t>
            </a:r>
          </a:p>
          <a:p/>
          <a:p>
            <a:r>
              <a:t>SCRIPT:</a:t>
            </a:r>
          </a:p>
          <a:p>
            <a:r>
              <a:t>Point to the issue list: the baseline has 17 distinct findings and the changed branch has zero. These are the direct issue-count views; the gate status is separate.</a:t>
            </a:r>
          </a:p>
          <a:p/>
          <a:p>
            <a:r>
              <a:t>SOURCE: Appendix L Figures L.2 and L.4</a:t>
            </a:r>
          </a:p>
          <a:p>
            <a:r>
              <a:t>CAUTION: Capture classification: fresh-reproduction. Baseline origin/baseline-v0.1 @ 7a0469d9, run 20260922-183352; remediation origin/baseline-sonarqube-v1 @ a2279bcb, run 20260922-183352.</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ZAP passive scan · historical dashboard capture.</a:t>
            </a:r>
          </a:p>
          <a:p/>
          <a:p>
            <a:r>
              <a:t>SCRIPT:</a:t>
            </a:r>
          </a:p>
          <a:p>
            <a:r>
              <a:t>These images came from earlier scans and show the native ZAP view. For the current passive counts, open backup slide 26. Do not read these old pictures as the fresh result.</a:t>
            </a:r>
          </a:p>
          <a:p/>
          <a:p>
            <a:r>
              <a:t>SOURCE: Appendix L Figures L.5 and L.6; fresh ZAP summary.json</a:t>
            </a:r>
          </a:p>
          <a:p>
            <a:r>
              <a:t>CAUTION: Capture classification: rendered-historical. Baseline origin/baseline-v0.1 @ 7a0469d9, run 20260222-230133; remediation origin/baseline-zap-v1 @ 5f3bd3cc, run 20260324-000724.</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ZAP authenticated API · historical dashboard capture.</a:t>
            </a:r>
          </a:p>
          <a:p/>
          <a:p>
            <a:r>
              <a:t>SCRIPT:</a:t>
            </a:r>
          </a:p>
          <a:p>
            <a:r>
              <a:t>These images are historical. The current authenticated API scan still has one Medium HTTP Only Site alert. Show backup slide 26 for current counts, not this older picture.</a:t>
            </a:r>
          </a:p>
          <a:p/>
          <a:p>
            <a:r>
              <a:t>SOURCE: Appendix L Figures L.7 and L.8; fresh ZAP summary.json</a:t>
            </a:r>
          </a:p>
          <a:p>
            <a:r>
              <a:t>CAUTION: Capture classification: rendered-historical. Baseline origin/baseline-v0.1 @ 7a0469d9, run 20260222-230133; remediation origin/baseline-zap-v1 @ 5f3bd3cc, run 20260324-000856.</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 VU · baseline vs remediation.</a:t>
            </a:r>
          </a:p>
          <a:p/>
          <a:p>
            <a:r>
              <a:t>SCRIPT:</a:t>
            </a:r>
          </a:p>
          <a:p>
            <a:r>
              <a:t>At 50 simulated users, total p95 rose from 33 to 199.9 milliseconds. It is slower after the code change, even though it stayed below this study's 300-millisecond limit.</a:t>
            </a:r>
          </a:p>
          <a:p/>
          <a:p>
            <a:r>
              <a:t>SOURCE: Appendix L Figures L.9 and L.14;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100 VU · baseline vs remediation.</a:t>
            </a:r>
          </a:p>
          <a:p/>
          <a:p>
            <a:r>
              <a:t>SCRIPT:</a:t>
            </a:r>
          </a:p>
          <a:p>
            <a:r>
              <a:t>In the Total row, find the 95th-percentile response time. At 100 VU, it rose from 255.9 to 1146.9 milliseconds. The after-fix value is above this study's 500-millisecond limit, so the core target was not met. This is a measurement, not proof of what caused the slowdown.</a:t>
            </a:r>
          </a:p>
          <a:p/>
          <a:p>
            <a:r>
              <a:t>SOURCE: Appendix L Figures L.10 and L.15;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500 VU · baseline vs remediation.</a:t>
            </a:r>
          </a:p>
          <a:p/>
          <a:p>
            <a:r>
              <a:t>SCRIPT:</a:t>
            </a:r>
          </a:p>
          <a:p>
            <a:r>
              <a:t>In the Total row, find the 95th-percentile response time. At 500 VU, it rose from 106 to 1547.95 milliseconds. The after-fix value is above this study's 1200-millisecond limit, so the core target was not met. This is a measurement, not proof of what caused the slowdown.</a:t>
            </a:r>
          </a:p>
          <a:p/>
          <a:p>
            <a:r>
              <a:t>SOURCE: Appendix L Figures L.11 and L.16;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soak · baseline vs remediation.</a:t>
            </a:r>
          </a:p>
          <a:p/>
          <a:p>
            <a:r>
              <a:t>SCRIPT:</a:t>
            </a:r>
          </a:p>
          <a:p>
            <a:r>
              <a:t>This long steady soak test had a lower total p95 after the change: 443.95 to 171 milliseconds. That is an improvement for this test only. It does not change the unmet 100- and 500-user core targets on slide 27.</a:t>
            </a:r>
          </a:p>
          <a:p/>
          <a:p>
            <a:r>
              <a:t>SOURCE: Appendix L Figures L.12 and L.17;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JMeter spike · baseline vs remediation.</a:t>
            </a:r>
          </a:p>
          <a:p/>
          <a:p>
            <a:r>
              <a:t>SCRIPT:</a:t>
            </a:r>
          </a:p>
          <a:p>
            <a:r>
              <a:t>This sudden spike test had a lower total p95 after the change: 33401.8 to 4730.85 milliseconds. That is an improvement for this test only. It does not change the unmet 100- and 500-user core targets on slide 27.</a:t>
            </a:r>
          </a:p>
          <a:p/>
          <a:p>
            <a:r>
              <a:t>SOURCE: Appendix L Figures L.13 and L.18; fresh JMeter summary.json</a:t>
            </a:r>
          </a:p>
          <a:p>
            <a:r>
              <a:t>CAUTION: Capture classification: fresh-reproduction. Baseline origin/baseline-v0.1 @ 7a0469d9, run baseline-20260922-192730; remediation origin/baseline-jmeter-v1 @ 78b08b62, run remediation-20260922-200712.</a:t>
            </a:r>
          </a:p>
        </p:txBody>
      </p:sp>
      <p:sp>
        <p:nvSpPr>
          <p:cNvPr id="4" name="Slide Number Placeholder 3"/>
          <p:cNvSpPr>
            <a:spLocks noGrp="1"/>
          </p:cNvSpPr>
          <p:nvPr>
            <p:ph type="sldNum" idx="5" sz="quarter"/>
          </p:nvPr>
        </p:nvSpPr>
        <p:spPr/>
      </p:sp>
    </p:spTree>
  </p:cSld>
  <p:clrMapOvr>
    <a:masterClrMapping/>
  </p:clrMapOvr>
</p:notes>
</file>

<file path=ppt/notesSlides/notesSlide4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 screens—not load-test data.</a:t>
            </a:r>
          </a:p>
          <a:p/>
          <a:p>
            <a:r>
              <a:t>SCRIPT:</a:t>
            </a:r>
          </a:p>
          <a:p>
            <a:r>
              <a:t>These pictures show that a person can use the application and see its accounting screens. They do not measure speed. For JMeter response times, open backup slide 27 or dashboards 35-39.</a:t>
            </a:r>
          </a:p>
          <a:p/>
          <a:p>
            <a:r>
              <a:t>SOURCE: Current report Figures 4.2 and 4.3</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audit and role restrictions.</a:t>
            </a:r>
          </a:p>
          <a:p/>
          <a:p>
            <a:r>
              <a:t>SCRIPT:</a:t>
            </a:r>
          </a:p>
          <a:p>
            <a:r>
              <a:t>These pictures show that a person can use the application and see its accounting screens. They do not measure speed. For JMeter response times, open backup slide 27 or dashboards 35-39.</a:t>
            </a:r>
          </a:p>
          <a:p/>
          <a:p>
            <a:r>
              <a:t>SOURCE: Current report Figures 4.4 and 4.5</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notesSlides/notesSlide4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TIMING: 0 seconds</a:t>
            </a:r>
          </a:p>
          <a:p>
            <a:r>
              <a:t>KEY MESSAGE: Backup evidence: Application: evidence and balanced journal lines.</a:t>
            </a:r>
          </a:p>
          <a:p/>
          <a:p>
            <a:r>
              <a:t>SCRIPT:</a:t>
            </a:r>
          </a:p>
          <a:p>
            <a:r>
              <a:t>These pictures show that a person can use the application and see its accounting screens. They do not measure speed. For JMeter response times, open backup slide 27 or dashboards 35-39.</a:t>
            </a:r>
          </a:p>
          <a:p/>
          <a:p>
            <a:r>
              <a:t>SOURCE: Current report Figures 4.6 and 4.7</a:t>
            </a:r>
          </a:p>
          <a:p>
            <a:r>
              <a:t>CAUTION: These are browser workflow captures; visible live application counts are not JMeter benchmark metrics.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6.png"/><Relationship Id="rId4"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9.png"/><Relationship Id="rId3" Type="http://schemas.openxmlformats.org/officeDocument/2006/relationships/image" Target="../media/image10.png"/><Relationship Id="rId4"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 Id="rId3" Type="http://schemas.openxmlformats.org/officeDocument/2006/relationships/image" Target="../media/image4.png"/><Relationship Id="rId4"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1.png"/><Relationship Id="rId3" Type="http://schemas.openxmlformats.org/officeDocument/2006/relationships/image" Target="../media/image12.png"/><Relationship Id="rId4"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3.png"/><Relationship Id="rId3" Type="http://schemas.openxmlformats.org/officeDocument/2006/relationships/image" Target="../media/image14.png"/><Relationship Id="rId4"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5.png"/><Relationship Id="rId3" Type="http://schemas.openxmlformats.org/officeDocument/2006/relationships/image" Target="../media/image16.png"/><Relationship Id="rId4"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9.png"/><Relationship Id="rId3" Type="http://schemas.openxmlformats.org/officeDocument/2006/relationships/image" Target="../media/image20.png"/><Relationship Id="rId4" Type="http://schemas.openxmlformats.org/officeDocument/2006/relationships/notesSlide" Target="../notesSlides/notesSlide39.xml"/></Relationships>
</file>

<file path=ppt/slides/_rels/slide4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 Id="rId3" Type="http://schemas.openxmlformats.org/officeDocument/2006/relationships/image" Target="../media/image21.png"/><Relationship Id="rId4" Type="http://schemas.openxmlformats.org/officeDocument/2006/relationships/notesSlide" Target="../notesSlides/notesSlide40.xml"/></Relationships>
</file>

<file path=ppt/slides/_rels/slide4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notesSlide" Target="../notesSlides/notesSlide41.xml"/></Relationships>
</file>

<file path=ppt/slides/_rels/slide4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4.png"/><Relationship Id="rId3" Type="http://schemas.openxmlformats.org/officeDocument/2006/relationships/image" Target="../media/image6.png"/><Relationship Id="rId4" Type="http://schemas.openxmlformats.org/officeDocument/2006/relationships/notesSlide" Target="../notesSlides/notesSlide42.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82880"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658368" y="502920"/>
            <a:ext cx="10789920" cy="292608"/>
          </a:xfrm>
          <a:prstGeom prst="rect">
            <a:avLst/>
          </a:prstGeom>
          <a:noFill/>
        </p:spPr>
        <p:txBody>
          <a:bodyPr wrap="square" lIns="18288" rIns="18288" tIns="18288" bIns="18288" anchor="ctr">
            <a:spAutoFit/>
          </a:bodyPr>
          <a:lstStyle/>
          <a:p>
            <a:pPr algn="l">
              <a:spcBef>
                <a:spcPts val="0"/>
              </a:spcBef>
              <a:spcAft>
                <a:spcPts val="0"/>
              </a:spcAft>
            </a:pPr>
            <a:r>
              <a:rPr sz="1500" b="1">
                <a:solidFill>
                  <a:srgbClr val="0F676D"/>
                </a:solidFill>
                <a:latin typeface="Arial"/>
              </a:rPr>
              <a:t>FINAL THESIS DEFENSE</a:t>
            </a:r>
          </a:p>
        </p:txBody>
      </p:sp>
      <p:sp>
        <p:nvSpPr>
          <p:cNvPr id="4" name="TextBox 3"/>
          <p:cNvSpPr txBox="1"/>
          <p:nvPr/>
        </p:nvSpPr>
        <p:spPr>
          <a:xfrm>
            <a:off x="658368" y="1115568"/>
            <a:ext cx="10771632" cy="1920240"/>
          </a:xfrm>
          <a:prstGeom prst="rect">
            <a:avLst/>
          </a:prstGeom>
          <a:noFill/>
        </p:spPr>
        <p:txBody>
          <a:bodyPr wrap="square" lIns="18288" rIns="18288" tIns="18288" bIns="18288" anchor="t">
            <a:spAutoFit/>
          </a:bodyPr>
          <a:lstStyle/>
          <a:p>
            <a:pPr algn="l">
              <a:spcBef>
                <a:spcPts val="0"/>
              </a:spcBef>
              <a:spcAft>
                <a:spcPts val="0"/>
              </a:spcAft>
            </a:pPr>
            <a:r>
              <a:rPr sz="3100" b="1">
                <a:solidFill>
                  <a:srgbClr val="252B33"/>
                </a:solidFill>
                <a:latin typeface="Arial"/>
              </a:rPr>
              <a:t>Evaluating ChatGPT for Security, Performance, and Code-Quality Improvement of a Financial Accounting REST API: A Branch-Isolated Baseline Study</a:t>
            </a:r>
          </a:p>
        </p:txBody>
      </p:sp>
      <p:cxnSp>
        <p:nvCxnSpPr>
          <p:cNvPr id="5" name="Connector 4"/>
          <p:cNvCxnSpPr/>
          <p:nvPr/>
        </p:nvCxnSpPr>
        <p:spPr>
          <a:xfrm>
            <a:off x="658368" y="3246120"/>
            <a:ext cx="10789920" cy="0"/>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658368" y="3593592"/>
            <a:ext cx="8686800" cy="41148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252B33"/>
                </a:solidFill>
                <a:latin typeface="Arial"/>
              </a:rPr>
              <a:t>Zaw Ye Htut Ko  |  G6519692</a:t>
            </a:r>
          </a:p>
        </p:txBody>
      </p:sp>
      <p:sp>
        <p:nvSpPr>
          <p:cNvPr id="7" name="TextBox 6"/>
          <p:cNvSpPr txBox="1"/>
          <p:nvPr/>
        </p:nvSpPr>
        <p:spPr>
          <a:xfrm>
            <a:off x="658368" y="4133087"/>
            <a:ext cx="10332720" cy="32004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Master of Science in Information Technology  |  Assumption University</a:t>
            </a:r>
          </a:p>
        </p:txBody>
      </p:sp>
      <p:sp>
        <p:nvSpPr>
          <p:cNvPr id="8" name="TextBox 7"/>
          <p:cNvSpPr txBox="1"/>
          <p:nvPr/>
        </p:nvSpPr>
        <p:spPr>
          <a:xfrm>
            <a:off x="658368" y="4617720"/>
            <a:ext cx="9966960" cy="310896"/>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5B6874"/>
                </a:solidFill>
                <a:latin typeface="Arial"/>
              </a:rPr>
              <a:t>Advisor: Asst. Prof. Dr. Darun Kesrarat</a:t>
            </a:r>
          </a:p>
        </p:txBody>
      </p:sp>
      <p:sp>
        <p:nvSpPr>
          <p:cNvPr id="9" name="Rounded Rectangle 8"/>
          <p:cNvSpPr/>
          <p:nvPr/>
        </p:nvSpPr>
        <p:spPr>
          <a:xfrm>
            <a:off x="658368" y="5669280"/>
            <a:ext cx="10771632" cy="603504"/>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68680" y="5760720"/>
            <a:ext cx="10332720" cy="39319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0F676D"/>
                </a:solidFill>
                <a:latin typeface="Arial"/>
              </a:rPr>
              <a:t>One existing API · one shared baseline · three independent measurements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OPENING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fresh evidence is mixed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§4.5; Table 4.5; Appendix M</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a:t>
            </a:r>
          </a:p>
        </p:txBody>
      </p:sp>
      <p:sp>
        <p:nvSpPr>
          <p:cNvPr id="9" name="Rounded Rectangle 8"/>
          <p:cNvSpPr/>
          <p:nvPr/>
        </p:nvSpPr>
        <p:spPr>
          <a:xfrm>
            <a:off x="713232" y="1426464"/>
            <a:ext cx="3456432"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STATIC QUALITY</a:t>
            </a:r>
          </a:p>
        </p:txBody>
      </p:sp>
      <p:sp>
        <p:nvSpPr>
          <p:cNvPr id="11" name="TextBox 10"/>
          <p:cNvSpPr txBox="1"/>
          <p:nvPr/>
        </p:nvSpPr>
        <p:spPr>
          <a:xfrm>
            <a:off x="8778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to 0</a:t>
            </a:r>
          </a:p>
        </p:txBody>
      </p:sp>
      <p:sp>
        <p:nvSpPr>
          <p:cNvPr id="12" name="TextBox 11"/>
          <p:cNvSpPr txBox="1"/>
          <p:nvPr/>
        </p:nvSpPr>
        <p:spPr>
          <a:xfrm>
            <a:off x="8778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Unique SonarQube issues</a:t>
            </a:r>
          </a:p>
        </p:txBody>
      </p:sp>
      <p:sp>
        <p:nvSpPr>
          <p:cNvPr id="13" name="Rounded Rectangle 12"/>
          <p:cNvSpPr/>
          <p:nvPr/>
        </p:nvSpPr>
        <p:spPr>
          <a:xfrm>
            <a:off x="4370832" y="1426464"/>
            <a:ext cx="3456432"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SECURITY</a:t>
            </a:r>
          </a:p>
        </p:txBody>
      </p:sp>
      <p:sp>
        <p:nvSpPr>
          <p:cNvPr id="15" name="TextBox 14"/>
          <p:cNvSpPr txBox="1"/>
          <p:nvPr/>
        </p:nvSpPr>
        <p:spPr>
          <a:xfrm>
            <a:off x="4535424"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Gate PASS</a:t>
            </a:r>
          </a:p>
        </p:txBody>
      </p:sp>
      <p:sp>
        <p:nvSpPr>
          <p:cNvPr id="16" name="TextBox 15"/>
          <p:cNvSpPr txBox="1"/>
          <p:nvPr/>
        </p:nvSpPr>
        <p:spPr>
          <a:xfrm>
            <a:off x="4535424"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One raw API Medium remains</a:t>
            </a:r>
          </a:p>
        </p:txBody>
      </p:sp>
      <p:sp>
        <p:nvSpPr>
          <p:cNvPr id="17" name="Rounded Rectangle 16"/>
          <p:cNvSpPr/>
          <p:nvPr/>
        </p:nvSpPr>
        <p:spPr>
          <a:xfrm>
            <a:off x="8028431" y="1426464"/>
            <a:ext cx="3456432" cy="1115568"/>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36192"/>
            <a:ext cx="31272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PERFORMANCE</a:t>
            </a:r>
          </a:p>
        </p:txBody>
      </p:sp>
      <p:sp>
        <p:nvSpPr>
          <p:cNvPr id="19" name="TextBox 18"/>
          <p:cNvSpPr txBox="1"/>
          <p:nvPr/>
        </p:nvSpPr>
        <p:spPr>
          <a:xfrm>
            <a:off x="8193023" y="1783080"/>
            <a:ext cx="31272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3373D"/>
                </a:solidFill>
                <a:latin typeface="Arial"/>
              </a:rPr>
              <a:t>Target not met</a:t>
            </a:r>
          </a:p>
        </p:txBody>
      </p:sp>
      <p:sp>
        <p:nvSpPr>
          <p:cNvPr id="20" name="TextBox 19"/>
          <p:cNvSpPr txBox="1"/>
          <p:nvPr/>
        </p:nvSpPr>
        <p:spPr>
          <a:xfrm>
            <a:off x="8193023" y="2276856"/>
            <a:ext cx="31272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100 and 500 VU exceed limits</a:t>
            </a:r>
          </a:p>
        </p:txBody>
      </p:sp>
      <p:sp>
        <p:nvSpPr>
          <p:cNvPr id="21" name="Rounded Rectangle 20"/>
          <p:cNvSpPr/>
          <p:nvPr/>
        </p:nvSpPr>
        <p:spPr>
          <a:xfrm>
            <a:off x="713232" y="2999232"/>
            <a:ext cx="10771632" cy="241401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0120" y="3310128"/>
            <a:ext cx="9966960" cy="329184"/>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Defensible conclusion</a:t>
            </a:r>
          </a:p>
        </p:txBody>
      </p:sp>
      <p:sp>
        <p:nvSpPr>
          <p:cNvPr id="23" name="TextBox 22"/>
          <p:cNvSpPr txBox="1"/>
          <p:nvPr/>
        </p:nvSpPr>
        <p:spPr>
          <a:xfrm>
            <a:off x="960120" y="3749039"/>
            <a:ext cx="9966960" cy="1188720"/>
          </a:xfrm>
          <a:prstGeom prst="rect">
            <a:avLst/>
          </a:prstGeom>
          <a:noFill/>
        </p:spPr>
        <p:txBody>
          <a:bodyPr wrap="square" lIns="18288" rIns="18288" tIns="18288" bIns="18288" anchor="ctr">
            <a:spAutoFit/>
          </a:bodyPr>
          <a:lstStyle/>
          <a:p>
            <a:pPr algn="l">
              <a:spcBef>
                <a:spcPts val="0"/>
              </a:spcBef>
              <a:spcAft>
                <a:spcPts val="0"/>
              </a:spcAft>
            </a:pPr>
            <a:r>
              <a:rPr sz="2300" b="0">
                <a:solidFill>
                  <a:srgbClr val="252B33"/>
                </a:solidFill>
                <a:latin typeface="Arial"/>
              </a:rPr>
              <a:t>ChatGPT-guided remediation closed the fresh static issues and passed the configured ZAP gate. It did not meet the predefined core performance target, despite better soak and spike aggregates.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financial API has three different risks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§§1.1-1.4 and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a:t>
            </a:r>
          </a:p>
        </p:txBody>
      </p:sp>
      <p:sp>
        <p:nvSpPr>
          <p:cNvPr id="9" name="Rounded Rectangle 8"/>
          <p:cNvSpPr/>
          <p:nvPr/>
        </p:nvSpPr>
        <p:spPr>
          <a:xfrm>
            <a:off x="713232" y="1572768"/>
            <a:ext cx="3456432" cy="3337560"/>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13232" y="1572768"/>
            <a:ext cx="91440" cy="333756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0F676D"/>
                </a:solidFill>
                <a:latin typeface="Arial"/>
              </a:rPr>
              <a:t>Maintainability</a:t>
            </a:r>
          </a:p>
        </p:txBody>
      </p:sp>
      <p:sp>
        <p:nvSpPr>
          <p:cNvPr id="12" name="TextBox 11"/>
          <p:cNvSpPr txBox="1"/>
          <p:nvPr/>
        </p:nvSpPr>
        <p:spPr>
          <a:xfrm>
            <a:off x="9418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Code smells, complex controller signatures, and repeated logic</a:t>
            </a:r>
          </a:p>
        </p:txBody>
      </p:sp>
      <p:sp>
        <p:nvSpPr>
          <p:cNvPr id="13" name="Rounded Rectangle 12"/>
          <p:cNvSpPr/>
          <p:nvPr/>
        </p:nvSpPr>
        <p:spPr>
          <a:xfrm>
            <a:off x="4370832" y="1572768"/>
            <a:ext cx="3456432" cy="3337560"/>
          </a:xfrm>
          <a:prstGeom prst="roundRect">
            <a:avLst/>
          </a:prstGeom>
          <a:solidFill>
            <a:srgbClr val="FDEFF0"/>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4370832" y="1572768"/>
            <a:ext cx="91440" cy="333756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599432"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Security</a:t>
            </a:r>
          </a:p>
        </p:txBody>
      </p:sp>
      <p:sp>
        <p:nvSpPr>
          <p:cNvPr id="16" name="TextBox 15"/>
          <p:cNvSpPr txBox="1"/>
          <p:nvPr/>
        </p:nvSpPr>
        <p:spPr>
          <a:xfrm>
            <a:off x="4599432"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Headers, authorization boundaries, and scanner observations</a:t>
            </a:r>
          </a:p>
        </p:txBody>
      </p:sp>
      <p:sp>
        <p:nvSpPr>
          <p:cNvPr id="17" name="Rounded Rectangle 16"/>
          <p:cNvSpPr/>
          <p:nvPr/>
        </p:nvSpPr>
        <p:spPr>
          <a:xfrm>
            <a:off x="8028431" y="1572768"/>
            <a:ext cx="3456432" cy="3337560"/>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8028431" y="1572768"/>
            <a:ext cx="91440" cy="333756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257031" y="1920240"/>
            <a:ext cx="2971800" cy="45720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E7414"/>
                </a:solidFill>
                <a:latin typeface="Arial"/>
              </a:rPr>
              <a:t>Performance</a:t>
            </a:r>
          </a:p>
        </p:txBody>
      </p:sp>
      <p:sp>
        <p:nvSpPr>
          <p:cNvPr id="20" name="TextBox 19"/>
          <p:cNvSpPr txBox="1"/>
          <p:nvPr/>
        </p:nvSpPr>
        <p:spPr>
          <a:xfrm>
            <a:off x="8257031" y="2688336"/>
            <a:ext cx="2926080" cy="157276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Tail latency, throughput, errors, and sustained load</a:t>
            </a:r>
          </a:p>
        </p:txBody>
      </p:sp>
      <p:sp>
        <p:nvSpPr>
          <p:cNvPr id="21" name="TextBox 20"/>
          <p:cNvSpPr txBox="1"/>
          <p:nvPr/>
        </p:nvSpPr>
        <p:spPr>
          <a:xfrm>
            <a:off x="713232" y="5340096"/>
            <a:ext cx="10789920" cy="50292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No one scanner can stand in for all three dimensions.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PROBLEM</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Three questions, three independent answers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§1.5 and Table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a:t>
            </a:r>
          </a:p>
        </p:txBody>
      </p:sp>
      <p:sp>
        <p:nvSpPr>
          <p:cNvPr id="9" name="Rounded Rectangle 8"/>
          <p:cNvSpPr/>
          <p:nvPr/>
        </p:nvSpPr>
        <p:spPr>
          <a:xfrm>
            <a:off x="731520" y="1408176"/>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731520" y="1408176"/>
            <a:ext cx="1188720" cy="1216152"/>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77824" y="1773936"/>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RQ1</a:t>
            </a:r>
          </a:p>
        </p:txBody>
      </p:sp>
      <p:sp>
        <p:nvSpPr>
          <p:cNvPr id="12" name="TextBox 11"/>
          <p:cNvSpPr txBox="1"/>
          <p:nvPr/>
        </p:nvSpPr>
        <p:spPr>
          <a:xfrm>
            <a:off x="2176272" y="1627632"/>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static issues be closed without material control-metric regression?</a:t>
            </a:r>
          </a:p>
        </p:txBody>
      </p:sp>
      <p:sp>
        <p:nvSpPr>
          <p:cNvPr id="13" name="Rounded Rectangle 12"/>
          <p:cNvSpPr/>
          <p:nvPr/>
        </p:nvSpPr>
        <p:spPr>
          <a:xfrm>
            <a:off x="731520" y="2889504"/>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Rectangle 13"/>
          <p:cNvSpPr/>
          <p:nvPr/>
        </p:nvSpPr>
        <p:spPr>
          <a:xfrm>
            <a:off x="731520" y="2889504"/>
            <a:ext cx="1188720" cy="1216152"/>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77824" y="3255264"/>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RQ2</a:t>
            </a:r>
          </a:p>
        </p:txBody>
      </p:sp>
      <p:sp>
        <p:nvSpPr>
          <p:cNvPr id="16" name="TextBox 15"/>
          <p:cNvSpPr txBox="1"/>
          <p:nvPr/>
        </p:nvSpPr>
        <p:spPr>
          <a:xfrm>
            <a:off x="2176272" y="3108960"/>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configured security alerts be cleared and residual raw alerts disclosed?</a:t>
            </a:r>
          </a:p>
        </p:txBody>
      </p:sp>
      <p:sp>
        <p:nvSpPr>
          <p:cNvPr id="17" name="Rounded Rectangle 16"/>
          <p:cNvSpPr/>
          <p:nvPr/>
        </p:nvSpPr>
        <p:spPr>
          <a:xfrm>
            <a:off x="731520" y="4370832"/>
            <a:ext cx="10725912" cy="12161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Rectangle 17"/>
          <p:cNvSpPr/>
          <p:nvPr/>
        </p:nvSpPr>
        <p:spPr>
          <a:xfrm>
            <a:off x="731520" y="4370832"/>
            <a:ext cx="1188720" cy="1216152"/>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877824" y="4736592"/>
            <a:ext cx="877824" cy="402336"/>
          </a:xfrm>
          <a:prstGeom prst="rect">
            <a:avLst/>
          </a:prstGeom>
          <a:noFill/>
        </p:spPr>
        <p:txBody>
          <a:bodyPr wrap="square" lIns="18288" rIns="18288" tIns="18288" bIns="18288" anchor="ctr">
            <a:spAutoFit/>
          </a:bodyPr>
          <a:lstStyle/>
          <a:p>
            <a:pPr algn="ctr">
              <a:spcBef>
                <a:spcPts val="0"/>
              </a:spcBef>
              <a:spcAft>
                <a:spcPts val="0"/>
              </a:spcAft>
            </a:pPr>
            <a:r>
              <a:rPr sz="2400" b="1">
                <a:solidFill>
                  <a:srgbClr val="FFFFFF"/>
                </a:solidFill>
                <a:latin typeface="Arial"/>
              </a:rPr>
              <a:t>RQ3</a:t>
            </a:r>
          </a:p>
        </p:txBody>
      </p:sp>
      <p:sp>
        <p:nvSpPr>
          <p:cNvPr id="20" name="TextBox 19"/>
          <p:cNvSpPr txBox="1"/>
          <p:nvPr/>
        </p:nvSpPr>
        <p:spPr>
          <a:xfrm>
            <a:off x="2176272" y="4590288"/>
            <a:ext cx="8961120" cy="76809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Can latency targets pass under core load as well as stress profiles?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study tested one existing accounting API</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§§3.1-3.2; Table 3.3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5</a:t>
            </a:r>
          </a:p>
        </p:txBody>
      </p:sp>
      <p:sp>
        <p:nvSpPr>
          <p:cNvPr id="9" name="Rounded Rectangle 8"/>
          <p:cNvSpPr/>
          <p:nvPr/>
        </p:nvSpPr>
        <p:spPr>
          <a:xfrm>
            <a:off x="731520" y="1417320"/>
            <a:ext cx="3749039" cy="4416552"/>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96696" y="1719072"/>
            <a:ext cx="3218688" cy="457200"/>
          </a:xfrm>
          <a:prstGeom prst="rect">
            <a:avLst/>
          </a:prstGeom>
          <a:noFill/>
        </p:spPr>
        <p:txBody>
          <a:bodyPr wrap="square" lIns="18288" rIns="18288" tIns="18288" bIns="18288" anchor="ctr">
            <a:spAutoFit/>
          </a:bodyPr>
          <a:lstStyle/>
          <a:p>
            <a:pPr algn="l">
              <a:spcBef>
                <a:spcPts val="0"/>
              </a:spcBef>
              <a:spcAft>
                <a:spcPts val="0"/>
              </a:spcAft>
            </a:pPr>
            <a:r>
              <a:rPr sz="2700" b="1">
                <a:solidFill>
                  <a:srgbClr val="24466C"/>
                </a:solidFill>
                <a:latin typeface="Arial"/>
              </a:rPr>
              <a:t>ASP.NET Core 8</a:t>
            </a:r>
          </a:p>
        </p:txBody>
      </p:sp>
      <p:sp>
        <p:nvSpPr>
          <p:cNvPr id="11" name="TextBox 10"/>
          <p:cNvSpPr txBox="1"/>
          <p:nvPr/>
        </p:nvSpPr>
        <p:spPr>
          <a:xfrm>
            <a:off x="996696" y="2386584"/>
            <a:ext cx="3218688" cy="2414016"/>
          </a:xfrm>
          <a:prstGeom prst="rect">
            <a:avLst/>
          </a:prstGeom>
          <a:noFill/>
        </p:spPr>
        <p:txBody>
          <a:bodyPr wrap="square" lIns="18288" rIns="18288" tIns="18288" bIns="18288" anchor="ctr">
            <a:spAutoFit/>
          </a:bodyPr>
          <a:lstStyle/>
          <a:p>
            <a:pPr algn="l">
              <a:spcBef>
                <a:spcPts val="0"/>
              </a:spcBef>
              <a:spcAft>
                <a:spcPts val="0"/>
              </a:spcAft>
            </a:pPr>
            <a:r>
              <a:rPr sz="2200" b="0">
                <a:solidFill>
                  <a:srgbClr val="252B33"/>
                </a:solidFill>
                <a:latin typeface="Arial"/>
              </a:rPr>
              <a:t>SQL Server financial database
JWT authentication · RBAC
Double-entry posting · audit log</a:t>
            </a:r>
          </a:p>
        </p:txBody>
      </p:sp>
      <p:sp>
        <p:nvSpPr>
          <p:cNvPr id="12" name="TextBox 11"/>
          <p:cNvSpPr txBox="1"/>
          <p:nvPr/>
        </p:nvSpPr>
        <p:spPr>
          <a:xfrm>
            <a:off x="996696" y="5129784"/>
            <a:ext cx="3182112" cy="438912"/>
          </a:xfrm>
          <a:prstGeom prst="rect">
            <a:avLst/>
          </a:prstGeom>
          <a:noFill/>
        </p:spPr>
        <p:txBody>
          <a:bodyPr wrap="square" lIns="18288" rIns="18288" tIns="18288" bIns="18288" anchor="ctr">
            <a:spAutoFit/>
          </a:bodyPr>
          <a:lstStyle/>
          <a:p>
            <a:pPr algn="l">
              <a:spcBef>
                <a:spcPts val="0"/>
              </a:spcBef>
              <a:spcAft>
                <a:spcPts val="0"/>
              </a:spcAft>
            </a:pPr>
            <a:r>
              <a:rPr sz="1500" b="0">
                <a:solidFill>
                  <a:srgbClr val="5B6874"/>
                </a:solidFill>
                <a:latin typeface="Arial"/>
              </a:rPr>
              <a:t>Four roles: Admin, FinanceManager, User, Auditor</a:t>
            </a:r>
          </a:p>
        </p:txBody>
      </p:sp>
      <p:sp>
        <p:nvSpPr>
          <p:cNvPr id="13" name="Rounded Rectangle 12"/>
          <p:cNvSpPr/>
          <p:nvPr/>
        </p:nvSpPr>
        <p:spPr>
          <a:xfrm>
            <a:off x="4681728" y="1417320"/>
            <a:ext cx="6766560" cy="4416552"/>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946904" y="1700784"/>
            <a:ext cx="6245352"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Endpoint groups exercised</a:t>
            </a:r>
          </a:p>
        </p:txBody>
      </p:sp>
      <p:sp>
        <p:nvSpPr>
          <p:cNvPr id="15" name="Rounded Rectangle 14"/>
          <p:cNvSpPr/>
          <p:nvPr/>
        </p:nvSpPr>
        <p:spPr>
          <a:xfrm>
            <a:off x="4956048" y="237744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212080" y="226771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Authentication and users</a:t>
            </a:r>
          </a:p>
        </p:txBody>
      </p:sp>
      <p:sp>
        <p:nvSpPr>
          <p:cNvPr id="17" name="Rounded Rectangle 16"/>
          <p:cNvSpPr/>
          <p:nvPr/>
        </p:nvSpPr>
        <p:spPr>
          <a:xfrm>
            <a:off x="4956048" y="301752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212080" y="2907791"/>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Accounts and periods</a:t>
            </a:r>
          </a:p>
        </p:txBody>
      </p:sp>
      <p:sp>
        <p:nvSpPr>
          <p:cNvPr id="19" name="Rounded Rectangle 18"/>
          <p:cNvSpPr/>
          <p:nvPr/>
        </p:nvSpPr>
        <p:spPr>
          <a:xfrm>
            <a:off x="4956048" y="365760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5212080" y="354787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Journal entries and bulk posting</a:t>
            </a:r>
          </a:p>
        </p:txBody>
      </p:sp>
      <p:sp>
        <p:nvSpPr>
          <p:cNvPr id="21" name="Rounded Rectangle 20"/>
          <p:cNvSpPr/>
          <p:nvPr/>
        </p:nvSpPr>
        <p:spPr>
          <a:xfrm>
            <a:off x="4956048" y="4297680"/>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212080" y="4187952"/>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Financial reports</a:t>
            </a:r>
          </a:p>
        </p:txBody>
      </p:sp>
      <p:sp>
        <p:nvSpPr>
          <p:cNvPr id="23" name="Rounded Rectangle 22"/>
          <p:cNvSpPr/>
          <p:nvPr/>
        </p:nvSpPr>
        <p:spPr>
          <a:xfrm>
            <a:off x="4956048" y="4937759"/>
            <a:ext cx="109728" cy="109728"/>
          </a:xfrm>
          <a:prstGeom prst="round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5212080" y="4828031"/>
            <a:ext cx="5824728" cy="621792"/>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Audit logs</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Every remediation branch starts from one baseline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3.1 and Appendix A</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6</a:t>
            </a:r>
          </a:p>
        </p:txBody>
      </p:sp>
      <p:sp>
        <p:nvSpPr>
          <p:cNvPr id="9" name="Rounded Rectangle 8"/>
          <p:cNvSpPr/>
          <p:nvPr/>
        </p:nvSpPr>
        <p:spPr>
          <a:xfrm>
            <a:off x="4251960" y="1325880"/>
            <a:ext cx="3685032"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416552" y="1435607"/>
            <a:ext cx="3355848"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COMMON STARTING POINT</a:t>
            </a:r>
          </a:p>
        </p:txBody>
      </p:sp>
      <p:sp>
        <p:nvSpPr>
          <p:cNvPr id="11" name="TextBox 10"/>
          <p:cNvSpPr txBox="1"/>
          <p:nvPr/>
        </p:nvSpPr>
        <p:spPr>
          <a:xfrm>
            <a:off x="4416552" y="1682495"/>
            <a:ext cx="3355848"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baseline-v0.1</a:t>
            </a:r>
          </a:p>
        </p:txBody>
      </p:sp>
      <p:sp>
        <p:nvSpPr>
          <p:cNvPr id="12" name="TextBox 11"/>
          <p:cNvSpPr txBox="1"/>
          <p:nvPr/>
        </p:nvSpPr>
        <p:spPr>
          <a:xfrm>
            <a:off x="4416552" y="2176272"/>
            <a:ext cx="3355848"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commit 7a0469d9</a:t>
            </a:r>
          </a:p>
        </p:txBody>
      </p:sp>
      <p:cxnSp>
        <p:nvCxnSpPr>
          <p:cNvPr id="13" name="Connector 12"/>
          <p:cNvCxnSpPr/>
          <p:nvPr/>
        </p:nvCxnSpPr>
        <p:spPr>
          <a:xfrm flipH="1">
            <a:off x="2468880" y="2450592"/>
            <a:ext cx="3630168" cy="566928"/>
          </a:xfrm>
          <a:prstGeom prst="line">
            <a:avLst/>
          </a:prstGeom>
          <a:ln w="25400">
            <a:solidFill>
              <a:srgbClr val="0F676D"/>
            </a:solidFill>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731520"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ectangle 14"/>
          <p:cNvSpPr/>
          <p:nvPr/>
        </p:nvSpPr>
        <p:spPr>
          <a:xfrm>
            <a:off x="731520" y="3054096"/>
            <a:ext cx="91440" cy="192024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SonarQube</a:t>
            </a:r>
          </a:p>
        </p:txBody>
      </p:sp>
      <p:sp>
        <p:nvSpPr>
          <p:cNvPr id="17" name="TextBox 16"/>
          <p:cNvSpPr txBox="1"/>
          <p:nvPr/>
        </p:nvSpPr>
        <p:spPr>
          <a:xfrm>
            <a:off x="932688"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baseline-sonarqube-v1</a:t>
            </a:r>
          </a:p>
        </p:txBody>
      </p:sp>
      <p:sp>
        <p:nvSpPr>
          <p:cNvPr id="18" name="TextBox 17"/>
          <p:cNvSpPr txBox="1"/>
          <p:nvPr/>
        </p:nvSpPr>
        <p:spPr>
          <a:xfrm>
            <a:off x="932688"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Tested commit a2279bcb</a:t>
            </a:r>
          </a:p>
        </p:txBody>
      </p:sp>
      <p:cxnSp>
        <p:nvCxnSpPr>
          <p:cNvPr id="19" name="Connector 18"/>
          <p:cNvCxnSpPr/>
          <p:nvPr/>
        </p:nvCxnSpPr>
        <p:spPr>
          <a:xfrm>
            <a:off x="6099048" y="2450592"/>
            <a:ext cx="9144" cy="566928"/>
          </a:xfrm>
          <a:prstGeom prst="line">
            <a:avLst/>
          </a:prstGeom>
          <a:ln w="25400">
            <a:solidFill>
              <a:srgbClr val="B3373D"/>
            </a:solidFill>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4370832"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Rectangle 20"/>
          <p:cNvSpPr/>
          <p:nvPr/>
        </p:nvSpPr>
        <p:spPr>
          <a:xfrm>
            <a:off x="4370832" y="3054096"/>
            <a:ext cx="91440" cy="192024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4572000"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OWASP ZAP</a:t>
            </a:r>
          </a:p>
        </p:txBody>
      </p:sp>
      <p:sp>
        <p:nvSpPr>
          <p:cNvPr id="23" name="TextBox 22"/>
          <p:cNvSpPr txBox="1"/>
          <p:nvPr/>
        </p:nvSpPr>
        <p:spPr>
          <a:xfrm>
            <a:off x="4572000"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baseline-zap-v1</a:t>
            </a:r>
          </a:p>
        </p:txBody>
      </p:sp>
      <p:sp>
        <p:nvSpPr>
          <p:cNvPr id="24" name="TextBox 23"/>
          <p:cNvSpPr txBox="1"/>
          <p:nvPr/>
        </p:nvSpPr>
        <p:spPr>
          <a:xfrm>
            <a:off x="4572000"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Tested commit 5f3bd3cc</a:t>
            </a:r>
          </a:p>
        </p:txBody>
      </p:sp>
      <p:cxnSp>
        <p:nvCxnSpPr>
          <p:cNvPr id="25" name="Connector 24"/>
          <p:cNvCxnSpPr/>
          <p:nvPr/>
        </p:nvCxnSpPr>
        <p:spPr>
          <a:xfrm>
            <a:off x="6099048" y="2450592"/>
            <a:ext cx="3648456" cy="566928"/>
          </a:xfrm>
          <a:prstGeom prst="line">
            <a:avLst/>
          </a:prstGeom>
          <a:ln w="25400">
            <a:solidFill>
              <a:srgbClr val="BE7414"/>
            </a:solidFill>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010144" y="3054096"/>
            <a:ext cx="3474720" cy="19202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Rectangle 26"/>
          <p:cNvSpPr/>
          <p:nvPr/>
        </p:nvSpPr>
        <p:spPr>
          <a:xfrm>
            <a:off x="8010144" y="3054096"/>
            <a:ext cx="91440" cy="192024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11312" y="3319272"/>
            <a:ext cx="3035808" cy="384048"/>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JMeter</a:t>
            </a:r>
          </a:p>
        </p:txBody>
      </p:sp>
      <p:sp>
        <p:nvSpPr>
          <p:cNvPr id="29" name="TextBox 28"/>
          <p:cNvSpPr txBox="1"/>
          <p:nvPr/>
        </p:nvSpPr>
        <p:spPr>
          <a:xfrm>
            <a:off x="8211312" y="3822191"/>
            <a:ext cx="3035808" cy="347472"/>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52B33"/>
                </a:solidFill>
                <a:latin typeface="Arial"/>
              </a:rPr>
              <a:t>baseline-jmeter-v1</a:t>
            </a:r>
          </a:p>
        </p:txBody>
      </p:sp>
      <p:sp>
        <p:nvSpPr>
          <p:cNvPr id="30" name="TextBox 29"/>
          <p:cNvSpPr txBox="1"/>
          <p:nvPr/>
        </p:nvSpPr>
        <p:spPr>
          <a:xfrm>
            <a:off x="8211312" y="4334256"/>
            <a:ext cx="3035808" cy="256032"/>
          </a:xfrm>
          <a:prstGeom prst="rect">
            <a:avLst/>
          </a:prstGeom>
          <a:noFill/>
        </p:spPr>
        <p:txBody>
          <a:bodyPr wrap="square" lIns="18288" rIns="18288" tIns="18288" bIns="18288" anchor="ctr">
            <a:spAutoFit/>
          </a:bodyPr>
          <a:lstStyle/>
          <a:p>
            <a:pPr algn="l">
              <a:spcBef>
                <a:spcPts val="0"/>
              </a:spcBef>
              <a:spcAft>
                <a:spcPts val="0"/>
              </a:spcAft>
            </a:pPr>
            <a:r>
              <a:rPr sz="1300" b="0">
                <a:solidFill>
                  <a:srgbClr val="5B6874"/>
                </a:solidFill>
                <a:latin typeface="Arial"/>
              </a:rPr>
              <a:t>Tested commit 78b08b62</a:t>
            </a:r>
          </a:p>
        </p:txBody>
      </p:sp>
      <p:sp>
        <p:nvSpPr>
          <p:cNvPr id="31" name="TextBox 30"/>
          <p:cNvSpPr txBox="1"/>
          <p:nvPr/>
        </p:nvSpPr>
        <p:spPr>
          <a:xfrm>
            <a:off x="731520" y="5449824"/>
            <a:ext cx="10789920" cy="45720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Compare one tool branch at a time; do not combine their deltas into one causal claim.</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Four phases turn suggestions into evidence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§3.1.1; Figures 3.1-3.4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7</a:t>
            </a:r>
          </a:p>
        </p:txBody>
      </p:sp>
      <p:sp>
        <p:nvSpPr>
          <p:cNvPr id="9" name="Rounded Rectangle 8"/>
          <p:cNvSpPr/>
          <p:nvPr/>
        </p:nvSpPr>
        <p:spPr>
          <a:xfrm>
            <a:off x="694944"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01</a:t>
            </a:r>
          </a:p>
        </p:txBody>
      </p:sp>
      <p:sp>
        <p:nvSpPr>
          <p:cNvPr id="11" name="TextBox 10"/>
          <p:cNvSpPr txBox="1"/>
          <p:nvPr/>
        </p:nvSpPr>
        <p:spPr>
          <a:xfrm>
            <a:off x="877824"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Capture baseline</a:t>
            </a:r>
          </a:p>
        </p:txBody>
      </p:sp>
      <p:sp>
        <p:nvSpPr>
          <p:cNvPr id="12" name="TextBox 11"/>
          <p:cNvSpPr txBox="1"/>
          <p:nvPr/>
        </p:nvSpPr>
        <p:spPr>
          <a:xfrm>
            <a:off x="877824"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Freeze code, dataset, and raw tool output</a:t>
            </a:r>
          </a:p>
        </p:txBody>
      </p:sp>
      <p:sp>
        <p:nvSpPr>
          <p:cNvPr id="13" name="Rounded Rectangle 12"/>
          <p:cNvSpPr/>
          <p:nvPr/>
        </p:nvSpPr>
        <p:spPr>
          <a:xfrm>
            <a:off x="3557015"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739896"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02</a:t>
            </a:r>
          </a:p>
        </p:txBody>
      </p:sp>
      <p:sp>
        <p:nvSpPr>
          <p:cNvPr id="15" name="TextBox 14"/>
          <p:cNvSpPr txBox="1"/>
          <p:nvPr/>
        </p:nvSpPr>
        <p:spPr>
          <a:xfrm>
            <a:off x="3739896"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Propose bounded fix</a:t>
            </a:r>
          </a:p>
        </p:txBody>
      </p:sp>
      <p:sp>
        <p:nvSpPr>
          <p:cNvPr id="16" name="TextBox 15"/>
          <p:cNvSpPr txBox="1"/>
          <p:nvPr/>
        </p:nvSpPr>
        <p:spPr>
          <a:xfrm>
            <a:off x="3739896"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Give Codex the finding, source context, and constraints</a:t>
            </a:r>
          </a:p>
        </p:txBody>
      </p:sp>
      <p:sp>
        <p:nvSpPr>
          <p:cNvPr id="17" name="Rounded Rectangle 16"/>
          <p:cNvSpPr/>
          <p:nvPr/>
        </p:nvSpPr>
        <p:spPr>
          <a:xfrm>
            <a:off x="6419088"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601968"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03</a:t>
            </a:r>
          </a:p>
        </p:txBody>
      </p:sp>
      <p:sp>
        <p:nvSpPr>
          <p:cNvPr id="19" name="TextBox 18"/>
          <p:cNvSpPr txBox="1"/>
          <p:nvPr/>
        </p:nvSpPr>
        <p:spPr>
          <a:xfrm>
            <a:off x="6601968"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Review and re-test</a:t>
            </a:r>
          </a:p>
        </p:txBody>
      </p:sp>
      <p:sp>
        <p:nvSpPr>
          <p:cNvPr id="20" name="TextBox 19"/>
          <p:cNvSpPr txBox="1"/>
          <p:nvPr/>
        </p:nvSpPr>
        <p:spPr>
          <a:xfrm>
            <a:off x="6601968"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Human review, focused tests, same tool rerun</a:t>
            </a:r>
          </a:p>
        </p:txBody>
      </p:sp>
      <p:sp>
        <p:nvSpPr>
          <p:cNvPr id="21" name="Rounded Rectangle 20"/>
          <p:cNvSpPr/>
          <p:nvPr/>
        </p:nvSpPr>
        <p:spPr>
          <a:xfrm>
            <a:off x="9281160" y="1673352"/>
            <a:ext cx="2660904" cy="333756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464040" y="1901952"/>
            <a:ext cx="731520" cy="521207"/>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0F676D"/>
                </a:solidFill>
                <a:latin typeface="Arial"/>
              </a:rPr>
              <a:t>04</a:t>
            </a:r>
          </a:p>
        </p:txBody>
      </p:sp>
      <p:sp>
        <p:nvSpPr>
          <p:cNvPr id="23" name="TextBox 22"/>
          <p:cNvSpPr txBox="1"/>
          <p:nvPr/>
        </p:nvSpPr>
        <p:spPr>
          <a:xfrm>
            <a:off x="9464040" y="2660904"/>
            <a:ext cx="2267712" cy="64008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252B33"/>
                </a:solidFill>
                <a:latin typeface="Arial"/>
              </a:rPr>
              <a:t>Compare and report</a:t>
            </a:r>
          </a:p>
        </p:txBody>
      </p:sp>
      <p:sp>
        <p:nvSpPr>
          <p:cNvPr id="24" name="TextBox 23"/>
          <p:cNvSpPr txBox="1"/>
          <p:nvPr/>
        </p:nvSpPr>
        <p:spPr>
          <a:xfrm>
            <a:off x="9464040" y="3547872"/>
            <a:ext cx="2267712" cy="1060704"/>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Apply gates; disclose residuals and unmet targets</a:t>
            </a:r>
          </a:p>
        </p:txBody>
      </p:sp>
      <p:sp>
        <p:nvSpPr>
          <p:cNvPr id="25" name="TextBox 24"/>
          <p:cNvSpPr txBox="1"/>
          <p:nvPr/>
        </p:nvSpPr>
        <p:spPr>
          <a:xfrm>
            <a:off x="713232" y="5468112"/>
            <a:ext cx="10789920" cy="457200"/>
          </a:xfrm>
          <a:prstGeom prst="rect">
            <a:avLst/>
          </a:prstGeom>
          <a:noFill/>
        </p:spPr>
        <p:txBody>
          <a:bodyPr wrap="square" lIns="18288" rIns="18288" tIns="18288" bIns="18288" anchor="ctr">
            <a:spAutoFit/>
          </a:bodyPr>
          <a:lstStyle/>
          <a:p>
            <a:pPr algn="l">
              <a:spcBef>
                <a:spcPts val="0"/>
              </a:spcBef>
              <a:spcAft>
                <a:spcPts val="0"/>
              </a:spcAft>
            </a:pPr>
            <a:r>
              <a:rPr sz="2300" b="1">
                <a:solidFill>
                  <a:srgbClr val="0F676D"/>
                </a:solidFill>
                <a:latin typeface="Arial"/>
              </a:rPr>
              <a:t>The model does not approve its own output.</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local setup and a seeded dataset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Tables 3.2 and 3.11; Appendix H</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8</a:t>
            </a:r>
          </a:p>
        </p:txBody>
      </p:sp>
      <p:sp>
        <p:nvSpPr>
          <p:cNvPr id="9" name="Rounded Rectangle 8"/>
          <p:cNvSpPr/>
          <p:nvPr/>
        </p:nvSpPr>
        <p:spPr>
          <a:xfrm>
            <a:off x="7132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ACCOUNTS</a:t>
            </a:r>
          </a:p>
        </p:txBody>
      </p:sp>
      <p:sp>
        <p:nvSpPr>
          <p:cNvPr id="11" name="TextBox 10"/>
          <p:cNvSpPr txBox="1"/>
          <p:nvPr/>
        </p:nvSpPr>
        <p:spPr>
          <a:xfrm>
            <a:off x="8778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120</a:t>
            </a:r>
          </a:p>
        </p:txBody>
      </p:sp>
      <p:sp>
        <p:nvSpPr>
          <p:cNvPr id="12" name="TextBox 11"/>
          <p:cNvSpPr txBox="1"/>
          <p:nvPr/>
        </p:nvSpPr>
        <p:spPr>
          <a:xfrm>
            <a:off x="8778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Seeded count in run record</a:t>
            </a:r>
          </a:p>
        </p:txBody>
      </p:sp>
      <p:sp>
        <p:nvSpPr>
          <p:cNvPr id="13" name="Rounded Rectangle 12"/>
          <p:cNvSpPr/>
          <p:nvPr/>
        </p:nvSpPr>
        <p:spPr>
          <a:xfrm>
            <a:off x="4370832"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JOURNAL ENTRIES</a:t>
            </a:r>
          </a:p>
        </p:txBody>
      </p:sp>
      <p:sp>
        <p:nvSpPr>
          <p:cNvPr id="15" name="TextBox 14"/>
          <p:cNvSpPr txBox="1"/>
          <p:nvPr/>
        </p:nvSpPr>
        <p:spPr>
          <a:xfrm>
            <a:off x="4535424"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30,000</a:t>
            </a:r>
          </a:p>
        </p:txBody>
      </p:sp>
      <p:sp>
        <p:nvSpPr>
          <p:cNvPr id="16" name="TextBox 15"/>
          <p:cNvSpPr txBox="1"/>
          <p:nvPr/>
        </p:nvSpPr>
        <p:spPr>
          <a:xfrm>
            <a:off x="4535424"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At least 5,000 posted</a:t>
            </a:r>
          </a:p>
        </p:txBody>
      </p:sp>
      <p:sp>
        <p:nvSpPr>
          <p:cNvPr id="17" name="Rounded Rectangle 16"/>
          <p:cNvSpPr/>
          <p:nvPr/>
        </p:nvSpPr>
        <p:spPr>
          <a:xfrm>
            <a:off x="8028431" y="1444752"/>
            <a:ext cx="3447288" cy="1115568"/>
          </a:xfrm>
          <a:prstGeom prst="roundRect">
            <a:avLst/>
          </a:prstGeom>
          <a:solidFill>
            <a:srgbClr val="EBF3FB"/>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93023" y="1554480"/>
            <a:ext cx="3118104"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TEST HOST</a:t>
            </a:r>
          </a:p>
        </p:txBody>
      </p:sp>
      <p:sp>
        <p:nvSpPr>
          <p:cNvPr id="19" name="TextBox 18"/>
          <p:cNvSpPr txBox="1"/>
          <p:nvPr/>
        </p:nvSpPr>
        <p:spPr>
          <a:xfrm>
            <a:off x="8193023" y="1801368"/>
            <a:ext cx="3118104"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466C"/>
                </a:solidFill>
                <a:latin typeface="Arial"/>
              </a:rPr>
              <a:t>Windows 11</a:t>
            </a:r>
          </a:p>
        </p:txBody>
      </p:sp>
      <p:sp>
        <p:nvSpPr>
          <p:cNvPr id="20" name="TextBox 19"/>
          <p:cNvSpPr txBox="1"/>
          <p:nvPr/>
        </p:nvSpPr>
        <p:spPr>
          <a:xfrm>
            <a:off x="8193023" y="2295144"/>
            <a:ext cx="3118104"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.NET 8 · local SQL Server</a:t>
            </a:r>
          </a:p>
        </p:txBody>
      </p:sp>
      <p:sp>
        <p:nvSpPr>
          <p:cNvPr id="21" name="Rounded Rectangle 20"/>
          <p:cNvSpPr/>
          <p:nvPr/>
        </p:nvSpPr>
        <p:spPr>
          <a:xfrm>
            <a:off x="713232" y="2990088"/>
            <a:ext cx="10762488" cy="224028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69264" y="3264408"/>
            <a:ext cx="10104120" cy="384048"/>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0F676D"/>
                </a:solidFill>
                <a:latin typeface="Arial"/>
              </a:rPr>
              <a:t>Tool versions in the fresh reproduction</a:t>
            </a:r>
          </a:p>
        </p:txBody>
      </p:sp>
      <p:sp>
        <p:nvSpPr>
          <p:cNvPr id="23" name="TextBox 22"/>
          <p:cNvSpPr txBox="1"/>
          <p:nvPr/>
        </p:nvSpPr>
        <p:spPr>
          <a:xfrm>
            <a:off x="969264" y="3858768"/>
            <a:ext cx="10094976" cy="548640"/>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252B33"/>
                </a:solidFill>
                <a:latin typeface="Arial"/>
              </a:rPr>
              <a:t>SonarQube 26.7     |     OWASP ZAP 2.17     |     Apache JMeter 5.5</a:t>
            </a:r>
          </a:p>
        </p:txBody>
      </p:sp>
      <p:sp>
        <p:nvSpPr>
          <p:cNvPr id="24" name="TextBox 23"/>
          <p:cNvSpPr txBox="1"/>
          <p:nvPr/>
        </p:nvSpPr>
        <p:spPr>
          <a:xfrm>
            <a:off x="969264" y="4599432"/>
            <a:ext cx="10094976" cy="320040"/>
          </a:xfrm>
          <a:prstGeom prst="rect">
            <a:avLst/>
          </a:prstGeom>
          <a:noFill/>
        </p:spPr>
        <p:txBody>
          <a:bodyPr wrap="square" lIns="18288" rIns="18288" tIns="18288" bIns="18288" anchor="ctr">
            <a:spAutoFit/>
          </a:bodyPr>
          <a:lstStyle/>
          <a:p>
            <a:pPr algn="l">
              <a:spcBef>
                <a:spcPts val="0"/>
              </a:spcBef>
              <a:spcAft>
                <a:spcPts val="0"/>
              </a:spcAft>
            </a:pPr>
            <a:r>
              <a:rPr sz="1700" b="0">
                <a:solidFill>
                  <a:srgbClr val="5B6874"/>
                </a:solidFill>
                <a:latin typeface="Arial"/>
              </a:rPr>
              <a:t>120 accounts are recorded in the run evidence (backup slide 23; Appendix H).</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Outcomes were judged by tool-specific measures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4.1 and §4.1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9</a:t>
            </a:r>
          </a:p>
        </p:txBody>
      </p:sp>
      <p:graphicFrame>
        <p:nvGraphicFramePr>
          <p:cNvPr id="9" name="Table 8"/>
          <p:cNvGraphicFramePr>
            <a:graphicFrameLocks noGrp="1"/>
          </p:cNvGraphicFramePr>
          <p:nvPr/>
        </p:nvGraphicFramePr>
        <p:xfrm>
          <a:off x="731520" y="1444752"/>
          <a:ext cx="10716767" cy="3474720"/>
        </p:xfrm>
        <a:graphic>
          <a:graphicData uri="http://schemas.openxmlformats.org/drawingml/2006/table">
            <a:tbl>
              <a:tblPr firstRow="1" bandRow="1">
                <a:tableStyleId>{5C22544A-7EE6-4342-B048-85BDC9FD1C3A}</a:tableStyleId>
              </a:tblPr>
              <a:tblGrid>
                <a:gridCol w="2250521"/>
                <a:gridCol w="4822545"/>
                <a:gridCol w="3643701"/>
              </a:tblGrid>
              <a:tr h="694944">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Primary 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Control metric</a:t>
                      </a:r>
                    </a:p>
                  </a:txBody>
                  <a:tcPr marL="109728" marR="91440" marT="36576" marB="36576">
                    <a:solidFill>
                      <a:srgbClr val="252B33"/>
                    </a:solidFill>
                  </a:tcPr>
                </a:tc>
              </a:tr>
              <a:tr h="694944">
                <a:tc>
                  <a:txBody>
                    <a:bodyPr/>
                    <a:lstStyle/>
                    <a:p>
                      <a:pPr algn="l">
                        <a:spcAft>
                          <a:spcPts val="0"/>
                        </a:spcAft>
                      </a:pPr>
                      <a:r>
                        <a:rPr sz="17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Compare unique issues; show gate status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Coverage and complexity disclosed</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OWASP ZAP</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Configured-rule gate; report raw alerts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Residual HTTP-only observation disclosed</a:t>
                      </a:r>
                    </a:p>
                  </a:txBody>
                  <a:tcPr marL="109728" marR="91440" marT="36576" marB="36576">
                    <a:solidFill>
                      <a:srgbClr val="F7F9FC"/>
                    </a:solidFill>
                  </a:tcPr>
                </a:tc>
              </a:tr>
              <a:tr h="694944">
                <a:tc>
                  <a:txBody>
                    <a:bodyPr/>
                    <a:lstStyle/>
                    <a:p>
                      <a:pPr algn="l">
                        <a:spcAft>
                          <a:spcPts val="0"/>
                        </a:spcAft>
                      </a:pPr>
                      <a:r>
                        <a:rPr sz="17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50/100/500 VU core gate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≤500 ms; 500 VU ≤1200 ms</a:t>
                      </a:r>
                    </a:p>
                  </a:txBody>
                  <a:tcPr marL="109728" marR="91440" marT="36576" marB="36576">
                    <a:solidFill>
                      <a:srgbClr val="FFFFFF"/>
                    </a:solidFill>
                  </a:tcPr>
                </a:tc>
              </a:tr>
              <a:tr h="694944">
                <a:tc>
                  <a:txBody>
                    <a:bodyPr/>
                    <a:lstStyle/>
                    <a:p>
                      <a:pPr algn="l">
                        <a:spcAft>
                          <a:spcPts val="0"/>
                        </a:spcAft>
                      </a:pPr>
                      <a:r>
                        <a:rPr sz="1700" b="0">
                          <a:solidFill>
                            <a:srgbClr val="252B33"/>
                          </a:solidFill>
                          <a:latin typeface="Arial"/>
                        </a:rPr>
                        <a:t>Regression</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Focused tests and role checks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Accounting and authorization preserved</a:t>
                      </a:r>
                    </a:p>
                  </a:txBody>
                  <a:tcPr marL="109728" marR="91440" marT="36576" marB="36576">
                    <a:solidFill>
                      <a:srgbClr val="F7F9FC"/>
                    </a:solidFill>
                  </a:tcPr>
                </a:tc>
              </a:tr>
            </a:tbl>
          </a:graphicData>
        </a:graphic>
      </p:graphicFrame>
      <p:sp>
        <p:nvSpPr>
          <p:cNvPr id="10" name="Rounded Rectangle 9"/>
          <p:cNvSpPr/>
          <p:nvPr/>
        </p:nvSpPr>
        <p:spPr>
          <a:xfrm>
            <a:off x="731520" y="5138928"/>
            <a:ext cx="10716768" cy="877824"/>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5266944"/>
            <a:ext cx="10222992" cy="640080"/>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BE7414"/>
                </a:solidFill>
                <a:latin typeface="Arial"/>
              </a:rPr>
              <a:t>Study scenarios: 100 VU = planned peak; 500 VU = heavier load. These are not measured production traffic.</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From a tool warning to a measured result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§§3.1.3-3.1.4; Appendices I and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10</a:t>
            </a:r>
          </a:p>
        </p:txBody>
      </p:sp>
      <p:sp>
        <p:nvSpPr>
          <p:cNvPr id="9" name="Rounded Rectangle 8"/>
          <p:cNvSpPr/>
          <p:nvPr/>
        </p:nvSpPr>
        <p:spPr>
          <a:xfrm>
            <a:off x="713232"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32104"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Tool finding</a:t>
            </a:r>
          </a:p>
        </p:txBody>
      </p:sp>
      <p:sp>
        <p:nvSpPr>
          <p:cNvPr id="11" name="TextBox 10"/>
          <p:cNvSpPr txBox="1"/>
          <p:nvPr/>
        </p:nvSpPr>
        <p:spPr>
          <a:xfrm>
            <a:off x="2432304"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2" name="Rounded Rectangle 11"/>
          <p:cNvSpPr/>
          <p:nvPr/>
        </p:nvSpPr>
        <p:spPr>
          <a:xfrm>
            <a:off x="2615184"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2734056"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Relevant code</a:t>
            </a:r>
          </a:p>
        </p:txBody>
      </p:sp>
      <p:sp>
        <p:nvSpPr>
          <p:cNvPr id="14" name="TextBox 13"/>
          <p:cNvSpPr txBox="1"/>
          <p:nvPr/>
        </p:nvSpPr>
        <p:spPr>
          <a:xfrm>
            <a:off x="4334256"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5" name="Rounded Rectangle 14"/>
          <p:cNvSpPr/>
          <p:nvPr/>
        </p:nvSpPr>
        <p:spPr>
          <a:xfrm>
            <a:off x="4517136" y="2148840"/>
            <a:ext cx="1709928" cy="1133856"/>
          </a:xfrm>
          <a:prstGeom prst="roundRect">
            <a:avLst/>
          </a:prstGeom>
          <a:solidFill>
            <a:srgbClr val="E7F6F6"/>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4636008"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0F676D"/>
                </a:solidFill>
                <a:latin typeface="Arial"/>
              </a:rPr>
              <a:t>Suggested edit</a:t>
            </a:r>
          </a:p>
        </p:txBody>
      </p:sp>
      <p:sp>
        <p:nvSpPr>
          <p:cNvPr id="17" name="TextBox 16"/>
          <p:cNvSpPr txBox="1"/>
          <p:nvPr/>
        </p:nvSpPr>
        <p:spPr>
          <a:xfrm>
            <a:off x="6236208"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18" name="Rounded Rectangle 17"/>
          <p:cNvSpPr/>
          <p:nvPr/>
        </p:nvSpPr>
        <p:spPr>
          <a:xfrm>
            <a:off x="6419088"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6537960"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Human check</a:t>
            </a:r>
          </a:p>
        </p:txBody>
      </p:sp>
      <p:sp>
        <p:nvSpPr>
          <p:cNvPr id="20" name="TextBox 19"/>
          <p:cNvSpPr txBox="1"/>
          <p:nvPr/>
        </p:nvSpPr>
        <p:spPr>
          <a:xfrm>
            <a:off x="8138160"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21" name="Rounded Rectangle 20"/>
          <p:cNvSpPr/>
          <p:nvPr/>
        </p:nvSpPr>
        <p:spPr>
          <a:xfrm>
            <a:off x="8321040"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39912"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Run tests</a:t>
            </a:r>
          </a:p>
        </p:txBody>
      </p:sp>
      <p:sp>
        <p:nvSpPr>
          <p:cNvPr id="23" name="TextBox 22"/>
          <p:cNvSpPr txBox="1"/>
          <p:nvPr/>
        </p:nvSpPr>
        <p:spPr>
          <a:xfrm>
            <a:off x="10040112" y="2432304"/>
            <a:ext cx="182880" cy="274320"/>
          </a:xfrm>
          <a:prstGeom prst="rect">
            <a:avLst/>
          </a:prstGeom>
          <a:noFill/>
        </p:spPr>
        <p:txBody>
          <a:bodyPr wrap="square" lIns="18288" rIns="18288" tIns="18288" bIns="18288" anchor="ctr">
            <a:spAutoFit/>
          </a:bodyPr>
          <a:lstStyle/>
          <a:p>
            <a:pPr algn="l">
              <a:spcBef>
                <a:spcPts val="0"/>
              </a:spcBef>
              <a:spcAft>
                <a:spcPts val="0"/>
              </a:spcAft>
            </a:pPr>
            <a:r>
              <a:rPr sz="2100" b="1">
                <a:solidFill>
                  <a:srgbClr val="5B6874"/>
                </a:solidFill>
                <a:latin typeface="Arial"/>
              </a:rPr>
              <a:t>→</a:t>
            </a:r>
          </a:p>
        </p:txBody>
      </p:sp>
      <p:sp>
        <p:nvSpPr>
          <p:cNvPr id="24" name="Rounded Rectangle 23"/>
          <p:cNvSpPr/>
          <p:nvPr/>
        </p:nvSpPr>
        <p:spPr>
          <a:xfrm>
            <a:off x="10222992" y="2148840"/>
            <a:ext cx="1709928" cy="1133856"/>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0341864" y="2313432"/>
            <a:ext cx="1472184" cy="813816"/>
          </a:xfrm>
          <a:prstGeom prst="rect">
            <a:avLst/>
          </a:prstGeom>
          <a:noFill/>
        </p:spPr>
        <p:txBody>
          <a:bodyPr wrap="square" lIns="18288" rIns="18288" tIns="18288" bIns="18288" anchor="ctr">
            <a:spAutoFit/>
          </a:bodyPr>
          <a:lstStyle/>
          <a:p>
            <a:pPr algn="ctr">
              <a:spcBef>
                <a:spcPts val="0"/>
              </a:spcBef>
              <a:spcAft>
                <a:spcPts val="0"/>
              </a:spcAft>
            </a:pPr>
            <a:r>
              <a:rPr sz="1700" b="1">
                <a:solidFill>
                  <a:srgbClr val="246F46"/>
                </a:solidFill>
                <a:latin typeface="Arial"/>
              </a:rPr>
              <a:t>Measure again</a:t>
            </a:r>
          </a:p>
        </p:txBody>
      </p:sp>
      <p:sp>
        <p:nvSpPr>
          <p:cNvPr id="26" name="Rounded Rectangle 25"/>
          <p:cNvSpPr/>
          <p:nvPr/>
        </p:nvSpPr>
        <p:spPr>
          <a:xfrm>
            <a:off x="1097280" y="3822191"/>
            <a:ext cx="9985248" cy="1225296"/>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408176" y="4087368"/>
            <a:ext cx="9363456" cy="704088"/>
          </a:xfrm>
          <a:prstGeom prst="rect">
            <a:avLst/>
          </a:prstGeom>
          <a:noFill/>
        </p:spPr>
        <p:txBody>
          <a:bodyPr wrap="square" lIns="18288" rIns="18288" tIns="18288" bIns="18288" anchor="ctr">
            <a:spAutoFit/>
          </a:bodyPr>
          <a:lstStyle/>
          <a:p>
            <a:pPr algn="ctr">
              <a:spcBef>
                <a:spcPts val="0"/>
              </a:spcBef>
              <a:spcAft>
                <a:spcPts val="0"/>
              </a:spcAft>
            </a:pPr>
            <a:r>
              <a:rPr sz="2200" b="1">
                <a:solidFill>
                  <a:srgbClr val="252B33"/>
                </a:solidFill>
                <a:latin typeface="Arial"/>
              </a:rPr>
              <a:t>An AI suggestion is not proof: a person checks it, then the same tool measures the result.</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METHOD</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implemented fixes had different mechanisms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4.3; Appendices E-G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11</a:t>
            </a:r>
          </a:p>
        </p:txBody>
      </p:sp>
      <p:graphicFrame>
        <p:nvGraphicFramePr>
          <p:cNvPr id="9" name="Table 8"/>
          <p:cNvGraphicFramePr>
            <a:graphicFrameLocks noGrp="1"/>
          </p:cNvGraphicFramePr>
          <p:nvPr/>
        </p:nvGraphicFramePr>
        <p:xfrm>
          <a:off x="731520" y="1508760"/>
          <a:ext cx="10716767" cy="3273552"/>
        </p:xfrm>
        <a:graphic>
          <a:graphicData uri="http://schemas.openxmlformats.org/drawingml/2006/table">
            <a:tbl>
              <a:tblPr firstRow="1" bandRow="1">
                <a:tableStyleId>{5C22544A-7EE6-4342-B048-85BDC9FD1C3A}</a:tableStyleId>
              </a:tblPr>
              <a:tblGrid>
                <a:gridCol w="2143353"/>
                <a:gridCol w="4608210"/>
                <a:gridCol w="3965204"/>
              </a:tblGrid>
              <a:tr h="818388">
                <a:tc>
                  <a:txBody>
                    <a:bodyPr/>
                    <a:lstStyle/>
                    <a:p>
                      <a:pPr algn="l">
                        <a:spcAft>
                          <a:spcPts val="0"/>
                        </a:spcAft>
                      </a:pPr>
                      <a:r>
                        <a:rPr sz="1800" b="1">
                          <a:solidFill>
                            <a:srgbClr val="FFFFFF"/>
                          </a:solidFill>
                          <a:latin typeface="Arial"/>
                        </a:rPr>
                        <a:t>Track</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Representative change</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What it was meant to address</a:t>
                      </a:r>
                    </a:p>
                  </a:txBody>
                  <a:tcPr marL="109728" marR="91440" marT="36576" marB="36576">
                    <a:solidFill>
                      <a:srgbClr val="252B33"/>
                    </a:solidFill>
                  </a:tcPr>
                </a:tc>
              </a:tr>
              <a:tr h="818388">
                <a:tc>
                  <a:txBody>
                    <a:bodyPr/>
                    <a:lstStyle/>
                    <a:p>
                      <a:pPr algn="l">
                        <a:spcAft>
                          <a:spcPts val="0"/>
                        </a:spcAft>
                      </a:pPr>
                      <a:r>
                        <a:rPr sz="1800" b="0">
                          <a:solidFill>
                            <a:srgbClr val="252B33"/>
                          </a:solidFill>
                          <a:latin typeface="Arial"/>
                        </a:rPr>
                        <a:t>SonarQube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Eight query parameters → JournalEntryQueryDto</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Controller maintainability finding S107</a:t>
                      </a:r>
                    </a:p>
                  </a:txBody>
                  <a:tcPr marL="109728" marR="91440" marT="36576" marB="36576">
                    <a:solidFill>
                      <a:srgbClr val="FFFFFF"/>
                    </a:solidFill>
                  </a:tcPr>
                </a:tc>
              </a:tr>
              <a:tr h="818388">
                <a:tc>
                  <a:txBody>
                    <a:bodyPr/>
                    <a:lstStyle/>
                    <a:p>
                      <a:pPr algn="l">
                        <a:spcAft>
                          <a:spcPts val="0"/>
                        </a:spcAft>
                      </a:pPr>
                      <a:r>
                        <a:rPr sz="1800" b="0">
                          <a:solidFill>
                            <a:srgbClr val="252B33"/>
                          </a:solidFill>
                          <a:latin typeface="Arial"/>
                        </a:rPr>
                        <a:t>ZAP</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SecurityHeadersMiddleware before Swagger</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Browser-facing security headers</a:t>
                      </a:r>
                    </a:p>
                  </a:txBody>
                  <a:tcPr marL="109728" marR="91440" marT="36576" marB="36576">
                    <a:solidFill>
                      <a:srgbClr val="F7F9FC"/>
                    </a:solidFill>
                  </a:tcPr>
                </a:tc>
              </a:tr>
              <a:tr h="818388">
                <a:tc>
                  <a:txBody>
                    <a:bodyPr/>
                    <a:lstStyle/>
                    <a:p>
                      <a:pPr algn="l">
                        <a:spcAft>
                          <a:spcPts val="0"/>
                        </a:spcAft>
                      </a:pPr>
                      <a:r>
                        <a:rPr sz="1800" b="0">
                          <a:solidFill>
                            <a:srgbClr val="252B33"/>
                          </a:solidFill>
                          <a:latin typeface="Arial"/>
                        </a:rPr>
                        <a:t>JMeter</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Cache ledger data; avoid repeated report snapshot writes</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Reduce repeated report and database work</a:t>
                      </a:r>
                    </a:p>
                  </a:txBody>
                  <a:tcPr marL="109728" marR="91440" marT="36576" marB="36576">
                    <a:solidFill>
                      <a:srgbClr val="FFFFFF"/>
                    </a:solidFill>
                  </a:tcPr>
                </a:tc>
              </a:tr>
            </a:tbl>
          </a:graphicData>
        </a:graphic>
      </p:graphicFrame>
      <p:sp>
        <p:nvSpPr>
          <p:cNvPr id="10" name="TextBox 9"/>
          <p:cNvSpPr txBox="1"/>
          <p:nvPr/>
        </p:nvSpPr>
        <p:spPr>
          <a:xfrm>
            <a:off x="758952" y="5166360"/>
            <a:ext cx="10716768" cy="457200"/>
          </a:xfrm>
          <a:prstGeom prst="rect">
            <a:avLst/>
          </a:prstGeom>
          <a:noFill/>
        </p:spPr>
        <p:txBody>
          <a:bodyPr wrap="square" lIns="18288" rIns="18288" tIns="18288" bIns="18288" anchor="ctr">
            <a:spAutoFit/>
          </a:bodyPr>
          <a:lstStyle/>
          <a:p>
            <a:pPr algn="l">
              <a:spcBef>
                <a:spcPts val="0"/>
              </a:spcBef>
              <a:spcAft>
                <a:spcPts val="0"/>
              </a:spcAft>
            </a:pPr>
            <a:r>
              <a:rPr sz="2000" b="1">
                <a:solidFill>
                  <a:srgbClr val="0F676D"/>
                </a:solidFill>
                <a:latin typeface="Arial"/>
              </a:rPr>
              <a:t>Mechanism and measured outcome are shown separately on the next slides.</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closed all 17 fresh issues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§4.2; Table 4.2; Figures L.1-L.4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12</a:t>
            </a:r>
          </a:p>
        </p:txBody>
      </p:sp>
      <p:sp>
        <p:nvSpPr>
          <p:cNvPr id="9" name="Rounded Rectangle 8"/>
          <p:cNvSpPr/>
          <p:nvPr/>
        </p:nvSpPr>
        <p:spPr>
          <a:xfrm>
            <a:off x="731520"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96112"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UNIQUE ISSUES</a:t>
            </a:r>
          </a:p>
        </p:txBody>
      </p:sp>
      <p:sp>
        <p:nvSpPr>
          <p:cNvPr id="11" name="TextBox 10"/>
          <p:cNvSpPr txBox="1"/>
          <p:nvPr/>
        </p:nvSpPr>
        <p:spPr>
          <a:xfrm>
            <a:off x="896112"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17 → 0</a:t>
            </a:r>
          </a:p>
        </p:txBody>
      </p:sp>
      <p:sp>
        <p:nvSpPr>
          <p:cNvPr id="12" name="TextBox 11"/>
          <p:cNvSpPr txBox="1"/>
          <p:nvPr/>
        </p:nvSpPr>
        <p:spPr>
          <a:xfrm>
            <a:off x="896112"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Current run</a:t>
            </a:r>
          </a:p>
        </p:txBody>
      </p:sp>
      <p:sp>
        <p:nvSpPr>
          <p:cNvPr id="13" name="Rounded Rectangle 12"/>
          <p:cNvSpPr/>
          <p:nvPr/>
        </p:nvSpPr>
        <p:spPr>
          <a:xfrm>
            <a:off x="4370832" y="1371600"/>
            <a:ext cx="343814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535424"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QUALITY GATE</a:t>
            </a:r>
          </a:p>
        </p:txBody>
      </p:sp>
      <p:sp>
        <p:nvSpPr>
          <p:cNvPr id="15" name="TextBox 14"/>
          <p:cNvSpPr txBox="1"/>
          <p:nvPr/>
        </p:nvSpPr>
        <p:spPr>
          <a:xfrm>
            <a:off x="4535424"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OK → OK</a:t>
            </a:r>
          </a:p>
        </p:txBody>
      </p:sp>
      <p:sp>
        <p:nvSpPr>
          <p:cNvPr id="16" name="TextBox 15"/>
          <p:cNvSpPr txBox="1"/>
          <p:nvPr/>
        </p:nvSpPr>
        <p:spPr>
          <a:xfrm>
            <a:off x="4535424"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No gate conditions recorded</a:t>
            </a:r>
          </a:p>
        </p:txBody>
      </p:sp>
      <p:sp>
        <p:nvSpPr>
          <p:cNvPr id="17" name="Rounded Rectangle 16"/>
          <p:cNvSpPr/>
          <p:nvPr/>
        </p:nvSpPr>
        <p:spPr>
          <a:xfrm>
            <a:off x="8010144" y="1371600"/>
            <a:ext cx="3438144"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8174736" y="1481328"/>
            <a:ext cx="310896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COVERAGE</a:t>
            </a:r>
          </a:p>
        </p:txBody>
      </p:sp>
      <p:sp>
        <p:nvSpPr>
          <p:cNvPr id="19" name="TextBox 18"/>
          <p:cNvSpPr txBox="1"/>
          <p:nvPr/>
        </p:nvSpPr>
        <p:spPr>
          <a:xfrm>
            <a:off x="8174736" y="1728216"/>
            <a:ext cx="310896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74.4 → 74.3%</a:t>
            </a:r>
          </a:p>
        </p:txBody>
      </p:sp>
      <p:sp>
        <p:nvSpPr>
          <p:cNvPr id="20" name="TextBox 19"/>
          <p:cNvSpPr txBox="1"/>
          <p:nvPr/>
        </p:nvSpPr>
        <p:spPr>
          <a:xfrm>
            <a:off x="8174736" y="2221992"/>
            <a:ext cx="310896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Down 0.1 percentage point</a:t>
            </a:r>
          </a:p>
        </p:txBody>
      </p:sp>
      <p:sp>
        <p:nvSpPr>
          <p:cNvPr id="21" name="Rounded Rectangle 20"/>
          <p:cNvSpPr/>
          <p:nvPr/>
        </p:nvSpPr>
        <p:spPr>
          <a:xfrm>
            <a:off x="731520" y="2871216"/>
            <a:ext cx="10716768" cy="21031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996696" y="3154680"/>
            <a:ext cx="9966960" cy="365760"/>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Do not add impact counts together</a:t>
            </a:r>
          </a:p>
        </p:txBody>
      </p:sp>
      <p:sp>
        <p:nvSpPr>
          <p:cNvPr id="23" name="TextBox 22"/>
          <p:cNvSpPr txBox="1"/>
          <p:nvPr/>
        </p:nvSpPr>
        <p:spPr>
          <a:xfrm>
            <a:off x="996696" y="3685032"/>
            <a:ext cx="9948672" cy="905256"/>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The 17 distinct findings carried overlapping Reliability 2, Security 1, and Maintainability 16 impacts. Cyclomatic complexity rose 886 → 889; duplication stayed 0.0%.</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issues changed; gate status did not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capture · 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13</a:t>
            </a:r>
          </a:p>
        </p:txBody>
      </p:sp>
      <p:sp>
        <p:nvSpPr>
          <p:cNvPr id="9" name="TextBox 8"/>
          <p:cNvSpPr txBox="1"/>
          <p:nvPr/>
        </p:nvSpPr>
        <p:spPr>
          <a:xfrm>
            <a:off x="804672"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 · commit 7a0469d9</a:t>
            </a:r>
          </a:p>
        </p:txBody>
      </p:sp>
      <p:sp>
        <p:nvSpPr>
          <p:cNvPr id="10" name="TextBox 9"/>
          <p:cNvSpPr txBox="1"/>
          <p:nvPr/>
        </p:nvSpPr>
        <p:spPr>
          <a:xfrm>
            <a:off x="6236208" y="1298448"/>
            <a:ext cx="5138928" cy="347472"/>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 · commit a2279bcb</a:t>
            </a:r>
          </a:p>
        </p:txBody>
      </p:sp>
      <p:pic>
        <p:nvPicPr>
          <p:cNvPr id="11" name="Picture 10" descr="sonarqube-baseline-overview.png"/>
          <p:cNvPicPr>
            <a:picLocks noChangeAspect="1"/>
          </p:cNvPicPr>
          <p:nvPr/>
        </p:nvPicPr>
        <p:blipFill>
          <a:blip r:embed="rId2"/>
          <a:stretch>
            <a:fillRect/>
          </a:stretch>
        </p:blipFill>
        <p:spPr>
          <a:xfrm>
            <a:off x="825703" y="1719072"/>
            <a:ext cx="5069433" cy="3520440"/>
          </a:xfrm>
          <a:prstGeom prst="rect">
            <a:avLst/>
          </a:prstGeom>
        </p:spPr>
      </p:pic>
      <p:sp>
        <p:nvSpPr>
          <p:cNvPr id="12" name="Rectangle 11"/>
          <p:cNvSpPr/>
          <p:nvPr/>
        </p:nvSpPr>
        <p:spPr>
          <a:xfrm>
            <a:off x="825703"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75527" y="1719072"/>
            <a:ext cx="5069433" cy="3520440"/>
          </a:xfrm>
          <a:prstGeom prst="rect">
            <a:avLst/>
          </a:prstGeom>
        </p:spPr>
      </p:pic>
      <p:sp>
        <p:nvSpPr>
          <p:cNvPr id="14" name="Rectangle 13"/>
          <p:cNvSpPr/>
          <p:nvPr/>
        </p:nvSpPr>
        <p:spPr>
          <a:xfrm>
            <a:off x="6275527" y="1719072"/>
            <a:ext cx="5069433" cy="352044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13248"/>
            <a:ext cx="10643616" cy="685800"/>
          </a:xfrm>
          <a:prstGeom prst="roundRect">
            <a:avLst/>
          </a:prstGeom>
          <a:solidFill>
            <a:srgbClr val="E8F7E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78408" y="5495544"/>
            <a:ext cx="10232136" cy="502920"/>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Gate OK/OK has no recorded conditions; the measured improvement is 17 issues → 0.</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passed the configured gate; raw API Medium remains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14</a:t>
            </a:r>
          </a:p>
        </p:txBody>
      </p:sp>
      <p:graphicFrame>
        <p:nvGraphicFramePr>
          <p:cNvPr id="9" name="Table 8"/>
          <p:cNvGraphicFramePr>
            <a:graphicFrameLocks noGrp="1"/>
          </p:cNvGraphicFramePr>
          <p:nvPr/>
        </p:nvGraphicFramePr>
        <p:xfrm>
          <a:off x="731520" y="1490472"/>
          <a:ext cx="10716766" cy="2377440"/>
        </p:xfrm>
        <a:graphic>
          <a:graphicData uri="http://schemas.openxmlformats.org/drawingml/2006/table">
            <a:tbl>
              <a:tblPr firstRow="1" bandRow="1">
                <a:tableStyleId>{5C22544A-7EE6-4342-B048-85BDC9FD1C3A}</a:tableStyleId>
              </a:tblPr>
              <a:tblGrid>
                <a:gridCol w="2143353"/>
                <a:gridCol w="2464856"/>
                <a:gridCol w="2464856"/>
                <a:gridCol w="3643701"/>
              </a:tblGrid>
              <a:tr h="792480">
                <a:tc>
                  <a:txBody>
                    <a:bodyPr/>
                    <a:lstStyle/>
                    <a:p>
                      <a:pPr algn="l">
                        <a:spcAft>
                          <a:spcPts val="0"/>
                        </a:spcAft>
                      </a:pPr>
                      <a:r>
                        <a:rPr sz="1800" b="1">
                          <a:solidFill>
                            <a:srgbClr val="FFFFFF"/>
                          </a:solidFill>
                          <a:latin typeface="Arial"/>
                        </a:rPr>
                        <a:t>Fresh scan</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Baseline Medium / Low</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After Medium / Low</a:t>
                      </a:r>
                    </a:p>
                  </a:txBody>
                  <a:tcPr marL="109728" marR="91440" marT="36576" marB="36576">
                    <a:solidFill>
                      <a:srgbClr val="252B33"/>
                    </a:solidFill>
                  </a:tcPr>
                </a:tc>
                <a:tc>
                  <a:txBody>
                    <a:bodyPr/>
                    <a:lstStyle/>
                    <a:p>
                      <a:pPr algn="l">
                        <a:spcAft>
                          <a:spcPts val="0"/>
                        </a:spcAft>
                      </a:pPr>
                      <a:r>
                        <a:rPr sz="1800" b="1">
                          <a:solidFill>
                            <a:srgbClr val="FFFFFF"/>
                          </a:solidFill>
                          <a:latin typeface="Arial"/>
                        </a:rPr>
                        <a:t>Interpretation</a:t>
                      </a:r>
                    </a:p>
                  </a:txBody>
                  <a:tcPr marL="109728" marR="91440" marT="36576" marB="36576">
                    <a:solidFill>
                      <a:srgbClr val="252B33"/>
                    </a:solidFill>
                  </a:tcPr>
                </a:tc>
              </a:tr>
              <a:tr h="792480">
                <a:tc>
                  <a:txBody>
                    <a:bodyPr/>
                    <a:lstStyle/>
                    <a:p>
                      <a:pPr algn="l">
                        <a:spcAft>
                          <a:spcPts val="0"/>
                        </a:spcAft>
                      </a:pPr>
                      <a:r>
                        <a:rPr sz="18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3 / 6</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0 / 0</a:t>
                      </a:r>
                    </a:p>
                  </a:txBody>
                  <a:tcPr marL="109728" marR="91440" marT="36576" marB="36576">
                    <a:solidFill>
                      <a:srgbClr val="FFFFFF"/>
                    </a:solidFill>
                  </a:tcPr>
                </a:tc>
                <a:tc>
                  <a:txBody>
                    <a:bodyPr/>
                    <a:lstStyle/>
                    <a:p>
                      <a:pPr algn="l">
                        <a:spcAft>
                          <a:spcPts val="0"/>
                        </a:spcAft>
                      </a:pPr>
                      <a:r>
                        <a:rPr sz="1800" b="0">
                          <a:solidFill>
                            <a:srgbClr val="252B33"/>
                          </a:solidFill>
                          <a:latin typeface="Arial"/>
                        </a:rPr>
                        <a:t>Both severities cleared</a:t>
                      </a:r>
                    </a:p>
                  </a:txBody>
                  <a:tcPr marL="109728" marR="91440" marT="36576" marB="36576">
                    <a:solidFill>
                      <a:srgbClr val="FFFFFF"/>
                    </a:solidFill>
                  </a:tcPr>
                </a:tc>
              </a:tr>
              <a:tr h="792480">
                <a:tc>
                  <a:txBody>
                    <a:bodyPr/>
                    <a:lstStyle/>
                    <a:p>
                      <a:pPr algn="l">
                        <a:spcAft>
                          <a:spcPts val="0"/>
                        </a:spcAft>
                      </a:pPr>
                      <a:r>
                        <a:rPr sz="1800" b="0">
                          <a:solidFill>
                            <a:srgbClr val="252B33"/>
                          </a:solidFill>
                          <a:latin typeface="Arial"/>
                        </a:rPr>
                        <a:t>Authenticated API</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1 / 3</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1 / 0</a:t>
                      </a:r>
                    </a:p>
                  </a:txBody>
                  <a:tcPr marL="109728" marR="91440" marT="36576" marB="36576">
                    <a:solidFill>
                      <a:srgbClr val="F7F9FC"/>
                    </a:solidFill>
                  </a:tcPr>
                </a:tc>
                <a:tc>
                  <a:txBody>
                    <a:bodyPr/>
                    <a:lstStyle/>
                    <a:p>
                      <a:pPr algn="l">
                        <a:spcAft>
                          <a:spcPts val="0"/>
                        </a:spcAft>
                      </a:pPr>
                      <a:r>
                        <a:rPr sz="1800" b="0">
                          <a:solidFill>
                            <a:srgbClr val="252B33"/>
                          </a:solidFill>
                          <a:latin typeface="Arial"/>
                        </a:rPr>
                        <a:t>One raw Medium disclosed</a:t>
                      </a:r>
                    </a:p>
                  </a:txBody>
                  <a:tcPr marL="109728" marR="91440" marT="36576" marB="36576">
                    <a:solidFill>
                      <a:srgbClr val="F7F9FC"/>
                    </a:solidFill>
                  </a:tcPr>
                </a:tc>
              </a:tr>
            </a:tbl>
          </a:graphicData>
        </a:graphic>
      </p:graphicFrame>
      <p:sp>
        <p:nvSpPr>
          <p:cNvPr id="10" name="Rounded Rectangle 9"/>
          <p:cNvSpPr/>
          <p:nvPr/>
        </p:nvSpPr>
        <p:spPr>
          <a:xfrm>
            <a:off x="731520" y="4261104"/>
            <a:ext cx="5175504" cy="1115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4370832"/>
            <a:ext cx="484632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CONFIGURED RULES</a:t>
            </a:r>
          </a:p>
        </p:txBody>
      </p:sp>
      <p:sp>
        <p:nvSpPr>
          <p:cNvPr id="12" name="TextBox 11"/>
          <p:cNvSpPr txBox="1"/>
          <p:nvPr/>
        </p:nvSpPr>
        <p:spPr>
          <a:xfrm>
            <a:off x="896112" y="4617720"/>
            <a:ext cx="484632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246F46"/>
                </a:solidFill>
                <a:latin typeface="Arial"/>
              </a:rPr>
              <a:t>PASS</a:t>
            </a:r>
          </a:p>
        </p:txBody>
      </p:sp>
      <p:sp>
        <p:nvSpPr>
          <p:cNvPr id="13" name="TextBox 12"/>
          <p:cNvSpPr txBox="1"/>
          <p:nvPr/>
        </p:nvSpPr>
        <p:spPr>
          <a:xfrm>
            <a:off x="896112" y="5111496"/>
            <a:ext cx="484632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Both branches</a:t>
            </a:r>
          </a:p>
        </p:txBody>
      </p:sp>
      <p:sp>
        <p:nvSpPr>
          <p:cNvPr id="14" name="Rounded Rectangle 13"/>
          <p:cNvSpPr/>
          <p:nvPr/>
        </p:nvSpPr>
        <p:spPr>
          <a:xfrm>
            <a:off x="6263640" y="4261104"/>
            <a:ext cx="5175504" cy="1115568"/>
          </a:xfrm>
          <a:prstGeom prst="roundRect">
            <a:avLst/>
          </a:prstGeom>
          <a:solidFill>
            <a:srgbClr val="FFF6E7"/>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428231" y="4370832"/>
            <a:ext cx="4846320" cy="201168"/>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5B6874"/>
                </a:solidFill>
                <a:latin typeface="Arial"/>
              </a:rPr>
              <a:t>RESIDUAL RAW ALERT</a:t>
            </a:r>
          </a:p>
        </p:txBody>
      </p:sp>
      <p:sp>
        <p:nvSpPr>
          <p:cNvPr id="16" name="TextBox 15"/>
          <p:cNvSpPr txBox="1"/>
          <p:nvPr/>
        </p:nvSpPr>
        <p:spPr>
          <a:xfrm>
            <a:off x="6428231" y="4617720"/>
            <a:ext cx="4846320" cy="411480"/>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BE7414"/>
                </a:solidFill>
                <a:latin typeface="Arial"/>
              </a:rPr>
              <a:t>HTTP Only Site</a:t>
            </a:r>
          </a:p>
        </p:txBody>
      </p:sp>
      <p:sp>
        <p:nvSpPr>
          <p:cNvPr id="17" name="TextBox 16"/>
          <p:cNvSpPr txBox="1"/>
          <p:nvPr/>
        </p:nvSpPr>
        <p:spPr>
          <a:xfrm>
            <a:off x="6428231" y="5111496"/>
            <a:ext cx="4846320" cy="164592"/>
          </a:xfrm>
          <a:prstGeom prst="rect">
            <a:avLst/>
          </a:prstGeom>
          <a:noFill/>
        </p:spPr>
        <p:txBody>
          <a:bodyPr wrap="square" lIns="18288" rIns="18288" tIns="18288" bIns="18288" anchor="ctr">
            <a:spAutoFit/>
          </a:bodyPr>
          <a:lstStyle/>
          <a:p>
            <a:pPr algn="l">
              <a:spcBef>
                <a:spcPts val="0"/>
              </a:spcBef>
              <a:spcAft>
                <a:spcPts val="0"/>
              </a:spcAft>
            </a:pPr>
            <a:r>
              <a:rPr sz="1100" b="0">
                <a:solidFill>
                  <a:srgbClr val="5B6874"/>
                </a:solidFill>
                <a:latin typeface="Arial"/>
              </a:rPr>
              <a:t>Local HTTP transport · CWE-311</a:t>
            </a:r>
          </a:p>
        </p:txBody>
      </p:sp>
      <p:sp>
        <p:nvSpPr>
          <p:cNvPr id="18" name="TextBox 17"/>
          <p:cNvSpPr txBox="1"/>
          <p:nvPr/>
        </p:nvSpPr>
        <p:spPr>
          <a:xfrm>
            <a:off x="777240" y="5751576"/>
            <a:ext cx="10652760" cy="420624"/>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BE7414"/>
                </a:solidFill>
                <a:latin typeface="Arial"/>
              </a:rPr>
              <a:t>Local HTTP caused the alert; an HTTPS retest is needed before claiming it is cleared.</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dashboard captures are historical visuals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L.5-L.8; fresh counts on prior slide</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15</a:t>
            </a:r>
          </a:p>
        </p:txBody>
      </p:sp>
      <p:pic>
        <p:nvPicPr>
          <p:cNvPr id="9" name="Picture 8" descr="zap-api-before-summary.png"/>
          <p:cNvPicPr>
            <a:picLocks noChangeAspect="1"/>
          </p:cNvPicPr>
          <p:nvPr/>
        </p:nvPicPr>
        <p:blipFill>
          <a:blip r:embed="rId2"/>
          <a:stretch>
            <a:fillRect/>
          </a:stretch>
        </p:blipFill>
        <p:spPr>
          <a:xfrm>
            <a:off x="812535" y="1481328"/>
            <a:ext cx="5095768" cy="3538728"/>
          </a:xfrm>
          <a:prstGeom prst="rect">
            <a:avLst/>
          </a:prstGeom>
        </p:spPr>
      </p:pic>
      <p:sp>
        <p:nvSpPr>
          <p:cNvPr id="10" name="Rectangle 9"/>
          <p:cNvSpPr/>
          <p:nvPr/>
        </p:nvSpPr>
        <p:spPr>
          <a:xfrm>
            <a:off x="812535" y="1481328"/>
            <a:ext cx="5095768" cy="3538728"/>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zap-api-after-summary.png"/>
          <p:cNvPicPr>
            <a:picLocks noChangeAspect="1"/>
          </p:cNvPicPr>
          <p:nvPr/>
        </p:nvPicPr>
        <p:blipFill>
          <a:blip r:embed="rId3"/>
          <a:stretch>
            <a:fillRect/>
          </a:stretch>
        </p:blipFill>
        <p:spPr>
          <a:xfrm>
            <a:off x="6271503" y="1481328"/>
            <a:ext cx="5095768" cy="3538728"/>
          </a:xfrm>
          <a:prstGeom prst="rect">
            <a:avLst/>
          </a:prstGeom>
        </p:spPr>
      </p:pic>
      <p:sp>
        <p:nvSpPr>
          <p:cNvPr id="12" name="Rectangle 11"/>
          <p:cNvSpPr/>
          <p:nvPr/>
        </p:nvSpPr>
        <p:spPr>
          <a:xfrm>
            <a:off x="6271503" y="1481328"/>
            <a:ext cx="5095768" cy="3538728"/>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32104" y="5129784"/>
            <a:ext cx="5029200" cy="29260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5B6874"/>
                </a:solidFill>
                <a:latin typeface="Arial"/>
              </a:rPr>
              <a:t>Historical API before</a:t>
            </a:r>
          </a:p>
        </p:txBody>
      </p:sp>
      <p:sp>
        <p:nvSpPr>
          <p:cNvPr id="14" name="TextBox 13"/>
          <p:cNvSpPr txBox="1"/>
          <p:nvPr/>
        </p:nvSpPr>
        <p:spPr>
          <a:xfrm>
            <a:off x="6309360" y="5129784"/>
            <a:ext cx="5029200" cy="29260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5B6874"/>
                </a:solidFill>
                <a:latin typeface="Arial"/>
              </a:rPr>
              <a:t>Historical API after</a:t>
            </a:r>
          </a:p>
        </p:txBody>
      </p:sp>
      <p:sp>
        <p:nvSpPr>
          <p:cNvPr id="15" name="Rounded Rectangle 14"/>
          <p:cNvSpPr/>
          <p:nvPr/>
        </p:nvSpPr>
        <p:spPr>
          <a:xfrm>
            <a:off x="768096" y="5577840"/>
            <a:ext cx="10652760" cy="48463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60120" y="5623560"/>
            <a:ext cx="10241280"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BE7414"/>
                </a:solidFill>
                <a:latin typeface="Arial"/>
              </a:rPr>
              <a:t>Current scan JSON is authoritative: the API still has 1 raw Medium after remediation.</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tested three user counts, plus soak and spike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§§3.8 and 4.4; Appendix K</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16</a:t>
            </a:r>
          </a:p>
        </p:txBody>
      </p:sp>
      <p:sp>
        <p:nvSpPr>
          <p:cNvPr id="9" name="Rounded Rectangle 8"/>
          <p:cNvSpPr/>
          <p:nvPr/>
        </p:nvSpPr>
        <p:spPr>
          <a:xfrm>
            <a:off x="713232"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77824"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 VU</a:t>
            </a:r>
          </a:p>
        </p:txBody>
      </p:sp>
      <p:sp>
        <p:nvSpPr>
          <p:cNvPr id="11" name="TextBox 10"/>
          <p:cNvSpPr txBox="1"/>
          <p:nvPr/>
        </p:nvSpPr>
        <p:spPr>
          <a:xfrm>
            <a:off x="877824"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 users</a:t>
            </a:r>
          </a:p>
        </p:txBody>
      </p:sp>
      <p:sp>
        <p:nvSpPr>
          <p:cNvPr id="12" name="TextBox 11"/>
          <p:cNvSpPr txBox="1"/>
          <p:nvPr/>
        </p:nvSpPr>
        <p:spPr>
          <a:xfrm>
            <a:off x="859536"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Normal scenario</a:t>
            </a:r>
          </a:p>
        </p:txBody>
      </p:sp>
      <p:sp>
        <p:nvSpPr>
          <p:cNvPr id="13" name="Rounded Rectangle 12"/>
          <p:cNvSpPr/>
          <p:nvPr/>
        </p:nvSpPr>
        <p:spPr>
          <a:xfrm>
            <a:off x="2990088"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154680"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100 VU</a:t>
            </a:r>
          </a:p>
        </p:txBody>
      </p:sp>
      <p:sp>
        <p:nvSpPr>
          <p:cNvPr id="15" name="TextBox 14"/>
          <p:cNvSpPr txBox="1"/>
          <p:nvPr/>
        </p:nvSpPr>
        <p:spPr>
          <a:xfrm>
            <a:off x="3154680"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100 users</a:t>
            </a:r>
          </a:p>
        </p:txBody>
      </p:sp>
      <p:sp>
        <p:nvSpPr>
          <p:cNvPr id="16" name="TextBox 15"/>
          <p:cNvSpPr txBox="1"/>
          <p:nvPr/>
        </p:nvSpPr>
        <p:spPr>
          <a:xfrm>
            <a:off x="3136392"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Planned peak scenario</a:t>
            </a:r>
          </a:p>
        </p:txBody>
      </p:sp>
      <p:sp>
        <p:nvSpPr>
          <p:cNvPr id="17" name="Rounded Rectangle 16"/>
          <p:cNvSpPr/>
          <p:nvPr/>
        </p:nvSpPr>
        <p:spPr>
          <a:xfrm>
            <a:off x="5266944"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5431536"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500 VU</a:t>
            </a:r>
          </a:p>
        </p:txBody>
      </p:sp>
      <p:sp>
        <p:nvSpPr>
          <p:cNvPr id="19" name="TextBox 18"/>
          <p:cNvSpPr txBox="1"/>
          <p:nvPr/>
        </p:nvSpPr>
        <p:spPr>
          <a:xfrm>
            <a:off x="5431536"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500 users</a:t>
            </a:r>
          </a:p>
        </p:txBody>
      </p:sp>
      <p:sp>
        <p:nvSpPr>
          <p:cNvPr id="20" name="TextBox 19"/>
          <p:cNvSpPr txBox="1"/>
          <p:nvPr/>
        </p:nvSpPr>
        <p:spPr>
          <a:xfrm>
            <a:off x="5413248"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Heavier-load scenario</a:t>
            </a:r>
          </a:p>
        </p:txBody>
      </p:sp>
      <p:sp>
        <p:nvSpPr>
          <p:cNvPr id="21" name="Rounded Rectangle 20"/>
          <p:cNvSpPr/>
          <p:nvPr/>
        </p:nvSpPr>
        <p:spPr>
          <a:xfrm>
            <a:off x="7543800"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7708392"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SOAK</a:t>
            </a:r>
          </a:p>
        </p:txBody>
      </p:sp>
      <p:sp>
        <p:nvSpPr>
          <p:cNvPr id="23" name="TextBox 22"/>
          <p:cNvSpPr txBox="1"/>
          <p:nvPr/>
        </p:nvSpPr>
        <p:spPr>
          <a:xfrm>
            <a:off x="7708392"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steady</a:t>
            </a:r>
          </a:p>
        </p:txBody>
      </p:sp>
      <p:sp>
        <p:nvSpPr>
          <p:cNvPr id="24" name="TextBox 23"/>
          <p:cNvSpPr txBox="1"/>
          <p:nvPr/>
        </p:nvSpPr>
        <p:spPr>
          <a:xfrm>
            <a:off x="7690104"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Long-running test</a:t>
            </a:r>
          </a:p>
        </p:txBody>
      </p:sp>
      <p:sp>
        <p:nvSpPr>
          <p:cNvPr id="25" name="Rounded Rectangle 24"/>
          <p:cNvSpPr/>
          <p:nvPr/>
        </p:nvSpPr>
        <p:spPr>
          <a:xfrm>
            <a:off x="9820656" y="1828800"/>
            <a:ext cx="2103120" cy="235000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9985248" y="2075688"/>
            <a:ext cx="1773936" cy="411480"/>
          </a:xfrm>
          <a:prstGeom prst="rect">
            <a:avLst/>
          </a:prstGeom>
          <a:noFill/>
        </p:spPr>
        <p:txBody>
          <a:bodyPr wrap="square" lIns="18288" rIns="18288" tIns="18288" bIns="18288" anchor="ctr">
            <a:spAutoFit/>
          </a:bodyPr>
          <a:lstStyle/>
          <a:p>
            <a:pPr algn="ctr">
              <a:spcBef>
                <a:spcPts val="0"/>
              </a:spcBef>
              <a:spcAft>
                <a:spcPts val="0"/>
              </a:spcAft>
            </a:pPr>
            <a:r>
              <a:rPr sz="2500" b="1">
                <a:solidFill>
                  <a:srgbClr val="BE7414"/>
                </a:solidFill>
                <a:latin typeface="Arial"/>
              </a:rPr>
              <a:t>SPIKE</a:t>
            </a:r>
          </a:p>
        </p:txBody>
      </p:sp>
      <p:sp>
        <p:nvSpPr>
          <p:cNvPr id="27" name="TextBox 26"/>
          <p:cNvSpPr txBox="1"/>
          <p:nvPr/>
        </p:nvSpPr>
        <p:spPr>
          <a:xfrm>
            <a:off x="9985248" y="2779776"/>
            <a:ext cx="1773936" cy="411480"/>
          </a:xfrm>
          <a:prstGeom prst="rect">
            <a:avLst/>
          </a:prstGeom>
          <a:noFill/>
        </p:spPr>
        <p:txBody>
          <a:bodyPr wrap="square" lIns="18288" rIns="18288" tIns="18288" bIns="18288" anchor="ctr">
            <a:spAutoFit/>
          </a:bodyPr>
          <a:lstStyle/>
          <a:p>
            <a:pPr algn="ctr">
              <a:spcBef>
                <a:spcPts val="0"/>
              </a:spcBef>
              <a:spcAft>
                <a:spcPts val="0"/>
              </a:spcAft>
            </a:pPr>
            <a:r>
              <a:rPr sz="2000" b="1">
                <a:solidFill>
                  <a:srgbClr val="252B33"/>
                </a:solidFill>
                <a:latin typeface="Arial"/>
              </a:rPr>
              <a:t>burst</a:t>
            </a:r>
          </a:p>
        </p:txBody>
      </p:sp>
      <p:sp>
        <p:nvSpPr>
          <p:cNvPr id="28" name="TextBox 27"/>
          <p:cNvSpPr txBox="1"/>
          <p:nvPr/>
        </p:nvSpPr>
        <p:spPr>
          <a:xfrm>
            <a:off x="9966960" y="3465576"/>
            <a:ext cx="1810512" cy="438912"/>
          </a:xfrm>
          <a:prstGeom prst="rect">
            <a:avLst/>
          </a:prstGeom>
          <a:noFill/>
        </p:spPr>
        <p:txBody>
          <a:bodyPr wrap="square" lIns="18288" rIns="18288" tIns="18288" bIns="18288" anchor="ctr">
            <a:spAutoFit/>
          </a:bodyPr>
          <a:lstStyle/>
          <a:p>
            <a:pPr algn="ctr">
              <a:spcBef>
                <a:spcPts val="0"/>
              </a:spcBef>
              <a:spcAft>
                <a:spcPts val="0"/>
              </a:spcAft>
            </a:pPr>
            <a:r>
              <a:rPr sz="1400" b="0">
                <a:solidFill>
                  <a:srgbClr val="5B6874"/>
                </a:solidFill>
                <a:latin typeface="Arial"/>
              </a:rPr>
              <a:t>Sudden-load test</a:t>
            </a:r>
          </a:p>
        </p:txBody>
      </p:sp>
      <p:sp>
        <p:nvSpPr>
          <p:cNvPr id="29" name="TextBox 28"/>
          <p:cNvSpPr txBox="1"/>
          <p:nvPr/>
        </p:nvSpPr>
        <p:spPr>
          <a:xfrm>
            <a:off x="749808" y="4892040"/>
            <a:ext cx="10771632" cy="594360"/>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E7414"/>
                </a:solidFill>
                <a:latin typeface="Arial"/>
              </a:rPr>
              <a:t>VU means simulated users; p95 is the time within which 95% of requests finish.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Core performance target was not met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Table 4.5;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17</a:t>
            </a:r>
          </a:p>
        </p:txBody>
      </p:sp>
      <p:graphicFrame>
        <p:nvGraphicFramePr>
          <p:cNvPr id="9" name="Table 8"/>
          <p:cNvGraphicFramePr>
            <a:graphicFrameLocks noGrp="1"/>
          </p:cNvGraphicFramePr>
          <p:nvPr/>
        </p:nvGraphicFramePr>
        <p:xfrm>
          <a:off x="731520" y="1417320"/>
          <a:ext cx="10716766" cy="3108960"/>
        </p:xfrm>
        <a:graphic>
          <a:graphicData uri="http://schemas.openxmlformats.org/drawingml/2006/table">
            <a:tbl>
              <a:tblPr firstRow="1" bandRow="1">
                <a:tableStyleId>{5C22544A-7EE6-4342-B048-85BDC9FD1C3A}</a:tableStyleId>
              </a:tblPr>
              <a:tblGrid>
                <a:gridCol w="2036185"/>
                <a:gridCol w="2572024"/>
                <a:gridCol w="2572024"/>
                <a:gridCol w="3536533"/>
              </a:tblGrid>
              <a:tr h="777240">
                <a:tc>
                  <a:txBody>
                    <a:bodyPr/>
                    <a:lstStyle/>
                    <a:p>
                      <a:pPr algn="l">
                        <a:spcAft>
                          <a:spcPts val="0"/>
                        </a:spcAft>
                      </a:pPr>
                      <a:r>
                        <a:rPr sz="20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2000" b="1">
                          <a:solidFill>
                            <a:srgbClr val="FFFFFF"/>
                          </a:solidFill>
                          <a:latin typeface="Arial"/>
                        </a:rPr>
                        <a:t>Fresh judgment</a:t>
                      </a:r>
                    </a:p>
                  </a:txBody>
                  <a:tcPr marL="109728" marR="91440" marT="36576" marB="36576">
                    <a:solidFill>
                      <a:srgbClr val="252B33"/>
                    </a:solidFill>
                  </a:tcPr>
                </a:tc>
              </a:tr>
              <a:tr h="777240">
                <a:tc>
                  <a:txBody>
                    <a:bodyPr/>
                    <a:lstStyle/>
                    <a:p>
                      <a:pPr algn="l">
                        <a:spcAft>
                          <a:spcPts val="0"/>
                        </a:spcAft>
                      </a:pPr>
                      <a:r>
                        <a:rPr sz="20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33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199.9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r h="777240">
                <a:tc>
                  <a:txBody>
                    <a:bodyPr/>
                    <a:lstStyle/>
                    <a:p>
                      <a:pPr algn="l">
                        <a:spcAft>
                          <a:spcPts val="0"/>
                        </a:spcAft>
                      </a:pPr>
                      <a:r>
                        <a:rPr sz="20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255.9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1146.9 ms</a:t>
                      </a:r>
                    </a:p>
                  </a:txBody>
                  <a:tcPr marL="109728" marR="91440" marT="36576" marB="36576">
                    <a:solidFill>
                      <a:srgbClr val="F7F9FC"/>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7F9FC"/>
                    </a:solidFill>
                  </a:tcPr>
                </a:tc>
              </a:tr>
              <a:tr h="777240">
                <a:tc>
                  <a:txBody>
                    <a:bodyPr/>
                    <a:lstStyle/>
                    <a:p>
                      <a:pPr algn="l">
                        <a:spcAft>
                          <a:spcPts val="0"/>
                        </a:spcAft>
                      </a:pPr>
                      <a:r>
                        <a:rPr sz="20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106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1547.95 ms</a:t>
                      </a:r>
                    </a:p>
                  </a:txBody>
                  <a:tcPr marL="109728" marR="91440" marT="36576" marB="36576">
                    <a:solidFill>
                      <a:srgbClr val="FFFFFF"/>
                    </a:solidFill>
                  </a:tcPr>
                </a:tc>
                <a:tc>
                  <a:txBody>
                    <a:bodyPr/>
                    <a:lstStyle/>
                    <a:p>
                      <a:pPr algn="l">
                        <a:spcAft>
                          <a:spcPts val="0"/>
                        </a:spcAft>
                      </a:pPr>
                      <a:r>
                        <a:rPr sz="2000" b="0">
                          <a:solidFill>
                            <a:srgbClr val="252B33"/>
                          </a:solidFill>
                          <a:latin typeface="Arial"/>
                        </a:rPr>
                        <a:t>Slower after fixes</a:t>
                      </a:r>
                    </a:p>
                  </a:txBody>
                  <a:tcPr marL="109728" marR="91440" marT="36576" marB="36576">
                    <a:solidFill>
                      <a:srgbClr val="FFFFFF"/>
                    </a:solidFill>
                  </a:tcPr>
                </a:tc>
              </a:tr>
            </a:tbl>
          </a:graphicData>
        </a:graphic>
      </p:graphicFrame>
      <p:sp>
        <p:nvSpPr>
          <p:cNvPr id="10" name="Rounded Rectangle 9"/>
          <p:cNvSpPr/>
          <p:nvPr/>
        </p:nvSpPr>
        <p:spPr>
          <a:xfrm>
            <a:off x="731520" y="4809744"/>
            <a:ext cx="10716768" cy="978408"/>
          </a:xfrm>
          <a:prstGeom prst="roundRect">
            <a:avLst/>
          </a:prstGeom>
          <a:solidFill>
            <a:srgbClr val="FDEFF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4965192"/>
            <a:ext cx="10250424" cy="612648"/>
          </a:xfrm>
          <a:prstGeom prst="rect">
            <a:avLst/>
          </a:prstGeom>
          <a:noFill/>
        </p:spPr>
        <p:txBody>
          <a:bodyPr wrap="square" lIns="18288" rIns="18288" tIns="18288" bIns="18288" anchor="ctr">
            <a:spAutoFit/>
          </a:bodyPr>
          <a:lstStyle/>
          <a:p>
            <a:pPr algn="l">
              <a:spcBef>
                <a:spcPts val="0"/>
              </a:spcBef>
              <a:spcAft>
                <a:spcPts val="0"/>
              </a:spcAft>
            </a:pPr>
            <a:r>
              <a:rPr sz="2400" b="1">
                <a:solidFill>
                  <a:srgbClr val="B3373D"/>
                </a:solidFill>
                <a:latin typeface="Arial"/>
              </a:rPr>
              <a:t>NOT MET: 100 VU 1,146.9 &gt; 500 ms; 500 VU 1,547.95 &gt; 1,200 ms</a:t>
            </a:r>
          </a:p>
        </p:txBody>
      </p:sp>
      <p:sp>
        <p:nvSpPr>
          <p:cNvPr id="12" name="TextBox 11"/>
          <p:cNvSpPr txBox="1"/>
          <p:nvPr/>
        </p:nvSpPr>
        <p:spPr>
          <a:xfrm>
            <a:off x="950976" y="5833872"/>
            <a:ext cx="10195560" cy="466344"/>
          </a:xfrm>
          <a:prstGeom prst="rect">
            <a:avLst/>
          </a:prstGeom>
          <a:noFill/>
        </p:spPr>
        <p:txBody>
          <a:bodyPr wrap="square" lIns="18288" rIns="18288" tIns="18288" bIns="18288" anchor="ctr">
            <a:spAutoFit/>
          </a:bodyPr>
          <a:lstStyle/>
          <a:p>
            <a:pPr algn="l">
              <a:spcBef>
                <a:spcPts val="0"/>
              </a:spcBef>
              <a:spcAft>
                <a:spcPts val="0"/>
              </a:spcAft>
            </a:pPr>
            <a:r>
              <a:rPr sz="1600" b="0">
                <a:solidFill>
                  <a:srgbClr val="5B6874"/>
                </a:solidFill>
                <a:latin typeface="Arial"/>
              </a:rPr>
              <a:t>Fixes: cache ledger data; avoid report snapshot writes. Exact cause of slowdown not isolated.</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Soak and spike improved; core targets did not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18</a:t>
            </a:r>
          </a:p>
        </p:txBody>
      </p:sp>
      <p:sp>
        <p:nvSpPr>
          <p:cNvPr id="9" name="Rounded Rectangle 8"/>
          <p:cNvSpPr/>
          <p:nvPr/>
        </p:nvSpPr>
        <p:spPr>
          <a:xfrm>
            <a:off x="731520"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1005840" y="1865376"/>
            <a:ext cx="4626864"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SOAK TOTAL p95</a:t>
            </a:r>
          </a:p>
        </p:txBody>
      </p:sp>
      <p:sp>
        <p:nvSpPr>
          <p:cNvPr id="11" name="TextBox 10"/>
          <p:cNvSpPr txBox="1"/>
          <p:nvPr/>
        </p:nvSpPr>
        <p:spPr>
          <a:xfrm>
            <a:off x="1005840"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3000" b="1">
                <a:solidFill>
                  <a:srgbClr val="246F46"/>
                </a:solidFill>
                <a:latin typeface="Arial"/>
              </a:rPr>
              <a:t>443.95 → 171 ms</a:t>
            </a:r>
          </a:p>
        </p:txBody>
      </p:sp>
      <p:sp>
        <p:nvSpPr>
          <p:cNvPr id="12" name="TextBox 11"/>
          <p:cNvSpPr txBox="1"/>
          <p:nvPr/>
        </p:nvSpPr>
        <p:spPr>
          <a:xfrm>
            <a:off x="1005840"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2100" b="0">
                <a:solidFill>
                  <a:srgbClr val="252B33"/>
                </a:solidFill>
                <a:latin typeface="Arial"/>
              </a:rPr>
              <a:t>61% lower on the fresh run</a:t>
            </a:r>
          </a:p>
        </p:txBody>
      </p:sp>
      <p:sp>
        <p:nvSpPr>
          <p:cNvPr id="13" name="Rounded Rectangle 12"/>
          <p:cNvSpPr/>
          <p:nvPr/>
        </p:nvSpPr>
        <p:spPr>
          <a:xfrm>
            <a:off x="6254496" y="1554480"/>
            <a:ext cx="5175504" cy="3401568"/>
          </a:xfrm>
          <a:prstGeom prst="roundRect">
            <a:avLst/>
          </a:prstGeom>
          <a:solidFill>
            <a:srgbClr val="E8F7EE"/>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528816" y="1865376"/>
            <a:ext cx="4617720" cy="29260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6F46"/>
                </a:solidFill>
                <a:latin typeface="Arial"/>
              </a:rPr>
              <a:t>SPIKE TOTAL p95</a:t>
            </a:r>
          </a:p>
        </p:txBody>
      </p:sp>
      <p:sp>
        <p:nvSpPr>
          <p:cNvPr id="15" name="TextBox 14"/>
          <p:cNvSpPr txBox="1"/>
          <p:nvPr/>
        </p:nvSpPr>
        <p:spPr>
          <a:xfrm>
            <a:off x="6528816" y="2450592"/>
            <a:ext cx="4617720" cy="566928"/>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46F46"/>
                </a:solidFill>
                <a:latin typeface="Arial"/>
              </a:rPr>
              <a:t>33,402 → 4,731 ms</a:t>
            </a:r>
          </a:p>
        </p:txBody>
      </p:sp>
      <p:sp>
        <p:nvSpPr>
          <p:cNvPr id="16" name="TextBox 15"/>
          <p:cNvSpPr txBox="1"/>
          <p:nvPr/>
        </p:nvSpPr>
        <p:spPr>
          <a:xfrm>
            <a:off x="6528816" y="3337560"/>
            <a:ext cx="4617720" cy="475488"/>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252B33"/>
                </a:solidFill>
                <a:latin typeface="Arial"/>
              </a:rPr>
              <a:t>86% lower; errors 0.4688% → 0.0%</a:t>
            </a:r>
          </a:p>
        </p:txBody>
      </p:sp>
      <p:sp>
        <p:nvSpPr>
          <p:cNvPr id="17" name="TextBox 16"/>
          <p:cNvSpPr txBox="1"/>
          <p:nvPr/>
        </p:nvSpPr>
        <p:spPr>
          <a:xfrm>
            <a:off x="768096" y="5294376"/>
            <a:ext cx="10698480" cy="5760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3373D"/>
                </a:solidFill>
                <a:latin typeface="Arial"/>
              </a:rPr>
              <a:t>Soak = long steady run; spike = sudden burst. Neither replaces the 100/500 VU core checks.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One endpoint improved under spike but regressed under soak</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4.4; Appendix G</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19</a:t>
            </a:r>
          </a:p>
        </p:txBody>
      </p:sp>
      <p:graphicFrame>
        <p:nvGraphicFramePr>
          <p:cNvPr id="9" name="Table 8"/>
          <p:cNvGraphicFramePr>
            <a:graphicFrameLocks noGrp="1"/>
          </p:cNvGraphicFramePr>
          <p:nvPr/>
        </p:nvGraphicFramePr>
        <p:xfrm>
          <a:off x="731520" y="1481328"/>
          <a:ext cx="10716765" cy="2322576"/>
        </p:xfrm>
        <a:graphic>
          <a:graphicData uri="http://schemas.openxmlformats.org/drawingml/2006/table">
            <a:tbl>
              <a:tblPr firstRow="1" bandRow="1">
                <a:tableStyleId>{5C22544A-7EE6-4342-B048-85BDC9FD1C3A}</a:tableStyleId>
              </a:tblPr>
              <a:tblGrid>
                <a:gridCol w="3107862"/>
                <a:gridCol w="2357688"/>
                <a:gridCol w="2357688"/>
                <a:gridCol w="2893527"/>
              </a:tblGrid>
              <a:tr h="774192">
                <a:tc>
                  <a:txBody>
                    <a:bodyPr/>
                    <a:lstStyle/>
                    <a:p>
                      <a:pPr algn="l">
                        <a:spcAft>
                          <a:spcPts val="0"/>
                        </a:spcAft>
                      </a:pPr>
                      <a:r>
                        <a:rPr sz="1900" b="1">
                          <a:solidFill>
                            <a:srgbClr val="FFFFFF"/>
                          </a:solidFill>
                          <a:latin typeface="Arial"/>
                        </a:rPr>
                        <a:t>Account-ledger profile</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900" b="1">
                          <a:solidFill>
                            <a:srgbClr val="FFFFFF"/>
                          </a:solidFill>
                          <a:latin typeface="Arial"/>
                        </a:rPr>
                        <a:t>Interpretation</a:t>
                      </a:r>
                    </a:p>
                  </a:txBody>
                  <a:tcPr marL="109728" marR="91440" marT="36576" marB="36576">
                    <a:solidFill>
                      <a:srgbClr val="252B33"/>
                    </a:solidFill>
                  </a:tcPr>
                </a:tc>
              </a:tr>
              <a:tr h="774192">
                <a:tc>
                  <a:txBody>
                    <a:bodyPr/>
                    <a:lstStyle/>
                    <a:p>
                      <a:pPr algn="l">
                        <a:spcAft>
                          <a:spcPts val="0"/>
                        </a:spcAft>
                      </a:pPr>
                      <a:r>
                        <a:rPr sz="1900" b="0">
                          <a:solidFill>
                            <a:srgbClr val="252B33"/>
                          </a:solidFill>
                          <a:latin typeface="Arial"/>
                        </a:rPr>
                        <a:t>Soak</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741.95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3,825.70 ms</a:t>
                      </a:r>
                    </a:p>
                  </a:txBody>
                  <a:tcPr marL="109728" marR="91440" marT="36576" marB="36576">
                    <a:solidFill>
                      <a:srgbClr val="FFFFFF"/>
                    </a:solidFill>
                  </a:tcPr>
                </a:tc>
                <a:tc>
                  <a:txBody>
                    <a:bodyPr/>
                    <a:lstStyle/>
                    <a:p>
                      <a:pPr algn="l">
                        <a:spcAft>
                          <a:spcPts val="0"/>
                        </a:spcAft>
                      </a:pPr>
                      <a:r>
                        <a:rPr sz="1900" b="0">
                          <a:solidFill>
                            <a:srgbClr val="252B33"/>
                          </a:solidFill>
                          <a:latin typeface="Arial"/>
                        </a:rPr>
                        <a:t>Regression</a:t>
                      </a:r>
                    </a:p>
                  </a:txBody>
                  <a:tcPr marL="109728" marR="91440" marT="36576" marB="36576">
                    <a:solidFill>
                      <a:srgbClr val="FFFFFF"/>
                    </a:solidFill>
                  </a:tcPr>
                </a:tc>
              </a:tr>
              <a:tr h="774192">
                <a:tc>
                  <a:txBody>
                    <a:bodyPr/>
                    <a:lstStyle/>
                    <a:p>
                      <a:pPr algn="l">
                        <a:spcAft>
                          <a:spcPts val="0"/>
                        </a:spcAft>
                      </a:pPr>
                      <a:r>
                        <a:rPr sz="1900" b="0">
                          <a:solidFill>
                            <a:srgbClr val="252B33"/>
                          </a:solidFill>
                          <a:latin typeface="Arial"/>
                        </a:rPr>
                        <a:t>Spike</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50,288.30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12,910.20 ms</a:t>
                      </a:r>
                    </a:p>
                  </a:txBody>
                  <a:tcPr marL="109728" marR="91440" marT="36576" marB="36576">
                    <a:solidFill>
                      <a:srgbClr val="F7F9FC"/>
                    </a:solidFill>
                  </a:tcPr>
                </a:tc>
                <a:tc>
                  <a:txBody>
                    <a:bodyPr/>
                    <a:lstStyle/>
                    <a:p>
                      <a:pPr algn="l">
                        <a:spcAft>
                          <a:spcPts val="0"/>
                        </a:spcAft>
                      </a:pPr>
                      <a:r>
                        <a:rPr sz="1900" b="0">
                          <a:solidFill>
                            <a:srgbClr val="252B33"/>
                          </a:solidFill>
                          <a:latin typeface="Arial"/>
                        </a:rPr>
                        <a:t>Improvement</a:t>
                      </a:r>
                    </a:p>
                  </a:txBody>
                  <a:tcPr marL="109728" marR="91440" marT="36576" marB="36576">
                    <a:solidFill>
                      <a:srgbClr val="F7F9FC"/>
                    </a:solidFill>
                  </a:tcPr>
                </a:tc>
              </a:tr>
            </a:tbl>
          </a:graphicData>
        </a:graphic>
      </p:graphicFrame>
      <p:sp>
        <p:nvSpPr>
          <p:cNvPr id="10" name="Rounded Rectangle 9"/>
          <p:cNvSpPr/>
          <p:nvPr/>
        </p:nvSpPr>
        <p:spPr>
          <a:xfrm>
            <a:off x="731520" y="4105656"/>
            <a:ext cx="10716768" cy="15727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78408" y="4325112"/>
            <a:ext cx="9966960" cy="347472"/>
          </a:xfrm>
          <a:prstGeom prst="rect">
            <a:avLst/>
          </a:prstGeom>
          <a:noFill/>
        </p:spPr>
        <p:txBody>
          <a:bodyPr wrap="square" lIns="18288" rIns="18288" tIns="18288" bIns="18288" anchor="ctr">
            <a:spAutoFit/>
          </a:bodyPr>
          <a:lstStyle/>
          <a:p>
            <a:pPr algn="l">
              <a:spcBef>
                <a:spcPts val="0"/>
              </a:spcBef>
              <a:spcAft>
                <a:spcPts val="0"/>
              </a:spcAft>
            </a:pPr>
            <a:r>
              <a:rPr sz="1900" b="1">
                <a:solidFill>
                  <a:srgbClr val="BE7414"/>
                </a:solidFill>
                <a:latin typeface="Arial"/>
              </a:rPr>
              <a:t>Why this matters</a:t>
            </a:r>
          </a:p>
        </p:txBody>
      </p:sp>
      <p:sp>
        <p:nvSpPr>
          <p:cNvPr id="12" name="TextBox 11"/>
          <p:cNvSpPr txBox="1"/>
          <p:nvPr/>
        </p:nvSpPr>
        <p:spPr>
          <a:xfrm>
            <a:off x="978408" y="4700016"/>
            <a:ext cx="9948672" cy="704088"/>
          </a:xfrm>
          <a:prstGeom prst="rect">
            <a:avLst/>
          </a:prstGeom>
          <a:noFill/>
        </p:spPr>
        <p:txBody>
          <a:bodyPr wrap="square" lIns="18288" rIns="18288" tIns="18288" bIns="18288" anchor="ctr">
            <a:spAutoFit/>
          </a:bodyPr>
          <a:lstStyle/>
          <a:p>
            <a:pPr algn="l">
              <a:spcBef>
                <a:spcPts val="0"/>
              </a:spcBef>
              <a:spcAft>
                <a:spcPts val="0"/>
              </a:spcAft>
            </a:pPr>
            <a:r>
              <a:rPr sz="2000" b="0">
                <a:solidFill>
                  <a:srgbClr val="252B33"/>
                </a:solidFill>
                <a:latin typeface="Arial"/>
              </a:rPr>
              <a:t>The same endpoint behaved differently under two workloads. These results do not identify one cause.</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RESULTS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API was exercised through a role-aware client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§4.6, Figures 4.2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20</a:t>
            </a:r>
          </a:p>
        </p:txBody>
      </p:sp>
      <p:pic>
        <p:nvPicPr>
          <p:cNvPr id="9" name="Picture 8" descr="02-dashboard-admin.png"/>
          <p:cNvPicPr>
            <a:picLocks noChangeAspect="1"/>
          </p:cNvPicPr>
          <p:nvPr/>
        </p:nvPicPr>
        <p:blipFill>
          <a:blip r:embed="rId2"/>
          <a:stretch>
            <a:fillRect/>
          </a:stretch>
        </p:blipFill>
        <p:spPr>
          <a:xfrm>
            <a:off x="856061" y="1490472"/>
            <a:ext cx="4990429" cy="3465576"/>
          </a:xfrm>
          <a:prstGeom prst="rect">
            <a:avLst/>
          </a:prstGeom>
        </p:spPr>
      </p:pic>
      <p:sp>
        <p:nvSpPr>
          <p:cNvPr id="10" name="Rectangle 9"/>
          <p:cNvSpPr/>
          <p:nvPr/>
        </p:nvSpPr>
        <p:spPr>
          <a:xfrm>
            <a:off x="856061"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351605" y="1490472"/>
            <a:ext cx="4990429" cy="3465576"/>
          </a:xfrm>
          <a:prstGeom prst="rect">
            <a:avLst/>
          </a:prstGeom>
        </p:spPr>
      </p:pic>
      <p:sp>
        <p:nvSpPr>
          <p:cNvPr id="12" name="Rectangle 11"/>
          <p:cNvSpPr/>
          <p:nvPr/>
        </p:nvSpPr>
        <p:spPr>
          <a:xfrm>
            <a:off x="6351605" y="1490472"/>
            <a:ext cx="4990429" cy="3465576"/>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59536" y="5084064"/>
            <a:ext cx="5020056"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Admin dashboard</a:t>
            </a:r>
          </a:p>
        </p:txBody>
      </p:sp>
      <p:sp>
        <p:nvSpPr>
          <p:cNvPr id="14" name="TextBox 13"/>
          <p:cNvSpPr txBox="1"/>
          <p:nvPr/>
        </p:nvSpPr>
        <p:spPr>
          <a:xfrm>
            <a:off x="6364224" y="5084064"/>
            <a:ext cx="5001768" cy="3017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24466C"/>
                </a:solidFill>
                <a:latin typeface="Arial"/>
              </a:rPr>
              <a:t>Balanced journal-entry lines</a:t>
            </a:r>
          </a:p>
        </p:txBody>
      </p:sp>
      <p:sp>
        <p:nvSpPr>
          <p:cNvPr id="15" name="Rounded Rectangle 14"/>
          <p:cNvSpPr/>
          <p:nvPr/>
        </p:nvSpPr>
        <p:spPr>
          <a:xfrm>
            <a:off x="768096" y="5513832"/>
            <a:ext cx="10652760" cy="530352"/>
          </a:xfrm>
          <a:prstGeom prst="roundRect">
            <a:avLst/>
          </a:prstGeom>
          <a:solidFill>
            <a:srgbClr val="EBF3F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50976" y="5577840"/>
            <a:ext cx="10232136"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These are browser workflow screenshots; their displayed counts are not benchmark metrics.</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SYNTHESIS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three results are different</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4.5; Appendix 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21</a:t>
            </a:r>
          </a:p>
        </p:txBody>
      </p:sp>
      <p:graphicFrame>
        <p:nvGraphicFramePr>
          <p:cNvPr id="9" name="Table 8"/>
          <p:cNvGraphicFramePr>
            <a:graphicFrameLocks noGrp="1"/>
          </p:cNvGraphicFramePr>
          <p:nvPr/>
        </p:nvGraphicFramePr>
        <p:xfrm>
          <a:off x="731520" y="1362456"/>
          <a:ext cx="10716767" cy="3767328"/>
        </p:xfrm>
        <a:graphic>
          <a:graphicData uri="http://schemas.openxmlformats.org/drawingml/2006/table">
            <a:tbl>
              <a:tblPr firstRow="1" bandRow="1">
                <a:tableStyleId>{5C22544A-7EE6-4342-B048-85BDC9FD1C3A}</a:tableStyleId>
              </a:tblPr>
              <a:tblGrid>
                <a:gridCol w="2143353"/>
                <a:gridCol w="3000695"/>
                <a:gridCol w="5572719"/>
              </a:tblGrid>
              <a:tr h="753465">
                <a:tc>
                  <a:txBody>
                    <a:bodyPr/>
                    <a:lstStyle/>
                    <a:p>
                      <a:pPr algn="l">
                        <a:spcAft>
                          <a:spcPts val="0"/>
                        </a:spcAft>
                      </a:pPr>
                      <a:r>
                        <a:rPr sz="1700" b="1">
                          <a:solidFill>
                            <a:srgbClr val="FFFFFF"/>
                          </a:solidFill>
                          <a:latin typeface="Arial"/>
                        </a:rPr>
                        <a:t>Area</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Decision</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Why</a:t>
                      </a:r>
                    </a:p>
                  </a:txBody>
                  <a:tcPr marL="109728" marR="91440" marT="36576" marB="36576">
                    <a:solidFill>
                      <a:srgbClr val="252B33"/>
                    </a:solidFill>
                  </a:tcPr>
                </a:tc>
              </a:tr>
              <a:tr h="753465">
                <a:tc>
                  <a:txBody>
                    <a:bodyPr/>
                    <a:lstStyle/>
                    <a:p>
                      <a:pPr algn="l">
                        <a:spcAft>
                          <a:spcPts val="0"/>
                        </a:spcAft>
                      </a:pPr>
                      <a:r>
                        <a:rPr sz="1700" b="0">
                          <a:solidFill>
                            <a:srgbClr val="252B33"/>
                          </a:solidFill>
                          <a:latin typeface="Arial"/>
                        </a:rPr>
                        <a:t>Code quality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17 issues → 0; gate OK; small coverage/complexity regressions</a:t>
                      </a:r>
                    </a:p>
                  </a:txBody>
                  <a:tcPr marL="109728" marR="91440" marT="36576" marB="36576">
                    <a:solidFill>
                      <a:srgbClr val="FFFFFF"/>
                    </a:solidFill>
                  </a:tcPr>
                </a:tc>
              </a:tr>
              <a:tr h="753465">
                <a:tc>
                  <a:txBody>
                    <a:bodyPr/>
                    <a:lstStyle/>
                    <a:p>
                      <a:pPr algn="l">
                        <a:spcAft>
                          <a:spcPts val="0"/>
                        </a:spcAft>
                      </a:pPr>
                      <a:r>
                        <a:rPr sz="1700" b="0">
                          <a:solidFill>
                            <a:srgbClr val="252B33"/>
                          </a:solidFill>
                          <a:latin typeface="Arial"/>
                        </a:rPr>
                        <a:t>Security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Configured gate passed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Passive cleared; raw API Medium transport alert remains</a:t>
                      </a:r>
                    </a:p>
                  </a:txBody>
                  <a:tcPr marL="109728" marR="91440" marT="36576" marB="36576">
                    <a:solidFill>
                      <a:srgbClr val="F7F9FC"/>
                    </a:solidFill>
                  </a:tcPr>
                </a:tc>
              </a:tr>
              <a:tr h="753465">
                <a:tc>
                  <a:txBody>
                    <a:bodyPr/>
                    <a:lstStyle/>
                    <a:p>
                      <a:pPr algn="l">
                        <a:spcAft>
                          <a:spcPts val="0"/>
                        </a:spcAft>
                      </a:pPr>
                      <a:r>
                        <a:rPr sz="1700" b="0">
                          <a:solidFill>
                            <a:srgbClr val="252B33"/>
                          </a:solidFill>
                          <a:latin typeface="Arial"/>
                        </a:rPr>
                        <a:t>Core performance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Not achieved</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100 VU and 500 VU p95 exceeded thresholds</a:t>
                      </a:r>
                    </a:p>
                  </a:txBody>
                  <a:tcPr marL="109728" marR="91440" marT="36576" marB="36576">
                    <a:solidFill>
                      <a:srgbClr val="FFFFFF"/>
                    </a:solidFill>
                  </a:tcPr>
                </a:tc>
              </a:tr>
              <a:tr h="753468">
                <a:tc>
                  <a:txBody>
                    <a:bodyPr/>
                    <a:lstStyle/>
                    <a:p>
                      <a:pPr algn="l">
                        <a:spcAft>
                          <a:spcPts val="0"/>
                        </a:spcAft>
                      </a:pPr>
                      <a:r>
                        <a:rPr sz="1700" b="0">
                          <a:solidFill>
                            <a:srgbClr val="252B33"/>
                          </a:solidFill>
                          <a:latin typeface="Arial"/>
                        </a:rPr>
                        <a:t>Stress behavior</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Partially achieved</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Soak and spike aggregates improved</a:t>
                      </a:r>
                    </a:p>
                  </a:txBody>
                  <a:tcPr marL="109728" marR="91440" marT="36576" marB="36576">
                    <a:solidFill>
                      <a:srgbClr val="F7F9FC"/>
                    </a:solidFill>
                  </a:tcPr>
                </a:tc>
              </a:tr>
            </a:tbl>
          </a:graphicData>
        </a:graphic>
      </p:graphicFrame>
      <p:sp>
        <p:nvSpPr>
          <p:cNvPr id="10" name="TextBox 9"/>
          <p:cNvSpPr txBox="1"/>
          <p:nvPr/>
        </p:nvSpPr>
        <p:spPr>
          <a:xfrm>
            <a:off x="758952" y="5413248"/>
            <a:ext cx="10680192" cy="411480"/>
          </a:xfrm>
          <a:prstGeom prst="rect">
            <a:avLst/>
          </a:prstGeom>
          <a:noFill/>
        </p:spPr>
        <p:txBody>
          <a:bodyPr wrap="square" lIns="18288" rIns="18288" tIns="18288" bIns="18288" anchor="ctr">
            <a:spAutoFit/>
          </a:bodyPr>
          <a:lstStyle/>
          <a:p>
            <a:pPr algn="l">
              <a:spcBef>
                <a:spcPts val="0"/>
              </a:spcBef>
              <a:spcAft>
                <a:spcPts val="0"/>
              </a:spcAft>
            </a:pPr>
            <a:r>
              <a:rPr sz="1900" b="0">
                <a:solidFill>
                  <a:srgbClr val="5B6874"/>
                </a:solidFill>
                <a:latin typeface="Arial"/>
              </a:rPr>
              <a:t>Limits: one API · one host · one run per branch · CPU/RAM and service tiers not controlled</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CLOSING</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The strongest contribution is the traceable check-and-fix method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Chapter 5; Appendices A-N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22</a:t>
            </a:r>
          </a:p>
        </p:txBody>
      </p:sp>
      <p:sp>
        <p:nvSpPr>
          <p:cNvPr id="9" name="Rounded Rectangle 8"/>
          <p:cNvSpPr/>
          <p:nvPr/>
        </p:nvSpPr>
        <p:spPr>
          <a:xfrm>
            <a:off x="731520" y="1380744"/>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960120" y="1664208"/>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246F46"/>
                </a:solidFill>
                <a:latin typeface="Arial"/>
              </a:rPr>
              <a:t>01</a:t>
            </a:r>
          </a:p>
        </p:txBody>
      </p:sp>
      <p:sp>
        <p:nvSpPr>
          <p:cNvPr id="11" name="TextBox 10"/>
          <p:cNvSpPr txBox="1"/>
          <p:nvPr/>
        </p:nvSpPr>
        <p:spPr>
          <a:xfrm>
            <a:off x="1783080" y="1517904"/>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246F46"/>
                </a:solidFill>
                <a:latin typeface="Arial"/>
              </a:rPr>
              <a:t>The model can help</a:t>
            </a:r>
          </a:p>
        </p:txBody>
      </p:sp>
      <p:sp>
        <p:nvSpPr>
          <p:cNvPr id="12" name="TextBox 11"/>
          <p:cNvSpPr txBox="1"/>
          <p:nvPr/>
        </p:nvSpPr>
        <p:spPr>
          <a:xfrm>
            <a:off x="1783080" y="2002536"/>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Seventeen fresh static issues closed; security rule gate passed.</a:t>
            </a:r>
          </a:p>
        </p:txBody>
      </p:sp>
      <p:sp>
        <p:nvSpPr>
          <p:cNvPr id="13" name="Rounded Rectangle 12"/>
          <p:cNvSpPr/>
          <p:nvPr/>
        </p:nvSpPr>
        <p:spPr>
          <a:xfrm>
            <a:off x="731520" y="2825496"/>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60120" y="3108960"/>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B3373D"/>
                </a:solidFill>
                <a:latin typeface="Arial"/>
              </a:rPr>
              <a:t>02</a:t>
            </a:r>
          </a:p>
        </p:txBody>
      </p:sp>
      <p:sp>
        <p:nvSpPr>
          <p:cNvPr id="15" name="TextBox 14"/>
          <p:cNvSpPr txBox="1"/>
          <p:nvPr/>
        </p:nvSpPr>
        <p:spPr>
          <a:xfrm>
            <a:off x="1783080" y="2962656"/>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B3373D"/>
                </a:solidFill>
                <a:latin typeface="Arial"/>
              </a:rPr>
              <a:t>Measurement can reject it</a:t>
            </a:r>
          </a:p>
        </p:txBody>
      </p:sp>
      <p:sp>
        <p:nvSpPr>
          <p:cNvPr id="16" name="TextBox 15"/>
          <p:cNvSpPr txBox="1"/>
          <p:nvPr/>
        </p:nvSpPr>
        <p:spPr>
          <a:xfrm>
            <a:off x="1783080" y="3447288"/>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The primary JMeter target was not met despite better soak and spike results.</a:t>
            </a:r>
          </a:p>
        </p:txBody>
      </p:sp>
      <p:sp>
        <p:nvSpPr>
          <p:cNvPr id="17" name="Rounded Rectangle 16"/>
          <p:cNvSpPr/>
          <p:nvPr/>
        </p:nvSpPr>
        <p:spPr>
          <a:xfrm>
            <a:off x="731520" y="4270248"/>
            <a:ext cx="10716768" cy="123444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60120" y="4553712"/>
            <a:ext cx="640080" cy="466344"/>
          </a:xfrm>
          <a:prstGeom prst="rect">
            <a:avLst/>
          </a:prstGeom>
          <a:noFill/>
        </p:spPr>
        <p:txBody>
          <a:bodyPr wrap="square" lIns="18288" rIns="18288" tIns="18288" bIns="18288" anchor="ctr">
            <a:spAutoFit/>
          </a:bodyPr>
          <a:lstStyle/>
          <a:p>
            <a:pPr algn="l">
              <a:spcBef>
                <a:spcPts val="0"/>
              </a:spcBef>
              <a:spcAft>
                <a:spcPts val="0"/>
              </a:spcAft>
            </a:pPr>
            <a:r>
              <a:rPr sz="2600" b="1">
                <a:solidFill>
                  <a:srgbClr val="0F676D"/>
                </a:solidFill>
                <a:latin typeface="Arial"/>
              </a:rPr>
              <a:t>03</a:t>
            </a:r>
          </a:p>
        </p:txBody>
      </p:sp>
      <p:sp>
        <p:nvSpPr>
          <p:cNvPr id="19" name="TextBox 18"/>
          <p:cNvSpPr txBox="1"/>
          <p:nvPr/>
        </p:nvSpPr>
        <p:spPr>
          <a:xfrm>
            <a:off x="1783080" y="4407408"/>
            <a:ext cx="9326880" cy="393192"/>
          </a:xfrm>
          <a:prstGeom prst="rect">
            <a:avLst/>
          </a:prstGeom>
          <a:noFill/>
        </p:spPr>
        <p:txBody>
          <a:bodyPr wrap="square" lIns="18288" rIns="18288" tIns="18288" bIns="18288" anchor="ctr">
            <a:spAutoFit/>
          </a:bodyPr>
          <a:lstStyle/>
          <a:p>
            <a:pPr algn="l">
              <a:spcBef>
                <a:spcPts val="0"/>
              </a:spcBef>
              <a:spcAft>
                <a:spcPts val="0"/>
              </a:spcAft>
            </a:pPr>
            <a:r>
              <a:rPr sz="2200" b="1">
                <a:solidFill>
                  <a:srgbClr val="0F676D"/>
                </a:solidFill>
                <a:latin typeface="Arial"/>
              </a:rPr>
              <a:t>Provenance makes it auditable</a:t>
            </a:r>
          </a:p>
        </p:txBody>
      </p:sp>
      <p:sp>
        <p:nvSpPr>
          <p:cNvPr id="20" name="TextBox 19"/>
          <p:cNvSpPr txBox="1"/>
          <p:nvPr/>
        </p:nvSpPr>
        <p:spPr>
          <a:xfrm>
            <a:off x="1783080" y="4892040"/>
            <a:ext cx="9326880" cy="411480"/>
          </a:xfrm>
          <a:prstGeom prst="rect">
            <a:avLst/>
          </a:prstGeom>
          <a:noFill/>
        </p:spPr>
        <p:txBody>
          <a:bodyPr wrap="square" lIns="18288" rIns="18288" tIns="18288" bIns="18288" anchor="ctr">
            <a:spAutoFit/>
          </a:bodyPr>
          <a:lstStyle/>
          <a:p>
            <a:pPr algn="l">
              <a:spcBef>
                <a:spcPts val="0"/>
              </a:spcBef>
              <a:spcAft>
                <a:spcPts val="0"/>
              </a:spcAft>
            </a:pPr>
            <a:r>
              <a:rPr sz="1800" b="0">
                <a:solidFill>
                  <a:srgbClr val="252B33"/>
                </a:solidFill>
                <a:latin typeface="Arial"/>
              </a:rPr>
              <a:t>Pinned branches, tests, dashboard captures, and raw records remain available.</a:t>
            </a:r>
          </a:p>
        </p:txBody>
      </p:sp>
      <p:sp>
        <p:nvSpPr>
          <p:cNvPr id="21" name="TextBox 20"/>
          <p:cNvSpPr txBox="1"/>
          <p:nvPr/>
        </p:nvSpPr>
        <p:spPr>
          <a:xfrm>
            <a:off x="749808" y="5815584"/>
            <a:ext cx="10716768" cy="356616"/>
          </a:xfrm>
          <a:prstGeom prst="rect">
            <a:avLst/>
          </a:prstGeom>
          <a:noFill/>
        </p:spPr>
        <p:txBody>
          <a:bodyPr wrap="square" lIns="18288" rIns="18288" tIns="18288" bIns="18288" anchor="ctr">
            <a:spAutoFit/>
          </a:bodyPr>
          <a:lstStyle/>
          <a:p>
            <a:pPr algn="l">
              <a:spcBef>
                <a:spcPts val="0"/>
              </a:spcBef>
              <a:spcAft>
                <a:spcPts val="0"/>
              </a:spcAft>
            </a:pPr>
            <a:r>
              <a:rPr sz="2500" b="1">
                <a:solidFill>
                  <a:srgbClr val="0F676D"/>
                </a:solidFill>
                <a:latin typeface="Arial"/>
              </a:rPr>
              <a:t>Thank you. Questions?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Where each defense claim can be checked</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A-N and dashboard-capture manifest</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23</a:t>
            </a:r>
          </a:p>
        </p:txBody>
      </p:sp>
      <p:graphicFrame>
        <p:nvGraphicFramePr>
          <p:cNvPr id="9" name="Table 8"/>
          <p:cNvGraphicFramePr>
            <a:graphicFrameLocks noGrp="1"/>
          </p:cNvGraphicFramePr>
          <p:nvPr/>
        </p:nvGraphicFramePr>
        <p:xfrm>
          <a:off x="731520" y="1389888"/>
          <a:ext cx="10716766" cy="4187952"/>
        </p:xfrm>
        <a:graphic>
          <a:graphicData uri="http://schemas.openxmlformats.org/drawingml/2006/table">
            <a:tbl>
              <a:tblPr firstRow="1" bandRow="1">
                <a:tableStyleId>{5C22544A-7EE6-4342-B048-85BDC9FD1C3A}</a:tableStyleId>
              </a:tblPr>
              <a:tblGrid>
                <a:gridCol w="2464856"/>
                <a:gridCol w="3215030"/>
                <a:gridCol w="5036880"/>
              </a:tblGrid>
              <a:tr h="697992">
                <a:tc>
                  <a:txBody>
                    <a:bodyPr/>
                    <a:lstStyle/>
                    <a:p>
                      <a:pPr algn="l">
                        <a:spcAft>
                          <a:spcPts val="0"/>
                        </a:spcAft>
                      </a:pPr>
                      <a:r>
                        <a:rPr sz="1600" b="1">
                          <a:solidFill>
                            <a:srgbClr val="FFFFFF"/>
                          </a:solidFill>
                          <a:latin typeface="Arial"/>
                        </a:rPr>
                        <a:t>Claim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Machine-readable record</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Report evidence</a:t>
                      </a:r>
                    </a:p>
                  </a:txBody>
                  <a:tcPr marL="109728" marR="91440" marT="36576" marB="36576">
                    <a:solidFill>
                      <a:srgbClr val="252B33"/>
                    </a:solidFill>
                  </a:tcPr>
                </a:tc>
              </a:tr>
              <a:tr h="697992">
                <a:tc>
                  <a:txBody>
                    <a:bodyPr/>
                    <a:lstStyle/>
                    <a:p>
                      <a:pPr algn="l">
                        <a:spcAft>
                          <a:spcPts val="0"/>
                        </a:spcAft>
                      </a:pPr>
                      <a:r>
                        <a:rPr sz="1600" b="0">
                          <a:solidFill>
                            <a:srgbClr val="252B33"/>
                          </a:solidFill>
                          <a:latin typeface="Arial"/>
                        </a:rPr>
                        <a:t>Dataset: 120 accounts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branch-verification.json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Tables 3.10-3.11 · Appendix H</a:t>
                      </a:r>
                    </a:p>
                  </a:txBody>
                  <a:tcPr marL="109728" marR="91440" marT="36576" marB="36576">
                    <a:solidFill>
                      <a:srgbClr val="FFFFFF"/>
                    </a:solidFill>
                  </a:tcPr>
                </a:tc>
              </a:tr>
              <a:tr h="697992">
                <a:tc>
                  <a:txBody>
                    <a:bodyPr/>
                    <a:lstStyle/>
                    <a:p>
                      <a:pPr algn="l">
                        <a:spcAft>
                          <a:spcPts val="0"/>
                        </a:spcAft>
                      </a:pPr>
                      <a:r>
                        <a:rPr sz="1600" b="0">
                          <a:solidFill>
                            <a:srgbClr val="252B33"/>
                          </a:solidFill>
                          <a:latin typeface="Arial"/>
                        </a:rPr>
                        <a:t>Static issues</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sonar/*/summary.json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Table 4.2 · Appendix E · Figures L.1-L.4</a:t>
                      </a:r>
                    </a:p>
                  </a:txBody>
                  <a:tcPr marL="109728" marR="91440" marT="36576" marB="36576">
                    <a:solidFill>
                      <a:srgbClr val="F7F9FC"/>
                    </a:solidFill>
                  </a:tcPr>
                </a:tc>
              </a:tr>
              <a:tr h="697992">
                <a:tc>
                  <a:txBody>
                    <a:bodyPr/>
                    <a:lstStyle/>
                    <a:p>
                      <a:pPr algn="l">
                        <a:spcAft>
                          <a:spcPts val="0"/>
                        </a:spcAft>
                      </a:pPr>
                      <a:r>
                        <a:rPr sz="1600" b="0">
                          <a:solidFill>
                            <a:srgbClr val="252B33"/>
                          </a:solidFill>
                          <a:latin typeface="Arial"/>
                        </a:rPr>
                        <a:t>ZAP raw/gate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zap/*/summary.json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§4.3 · Appendix F · Figures L.5-L.8</a:t>
                      </a:r>
                    </a:p>
                  </a:txBody>
                  <a:tcPr marL="109728" marR="91440" marT="36576" marB="36576">
                    <a:solidFill>
                      <a:srgbClr val="FFFFFF"/>
                    </a:solidFill>
                  </a:tcPr>
                </a:tc>
              </a:tr>
              <a:tr h="697992">
                <a:tc>
                  <a:txBody>
                    <a:bodyPr/>
                    <a:lstStyle/>
                    <a:p>
                      <a:pPr algn="l">
                        <a:spcAft>
                          <a:spcPts val="0"/>
                        </a:spcAft>
                      </a:pPr>
                      <a:r>
                        <a:rPr sz="1600" b="0">
                          <a:solidFill>
                            <a:srgbClr val="252B33"/>
                          </a:solidFill>
                          <a:latin typeface="Arial"/>
                        </a:rPr>
                        <a:t>JMeter p95/gate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jmeter/*/summary.json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 · Appendix G · Figures L.9-L.18</a:t>
                      </a:r>
                    </a:p>
                  </a:txBody>
                  <a:tcPr marL="109728" marR="91440" marT="36576" marB="36576">
                    <a:solidFill>
                      <a:srgbClr val="F7F9FC"/>
                    </a:solidFill>
                  </a:tcPr>
                </a:tc>
              </a:tr>
              <a:tr h="697992">
                <a:tc>
                  <a:txBody>
                    <a:bodyPr/>
                    <a:lstStyle/>
                    <a:p>
                      <a:pPr algn="l">
                        <a:spcAft>
                          <a:spcPts val="0"/>
                        </a:spcAft>
                      </a:pPr>
                      <a:r>
                        <a:rPr sz="1600" b="0">
                          <a:solidFill>
                            <a:srgbClr val="252B33"/>
                          </a:solidFill>
                          <a:latin typeface="Arial"/>
                        </a:rPr>
                        <a:t>Working API</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role/browser run records</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§4.6 · Figures 4.2-4.7</a:t>
                      </a:r>
                    </a:p>
                  </a:txBody>
                  <a:tcPr marL="109728" marR="91440" marT="36576" marB="36576">
                    <a:solidFill>
                      <a:srgbClr val="FFFFFF"/>
                    </a:solidFill>
                  </a:tcPr>
                </a:tc>
              </a:tr>
            </a:tbl>
          </a:graphicData>
        </a:graphic>
      </p:graphicFrame>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Exact baseline and remediation commits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Appendix A; Table 3.1</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24</a:t>
            </a:r>
          </a:p>
        </p:txBody>
      </p:sp>
      <p:graphicFrame>
        <p:nvGraphicFramePr>
          <p:cNvPr id="9" name="Table 8"/>
          <p:cNvGraphicFramePr>
            <a:graphicFrameLocks noGrp="1"/>
          </p:cNvGraphicFramePr>
          <p:nvPr/>
        </p:nvGraphicFramePr>
        <p:xfrm>
          <a:off x="731520" y="1380744"/>
          <a:ext cx="10716767" cy="4434840"/>
        </p:xfrm>
        <a:graphic>
          <a:graphicData uri="http://schemas.openxmlformats.org/drawingml/2006/table">
            <a:tbl>
              <a:tblPr firstRow="1" bandRow="1">
                <a:tableStyleId>{5C22544A-7EE6-4342-B048-85BDC9FD1C3A}</a:tableStyleId>
              </a:tblPr>
              <a:tblGrid>
                <a:gridCol w="2679192"/>
                <a:gridCol w="5036880"/>
                <a:gridCol w="3000695"/>
              </a:tblGrid>
              <a:tr h="739140">
                <a:tc>
                  <a:txBody>
                    <a:bodyPr/>
                    <a:lstStyle/>
                    <a:p>
                      <a:pPr algn="l">
                        <a:spcAft>
                          <a:spcPts val="0"/>
                        </a:spcAft>
                      </a:pPr>
                      <a:r>
                        <a:rPr sz="17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Branch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Tested commit</a:t>
                      </a:r>
                    </a:p>
                  </a:txBody>
                  <a:tcPr marL="109728" marR="91440" marT="36576" marB="36576">
                    <a:solidFill>
                      <a:srgbClr val="252B33"/>
                    </a:solidFill>
                  </a:tcPr>
                </a:tc>
              </a:tr>
              <a:tr h="739140">
                <a:tc>
                  <a:txBody>
                    <a:bodyPr/>
                    <a:lstStyle/>
                    <a:p>
                      <a:pPr algn="l">
                        <a:spcAft>
                          <a:spcPts val="0"/>
                        </a:spcAft>
                      </a:pPr>
                      <a:r>
                        <a:rPr sz="1700" b="0">
                          <a:solidFill>
                            <a:srgbClr val="252B33"/>
                          </a:solidFill>
                          <a:latin typeface="Arial"/>
                        </a:rPr>
                        <a:t>Shared baseline</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baseline-v0.1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7a0469d9</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Static quality</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baseline-sonarqube-v1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a2279bcb</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Security</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baseline-zap-v1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5f3bd3cc</a:t>
                      </a:r>
                    </a:p>
                  </a:txBody>
                  <a:tcPr marL="109728" marR="91440" marT="36576" marB="36576">
                    <a:solidFill>
                      <a:srgbClr val="FFFFFF"/>
                    </a:solidFill>
                  </a:tcPr>
                </a:tc>
              </a:tr>
              <a:tr h="739140">
                <a:tc>
                  <a:txBody>
                    <a:bodyPr/>
                    <a:lstStyle/>
                    <a:p>
                      <a:pPr algn="l">
                        <a:spcAft>
                          <a:spcPts val="0"/>
                        </a:spcAft>
                      </a:pPr>
                      <a:r>
                        <a:rPr sz="1700" b="0">
                          <a:solidFill>
                            <a:srgbClr val="252B33"/>
                          </a:solidFill>
                          <a:latin typeface="Arial"/>
                        </a:rPr>
                        <a:t>Performance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baseline-jmeter-v1</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78b08b62</a:t>
                      </a:r>
                    </a:p>
                  </a:txBody>
                  <a:tcPr marL="109728" marR="91440" marT="36576" marB="36576">
                    <a:solidFill>
                      <a:srgbClr val="F7F9FC"/>
                    </a:solidFill>
                  </a:tcPr>
                </a:tc>
              </a:tr>
              <a:tr h="739140">
                <a:tc>
                  <a:txBody>
                    <a:bodyPr/>
                    <a:lstStyle/>
                    <a:p>
                      <a:pPr algn="l">
                        <a:spcAft>
                          <a:spcPts val="0"/>
                        </a:spcAft>
                      </a:pPr>
                      <a:r>
                        <a:rPr sz="1700" b="0">
                          <a:solidFill>
                            <a:srgbClr val="252B33"/>
                          </a:solidFill>
                          <a:latin typeface="Arial"/>
                        </a:rPr>
                        <a:t>Reproduction</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codex/thesis-reproducibility-v1</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efa19cea</a:t>
                      </a:r>
                    </a:p>
                  </a:txBody>
                  <a:tcPr marL="109728" marR="91440" marT="36576" marB="36576">
                    <a:solidFill>
                      <a:srgbClr val="FFFFFF"/>
                    </a:solidFill>
                  </a:tcPr>
                </a:tc>
              </a:tr>
            </a:tbl>
          </a:graphicData>
        </a:graphic>
      </p:graphicFrame>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SonarQube metric detail</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Table 4.2; fresh SonarQube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25</a:t>
            </a:r>
          </a:p>
        </p:txBody>
      </p:sp>
      <p:graphicFrame>
        <p:nvGraphicFramePr>
          <p:cNvPr id="9" name="Table 8"/>
          <p:cNvGraphicFramePr>
            <a:graphicFrameLocks noGrp="1"/>
          </p:cNvGraphicFramePr>
          <p:nvPr/>
        </p:nvGraphicFramePr>
        <p:xfrm>
          <a:off x="722376" y="1280160"/>
          <a:ext cx="10744199" cy="4928616"/>
        </p:xfrm>
        <a:graphic>
          <a:graphicData uri="http://schemas.openxmlformats.org/drawingml/2006/table">
            <a:tbl>
              <a:tblPr firstRow="1" bandRow="1">
                <a:tableStyleId>{5C22544A-7EE6-4342-B048-85BDC9FD1C3A}</a:tableStyleId>
              </a:tblPr>
              <a:tblGrid>
                <a:gridCol w="3867911"/>
                <a:gridCol w="1611630"/>
                <a:gridCol w="1611630"/>
                <a:gridCol w="3653028"/>
              </a:tblGrid>
              <a:tr h="352044">
                <a:tc>
                  <a:txBody>
                    <a:bodyPr/>
                    <a:lstStyle/>
                    <a:p>
                      <a:pPr algn="l">
                        <a:spcAft>
                          <a:spcPts val="0"/>
                        </a:spcAft>
                      </a:pPr>
                      <a:r>
                        <a:rPr sz="1200" b="1">
                          <a:solidFill>
                            <a:srgbClr val="FFFFFF"/>
                          </a:solidFill>
                          <a:latin typeface="Arial"/>
                        </a:rPr>
                        <a:t>Metric</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Baseline</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After</a:t>
                      </a:r>
                    </a:p>
                  </a:txBody>
                  <a:tcPr marL="109728" marR="91440" marT="36576" marB="36576">
                    <a:solidFill>
                      <a:srgbClr val="252B33"/>
                    </a:solidFill>
                  </a:tcPr>
                </a:tc>
                <a:tc>
                  <a:txBody>
                    <a:bodyPr/>
                    <a:lstStyle/>
                    <a:p>
                      <a:pPr algn="l">
                        <a:spcAft>
                          <a:spcPts val="0"/>
                        </a:spcAft>
                      </a:pPr>
                      <a:r>
                        <a:rPr sz="1200" b="1">
                          <a:solidFill>
                            <a:srgbClr val="FFFFFF"/>
                          </a:solidFill>
                          <a:latin typeface="Arial"/>
                        </a:rPr>
                        <a:t>Meaning</a:t>
                      </a:r>
                    </a:p>
                  </a:txBody>
                  <a:tcPr marL="109728" marR="91440" marT="36576" marB="36576">
                    <a:solidFill>
                      <a:srgbClr val="252B33"/>
                    </a:solidFill>
                  </a:tcPr>
                </a:tc>
              </a:tr>
              <a:tr h="352044">
                <a:tc>
                  <a:txBody>
                    <a:bodyPr/>
                    <a:lstStyle/>
                    <a:p>
                      <a:pPr algn="l">
                        <a:spcAft>
                          <a:spcPts val="0"/>
                        </a:spcAft>
                      </a:pPr>
                      <a:r>
                        <a:rPr sz="1200" b="0">
                          <a:solidFill>
                            <a:srgbClr val="252B33"/>
                          </a:solidFill>
                          <a:latin typeface="Arial"/>
                        </a:rPr>
                        <a:t>Total unique issues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17</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Distinct issue count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Code smells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17</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Bugs</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Vulnerabilities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Legacy type</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Reliability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2</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impact*</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Maintainability impact*</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16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Overlapping impact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Security hotspots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Scanner finding</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Coverage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74.4%</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74.3%</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Down 0.1 point</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Duplicated lines</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0.0%</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Cyclomatic complexity</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886</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889</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Up 3</a:t>
                      </a:r>
                    </a:p>
                  </a:txBody>
                  <a:tcPr marL="109728" marR="91440" marT="36576" marB="36576">
                    <a:solidFill>
                      <a:srgbClr val="FFFFFF"/>
                    </a:solidFill>
                  </a:tcPr>
                </a:tc>
              </a:tr>
              <a:tr h="352044">
                <a:tc>
                  <a:txBody>
                    <a:bodyPr/>
                    <a:lstStyle/>
                    <a:p>
                      <a:pPr algn="l">
                        <a:spcAft>
                          <a:spcPts val="0"/>
                        </a:spcAft>
                      </a:pPr>
                      <a:r>
                        <a:rPr sz="1200" b="0">
                          <a:solidFill>
                            <a:srgbClr val="252B33"/>
                          </a:solidFill>
                          <a:latin typeface="Arial"/>
                        </a:rPr>
                        <a:t>Cognitive complexity</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165</a:t>
                      </a:r>
                    </a:p>
                  </a:txBody>
                  <a:tcPr marL="109728" marR="91440" marT="36576" marB="36576">
                    <a:solidFill>
                      <a:srgbClr val="F7F9FC"/>
                    </a:solidFill>
                  </a:tcPr>
                </a:tc>
                <a:tc>
                  <a:txBody>
                    <a:bodyPr/>
                    <a:lstStyle/>
                    <a:p>
                      <a:pPr algn="l">
                        <a:spcAft>
                          <a:spcPts val="0"/>
                        </a:spcAft>
                      </a:pPr>
                      <a:r>
                        <a:rPr sz="1200" b="0">
                          <a:solidFill>
                            <a:srgbClr val="252B33"/>
                          </a:solidFill>
                          <a:latin typeface="Arial"/>
                        </a:rPr>
                        <a:t>Unchanged</a:t>
                      </a:r>
                    </a:p>
                  </a:txBody>
                  <a:tcPr marL="109728" marR="91440" marT="36576" marB="36576">
                    <a:solidFill>
                      <a:srgbClr val="F7F9FC"/>
                    </a:solidFill>
                  </a:tcPr>
                </a:tc>
              </a:tr>
              <a:tr h="352044">
                <a:tc>
                  <a:txBody>
                    <a:bodyPr/>
                    <a:lstStyle/>
                    <a:p>
                      <a:pPr algn="l">
                        <a:spcAft>
                          <a:spcPts val="0"/>
                        </a:spcAft>
                      </a:pPr>
                      <a:r>
                        <a:rPr sz="1200" b="0">
                          <a:solidFill>
                            <a:srgbClr val="252B33"/>
                          </a:solidFill>
                          <a:latin typeface="Arial"/>
                        </a:rPr>
                        <a:t>Quality Gate</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a:t>
                      </a:r>
                    </a:p>
                  </a:txBody>
                  <a:tcPr marL="109728" marR="91440" marT="36576" marB="36576">
                    <a:solidFill>
                      <a:srgbClr val="FFFFFF"/>
                    </a:solidFill>
                  </a:tcPr>
                </a:tc>
                <a:tc>
                  <a:txBody>
                    <a:bodyPr/>
                    <a:lstStyle/>
                    <a:p>
                      <a:pPr algn="l">
                        <a:spcAft>
                          <a:spcPts val="0"/>
                        </a:spcAft>
                      </a:pPr>
                      <a:r>
                        <a:rPr sz="1200" b="0">
                          <a:solidFill>
                            <a:srgbClr val="252B33"/>
                          </a:solidFill>
                          <a:latin typeface="Arial"/>
                        </a:rPr>
                        <a:t>OK/OK; no conditions saved</a:t>
                      </a:r>
                    </a:p>
                  </a:txBody>
                  <a:tcPr marL="109728" marR="91440" marT="36576" marB="36576">
                    <a:solidFill>
                      <a:srgbClr val="FFFFFF"/>
                    </a:solidFill>
                  </a:tcPr>
                </a:tc>
              </a:tr>
            </a:tbl>
          </a:graphicData>
        </a:graphic>
      </p:graphicFrame>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ZAP raw alert counts and gate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§4.3; fresh ZAP summaries; Appendix F</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26</a:t>
            </a:r>
          </a:p>
        </p:txBody>
      </p:sp>
      <p:graphicFrame>
        <p:nvGraphicFramePr>
          <p:cNvPr id="9" name="Table 8"/>
          <p:cNvGraphicFramePr>
            <a:graphicFrameLocks noGrp="1"/>
          </p:cNvGraphicFramePr>
          <p:nvPr/>
        </p:nvGraphicFramePr>
        <p:xfrm>
          <a:off x="722376" y="1353312"/>
          <a:ext cx="10744200" cy="3822191"/>
        </p:xfrm>
        <a:graphic>
          <a:graphicData uri="http://schemas.openxmlformats.org/drawingml/2006/table">
            <a:tbl>
              <a:tblPr firstRow="1" bandRow="1">
                <a:tableStyleId>{5C22544A-7EE6-4342-B048-85BDC9FD1C3A}</a:tableStyleId>
              </a:tblPr>
              <a:tblGrid>
                <a:gridCol w="2041398"/>
                <a:gridCol w="2148840"/>
                <a:gridCol w="1074420"/>
                <a:gridCol w="1289304"/>
                <a:gridCol w="1074420"/>
                <a:gridCol w="1074420"/>
                <a:gridCol w="2041398"/>
              </a:tblGrid>
              <a:tr h="764438">
                <a:tc>
                  <a:txBody>
                    <a:bodyPr/>
                    <a:lstStyle/>
                    <a:p>
                      <a:pPr algn="l">
                        <a:spcAft>
                          <a:spcPts val="0"/>
                        </a:spcAft>
                      </a:pPr>
                      <a:r>
                        <a:rPr sz="1600" b="1">
                          <a:solidFill>
                            <a:srgbClr val="FFFFFF"/>
                          </a:solidFill>
                          <a:latin typeface="Arial"/>
                        </a:rPr>
                        <a:t>Scan</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Role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High</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Medium</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Low</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Info</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Gate</a:t>
                      </a:r>
                    </a:p>
                  </a:txBody>
                  <a:tcPr marL="109728" marR="91440" marT="36576" marB="36576">
                    <a:solidFill>
                      <a:srgbClr val="252B33"/>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8">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baseline</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3</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r h="764438">
                <a:tc>
                  <a:txBody>
                    <a:bodyPr/>
                    <a:lstStyle/>
                    <a:p>
                      <a:pPr algn="l">
                        <a:spcAft>
                          <a:spcPts val="0"/>
                        </a:spcAft>
                      </a:pPr>
                      <a:r>
                        <a:rPr sz="1600" b="0">
                          <a:solidFill>
                            <a:srgbClr val="252B33"/>
                          </a:solidFill>
                          <a:latin typeface="Arial"/>
                        </a:rPr>
                        <a:t>Passive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PASS</a:t>
                      </a:r>
                    </a:p>
                  </a:txBody>
                  <a:tcPr marL="109728" marR="91440" marT="36576" marB="36576">
                    <a:solidFill>
                      <a:srgbClr val="FFFFFF"/>
                    </a:solidFill>
                  </a:tcPr>
                </a:tc>
              </a:tr>
              <a:tr h="764439">
                <a:tc>
                  <a:txBody>
                    <a:bodyPr/>
                    <a:lstStyle/>
                    <a:p>
                      <a:pPr algn="l">
                        <a:spcAft>
                          <a:spcPts val="0"/>
                        </a:spcAft>
                      </a:pPr>
                      <a:r>
                        <a:rPr sz="1600" b="0">
                          <a:solidFill>
                            <a:srgbClr val="252B33"/>
                          </a:solidFill>
                          <a:latin typeface="Arial"/>
                        </a:rPr>
                        <a:t>Auth API</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remediation</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PASS</a:t>
                      </a:r>
                    </a:p>
                  </a:txBody>
                  <a:tcPr marL="109728" marR="91440" marT="36576" marB="36576">
                    <a:solidFill>
                      <a:srgbClr val="F7F9FC"/>
                    </a:solidFill>
                  </a:tcPr>
                </a:tc>
              </a:tr>
            </a:tbl>
          </a:graphicData>
        </a:graphic>
      </p:graphicFrame>
      <p:sp>
        <p:nvSpPr>
          <p:cNvPr id="10" name="Rounded Rectangle 9"/>
          <p:cNvSpPr/>
          <p:nvPr/>
        </p:nvSpPr>
        <p:spPr>
          <a:xfrm>
            <a:off x="758952" y="5404104"/>
            <a:ext cx="10661904" cy="57607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5477256"/>
            <a:ext cx="10241280" cy="384048"/>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Raw API Medium after remediation = 1 (HTTP Only Site); configured rule gate = PASS.</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Fresh JMeter profile matrix</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§4.4; fresh JMeter summaries</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27</a:t>
            </a:r>
          </a:p>
        </p:txBody>
      </p:sp>
      <p:graphicFrame>
        <p:nvGraphicFramePr>
          <p:cNvPr id="9" name="Table 8"/>
          <p:cNvGraphicFramePr>
            <a:graphicFrameLocks noGrp="1"/>
          </p:cNvGraphicFramePr>
          <p:nvPr/>
        </p:nvGraphicFramePr>
        <p:xfrm>
          <a:off x="722376" y="1399032"/>
          <a:ext cx="10744200" cy="4142232"/>
        </p:xfrm>
        <a:graphic>
          <a:graphicData uri="http://schemas.openxmlformats.org/drawingml/2006/table">
            <a:tbl>
              <a:tblPr firstRow="1" bandRow="1">
                <a:tableStyleId>{5C22544A-7EE6-4342-B048-85BDC9FD1C3A}</a:tableStyleId>
              </a:tblPr>
              <a:tblGrid>
                <a:gridCol w="1504188"/>
                <a:gridCol w="2041398"/>
                <a:gridCol w="2041398"/>
                <a:gridCol w="1826514"/>
                <a:gridCol w="1826514"/>
                <a:gridCol w="1504188"/>
              </a:tblGrid>
              <a:tr h="690372">
                <a:tc>
                  <a:txBody>
                    <a:bodyPr/>
                    <a:lstStyle/>
                    <a:p>
                      <a:pPr algn="l">
                        <a:spcAft>
                          <a:spcPts val="0"/>
                        </a:spcAft>
                      </a:pPr>
                      <a:r>
                        <a:rPr sz="1600" b="1">
                          <a:solidFill>
                            <a:srgbClr val="FFFFFF"/>
                          </a:solidFill>
                          <a:latin typeface="Arial"/>
                        </a:rPr>
                        <a:t>Profile</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Baseline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p95</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Before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err</a:t>
                      </a:r>
                    </a:p>
                  </a:txBody>
                  <a:tcPr marL="109728" marR="91440" marT="36576" marB="36576">
                    <a:solidFill>
                      <a:srgbClr val="252B33"/>
                    </a:solidFill>
                  </a:tcPr>
                </a:tc>
                <a:tc>
                  <a:txBody>
                    <a:bodyPr/>
                    <a:lstStyle/>
                    <a:p>
                      <a:pPr algn="l">
                        <a:spcAft>
                          <a:spcPts val="0"/>
                        </a:spcAft>
                      </a:pPr>
                      <a:r>
                        <a:rPr sz="1600" b="1">
                          <a:solidFill>
                            <a:srgbClr val="FFFFFF"/>
                          </a:solidFill>
                          <a:latin typeface="Arial"/>
                        </a:rPr>
                        <a:t>After tx/s</a:t>
                      </a:r>
                    </a:p>
                  </a:txBody>
                  <a:tcPr marL="109728" marR="91440" marT="36576" marB="36576">
                    <a:solidFill>
                      <a:srgbClr val="252B33"/>
                    </a:solidFill>
                  </a:tcPr>
                </a:tc>
              </a:tr>
              <a:tr h="690372">
                <a:tc>
                  <a:txBody>
                    <a:bodyPr/>
                    <a:lstStyle/>
                    <a:p>
                      <a:pPr algn="l">
                        <a:spcAft>
                          <a:spcPts val="0"/>
                        </a:spcAft>
                      </a:pPr>
                      <a:r>
                        <a:rPr sz="1600" b="0">
                          <a:solidFill>
                            <a:srgbClr val="252B33"/>
                          </a:solidFill>
                          <a:latin typeface="Arial"/>
                        </a:rPr>
                        <a:t>50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199.90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52.64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100 VU</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255.90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1,146.90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54.11</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500 VU</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106.00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1,547.95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62.44</a:t>
                      </a:r>
                    </a:p>
                  </a:txBody>
                  <a:tcPr marL="109728" marR="91440" marT="36576" marB="36576">
                    <a:solidFill>
                      <a:srgbClr val="FFFFFF"/>
                    </a:solidFill>
                  </a:tcPr>
                </a:tc>
              </a:tr>
              <a:tr h="690372">
                <a:tc>
                  <a:txBody>
                    <a:bodyPr/>
                    <a:lstStyle/>
                    <a:p>
                      <a:pPr algn="l">
                        <a:spcAft>
                          <a:spcPts val="0"/>
                        </a:spcAft>
                      </a:pPr>
                      <a:r>
                        <a:rPr sz="1600" b="0">
                          <a:solidFill>
                            <a:srgbClr val="252B33"/>
                          </a:solidFill>
                          <a:latin typeface="Arial"/>
                        </a:rPr>
                        <a:t>soak</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443.95</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171.00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7F9FC"/>
                    </a:solidFill>
                  </a:tcPr>
                </a:tc>
                <a:tc>
                  <a:txBody>
                    <a:bodyPr/>
                    <a:lstStyle/>
                    <a:p>
                      <a:pPr algn="l">
                        <a:spcAft>
                          <a:spcPts val="0"/>
                        </a:spcAft>
                      </a:pPr>
                      <a:r>
                        <a:rPr sz="1600" b="0">
                          <a:solidFill>
                            <a:srgbClr val="252B33"/>
                          </a:solidFill>
                          <a:latin typeface="Arial"/>
                        </a:rPr>
                        <a:t>170.98</a:t>
                      </a:r>
                    </a:p>
                  </a:txBody>
                  <a:tcPr marL="109728" marR="91440" marT="36576" marB="36576">
                    <a:solidFill>
                      <a:srgbClr val="F7F9FC"/>
                    </a:solidFill>
                  </a:tcPr>
                </a:tc>
              </a:tr>
              <a:tr h="690372">
                <a:tc>
                  <a:txBody>
                    <a:bodyPr/>
                    <a:lstStyle/>
                    <a:p>
                      <a:pPr algn="l">
                        <a:spcAft>
                          <a:spcPts val="0"/>
                        </a:spcAft>
                      </a:pPr>
                      <a:r>
                        <a:rPr sz="1600" b="0">
                          <a:solidFill>
                            <a:srgbClr val="252B33"/>
                          </a:solidFill>
                          <a:latin typeface="Arial"/>
                        </a:rPr>
                        <a:t>spike</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33,401.75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4,730.85</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0.4688%</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0.0000%</a:t>
                      </a:r>
                    </a:p>
                  </a:txBody>
                  <a:tcPr marL="109728" marR="91440" marT="36576" marB="36576">
                    <a:solidFill>
                      <a:srgbClr val="FFFFFF"/>
                    </a:solidFill>
                  </a:tcPr>
                </a:tc>
                <a:tc>
                  <a:txBody>
                    <a:bodyPr/>
                    <a:lstStyle/>
                    <a:p>
                      <a:pPr algn="l">
                        <a:spcAft>
                          <a:spcPts val="0"/>
                        </a:spcAft>
                      </a:pPr>
                      <a:r>
                        <a:rPr sz="1600" b="0">
                          <a:solidFill>
                            <a:srgbClr val="252B33"/>
                          </a:solidFill>
                          <a:latin typeface="Arial"/>
                        </a:rPr>
                        <a:t>149.90</a:t>
                      </a:r>
                    </a:p>
                  </a:txBody>
                  <a:tcPr marL="109728" marR="91440" marT="36576" marB="36576">
                    <a:solidFill>
                      <a:srgbClr val="FFFFFF"/>
                    </a:solidFill>
                  </a:tcPr>
                </a:tc>
              </a:tr>
            </a:tbl>
          </a:graphicData>
        </a:graphic>
      </p:graphicFrame>
      <p:sp>
        <p:nvSpPr>
          <p:cNvPr id="10" name="TextBox 9"/>
          <p:cNvSpPr txBox="1"/>
          <p:nvPr/>
        </p:nvSpPr>
        <p:spPr>
          <a:xfrm>
            <a:off x="758952" y="5751576"/>
            <a:ext cx="10671048" cy="37490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Baseline core gate PASS; remediation core gate FAIL (100 VU and 500 VU thresholds).</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S107 source: eight parameters to one DTO</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 E.1; Tables 3.4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28</a:t>
            </a:r>
          </a:p>
        </p:txBody>
      </p:sp>
      <p:sp>
        <p:nvSpPr>
          <p:cNvPr id="9" name="Rounded Rectangle 8"/>
          <p:cNvSpPr/>
          <p:nvPr/>
        </p:nvSpPr>
        <p:spPr>
          <a:xfrm>
            <a:off x="731520"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3630168"/>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41832"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BEFORE · baseline-v0.1</a:t>
            </a:r>
          </a:p>
        </p:txBody>
      </p:sp>
      <p:sp>
        <p:nvSpPr>
          <p:cNvPr id="12" name="TextBox 11"/>
          <p:cNvSpPr txBox="1"/>
          <p:nvPr/>
        </p:nvSpPr>
        <p:spPr>
          <a:xfrm>
            <a:off x="6446520" y="1627632"/>
            <a:ext cx="477316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AFTER · baseline-sonarqube-v1</a:t>
            </a:r>
          </a:p>
        </p:txBody>
      </p:sp>
      <p:sp>
        <p:nvSpPr>
          <p:cNvPr id="13" name="TextBox 12"/>
          <p:cNvSpPr txBox="1"/>
          <p:nvPr/>
        </p:nvSpPr>
        <p:spPr>
          <a:xfrm>
            <a:off x="941832" y="2112264"/>
            <a:ext cx="4718304"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from, to, status, accountId,
  search, page, pageSize, sort
)
// 8 query parameters</a:t>
            </a:r>
          </a:p>
        </p:txBody>
      </p:sp>
      <p:sp>
        <p:nvSpPr>
          <p:cNvPr id="14" name="TextBox 13"/>
          <p:cNvSpPr txBox="1"/>
          <p:nvPr/>
        </p:nvSpPr>
        <p:spPr>
          <a:xfrm>
            <a:off x="6446520" y="2112264"/>
            <a:ext cx="4709160" cy="2487168"/>
          </a:xfrm>
          <a:prstGeom prst="rect">
            <a:avLst/>
          </a:prstGeom>
          <a:noFill/>
        </p:spPr>
        <p:txBody>
          <a:bodyPr wrap="square" lIns="18288" rIns="18288" tIns="18288" bIns="18288" anchor="t">
            <a:spAutoFit/>
          </a:bodyPr>
          <a:lstStyle/>
          <a:p>
            <a:pPr algn="l">
              <a:spcBef>
                <a:spcPts val="0"/>
              </a:spcBef>
              <a:spcAft>
                <a:spcPts val="0"/>
              </a:spcAft>
            </a:pPr>
            <a:r>
              <a:rPr sz="1800" b="0">
                <a:solidFill>
                  <a:srgbClr val="252B33"/>
                </a:solidFill>
                <a:latin typeface="Courier New"/>
              </a:rPr>
              <a:t>GetPaged(
  JournalEntryQueryDto query
)
// DTO carries the query inputs</a:t>
            </a:r>
          </a:p>
        </p:txBody>
      </p:sp>
      <p:sp>
        <p:nvSpPr>
          <p:cNvPr id="15" name="TextBox 14"/>
          <p:cNvSpPr txBox="1"/>
          <p:nvPr/>
        </p:nvSpPr>
        <p:spPr>
          <a:xfrm>
            <a:off x="786384" y="5330952"/>
            <a:ext cx="10588752" cy="530352"/>
          </a:xfrm>
          <a:prstGeom prst="rect">
            <a:avLst/>
          </a:prstGeom>
          <a:noFill/>
        </p:spPr>
        <p:txBody>
          <a:bodyPr wrap="square" lIns="18288" rIns="18288" tIns="18288" bIns="18288" anchor="ctr">
            <a:spAutoFit/>
          </a:bodyPr>
          <a:lstStyle/>
          <a:p>
            <a:pPr algn="l">
              <a:spcBef>
                <a:spcPts val="0"/>
              </a:spcBef>
              <a:spcAft>
                <a:spcPts val="0"/>
              </a:spcAft>
            </a:pPr>
            <a:r>
              <a:rPr sz="1800" b="1">
                <a:solidFill>
                  <a:srgbClr val="0F676D"/>
                </a:solidFill>
                <a:latin typeface="Arial"/>
              </a:rPr>
              <a:t>Measured result: fresh SonarQube issues 17 → 0; the route remains GET /journal-entries.</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0F676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0F676D"/>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Source examples: security order and report persistence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Listings F.1-F.2 and G.1-G.3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0F676D"/>
                </a:solidFill>
                <a:latin typeface="Arial"/>
              </a:rPr>
              <a:t>29</a:t>
            </a:r>
          </a:p>
        </p:txBody>
      </p:sp>
      <p:sp>
        <p:nvSpPr>
          <p:cNvPr id="9" name="Rounded Rectangle 8"/>
          <p:cNvSpPr/>
          <p:nvPr/>
        </p:nvSpPr>
        <p:spPr>
          <a:xfrm>
            <a:off x="731520"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6236208" y="1417320"/>
            <a:ext cx="5212080" cy="4160520"/>
          </a:xfrm>
          <a:prstGeom prst="roundRect">
            <a:avLst/>
          </a:prstGeom>
          <a:solidFill>
            <a:srgbClr val="FFFFFF"/>
          </a:solid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950976" y="1664208"/>
            <a:ext cx="468172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SECURITY · API/Program.cs</a:t>
            </a:r>
          </a:p>
        </p:txBody>
      </p:sp>
      <p:sp>
        <p:nvSpPr>
          <p:cNvPr id="12" name="TextBox 11"/>
          <p:cNvSpPr txBox="1"/>
          <p:nvPr/>
        </p:nvSpPr>
        <p:spPr>
          <a:xfrm>
            <a:off x="950976" y="2167128"/>
            <a:ext cx="4690872"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SecurityHeadersMiddleware
→ before Swagger/OpenAPI
Swagger UI exposed only when the separate UI flag allows it.</a:t>
            </a:r>
          </a:p>
        </p:txBody>
      </p:sp>
      <p:sp>
        <p:nvSpPr>
          <p:cNvPr id="13" name="TextBox 12"/>
          <p:cNvSpPr txBox="1"/>
          <p:nvPr/>
        </p:nvSpPr>
        <p:spPr>
          <a:xfrm>
            <a:off x="6437376" y="1664208"/>
            <a:ext cx="4727448" cy="329184"/>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PERFORMANCE · FinancialReportService.cs</a:t>
            </a:r>
          </a:p>
        </p:txBody>
      </p:sp>
      <p:sp>
        <p:nvSpPr>
          <p:cNvPr id="14" name="TextBox 13"/>
          <p:cNvSpPr txBox="1"/>
          <p:nvPr/>
        </p:nvSpPr>
        <p:spPr>
          <a:xfrm>
            <a:off x="6437376" y="2167128"/>
            <a:ext cx="4709160" cy="2468880"/>
          </a:xfrm>
          <a:prstGeom prst="rect">
            <a:avLst/>
          </a:prstGeom>
          <a:noFill/>
        </p:spPr>
        <p:txBody>
          <a:bodyPr wrap="square" lIns="18288" rIns="18288" tIns="18288" bIns="18288" anchor="t">
            <a:spAutoFit/>
          </a:bodyPr>
          <a:lstStyle/>
          <a:p>
            <a:pPr algn="l">
              <a:spcBef>
                <a:spcPts val="0"/>
              </a:spcBef>
              <a:spcAft>
                <a:spcPts val="0"/>
              </a:spcAft>
            </a:pPr>
            <a:r>
              <a:rPr sz="2000" b="0">
                <a:solidFill>
                  <a:srgbClr val="252B33"/>
                </a:solidFill>
                <a:latin typeface="Arial"/>
              </a:rPr>
              <a:t>Cache account-ledger data
+ stop report snapshot writes on this read path
The core speed target was not met.</a:t>
            </a:r>
          </a:p>
        </p:txBody>
      </p:sp>
      <p:sp>
        <p:nvSpPr>
          <p:cNvPr id="15" name="TextBox 14"/>
          <p:cNvSpPr txBox="1"/>
          <p:nvPr/>
        </p:nvSpPr>
        <p:spPr>
          <a:xfrm>
            <a:off x="777240" y="5705856"/>
            <a:ext cx="10698480" cy="384048"/>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0F676D"/>
                </a:solidFill>
                <a:latin typeface="Arial"/>
              </a:rPr>
              <a:t>This shows what changed in code; slide 27 shows whether performance improved.</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Authorization and accounting controls remained testable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Appendices C, D, I and §4.6</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30</a:t>
            </a:r>
          </a:p>
        </p:txBody>
      </p:sp>
      <p:graphicFrame>
        <p:nvGraphicFramePr>
          <p:cNvPr id="9" name="Table 8"/>
          <p:cNvGraphicFramePr>
            <a:graphicFrameLocks noGrp="1"/>
          </p:cNvGraphicFramePr>
          <p:nvPr/>
        </p:nvGraphicFramePr>
        <p:xfrm>
          <a:off x="722376" y="1371600"/>
          <a:ext cx="10744200" cy="4288536"/>
        </p:xfrm>
        <a:graphic>
          <a:graphicData uri="http://schemas.openxmlformats.org/drawingml/2006/table">
            <a:tbl>
              <a:tblPr firstRow="1" bandRow="1">
                <a:tableStyleId>{5C22544A-7EE6-4342-B048-85BDC9FD1C3A}</a:tableStyleId>
              </a:tblPr>
              <a:tblGrid>
                <a:gridCol w="2471166"/>
                <a:gridCol w="3760470"/>
                <a:gridCol w="4512564"/>
              </a:tblGrid>
              <a:tr h="857707">
                <a:tc>
                  <a:txBody>
                    <a:bodyPr/>
                    <a:lstStyle/>
                    <a:p>
                      <a:pPr algn="l">
                        <a:spcAft>
                          <a:spcPts val="0"/>
                        </a:spcAft>
                      </a:pPr>
                      <a:r>
                        <a:rPr sz="1700" b="1">
                          <a:solidFill>
                            <a:srgbClr val="FFFFFF"/>
                          </a:solidFill>
                          <a:latin typeface="Arial"/>
                        </a:rPr>
                        <a:t>Control</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Evidence path</a:t>
                      </a:r>
                    </a:p>
                  </a:txBody>
                  <a:tcPr marL="109728" marR="91440" marT="36576" marB="36576">
                    <a:solidFill>
                      <a:srgbClr val="252B33"/>
                    </a:solidFill>
                  </a:tcPr>
                </a:tc>
                <a:tc>
                  <a:txBody>
                    <a:bodyPr/>
                    <a:lstStyle/>
                    <a:p>
                      <a:pPr algn="l">
                        <a:spcAft>
                          <a:spcPts val="0"/>
                        </a:spcAft>
                      </a:pPr>
                      <a:r>
                        <a:rPr sz="1700" b="1">
                          <a:solidFill>
                            <a:srgbClr val="FFFFFF"/>
                          </a:solidFill>
                          <a:latin typeface="Arial"/>
                        </a:rPr>
                        <a:t>Expected boundary</a:t>
                      </a:r>
                    </a:p>
                  </a:txBody>
                  <a:tcPr marL="109728" marR="91440" marT="36576" marB="36576">
                    <a:solidFill>
                      <a:srgbClr val="252B33"/>
                    </a:solidFill>
                  </a:tcPr>
                </a:tc>
              </a:tr>
              <a:tr h="857707">
                <a:tc>
                  <a:txBody>
                    <a:bodyPr/>
                    <a:lstStyle/>
                    <a:p>
                      <a:pPr algn="l">
                        <a:spcAft>
                          <a:spcPts val="0"/>
                        </a:spcAft>
                      </a:pPr>
                      <a:r>
                        <a:rPr sz="1700" b="0">
                          <a:solidFill>
                            <a:srgbClr val="252B33"/>
                          </a:solidFill>
                          <a:latin typeface="Arial"/>
                        </a:rPr>
                        <a:t>JWT / roles</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Controller attributes + RBAC matrix</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Protected routes reject unauthorized roles</a:t>
                      </a:r>
                    </a:p>
                  </a:txBody>
                  <a:tcPr marL="109728" marR="91440" marT="36576" marB="36576">
                    <a:solidFill>
                      <a:srgbClr val="FFFFFF"/>
                    </a:solidFill>
                  </a:tcPr>
                </a:tc>
              </a:tr>
              <a:tr h="857707">
                <a:tc>
                  <a:txBody>
                    <a:bodyPr/>
                    <a:lstStyle/>
                    <a:p>
                      <a:pPr algn="l">
                        <a:spcAft>
                          <a:spcPts val="0"/>
                        </a:spcAft>
                      </a:pPr>
                      <a:r>
                        <a:rPr sz="1700" b="0">
                          <a:solidFill>
                            <a:srgbClr val="252B33"/>
                          </a:solidFill>
                          <a:latin typeface="Arial"/>
                        </a:rPr>
                        <a:t>Journal posting</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Balanced debit-credit source</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Closed periods and unequal totals rejected</a:t>
                      </a:r>
                    </a:p>
                  </a:txBody>
                  <a:tcPr marL="109728" marR="91440" marT="36576" marB="36576">
                    <a:solidFill>
                      <a:srgbClr val="F7F9FC"/>
                    </a:solidFill>
                  </a:tcPr>
                </a:tc>
              </a:tr>
              <a:tr h="857707">
                <a:tc>
                  <a:txBody>
                    <a:bodyPr/>
                    <a:lstStyle/>
                    <a:p>
                      <a:pPr algn="l">
                        <a:spcAft>
                          <a:spcPts val="0"/>
                        </a:spcAft>
                      </a:pPr>
                      <a:r>
                        <a:rPr sz="1700" b="0">
                          <a:solidFill>
                            <a:srgbClr val="252B33"/>
                          </a:solidFill>
                          <a:latin typeface="Arial"/>
                        </a:rPr>
                        <a:t>Audit trail</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Service + browser log view</a:t>
                      </a:r>
                    </a:p>
                  </a:txBody>
                  <a:tcPr marL="109728" marR="91440" marT="36576" marB="36576">
                    <a:solidFill>
                      <a:srgbClr val="FFFFFF"/>
                    </a:solidFill>
                  </a:tcPr>
                </a:tc>
                <a:tc>
                  <a:txBody>
                    <a:bodyPr/>
                    <a:lstStyle/>
                    <a:p>
                      <a:pPr algn="l">
                        <a:spcAft>
                          <a:spcPts val="0"/>
                        </a:spcAft>
                      </a:pPr>
                      <a:r>
                        <a:rPr sz="1700" b="0">
                          <a:solidFill>
                            <a:srgbClr val="252B33"/>
                          </a:solidFill>
                          <a:latin typeface="Arial"/>
                        </a:rPr>
                        <a:t>Actor and sensitive action recorded</a:t>
                      </a:r>
                    </a:p>
                  </a:txBody>
                  <a:tcPr marL="109728" marR="91440" marT="36576" marB="36576">
                    <a:solidFill>
                      <a:srgbClr val="FFFFFF"/>
                    </a:solidFill>
                  </a:tcPr>
                </a:tc>
              </a:tr>
              <a:tr h="857708">
                <a:tc>
                  <a:txBody>
                    <a:bodyPr/>
                    <a:lstStyle/>
                    <a:p>
                      <a:pPr algn="l">
                        <a:spcAft>
                          <a:spcPts val="0"/>
                        </a:spcAft>
                      </a:pPr>
                      <a:r>
                        <a:rPr sz="1700" b="0">
                          <a:solidFill>
                            <a:srgbClr val="252B33"/>
                          </a:solidFill>
                          <a:latin typeface="Arial"/>
                        </a:rPr>
                        <a:t>Browser roles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Admin / Auditor screenshots</a:t>
                      </a:r>
                    </a:p>
                  </a:txBody>
                  <a:tcPr marL="109728" marR="91440" marT="36576" marB="36576">
                    <a:solidFill>
                      <a:srgbClr val="F7F9FC"/>
                    </a:solidFill>
                  </a:tcPr>
                </a:tc>
                <a:tc>
                  <a:txBody>
                    <a:bodyPr/>
                    <a:lstStyle/>
                    <a:p>
                      <a:pPr algn="l">
                        <a:spcAft>
                          <a:spcPts val="0"/>
                        </a:spcAft>
                      </a:pPr>
                      <a:r>
                        <a:rPr sz="1700" b="0">
                          <a:solidFill>
                            <a:srgbClr val="252B33"/>
                          </a:solidFill>
                          <a:latin typeface="Arial"/>
                        </a:rPr>
                        <a:t>Navigation and read-only behavior visible</a:t>
                      </a:r>
                    </a:p>
                  </a:txBody>
                  <a:tcPr marL="109728" marR="91440" marT="36576" marB="36576">
                    <a:solidFill>
                      <a:srgbClr val="F7F9FC"/>
                    </a:solidFill>
                  </a:tcPr>
                </a:tc>
              </a:tr>
            </a:tbl>
          </a:graphicData>
        </a:graphic>
      </p:graphicFrame>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overview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 and L.3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31</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overview.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overview.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17 issues → 0; gate OK/OK (no conditions recorded); coverage 74.4% → 74.3%.</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6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6F46"/>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SonarQube issues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L.2 and L.4</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6F46"/>
                </a:solidFill>
                <a:latin typeface="Arial"/>
              </a:rPr>
              <a:t>32</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REMEDIATION</a:t>
            </a:r>
          </a:p>
        </p:txBody>
      </p:sp>
      <p:pic>
        <p:nvPicPr>
          <p:cNvPr id="11" name="Picture 10" descr="sonarqube-baseline-issues.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sonarqube-remediation-issues.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6F46"/>
                </a:solidFill>
                <a:latin typeface="Arial"/>
              </a:rPr>
              <a:t>Fresh issue-list views: 17 baseline findings and 0 after remediation.</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passive scan · historical dashboard capture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L.5 and L.6; fresh ZAP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33</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REMEDIATION</a:t>
            </a:r>
          </a:p>
        </p:txBody>
      </p:sp>
      <p:pic>
        <p:nvPicPr>
          <p:cNvPr id="11" name="Picture 10" descr="zap-baseline-before-summary.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zap-baseline-after-summary.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Historical screenshots; fresh passive result: Medium 3 / Low 6 → 0 / 0.</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3373D"/>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3373D"/>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ZAP authenticated API · historical dashboard capture</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L.7 and L.8; fresh ZAP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3373D"/>
                </a:solidFill>
                <a:latin typeface="Arial"/>
              </a:rPr>
              <a:t>34</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3373D"/>
                </a:solidFill>
                <a:latin typeface="Arial"/>
              </a:rPr>
              <a:t>REMEDIATION</a:t>
            </a:r>
          </a:p>
        </p:txBody>
      </p:sp>
      <p:pic>
        <p:nvPicPr>
          <p:cNvPr id="11" name="Picture 10" descr="zap-api-before-summary.png"/>
          <p:cNvPicPr>
            <a:picLocks noChangeAspect="1"/>
          </p:cNvPicPr>
          <p:nvPr/>
        </p:nvPicPr>
        <p:blipFill>
          <a:blip r:embed="rId2"/>
          <a:stretch>
            <a:fillRect/>
          </a:stretch>
        </p:blipFill>
        <p:spPr>
          <a:xfrm>
            <a:off x="786384" y="1706880"/>
            <a:ext cx="5157216" cy="3581400"/>
          </a:xfrm>
          <a:prstGeom prst="rect">
            <a:avLst/>
          </a:prstGeom>
        </p:spPr>
      </p:pic>
      <p:sp>
        <p:nvSpPr>
          <p:cNvPr id="12" name="Rectangle 11"/>
          <p:cNvSpPr/>
          <p:nvPr/>
        </p:nvSpPr>
        <p:spPr>
          <a:xfrm>
            <a:off x="786384"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zap-api-after-summary.png"/>
          <p:cNvPicPr>
            <a:picLocks noChangeAspect="1"/>
          </p:cNvPicPr>
          <p:nvPr/>
        </p:nvPicPr>
        <p:blipFill>
          <a:blip r:embed="rId3"/>
          <a:stretch>
            <a:fillRect/>
          </a:stretch>
        </p:blipFill>
        <p:spPr>
          <a:xfrm>
            <a:off x="6236208" y="1706880"/>
            <a:ext cx="5157216" cy="3581400"/>
          </a:xfrm>
          <a:prstGeom prst="rect">
            <a:avLst/>
          </a:prstGeom>
        </p:spPr>
      </p:pic>
      <p:sp>
        <p:nvSpPr>
          <p:cNvPr id="14" name="Rectangle 13"/>
          <p:cNvSpPr/>
          <p:nvPr/>
        </p:nvSpPr>
        <p:spPr>
          <a:xfrm>
            <a:off x="6236208" y="1706880"/>
            <a:ext cx="5157216" cy="358140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FFF6E7"/>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Historical screenshots; fresh API result: Medium 1 / Low 3 → Medium 1 / Low 0.</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L.9 and L.14;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35</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dashboard.png"/>
          <p:cNvPicPr>
            <a:picLocks noChangeAspect="1"/>
          </p:cNvPicPr>
          <p:nvPr/>
        </p:nvPicPr>
        <p:blipFill>
          <a:blip r:embed="rId2"/>
          <a:stretch>
            <a:fillRect/>
          </a:stretch>
        </p:blipFill>
        <p:spPr>
          <a:xfrm>
            <a:off x="786384" y="2594949"/>
            <a:ext cx="5157216" cy="1805260"/>
          </a:xfrm>
          <a:prstGeom prst="rect">
            <a:avLst/>
          </a:prstGeom>
        </p:spPr>
      </p:pic>
      <p:sp>
        <p:nvSpPr>
          <p:cNvPr id="12" name="Rectangle 11"/>
          <p:cNvSpPr/>
          <p:nvPr/>
        </p:nvSpPr>
        <p:spPr>
          <a:xfrm>
            <a:off x="786384"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dashboard.png"/>
          <p:cNvPicPr>
            <a:picLocks noChangeAspect="1"/>
          </p:cNvPicPr>
          <p:nvPr/>
        </p:nvPicPr>
        <p:blipFill>
          <a:blip r:embed="rId3"/>
          <a:stretch>
            <a:fillRect/>
          </a:stretch>
        </p:blipFill>
        <p:spPr>
          <a:xfrm>
            <a:off x="6236208" y="2594949"/>
            <a:ext cx="5157216" cy="1805260"/>
          </a:xfrm>
          <a:prstGeom prst="rect">
            <a:avLst/>
          </a:prstGeom>
        </p:spPr>
      </p:pic>
      <p:sp>
        <p:nvSpPr>
          <p:cNvPr id="14" name="Rectangle 13"/>
          <p:cNvSpPr/>
          <p:nvPr/>
        </p:nvSpPr>
        <p:spPr>
          <a:xfrm>
            <a:off x="6236208" y="2594949"/>
            <a:ext cx="5157216" cy="180526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 → 199.9 ms · CORE SLOWER.</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100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L.10 and L.15;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36</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1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1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p95 255.9 → 1146.9 ms · CORE TARGET NOT MET.</a:t>
            </a:r>
          </a:p>
        </p:txBody>
      </p:sp>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500 VU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L.11 and L.16;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37</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p500-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p500-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p95 106 → 1547.95 ms · CORE TARGET NOT MET.</a:t>
            </a:r>
          </a:p>
        </p:txBody>
      </p:sp>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soak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L.12 and L.17;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38</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oak-dashboard.png"/>
          <p:cNvPicPr>
            <a:picLocks noChangeAspect="1"/>
          </p:cNvPicPr>
          <p:nvPr/>
        </p:nvPicPr>
        <p:blipFill>
          <a:blip r:embed="rId2"/>
          <a:stretch>
            <a:fillRect/>
          </a:stretch>
        </p:blipFill>
        <p:spPr>
          <a:xfrm>
            <a:off x="786384" y="2183594"/>
            <a:ext cx="5157216" cy="2627970"/>
          </a:xfrm>
          <a:prstGeom prst="rect">
            <a:avLst/>
          </a:prstGeom>
        </p:spPr>
      </p:pic>
      <p:sp>
        <p:nvSpPr>
          <p:cNvPr id="12" name="Rectangle 11"/>
          <p:cNvSpPr/>
          <p:nvPr/>
        </p:nvSpPr>
        <p:spPr>
          <a:xfrm>
            <a:off x="786384" y="2183594"/>
            <a:ext cx="5157216" cy="262797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oak-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p95 443.95 → 171 ms · SOAK p95 LOWER.</a:t>
            </a:r>
          </a:p>
        </p:txBody>
      </p:sp>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BE741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BE7414"/>
                </a:solidFill>
                <a:latin typeface="Arial"/>
              </a:rPr>
              <a:t>BACKUP · NATIVE DASHBOARDS</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JMeter spike · baseline vs remediation</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Appendix L Figures L.13 and L.18; fresh JMeter summary.json</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BE7414"/>
                </a:solidFill>
                <a:latin typeface="Arial"/>
              </a:rPr>
              <a:t>39</a:t>
            </a:r>
          </a:p>
        </p:txBody>
      </p:sp>
      <p:sp>
        <p:nvSpPr>
          <p:cNvPr id="9" name="TextBox 8"/>
          <p:cNvSpPr txBox="1"/>
          <p:nvPr/>
        </p:nvSpPr>
        <p:spPr>
          <a:xfrm>
            <a:off x="80467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24466C"/>
                </a:solidFill>
                <a:latin typeface="Arial"/>
              </a:rPr>
              <a:t>BASELINE</a:t>
            </a:r>
          </a:p>
        </p:txBody>
      </p:sp>
      <p:sp>
        <p:nvSpPr>
          <p:cNvPr id="10" name="TextBox 9"/>
          <p:cNvSpPr txBox="1"/>
          <p:nvPr/>
        </p:nvSpPr>
        <p:spPr>
          <a:xfrm>
            <a:off x="6245352" y="1280160"/>
            <a:ext cx="5138928" cy="31089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REMEDIATION</a:t>
            </a:r>
          </a:p>
        </p:txBody>
      </p:sp>
      <p:pic>
        <p:nvPicPr>
          <p:cNvPr id="11" name="Picture 10" descr="jmeter-baseline-spike-dashboard.png"/>
          <p:cNvPicPr>
            <a:picLocks noChangeAspect="1"/>
          </p:cNvPicPr>
          <p:nvPr/>
        </p:nvPicPr>
        <p:blipFill>
          <a:blip r:embed="rId2"/>
          <a:stretch>
            <a:fillRect/>
          </a:stretch>
        </p:blipFill>
        <p:spPr>
          <a:xfrm>
            <a:off x="786384" y="2136582"/>
            <a:ext cx="5157216" cy="2721994"/>
          </a:xfrm>
          <a:prstGeom prst="rect">
            <a:avLst/>
          </a:prstGeom>
        </p:spPr>
      </p:pic>
      <p:sp>
        <p:nvSpPr>
          <p:cNvPr id="12" name="Rectangle 11"/>
          <p:cNvSpPr/>
          <p:nvPr/>
        </p:nvSpPr>
        <p:spPr>
          <a:xfrm>
            <a:off x="786384"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3" name="Picture 12" descr="jmeter-remediation-spike-dashboard.png"/>
          <p:cNvPicPr>
            <a:picLocks noChangeAspect="1"/>
          </p:cNvPicPr>
          <p:nvPr/>
        </p:nvPicPr>
        <p:blipFill>
          <a:blip r:embed="rId3"/>
          <a:stretch>
            <a:fillRect/>
          </a:stretch>
        </p:blipFill>
        <p:spPr>
          <a:xfrm>
            <a:off x="6236208" y="2136582"/>
            <a:ext cx="5157216" cy="2721994"/>
          </a:xfrm>
          <a:prstGeom prst="rect">
            <a:avLst/>
          </a:prstGeom>
        </p:spPr>
      </p:pic>
      <p:sp>
        <p:nvSpPr>
          <p:cNvPr id="14" name="Rectangle 13"/>
          <p:cNvSpPr/>
          <p:nvPr/>
        </p:nvSpPr>
        <p:spPr>
          <a:xfrm>
            <a:off x="6236208" y="2136582"/>
            <a:ext cx="5157216" cy="2721994"/>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Rounded Rectangle 14"/>
          <p:cNvSpPr/>
          <p:nvPr/>
        </p:nvSpPr>
        <p:spPr>
          <a:xfrm>
            <a:off x="768096" y="5477256"/>
            <a:ext cx="10643616" cy="621792"/>
          </a:xfrm>
          <a:prstGeom prst="roundRect">
            <a:avLst/>
          </a:prstGeom>
          <a:solidFill>
            <a:srgbClr val="E7F6F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32688" y="5541264"/>
            <a:ext cx="10314432" cy="448056"/>
          </a:xfrm>
          <a:prstGeom prst="rect">
            <a:avLst/>
          </a:prstGeom>
          <a:noFill/>
        </p:spPr>
        <p:txBody>
          <a:bodyPr wrap="square" lIns="18288" rIns="18288" tIns="18288" bIns="18288" anchor="ctr">
            <a:spAutoFit/>
          </a:bodyPr>
          <a:lstStyle/>
          <a:p>
            <a:pPr algn="l">
              <a:spcBef>
                <a:spcPts val="0"/>
              </a:spcBef>
              <a:spcAft>
                <a:spcPts val="0"/>
              </a:spcAft>
            </a:pPr>
            <a:r>
              <a:rPr sz="1700" b="1">
                <a:solidFill>
                  <a:srgbClr val="BE7414"/>
                </a:solidFill>
                <a:latin typeface="Arial"/>
              </a:rPr>
              <a:t>Fresh total p95 33401.8 → 4730.85 ms · SPIKE p95 LOWER.</a:t>
            </a:r>
          </a:p>
        </p:txBody>
      </p:sp>
    </p:spTree>
  </p:cSld>
  <p:clrMapOvr>
    <a:masterClrMapping/>
  </p:clrMapOvr>
</p:sld>
</file>

<file path=ppt/slides/slide40.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 screens—not load-test data</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4.2 and 4.3</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40</a:t>
            </a:r>
          </a:p>
        </p:txBody>
      </p:sp>
      <p:pic>
        <p:nvPicPr>
          <p:cNvPr id="9" name="Picture 8" descr="02-dashboard-admin.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3-reports-trial-balance.png"/>
          <p:cNvPicPr>
            <a:picLocks noChangeAspect="1"/>
          </p:cNvPicPr>
          <p:nvPr/>
        </p:nvPicPr>
        <p:blipFill>
          <a:blip r:embed="rId3"/>
          <a:srcRect b="70326"/>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Admin dashboard</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Trial-balance report</a:t>
            </a:r>
          </a:p>
        </p:txBody>
      </p:sp>
    </p:spTree>
  </p:cSld>
  <p:clrMapOvr>
    <a:masterClrMapping/>
  </p:clrMapOvr>
</p:sld>
</file>

<file path=ppt/slides/slide41.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audit and role restrictions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4.4 and 4.5</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41</a:t>
            </a:r>
          </a:p>
        </p:txBody>
      </p:sp>
      <p:pic>
        <p:nvPicPr>
          <p:cNvPr id="9" name="Picture 8" descr="04-audit-logs.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5-auditor-role-view.png"/>
          <p:cNvPicPr>
            <a:picLocks noChangeAspect="1"/>
          </p:cNvPicPr>
          <p:nvPr/>
        </p:nvPicPr>
        <p:blipFill>
          <a:blip r:embed="rId3"/>
          <a:srcRect b="57841"/>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Audit-log view</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Auditor navigation</a:t>
            </a:r>
          </a:p>
        </p:txBody>
      </p:sp>
    </p:spTree>
  </p:cSld>
  <p:clrMapOvr>
    <a:masterClrMapping/>
  </p:clrMapOvr>
</p:sld>
</file>

<file path=ppt/slides/slide42.xml><?xml version="1.0" encoding="utf-8"?>
<p:sld xmlns:a="http://schemas.openxmlformats.org/drawingml/2006/main" xmlns:p="http://schemas.openxmlformats.org/presentationml/2006/main" xmlns:r="http://schemas.openxmlformats.org/officeDocument/2006/relationships">
  <p:cSld>
    <p:bg>
      <p:bgPr>
        <a:solidFill>
          <a:srgbClr val="F7F9FC"/>
        </a:solidFill>
        <a:effectLst/>
      </p:bgPr>
    </p:bg>
    <p:spTree>
      <p:nvGrpSpPr>
        <p:cNvPr id="1" name=""/>
        <p:cNvGrpSpPr/>
        <p:nvPr/>
      </p:nvGrpSpPr>
      <p:grpSpPr/>
      <p:sp>
        <p:nvSpPr>
          <p:cNvPr id="2" name="Rectangle 1"/>
          <p:cNvSpPr/>
          <p:nvPr/>
        </p:nvSpPr>
        <p:spPr>
          <a:xfrm>
            <a:off x="0" y="0"/>
            <a:ext cx="146304" cy="6858000"/>
          </a:xfrm>
          <a:prstGeom prst="rect">
            <a:avLst/>
          </a:prstGeom>
          <a:solidFill>
            <a:srgbClr val="24466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85216" y="201168"/>
            <a:ext cx="10881360" cy="219456"/>
          </a:xfrm>
          <a:prstGeom prst="rect">
            <a:avLst/>
          </a:prstGeom>
          <a:noFill/>
        </p:spPr>
        <p:txBody>
          <a:bodyPr wrap="square" lIns="18288" rIns="18288" tIns="18288" bIns="18288" anchor="ctr">
            <a:spAutoFit/>
          </a:bodyPr>
          <a:lstStyle/>
          <a:p>
            <a:pPr algn="l">
              <a:spcBef>
                <a:spcPts val="0"/>
              </a:spcBef>
              <a:spcAft>
                <a:spcPts val="0"/>
              </a:spcAft>
            </a:pPr>
            <a:r>
              <a:rPr sz="1100" b="1">
                <a:solidFill>
                  <a:srgbClr val="24466C"/>
                </a:solidFill>
                <a:latin typeface="Arial"/>
              </a:rPr>
              <a:t>BACKUP · APPLICATION EVIDENCE</a:t>
            </a:r>
          </a:p>
        </p:txBody>
      </p:sp>
      <p:sp>
        <p:nvSpPr>
          <p:cNvPr id="4" name="TextBox 3"/>
          <p:cNvSpPr txBox="1"/>
          <p:nvPr/>
        </p:nvSpPr>
        <p:spPr>
          <a:xfrm>
            <a:off x="585216" y="502920"/>
            <a:ext cx="10972800" cy="530352"/>
          </a:xfrm>
          <a:prstGeom prst="rect">
            <a:avLst/>
          </a:prstGeom>
          <a:noFill/>
        </p:spPr>
        <p:txBody>
          <a:bodyPr wrap="square" lIns="18288" rIns="18288" tIns="18288" bIns="18288" anchor="ctr">
            <a:spAutoFit/>
          </a:bodyPr>
          <a:lstStyle/>
          <a:p>
            <a:pPr algn="l">
              <a:spcBef>
                <a:spcPts val="0"/>
              </a:spcBef>
              <a:spcAft>
                <a:spcPts val="0"/>
              </a:spcAft>
            </a:pPr>
            <a:r>
              <a:rPr sz="2900" b="1">
                <a:solidFill>
                  <a:srgbClr val="252B33"/>
                </a:solidFill>
                <a:latin typeface="Arial"/>
              </a:rPr>
              <a:t>Application: evidence and balanced journal lines</a:t>
            </a:r>
          </a:p>
        </p:txBody>
      </p:sp>
      <p:cxnSp>
        <p:nvCxnSpPr>
          <p:cNvPr id="5" name="Connector 4"/>
          <p:cNvCxnSpPr/>
          <p:nvPr/>
        </p:nvCxnSpPr>
        <p:spPr>
          <a:xfrm>
            <a:off x="585216" y="107899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cxnSp>
        <p:nvCxnSpPr>
          <p:cNvPr id="6" name="Connector 5"/>
          <p:cNvCxnSpPr/>
          <p:nvPr/>
        </p:nvCxnSpPr>
        <p:spPr>
          <a:xfrm>
            <a:off x="585216" y="6428232"/>
            <a:ext cx="11000232" cy="0"/>
          </a:xfrm>
          <a:prstGeom prst="line">
            <a:avLst/>
          </a:prstGeom>
          <a:ln w="12700">
            <a:solidFill>
              <a:srgbClr val="D8E0E9"/>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85216" y="6473952"/>
            <a:ext cx="10424160" cy="182880"/>
          </a:xfrm>
          <a:prstGeom prst="rect">
            <a:avLst/>
          </a:prstGeom>
          <a:noFill/>
        </p:spPr>
        <p:txBody>
          <a:bodyPr wrap="square" lIns="18288" rIns="18288" tIns="18288" bIns="18288" anchor="ctr">
            <a:spAutoFit/>
          </a:bodyPr>
          <a:lstStyle/>
          <a:p>
            <a:pPr algn="l">
              <a:spcBef>
                <a:spcPts val="0"/>
              </a:spcBef>
              <a:spcAft>
                <a:spcPts val="0"/>
              </a:spcAft>
            </a:pPr>
            <a:r>
              <a:rPr sz="1000" b="0">
                <a:solidFill>
                  <a:srgbClr val="5B6874"/>
                </a:solidFill>
                <a:latin typeface="Arial"/>
              </a:rPr>
              <a:t>Current report Figures 4.6 and 4.7</a:t>
            </a:r>
          </a:p>
        </p:txBody>
      </p:sp>
      <p:sp>
        <p:nvSpPr>
          <p:cNvPr id="8" name="TextBox 7"/>
          <p:cNvSpPr txBox="1"/>
          <p:nvPr/>
        </p:nvSpPr>
        <p:spPr>
          <a:xfrm>
            <a:off x="11119104" y="6473952"/>
            <a:ext cx="438912" cy="182880"/>
          </a:xfrm>
          <a:prstGeom prst="rect">
            <a:avLst/>
          </a:prstGeom>
          <a:noFill/>
        </p:spPr>
        <p:txBody>
          <a:bodyPr wrap="square" lIns="18288" rIns="18288" tIns="18288" bIns="18288" anchor="ctr">
            <a:spAutoFit/>
          </a:bodyPr>
          <a:lstStyle/>
          <a:p>
            <a:pPr algn="r">
              <a:spcBef>
                <a:spcPts val="0"/>
              </a:spcBef>
              <a:spcAft>
                <a:spcPts val="0"/>
              </a:spcAft>
            </a:pPr>
            <a:r>
              <a:rPr sz="1100" b="1">
                <a:solidFill>
                  <a:srgbClr val="24466C"/>
                </a:solidFill>
                <a:latin typeface="Arial"/>
              </a:rPr>
              <a:t>42</a:t>
            </a:r>
          </a:p>
        </p:txBody>
      </p:sp>
      <p:pic>
        <p:nvPicPr>
          <p:cNvPr id="9" name="Picture 8" descr="06-research-evidence.png"/>
          <p:cNvPicPr>
            <a:picLocks noChangeAspect="1"/>
          </p:cNvPicPr>
          <p:nvPr/>
        </p:nvPicPr>
        <p:blipFill>
          <a:blip r:embed="rId2"/>
          <a:stretch>
            <a:fillRect/>
          </a:stretch>
        </p:blipFill>
        <p:spPr>
          <a:xfrm>
            <a:off x="777240" y="1827149"/>
            <a:ext cx="5166360" cy="3587750"/>
          </a:xfrm>
          <a:prstGeom prst="rect">
            <a:avLst/>
          </a:prstGeom>
        </p:spPr>
      </p:pic>
      <p:sp>
        <p:nvSpPr>
          <p:cNvPr id="10" name="Rectangle 9"/>
          <p:cNvSpPr/>
          <p:nvPr/>
        </p:nvSpPr>
        <p:spPr>
          <a:xfrm>
            <a:off x="777240"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Picture 10" descr="07-journal-entry-details.png"/>
          <p:cNvPicPr>
            <a:picLocks noChangeAspect="1"/>
          </p:cNvPicPr>
          <p:nvPr/>
        </p:nvPicPr>
        <p:blipFill>
          <a:blip r:embed="rId3"/>
          <a:srcRect b="60175"/>
          <a:stretch>
            <a:fillRect/>
          </a:stretch>
        </p:blipFill>
        <p:spPr>
          <a:xfrm>
            <a:off x="6236208" y="1827149"/>
            <a:ext cx="5166360" cy="3587750"/>
          </a:xfrm>
          <a:prstGeom prst="rect">
            <a:avLst/>
          </a:prstGeom>
        </p:spPr>
      </p:pic>
      <p:sp>
        <p:nvSpPr>
          <p:cNvPr id="12" name="Rectangle 11"/>
          <p:cNvSpPr/>
          <p:nvPr/>
        </p:nvSpPr>
        <p:spPr>
          <a:xfrm>
            <a:off x="6236208" y="1827149"/>
            <a:ext cx="5166360" cy="3587750"/>
          </a:xfrm>
          <a:prstGeom prst="rect">
            <a:avLst/>
          </a:prstGeom>
          <a:noFill/>
          <a:ln w="12700">
            <a:solidFill>
              <a:srgbClr val="D8E0E9"/>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13816"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Research-evidence map</a:t>
            </a:r>
          </a:p>
        </p:txBody>
      </p:sp>
      <p:sp>
        <p:nvSpPr>
          <p:cNvPr id="14" name="TextBox 13"/>
          <p:cNvSpPr txBox="1"/>
          <p:nvPr/>
        </p:nvSpPr>
        <p:spPr>
          <a:xfrm>
            <a:off x="6281928" y="5669280"/>
            <a:ext cx="5093208" cy="356616"/>
          </a:xfrm>
          <a:prstGeom prst="rect">
            <a:avLst/>
          </a:prstGeom>
          <a:noFill/>
        </p:spPr>
        <p:txBody>
          <a:bodyPr wrap="square" lIns="18288" rIns="18288" tIns="18288" bIns="18288" anchor="ctr">
            <a:spAutoFit/>
          </a:bodyPr>
          <a:lstStyle/>
          <a:p>
            <a:pPr algn="l">
              <a:spcBef>
                <a:spcPts val="0"/>
              </a:spcBef>
              <a:spcAft>
                <a:spcPts val="0"/>
              </a:spcAft>
            </a:pPr>
            <a:r>
              <a:rPr sz="1600" b="1">
                <a:solidFill>
                  <a:srgbClr val="24466C"/>
                </a:solidFill>
                <a:latin typeface="Arial"/>
              </a:rPr>
              <a:t>Expanded debit and credit lines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Final Thesis Defense - Current Fresh Results</dc:title>
  <dc:subject>Branch-isolated evidence for financial accounting API remediation</dc:subject>
  <dc:creator>Zaw Ye Htut Ko</dc:creator>
  <cp:keywords>SonarQube, OWASP ZAP, JMeter, Codex 5.4, financial API</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