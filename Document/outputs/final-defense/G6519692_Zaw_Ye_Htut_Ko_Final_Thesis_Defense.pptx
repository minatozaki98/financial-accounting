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ChatGPT as an advisor.</a:t>
            </a:r>
          </a:p>
          <a:p>
            <a:r>
              <a:t>SHOW IF ASKED: backup slide 28 (claim-to-evidence map)</a:t>
            </a:r>
          </a:p>
          <a:p>
            <a:r>
              <a:t>APPENDIX: Appendix M</a:t>
            </a:r>
          </a:p>
          <a:p/>
          <a:p>
            <a:r>
              <a:t>SCRIPT:</a:t>
            </a:r>
          </a:p>
          <a:p>
            <a:r>
              <a:t>Good morning. I evaluate whether ChatGPT can help improve an existing financial accounting API. The assistant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opening question is whether reviewed AI advice withstands measurement.</a:t>
            </a:r>
          </a:p>
          <a:p>
            <a:r>
              <a:t>SHOW IF ASKED: next slides 3-7 (problem and method)</a:t>
            </a:r>
          </a:p>
          <a:p>
            <a:r>
              <a:t>APPENDIX: Appendices A and M</a:t>
            </a:r>
          </a:p>
          <a:p/>
          <a:p>
            <a:r>
              <a:t>SCRIPT:</a:t>
            </a:r>
          </a:p>
          <a:p>
            <a:r>
              <a:t>Before I show any result, I want to define the question. ChatGPT can suggest a code change that looks reasonable, but that does not mean the accounting API is better. I use one existing API, review each candidate change myself, run functional tests, and compare independent tool measurements with a saved baseline. I will explain the problem and the method first, then let the results answer whether the suggestions helped.</a:t>
            </a:r>
          </a:p>
          <a:p/>
          <a:p>
            <a:r>
              <a:t>SOURCE: Current report §§1.1-1.5 and Chapter 3; next slides 3-7; Appendices A and 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30-32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30-32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different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35 and 43-45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held ChatGPT fixed as the one assistant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29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29 and 33-34 (source and tests)</a:t>
            </a:r>
          </a:p>
          <a:p>
            <a:r>
              <a:t>APPENDIX: Appendices A, E-G, I, and K</a:t>
            </a:r>
          </a:p>
          <a:p/>
          <a:p>
            <a:r>
              <a:t>SCRIPT:</a:t>
            </a:r>
          </a:p>
          <a:p>
            <a:r>
              <a:t>First I saved the baseline result. Next I gave ChatGPT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28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30-32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33-34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ChatGPT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33-34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targeted 17 findings were resolved; other metrics are controls, not improvements.</a:t>
            </a:r>
          </a:p>
          <a:p>
            <a:r>
              <a:t>SHOW IF ASKED: next slides 14-15 (scan and code proof)</a:t>
            </a:r>
          </a:p>
          <a:p>
            <a:r>
              <a:t>APPENDIX: Appendices E and L</a:t>
            </a:r>
          </a:p>
          <a:p/>
          <a:p>
            <a:r>
              <a:t>SCRIPT:</a:t>
            </a:r>
          </a:p>
          <a:p>
            <a:r>
              <a:t>The main result is 17 distinct SonarQube issues in the baseline and zero after the reviewed fixes. In the legacy issue-type field, all 17 were classified as code smells. I ran tests and repeated the scan on the isolated code-quality branch. The right-hand metrics are controls, not gains: coverage stayed close to baseline at 74.4 versus 74.3 percent; legacy Bugs and Vulnerabilities stayed at zero; duplicated-line density stayed at 0.0 percent; the Quality Gate stayed OK; and complexity rose slightly from 886 to 889. This supports targeted maintainability remediation with adjacent measures monitored. I do not claim the zero Bug or Vulnerability count proves the running API is secure—that is why I test security separately with ZAP. Cyclomatic complexity roughly counts decision paths through code. If asked why newer Reliability and Security impacts appeared, those labels overlap on the same legacy code-smell issues. The saved coverage summary lacks the underlying counts, so I cannot identify the exact cause of the 0.1 percentage-point change.</a:t>
            </a:r>
          </a:p>
          <a:p/>
          <a:p>
            <a:r>
              <a:t>SOURCE: Next slides 14-15; backup slides 30 and 36-37; SonarQube issues.json, measures.json and quality-gate.json; current report Table 4.2, Appendices E and L.</a:t>
            </a:r>
          </a:p>
          <a:p>
            <a:r>
              <a:t>CAUTION: Do not call the baseline zeros an improvement or treat Quality Gate OK/OK as evidence of issue closure; its captured condition list is empty.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saved dashboard views corroborate the issue-count change.</a:t>
            </a:r>
          </a:p>
          <a:p>
            <a:r>
              <a:t>SHOW IF ASKED: next slide 15; backup slides 30 and 36-37</a:t>
            </a:r>
          </a:p>
          <a:p>
            <a:r>
              <a:t>APPENDIX: Appendix L, Figures L.1-L.4</a:t>
            </a:r>
          </a:p>
          <a:p/>
          <a:p>
            <a:r>
              <a:t>SCRIPT:</a:t>
            </a:r>
          </a:p>
          <a:p>
            <a:r>
              <a:t>I now point to the two actual SonarQube dashboard captures. The baseline scan reports 17 unique issues; the code-quality branch reports zero. The Quality Gate reads OK in both, so I use the issue count—not a change in gate status—as the evidence of remediation. Slide 15 shows representative source-code changes behind this result, and Appendix L has larger dashboard views.</a:t>
            </a:r>
          </a:p>
          <a:p/>
          <a:p>
            <a:r>
              <a:t>SOURCE: Next slide 15; backup slides 30 and 36-37; Appendix L Figures L.1-L.4; sonar/baseline and remediation issues.json and quality-gate.json.</a:t>
            </a:r>
          </a:p>
          <a:p>
            <a:r>
              <a:t>CAUTION: The saved Quality Gate responses contain no conditions; do not describe this as a failed-to-passed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33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33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31;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31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31;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32 and 38-42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34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39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40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pooled total and individual requests must be read together.</a:t>
            </a:r>
          </a:p>
          <a:p>
            <a:r>
              <a:t>SHOW IF ASKED: backup slides 32 and 41-42 (soak and spike); per-request slides 46-47</a:t>
            </a:r>
          </a:p>
          <a:p>
            <a:r>
              <a:t>APPENDIX: Appendix L, Figures L.12-L.13 and L.17-L.18</a:t>
            </a:r>
          </a:p>
          <a:p/>
          <a:p>
            <a:r>
              <a:t>SCRIPT:</a:t>
            </a:r>
          </a:p>
          <a:p>
            <a:r>
              <a:t>Soak means repeated traffic over time. Spike means many users arrive quickly. The whole-run Total p95 fell in both profiles. But the request-level records add an important distinction: in soak, 9 of 10 individual request p95 values rose after the change, even though the pooled Total p95 fell. The Total is recalculated from all requests; it is not an average of the individual request p95 values. In spike, all 10 individual request p95 values fell and overall errors went from 218 to zero. This is why I do not say every soak request improved. The detailed request tables are on slides 46 and 47, and the native dashboards remain in Appendix L. These whole-run figures are not direct proof of no soak drift or spike recovery. The core 50, 100, and 500 VU p95 results worsened, so I cannot claim overall performance success.</a:t>
            </a:r>
          </a:p>
          <a:p/>
          <a:p>
            <a:r>
              <a:t>SOURCE: Fresh JMeter baseline/remediation statistics.json and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34 and 41-42 (mixed endpoint behavior); per-request slides 46-47</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43-45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32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30-32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The pooled soak and spike p95 values fell, but nine of ten soak request p95 values actually rose; all ten spike request p95 values fell. Each tool therefore answers a different part of the research question. On the next slide I will explain which conclusions apply to this tested case and what would need more validation before generalizing them.</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These boundaries define where the case-study result applies.</a:t>
            </a:r>
          </a:p>
          <a:p>
            <a:r>
              <a:t>SHOW IF ASKED: backup slide 28 (claim-to-evidence map)</a:t>
            </a:r>
          </a:p>
          <a:p>
            <a:r>
              <a:t>APPENDIX: Appendix N</a:t>
            </a:r>
          </a:p>
          <a:p/>
          <a:p>
            <a:r>
              <a:t>SCRIPT:</a:t>
            </a:r>
          </a:p>
          <a:p>
            <a:r>
              <a:t>This slide states where my conclusions apply. I tested one financial API and one ChatGPT configuration so the branch comparisons are traceable. Each evidence branch has one fresh local run. JMeter measured API response times, but CPU and RAM utilization and managed service tiers were outside my measured variables, so I cannot assign one hardware cause to the slower core profiles or claim the same timing on another machine. ZAP examined a local HTTP target; the remaining HTTP Only Site observation needs a production-like HTTPS retest. To extend this work, I would repeat matched runs while recording resource use and run-to-run variability, test defined hardware or service tiers and HTTPS, and compare another assistant in a separate study. The observed issue closure and tool outputs remain valid for the tested case; broader claims need replication.</a:t>
            </a:r>
          </a:p>
          <a:p/>
          <a:p>
            <a:r>
              <a:t>SOURCE: Current report, Limitations and Future Work; Appendix N; backup claim-to-evidence map.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28 (where every claim is checked)</a:t>
            </a:r>
          </a:p>
          <a:p>
            <a:r>
              <a:t>APPENDIX: Appendices A, M, and N</a:t>
            </a:r>
          </a:p>
          <a:p/>
          <a:p>
            <a:r>
              <a:t>SCRIPT:</a:t>
            </a:r>
          </a:p>
          <a:p>
            <a:r>
              <a:t>This was an applied case study, not a new algorithm, scoring matrix, or comparison of AI assistants. ChatGPT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32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The pooled Total p95 fell from 443.95 to 171 milliseconds, but 9 of 10 individual request p95 values rose. Open the request table on slide 46. The core 100- and 500-user targets were still not met.</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The spike Total p95 fell from 33401.8 to 4730.85 milliseconds, and all 10 individual request p95 values fell. Open the request table on slide 47. The core 100- and 500-user targets were still not met.</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32 or dashboards 38-42.</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32 or dashboards 38-42.</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32 or dashboards 38-42.</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soak request-level JMeter results.</a:t>
            </a:r>
          </a:p>
          <a:p/>
          <a:p>
            <a:r>
              <a:t>SCRIPT:</a:t>
            </a:r>
          </a:p>
          <a:p>
            <a:r>
              <a:t>The pooled Total p95 fell, but nine of ten individual request p95 values rose. Total p95 is a pooled percentile, not the average of the request p95 values. Only profit-loss had a lower request p95. All requests had zero failures before and after. The before/after sample count matches for every request. Point to the requested endpoint in this table, then to the native soak dashboards on slide 41 if asked for the tool view.</a:t>
            </a:r>
          </a:p>
          <a:p/>
          <a:p>
            <a:r>
              <a:t>SOURCE: Fresh JMeter baseline/remediation statistics.json; Appendix L Figures L.12 and L.17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spike request-level JMeter results.</a:t>
            </a:r>
          </a:p>
          <a:p/>
          <a:p>
            <a:r>
              <a:t>SCRIPT:</a:t>
            </a:r>
          </a:p>
          <a:p>
            <a:r>
              <a:t>All ten individual request p95 values fell in the spike run. The total failed samples fell from 218 to zero. The before/after sample count matches for every request. This is a burst-specific improvement, not proof that the core 100- and 500-user targets passed. Open the native spike dashboards on slide 42 if asked for the tool view.</a:t>
            </a:r>
          </a:p>
          <a:p/>
          <a:p>
            <a:r>
              <a:t>SOURCE: Fresh JMeter baseline/remediation statistics.json; Appendix L Figures L.13 and L.18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When is an AI suggestion an improvement?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§§1.1-1.5 and Chapter 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31520" y="1417320"/>
            <a:ext cx="10716768" cy="15544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1636776"/>
            <a:ext cx="10131552" cy="448056"/>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52B33"/>
                </a:solidFill>
                <a:latin typeface="Arial"/>
              </a:rPr>
              <a:t>A plausible code change is not enough for a financial API.</a:t>
            </a:r>
          </a:p>
        </p:txBody>
      </p:sp>
      <p:sp>
        <p:nvSpPr>
          <p:cNvPr id="11" name="TextBox 10"/>
          <p:cNvSpPr txBox="1"/>
          <p:nvPr/>
        </p:nvSpPr>
        <p:spPr>
          <a:xfrm>
            <a:off x="1033271" y="2258568"/>
            <a:ext cx="10131552" cy="448056"/>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0F676D"/>
                </a:solidFill>
                <a:latin typeface="Arial"/>
              </a:rPr>
              <a:t>The question is whether a reviewed ChatGPT suggestion survives functional and independent tool checks.</a:t>
            </a:r>
          </a:p>
        </p:txBody>
      </p:sp>
      <p:sp>
        <p:nvSpPr>
          <p:cNvPr id="12" name="Rounded Rectangle 11"/>
          <p:cNvSpPr/>
          <p:nvPr/>
        </p:nvSpPr>
        <p:spPr>
          <a:xfrm>
            <a:off x="731520" y="3410712"/>
            <a:ext cx="3438144" cy="2020824"/>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01</a:t>
            </a:r>
          </a:p>
        </p:txBody>
      </p:sp>
      <p:sp>
        <p:nvSpPr>
          <p:cNvPr id="14" name="TextBox 13"/>
          <p:cNvSpPr txBox="1"/>
          <p:nvPr/>
        </p:nvSpPr>
        <p:spPr>
          <a:xfrm>
            <a:off x="941832"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Existing system</a:t>
            </a:r>
          </a:p>
        </p:txBody>
      </p:sp>
      <p:sp>
        <p:nvSpPr>
          <p:cNvPr id="15" name="TextBox 14"/>
          <p:cNvSpPr txBox="1"/>
          <p:nvPr/>
        </p:nvSpPr>
        <p:spPr>
          <a:xfrm>
            <a:off x="941832"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One accounting API with real routes and roles</a:t>
            </a:r>
          </a:p>
        </p:txBody>
      </p:sp>
      <p:sp>
        <p:nvSpPr>
          <p:cNvPr id="16" name="Rounded Rectangle 15"/>
          <p:cNvSpPr/>
          <p:nvPr/>
        </p:nvSpPr>
        <p:spPr>
          <a:xfrm>
            <a:off x="4370832" y="3410712"/>
            <a:ext cx="3438144" cy="2020824"/>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0F676D"/>
                </a:solidFill>
                <a:latin typeface="Arial"/>
              </a:rPr>
              <a:t>02</a:t>
            </a:r>
          </a:p>
        </p:txBody>
      </p:sp>
      <p:sp>
        <p:nvSpPr>
          <p:cNvPr id="18" name="TextBox 17"/>
          <p:cNvSpPr txBox="1"/>
          <p:nvPr/>
        </p:nvSpPr>
        <p:spPr>
          <a:xfrm>
            <a:off x="4581144"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Human review</a:t>
            </a:r>
          </a:p>
        </p:txBody>
      </p:sp>
      <p:sp>
        <p:nvSpPr>
          <p:cNvPr id="19" name="TextBox 18"/>
          <p:cNvSpPr txBox="1"/>
          <p:nvPr/>
        </p:nvSpPr>
        <p:spPr>
          <a:xfrm>
            <a:off x="4581144"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I accept or reject each proposed change</a:t>
            </a:r>
          </a:p>
        </p:txBody>
      </p:sp>
      <p:sp>
        <p:nvSpPr>
          <p:cNvPr id="20" name="Rounded Rectangle 19"/>
          <p:cNvSpPr/>
          <p:nvPr/>
        </p:nvSpPr>
        <p:spPr>
          <a:xfrm>
            <a:off x="8010144" y="3410712"/>
            <a:ext cx="3438144" cy="2020824"/>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03</a:t>
            </a:r>
          </a:p>
        </p:txBody>
      </p:sp>
      <p:sp>
        <p:nvSpPr>
          <p:cNvPr id="22" name="TextBox 21"/>
          <p:cNvSpPr txBox="1"/>
          <p:nvPr/>
        </p:nvSpPr>
        <p:spPr>
          <a:xfrm>
            <a:off x="8220456"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Independent checks</a:t>
            </a:r>
          </a:p>
        </p:txBody>
      </p:sp>
      <p:sp>
        <p:nvSpPr>
          <p:cNvPr id="23" name="TextBox 22"/>
          <p:cNvSpPr txBox="1"/>
          <p:nvPr/>
        </p:nvSpPr>
        <p:spPr>
          <a:xfrm>
            <a:off x="8220456"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Tests, SonarQube, ZAP, and JMeter</a:t>
            </a:r>
          </a:p>
        </p:txBody>
      </p:sp>
      <p:sp>
        <p:nvSpPr>
          <p:cNvPr id="24" name="TextBox 23"/>
          <p:cNvSpPr txBox="1"/>
          <p:nvPr/>
        </p:nvSpPr>
        <p:spPr>
          <a:xfrm>
            <a:off x="786384" y="5779008"/>
            <a:ext cx="10607040" cy="38404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The measurements—not the assistant's confidence—will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ChatGPT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796281"/>
            <a:ext cx="3118104" cy="421654"/>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Local </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ChatGPT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17 findings closed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417320"/>
            <a:ext cx="5001768" cy="4251960"/>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19072"/>
            <a:ext cx="4416552"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PRIMARY OUTCOME</a:t>
            </a:r>
          </a:p>
        </p:txBody>
      </p:sp>
      <p:sp>
        <p:nvSpPr>
          <p:cNvPr id="11" name="TextBox 10"/>
          <p:cNvSpPr txBox="1"/>
          <p:nvPr/>
        </p:nvSpPr>
        <p:spPr>
          <a:xfrm>
            <a:off x="1005840" y="2212848"/>
            <a:ext cx="4434840" cy="923544"/>
          </a:xfrm>
          <a:prstGeom prst="rect">
            <a:avLst/>
          </a:prstGeom>
          <a:noFill/>
        </p:spPr>
        <p:txBody>
          <a:bodyPr wrap="square" lIns="18288" rIns="18288" tIns="18288" bIns="18288" anchor="ctr">
            <a:spAutoFit/>
          </a:bodyPr>
          <a:lstStyle/>
          <a:p>
            <a:pPr algn="l">
              <a:spcBef>
                <a:spcPts val="0"/>
              </a:spcBef>
              <a:spcAft>
                <a:spcPts val="0"/>
              </a:spcAft>
            </a:pPr>
            <a:r>
              <a:rPr sz="5300" b="1">
                <a:solidFill>
                  <a:srgbClr val="246F46"/>
                </a:solidFill>
                <a:latin typeface="Arial"/>
              </a:rPr>
              <a:t>17 → 0</a:t>
            </a:r>
          </a:p>
        </p:txBody>
      </p:sp>
      <p:sp>
        <p:nvSpPr>
          <p:cNvPr id="12" name="TextBox 11"/>
          <p:cNvSpPr txBox="1"/>
          <p:nvPr/>
        </p:nvSpPr>
        <p:spPr>
          <a:xfrm>
            <a:off x="1024128" y="3209544"/>
            <a:ext cx="4361688" cy="420624"/>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unique SonarQube issues</a:t>
            </a:r>
          </a:p>
        </p:txBody>
      </p:sp>
      <p:sp>
        <p:nvSpPr>
          <p:cNvPr id="13" name="TextBox 12"/>
          <p:cNvSpPr txBox="1"/>
          <p:nvPr/>
        </p:nvSpPr>
        <p:spPr>
          <a:xfrm>
            <a:off x="1024128" y="3931920"/>
            <a:ext cx="4325112" cy="62179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All 17 baseline issues were legacy Code Smells.</a:t>
            </a:r>
          </a:p>
        </p:txBody>
      </p:sp>
      <p:sp>
        <p:nvSpPr>
          <p:cNvPr id="14" name="TextBox 13"/>
          <p:cNvSpPr txBox="1"/>
          <p:nvPr/>
        </p:nvSpPr>
        <p:spPr>
          <a:xfrm>
            <a:off x="1024128" y="4754880"/>
            <a:ext cx="4325112" cy="68580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Example fix: eight controller parameters → one request DTO.</a:t>
            </a:r>
          </a:p>
        </p:txBody>
      </p:sp>
      <p:sp>
        <p:nvSpPr>
          <p:cNvPr id="15" name="Rounded Rectangle 14"/>
          <p:cNvSpPr/>
          <p:nvPr/>
        </p:nvSpPr>
        <p:spPr>
          <a:xfrm>
            <a:off x="5961888" y="1417320"/>
            <a:ext cx="5486400" cy="42519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719072"/>
            <a:ext cx="4910328"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CONTROLS MONITORED</a:t>
            </a:r>
          </a:p>
        </p:txBody>
      </p:sp>
      <p:sp>
        <p:nvSpPr>
          <p:cNvPr id="17" name="TextBox 16"/>
          <p:cNvSpPr txBox="1"/>
          <p:nvPr/>
        </p:nvSpPr>
        <p:spPr>
          <a:xfrm>
            <a:off x="6236208" y="2212848"/>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Coverage 74.4% → 74.3% (−0.1 pp)</a:t>
            </a:r>
          </a:p>
        </p:txBody>
      </p:sp>
      <p:cxnSp>
        <p:nvCxnSpPr>
          <p:cNvPr id="18" name="Connector 17"/>
          <p:cNvCxnSpPr/>
          <p:nvPr/>
        </p:nvCxnSpPr>
        <p:spPr>
          <a:xfrm>
            <a:off x="6236208" y="2743200"/>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36208" y="2871215"/>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Bugs / Vulnerabilities 0 / 0 → 0 / 0</a:t>
            </a:r>
          </a:p>
        </p:txBody>
      </p:sp>
      <p:cxnSp>
        <p:nvCxnSpPr>
          <p:cNvPr id="20" name="Connector 19"/>
          <p:cNvCxnSpPr/>
          <p:nvPr/>
        </p:nvCxnSpPr>
        <p:spPr>
          <a:xfrm>
            <a:off x="6236208" y="3401568"/>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36208" y="3529584"/>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Duplicate density 0.0% → 0.0%</a:t>
            </a:r>
          </a:p>
        </p:txBody>
      </p:sp>
      <p:cxnSp>
        <p:nvCxnSpPr>
          <p:cNvPr id="22" name="Connector 21"/>
          <p:cNvCxnSpPr/>
          <p:nvPr/>
        </p:nvCxnSpPr>
        <p:spPr>
          <a:xfrm>
            <a:off x="6236208" y="4059935"/>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8" y="4187952"/>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Quality Gate OK → OK</a:t>
            </a:r>
          </a:p>
        </p:txBody>
      </p:sp>
      <p:cxnSp>
        <p:nvCxnSpPr>
          <p:cNvPr id="24" name="Connector 23"/>
          <p:cNvCxnSpPr/>
          <p:nvPr/>
        </p:nvCxnSpPr>
        <p:spPr>
          <a:xfrm>
            <a:off x="6236208" y="4718304"/>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36208" y="4846320"/>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Complexity 886 → 889</a:t>
            </a:r>
          </a:p>
        </p:txBody>
      </p:sp>
      <p:sp>
        <p:nvSpPr>
          <p:cNvPr id="26" name="Rounded Rectangle 25"/>
          <p:cNvSpPr/>
          <p:nvPr/>
        </p:nvSpPr>
        <p:spPr>
          <a:xfrm>
            <a:off x="768096" y="5824728"/>
            <a:ext cx="10643616" cy="44805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5879592"/>
            <a:ext cx="10222992"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The targeted gain is issue closure; adjacent quality measures stayed close to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SonarQube dashboards confirm 17 → 0</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17 unique issues → 0; Quality Gate remained OK on both branches.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Pooled 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 and request statistics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BE7414"/>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
        <p:nvSpPr>
          <p:cNvPr id="20" name="TextBox 19"/>
          <p:cNvSpPr txBox="1"/>
          <p:nvPr/>
        </p:nvSpPr>
        <p:spPr>
          <a:xfrm>
            <a:off x="768096" y="5833872"/>
            <a:ext cx="106984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9 of 10 request p95 values higher · Spike: all 10 request p95 values lower.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Total p95 lower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9/10 requests higher; spike: 10/10 lower</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Next: where these case-study conclusions apply, and what requires another test.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SCOPE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Limitations and next validation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Limitations and Future Work;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26</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ONE CASE</a:t>
            </a:r>
          </a:p>
        </p:txBody>
      </p:sp>
      <p:sp>
        <p:nvSpPr>
          <p:cNvPr id="11" name="TextBox 10"/>
          <p:cNvSpPr txBox="1"/>
          <p:nvPr/>
        </p:nvSpPr>
        <p:spPr>
          <a:xfrm>
            <a:off x="941832"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4466C"/>
                </a:solidFill>
                <a:latin typeface="Arial"/>
              </a:rPr>
              <a:t>one API · one ChatGPT setup</a:t>
            </a:r>
          </a:p>
        </p:txBody>
      </p:sp>
      <p:sp>
        <p:nvSpPr>
          <p:cNvPr id="12" name="TextBox 11"/>
          <p:cNvSpPr txBox="1"/>
          <p:nvPr/>
        </p:nvSpPr>
        <p:spPr>
          <a:xfrm>
            <a:off x="941832"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findings describe this financial API and dataset, not every API or AI assistant.</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LOCAL MEASUREMENT</a:t>
            </a:r>
          </a:p>
        </p:txBody>
      </p:sp>
      <p:sp>
        <p:nvSpPr>
          <p:cNvPr id="15" name="TextBox 14"/>
          <p:cNvSpPr txBox="1"/>
          <p:nvPr/>
        </p:nvSpPr>
        <p:spPr>
          <a:xfrm>
            <a:off x="4581144"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one fresh run per branch</a:t>
            </a:r>
          </a:p>
        </p:txBody>
      </p:sp>
      <p:sp>
        <p:nvSpPr>
          <p:cNvPr id="16" name="TextBox 15"/>
          <p:cNvSpPr txBox="1"/>
          <p:nvPr/>
        </p:nvSpPr>
        <p:spPr>
          <a:xfrm>
            <a:off x="4581144"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CPU/RAM use and hosted service tiers were outside the measured variables.</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DEPLOYMENT</a:t>
            </a:r>
          </a:p>
        </p:txBody>
      </p:sp>
      <p:sp>
        <p:nvSpPr>
          <p:cNvPr id="19" name="TextBox 18"/>
          <p:cNvSpPr txBox="1"/>
          <p:nvPr/>
        </p:nvSpPr>
        <p:spPr>
          <a:xfrm>
            <a:off x="8220456"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BE7414"/>
                </a:solidFill>
                <a:latin typeface="Arial"/>
              </a:rPr>
              <a:t>local HTTP target</a:t>
            </a:r>
          </a:p>
        </p:txBody>
      </p:sp>
      <p:sp>
        <p:nvSpPr>
          <p:cNvPr id="20" name="TextBox 19"/>
          <p:cNvSpPr txBox="1"/>
          <p:nvPr/>
        </p:nvSpPr>
        <p:spPr>
          <a:xfrm>
            <a:off x="8220456"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An HTTPS retest is needed for the remaining ZAP transport observation.</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Next: repeat matched runs with resource traces; test HTTPS; compare assistants separately.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27</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29</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886968">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886968">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886968">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30</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31</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32</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34</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35</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45</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L.12 and L.17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46</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443.95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171.00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47.95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1,360.85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95.00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1,321.00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625.95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741.95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3,825.70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487.85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437.95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427.85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442.00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446.95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119.30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1,831.90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90.00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597.85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 lower, but 9/10 request p95 values higher; failures remained zero.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L.13 and L.18</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47</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218→0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18,515.45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3,083.00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15,215.85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2,609.95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9,585.70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1,734.00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50,288.30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12,910.20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27→0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32,732.65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2,554.90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69→0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31,487.90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2,342.75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69→0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31,142.45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2,797.70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51→0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12,125.90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4,110.45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3,107.15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12,734.75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2,544.10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Spike: all 10 request p95 values lower; total failures 218 →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ChatGPT,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