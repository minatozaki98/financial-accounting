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r>
              <a:t>SHOW IF ASKED: backup slide 27 (claim-to-evidence map)</a:t>
            </a:r>
          </a:p>
          <a:p>
            <a:r>
              <a:t>APPENDIX: Appendix M</a:t>
            </a:r>
          </a:p>
          <a:p/>
          <a:p>
            <a:r>
              <a:t>SCRIPT:</a:t>
            </a:r>
          </a:p>
          <a:p>
            <a:r>
              <a:t>Good morning. I evaluate whether ChatGPT, used through Codex 5.4, can help improve an existing financial accounting API. The model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results are mixed: code quality improved, security has one remaining alert, and core speed missed its target.</a:t>
            </a:r>
          </a:p>
          <a:p>
            <a:r>
              <a:t>SHOW IF ASKED: backup slides 29-31 (three measured outcomes)</a:t>
            </a:r>
          </a:p>
          <a:p>
            <a:r>
              <a:t>APPENDIX: Appendices E-G and M</a:t>
            </a:r>
          </a:p>
          <a:p/>
          <a:p>
            <a:r>
              <a:t>SCRIPT:</a:t>
            </a:r>
          </a:p>
          <a:p>
            <a:r>
              <a:t>Here is the result first. SonarQube issues fell from 17 to zero. ZAP's selected checks passed, but the API scan still had one Medium alert because the local site used HTTP. JMeter response times at 100 and 500 simulated users were above our study limits. Soak and spike improved, but they are separate tests.</a:t>
            </a:r>
          </a:p>
          <a:p/>
          <a:p>
            <a:r>
              <a:t>SOURCE: Current report Table 4.5 and Appendix M.</a:t>
            </a:r>
          </a:p>
          <a:p>
            <a:r>
              <a:t>CAUTION: Do not claim that the 50, 100, or 500 VU core p95 values improved; all three increased.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29-31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29-31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This is an applied single-case evaluation, not a new algorithm.</a:t>
            </a:r>
          </a:p>
          <a:p>
            <a:r>
              <a:t>SHOW IF ASKED: backup slides 34 and 42-44 (API behavior)</a:t>
            </a:r>
          </a:p>
          <a:p>
            <a:r>
              <a:t>APPENDIX: Appendices B-D, H, and J</a:t>
            </a:r>
          </a:p>
          <a:p/>
          <a:p>
            <a:r>
              <a:t>SCRIPT:</a:t>
            </a:r>
          </a:p>
          <a:p>
            <a:r>
              <a:t>This is applied research: I study one existing financial accounting API and ask what happens when ChatGPT helps me address measured problems. I am not inventing a new algorithm or a scoring matrix. Why ChatGPT rather than Claude or Copilot? ChatGPT is widely used and recognizable, making it a relevant case to examine. Claude and Copilot can also analyze code and suggest changes. I used ChatGPT through Codex 5.4 and held that one assistant fixed so I could trace findings, suggestions, my review, and independent results in depth. I am not comparing AI assistants, and I cannot claim ChatGPT is better or uniquely capable. I also would not call it the first AI coding tool. I review the proposed edits; tests and the three independent tools judge the outcomes.</a:t>
            </a:r>
          </a:p>
          <a:p/>
          <a:p>
            <a:r>
              <a:t>SOURCE: Current report §§1.6 and 3.1-3.3, Table 3.3 and §3.6; OpenAI adoption study: https://openai.com/business/guides-and-resources/chatgpt-usage-and-adoption-patterns-at-work/ ; Claude Code overview: https://code.claude.com/docs/en/overview ; GitHub Copilot GA: https://github.blog/news-insights/product-news/github-copilot-is-generally-available-to-all-developers/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28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28 and 32-33 (source and tests)</a:t>
            </a:r>
          </a:p>
          <a:p>
            <a:r>
              <a:t>APPENDIX: Appendices A, E-G, I, and K</a:t>
            </a:r>
          </a:p>
          <a:p/>
          <a:p>
            <a:r>
              <a:t>SCRIPT:</a:t>
            </a:r>
          </a:p>
          <a:p>
            <a:r>
              <a:t>First I saved the baseline result. Next I gave Codex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27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29-31 (results and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A proposal passes through my review and independent measurement.</a:t>
            </a:r>
          </a:p>
          <a:p>
            <a:r>
              <a:t>SHOW IF ASKED: slide 15; backup slides 32-33 (before/after code)</a:t>
            </a:r>
          </a:p>
          <a:p>
            <a:r>
              <a:t>APPENDIX: Appendices E-G, I, and K</a:t>
            </a:r>
          </a:p>
          <a:p/>
          <a:p>
            <a:r>
              <a:t>SCRIPT:</a:t>
            </a:r>
          </a:p>
          <a:p>
            <a:r>
              <a:t>Read this diagram from left to right. On the left, I start with a real tool finding and the source code needed to understand it. For example, SonarQube flagged eight controller parameters. In the middle, Codex proposes a change, but it does not decide whether that change is correct. I reviewed the request DTO for accounting behavior and access control before using it. On the right, I run focused tests and rerun the same tool on the changed branch. I compare that result with the saved baseline and the study target. SonarQube's unique issue count went from 17 to zero; JMeter did not meet its main speed target. The arrows represent checks, not automatic acceptance of an AI suggestion.</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32-33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100 seconds</a:t>
            </a:r>
          </a:p>
          <a:p>
            <a:r>
              <a:t>KEY MESSAGE: The zeros and the small coverage decrease have different meanings.</a:t>
            </a:r>
          </a:p>
          <a:p>
            <a:r>
              <a:t>SHOW IF ASKED: next slides 14-15 (scan and code proof)</a:t>
            </a:r>
          </a:p>
          <a:p>
            <a:r>
              <a:t>APPENDIX: Appendices E and L</a:t>
            </a:r>
          </a:p>
          <a:p/>
          <a:p>
            <a:r>
              <a:t>SCRIPT:</a:t>
            </a:r>
          </a:p>
          <a:p>
            <a:r>
              <a:t>SonarQube reported 17 unique baseline issues and zero after the changes. Why do Bugs and Vulnerabilities show zero even at baseline? In the legacy issue-type field, all 17 were classified as code smells. SonarQube's newer impact labels also marked some of those same issues as Reliability or Security concerns. Those labels overlap; they are not additional unique bugs or vulnerabilities. Duplicated-line density was 0.0 percent in both scans: the tool did not report duplicated lines at its displayed precision in this analyzed scope. It does not prove the whole codebase has no repeated logic. Coverage moved from 74.4 to 74.3 percent, a decrease of 0.1 percentage point. The saved summaries give the percentages but not the underlying covered and uncovered counts, so I cannot identify the exact cause. Cyclomatic complexity roughly counts decision paths through code; it rose from 886 to 889. I report both changes as small regressions. The Quality Gate said OK on both branches but its saved conditions list was empty, so the issue count is the clearer comparison.</a:t>
            </a:r>
          </a:p>
          <a:p/>
          <a:p>
            <a:r>
              <a:t>SOURCE: Next slides 14-15; backup slides 29 and 35-36; SonarQube quality-gate.json and summary.json; current report Table 4.2, Appendices E and L.</a:t>
            </a:r>
          </a:p>
          <a:p>
            <a:r>
              <a:t>CAUTION: The full report lists OK/OK; explain that the captured gate response has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Both dashboards say OK, but the issue count is the useful comparison.</a:t>
            </a:r>
          </a:p>
          <a:p>
            <a:r>
              <a:t>SHOW IF ASKED: next slide 15; backup slides 29 and 35-36</a:t>
            </a:r>
          </a:p>
          <a:p>
            <a:r>
              <a:t>APPENDIX: Appendix L, Figures L.1-L.4</a:t>
            </a:r>
          </a:p>
          <a:p/>
          <a:p>
            <a:r>
              <a:t>SCRIPT:</a:t>
            </a:r>
          </a:p>
          <a:p>
            <a:r>
              <a:t>If asked why both Quality Gates passed, point out that the saved gate files show OK with an empty list of conditions on each branch. That status therefore did not distinguish the scans. The baseline had 17 distinct issues; the changed branch had zero. Coverage moved from 74.4 to 74.3 percent, so I show that small decrease too. These are screenshots of the tool, not a new chart I made.</a:t>
            </a:r>
          </a:p>
          <a:p/>
          <a:p>
            <a:r>
              <a:t>SOURCE: Next slide 15; backup slides 29 and 35-36; Appendix L Figures L.1-L.4; sonar/baseline and remediation quality-gate.json.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32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32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passive scan improved, but it is only one view of security.</a:t>
            </a:r>
          </a:p>
          <a:p>
            <a:r>
              <a:t>SHOW IF ASKED: next slide 17 (fresh ZAP proof)</a:t>
            </a:r>
          </a:p>
          <a:p>
            <a:r>
              <a:t>APPENDIX: Appendices F and M</a:t>
            </a:r>
          </a:p>
          <a:p/>
          <a:p>
            <a:r>
              <a:t>SCRIPT:</a:t>
            </a:r>
          </a:p>
          <a:p>
            <a:r>
              <a:t>I am showing the passive scan before and after the changes. This scan observes normal responses and their headers; it does not sign in. In the upper screenshot, ZAP reports three Medium and six Low alert types. In the lower screenshot, both counts are zero. These are screenshots of report cards rendered from my current raw ZAP scan data. They are not a claim that the protected API is free of alerts. I will show that separate scan on the next slide.</a:t>
            </a:r>
          </a:p>
          <a:p/>
          <a:p>
            <a:r>
              <a:t>SOURCE: Next slide 17; backup slide 30; current report §4.3; Appendix F; fresh passive raw ZAP JSON and summaries.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The signed-in scan improved, but it did not clear every raw alert.</a:t>
            </a:r>
          </a:p>
          <a:p>
            <a:r>
              <a:t>SHOW IF ASKED: backup slide 30 (raw ZAP counts)</a:t>
            </a:r>
          </a:p>
          <a:p>
            <a:r>
              <a:t>APPENDIX: Appendix F</a:t>
            </a:r>
          </a:p>
          <a:p/>
          <a:p>
            <a:r>
              <a:t>SCRIPT:</a:t>
            </a:r>
          </a:p>
          <a:p>
            <a:r>
              <a:t>I am showing the signed-in API scan before and after the changes. Unlike the passive scan, this test signs in and exercises protected routes. Low alert types fell from three to zero, while Medium stayed at one. The remaining alert is called HTTP Only Site: my local scan target was served over HTTP. The selected security rules passed, but that pass result is different from saying every raw alert disappeared. I would need a working HTTPS endpoint and another scan before calling this Medium alert cleared. These screenshots were rendered from the current raw ZAP scan data; the raw counts and the alert are in Appendix F.</a:t>
            </a:r>
          </a:p>
          <a:p/>
          <a:p>
            <a:r>
              <a:t>SOURCE: Backup slide 30; current report §4.3; Appendix F and Appendix M; fresh API raw ZAP JSON, summaries,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31 and 37-41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20-21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20-21 for native JMeter proof; backup slide 33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38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39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Exactly which measurements improved differs by test shape.</a:t>
            </a:r>
          </a:p>
          <a:p>
            <a:r>
              <a:t>SHOW IF ASKED: backup slides 31 and 40-41 (soak and spike)</a:t>
            </a:r>
          </a:p>
          <a:p>
            <a:r>
              <a:t>APPENDIX: Appendix L, Figures L.12-L.13 and L.17-L.18</a:t>
            </a:r>
          </a:p>
          <a:p/>
          <a:p>
            <a:r>
              <a:t>SCRIPT:</a:t>
            </a:r>
          </a:p>
          <a:p>
            <a:r>
              <a:t>Soak means repeated traffic over time; I look for performance getting worse as requests continue. Spike means many users arrive quickly; I look at the burst and whether response times recover afterward. In these runs, total p95 fell from 443.95 to 171 milliseconds for soak and from about 33.4 to 4.7 seconds for spike. These whole-run numbers are not direct proof of no soak drift or spike recovery. The core 50, 100, and 500 VU p95 results worsened, so I cannot claim overall performance success.</a:t>
            </a:r>
          </a:p>
          <a:p/>
          <a:p>
            <a:r>
              <a:t>SOURCE: Fresh JMeter baseline/remediation summary.json; current report §4.4; Appendix L Figures L.12-L.13 and L.17-L.18.</a:t>
            </a:r>
          </a:p>
          <a:p>
            <a:r>
              <a:t>CAUTION: Do not claim a fixed three-hour soak or exactly 100 total threads: the runner configures 100 core plus 30 report threads and has no fixed-duration scheduler.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33 and 40-41 (mixed endpoint behavior)</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42-44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31 or the JMeter dashboards on slides 37-41.</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29-31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even though soak and spike improved. This is one API on one computer with one fresh run per branch. We did not save CPU and memory readings for those runs, so I would repeat the tests before claiming the result applies elsewhere.</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27 (where every claim is checked)</a:t>
            </a:r>
          </a:p>
          <a:p>
            <a:r>
              <a:t>APPENDIX: Appendices A, M, and N</a:t>
            </a:r>
          </a:p>
          <a:p/>
          <a:p>
            <a:r>
              <a:t>SCRIPT:</a:t>
            </a:r>
          </a:p>
          <a:p>
            <a:r>
              <a:t>This was an applied case study, not a new algorithm, scoring matrix, or comparison of AI assistants. Codex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31 and dashboards 38-39.</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This long steady soak test had a lower total p95 after the change: 443.95 to 171 milliseconds. That is an improvement for this test only. It does not change the unmet 100- and 500-user core targets on slide 31.</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This sudden spike test had a lower total p95 after the change: 33401.8 to 4730.85 milliseconds. That is an improvement for this test only. It does not change the unmet 100- and 500-user core targets on slide 31.</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31 or dashboards 37-41.</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31 or dashboards 37-41.</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31 or dashboards 37-41.</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Target not met</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predefined core performance target, despite lower soak and spike p95 values.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An applied case study of one existing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§§1.6 and 3.1-3.3; OpenAI adoption study</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81328"/>
            <a:ext cx="3438144" cy="359359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WHAT I STUDIED</a:t>
            </a:r>
          </a:p>
        </p:txBody>
      </p:sp>
      <p:sp>
        <p:nvSpPr>
          <p:cNvPr id="11" name="TextBox 10"/>
          <p:cNvSpPr txBox="1"/>
          <p:nvPr/>
        </p:nvSpPr>
        <p:spPr>
          <a:xfrm>
            <a:off x="932688"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466C"/>
                </a:solidFill>
                <a:latin typeface="Arial"/>
              </a:rPr>
              <a:t>Applied case study</a:t>
            </a:r>
          </a:p>
        </p:txBody>
      </p:sp>
      <p:sp>
        <p:nvSpPr>
          <p:cNvPr id="12" name="TextBox 11"/>
          <p:cNvSpPr txBox="1"/>
          <p:nvPr/>
        </p:nvSpPr>
        <p:spPr>
          <a:xfrm>
            <a:off x="932688"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ASP.NET Core financial API with accounts, journal entries, reports, and four user roles.</a:t>
            </a:r>
          </a:p>
        </p:txBody>
      </p:sp>
      <p:sp>
        <p:nvSpPr>
          <p:cNvPr id="13" name="Rounded Rectangle 12"/>
          <p:cNvSpPr/>
          <p:nvPr/>
        </p:nvSpPr>
        <p:spPr>
          <a:xfrm>
            <a:off x="4370832" y="1481328"/>
            <a:ext cx="3438144" cy="359359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WHY THIS ASSISTANT</a:t>
            </a:r>
          </a:p>
        </p:txBody>
      </p:sp>
      <p:sp>
        <p:nvSpPr>
          <p:cNvPr id="15" name="TextBox 14"/>
          <p:cNvSpPr txBox="1"/>
          <p:nvPr/>
        </p:nvSpPr>
        <p:spPr>
          <a:xfrm>
            <a:off x="4572000"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Why ChatGPT?</a:t>
            </a:r>
          </a:p>
        </p:txBody>
      </p:sp>
      <p:sp>
        <p:nvSpPr>
          <p:cNvPr id="16" name="TextBox 15"/>
          <p:cNvSpPr txBox="1"/>
          <p:nvPr/>
        </p:nvSpPr>
        <p:spPr>
          <a:xfrm>
            <a:off x="4572000"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ChatGPT is widely used and recognizable. It is one case to study deeply—not uniquely capable of coding fixes.</a:t>
            </a:r>
          </a:p>
        </p:txBody>
      </p:sp>
      <p:sp>
        <p:nvSpPr>
          <p:cNvPr id="17" name="Rounded Rectangle 16"/>
          <p:cNvSpPr/>
          <p:nvPr/>
        </p:nvSpPr>
        <p:spPr>
          <a:xfrm>
            <a:off x="8010144" y="1481328"/>
            <a:ext cx="3438144" cy="3593592"/>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HOW I JUDGED IT</a:t>
            </a:r>
          </a:p>
        </p:txBody>
      </p:sp>
      <p:sp>
        <p:nvSpPr>
          <p:cNvPr id="19" name="TextBox 18"/>
          <p:cNvSpPr txBox="1"/>
          <p:nvPr/>
        </p:nvSpPr>
        <p:spPr>
          <a:xfrm>
            <a:off x="8211312"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Measured comparison</a:t>
            </a:r>
          </a:p>
        </p:txBody>
      </p:sp>
      <p:sp>
        <p:nvSpPr>
          <p:cNvPr id="20" name="TextBox 19"/>
          <p:cNvSpPr txBox="1"/>
          <p:nvPr/>
        </p:nvSpPr>
        <p:spPr>
          <a:xfrm>
            <a:off x="8211312"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baseline and isolated branches; tests, SonarQube, ZAP, and JMeter judge the changes.</a:t>
            </a:r>
          </a:p>
        </p:txBody>
      </p:sp>
      <p:sp>
        <p:nvSpPr>
          <p:cNvPr id="21" name="Rounded Rectangle 20"/>
          <p:cNvSpPr/>
          <p:nvPr/>
        </p:nvSpPr>
        <p:spPr>
          <a:xfrm>
            <a:off x="768096" y="5376672"/>
            <a:ext cx="10643616" cy="68580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22976"/>
            <a:ext cx="10241280" cy="38404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Contribution: evidence-backed AI-assisted remediation—not a new algorithm, matrix, or model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31520" y="1591056"/>
            <a:ext cx="3429000" cy="287121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01  INPUT</a:t>
            </a:r>
          </a:p>
        </p:txBody>
      </p:sp>
      <p:sp>
        <p:nvSpPr>
          <p:cNvPr id="11" name="TextBox 10"/>
          <p:cNvSpPr txBox="1"/>
          <p:nvPr/>
        </p:nvSpPr>
        <p:spPr>
          <a:xfrm>
            <a:off x="914400"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Start with evidence</a:t>
            </a:r>
          </a:p>
        </p:txBody>
      </p:sp>
      <p:sp>
        <p:nvSpPr>
          <p:cNvPr id="12" name="TextBox 11"/>
          <p:cNvSpPr txBox="1"/>
          <p:nvPr/>
        </p:nvSpPr>
        <p:spPr>
          <a:xfrm>
            <a:off x="914400"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Tool finding + relevant code</a:t>
            </a:r>
          </a:p>
        </p:txBody>
      </p:sp>
      <p:sp>
        <p:nvSpPr>
          <p:cNvPr id="13" name="TextBox 12"/>
          <p:cNvSpPr txBox="1"/>
          <p:nvPr/>
        </p:nvSpPr>
        <p:spPr>
          <a:xfrm>
            <a:off x="914400"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Example: SonarQube flags eight controller parameters.</a:t>
            </a:r>
          </a:p>
        </p:txBody>
      </p:sp>
      <p:sp>
        <p:nvSpPr>
          <p:cNvPr id="14" name="Rounded Rectangle 13"/>
          <p:cNvSpPr/>
          <p:nvPr/>
        </p:nvSpPr>
        <p:spPr>
          <a:xfrm>
            <a:off x="4379976" y="1591056"/>
            <a:ext cx="3429000" cy="2871216"/>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02  HUMAN DECISION</a:t>
            </a:r>
          </a:p>
        </p:txBody>
      </p:sp>
      <p:sp>
        <p:nvSpPr>
          <p:cNvPr id="16" name="TextBox 15"/>
          <p:cNvSpPr txBox="1"/>
          <p:nvPr/>
        </p:nvSpPr>
        <p:spPr>
          <a:xfrm>
            <a:off x="4562856"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466C"/>
                </a:solidFill>
                <a:latin typeface="Arial"/>
              </a:rPr>
              <a:t>Review the proposed fix</a:t>
            </a:r>
          </a:p>
        </p:txBody>
      </p:sp>
      <p:sp>
        <p:nvSpPr>
          <p:cNvPr id="17" name="TextBox 16"/>
          <p:cNvSpPr txBox="1"/>
          <p:nvPr/>
        </p:nvSpPr>
        <p:spPr>
          <a:xfrm>
            <a:off x="4562856"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Codex suggests; I decide.</a:t>
            </a:r>
          </a:p>
        </p:txBody>
      </p:sp>
      <p:sp>
        <p:nvSpPr>
          <p:cNvPr id="18" name="TextBox 17"/>
          <p:cNvSpPr txBox="1"/>
          <p:nvPr/>
        </p:nvSpPr>
        <p:spPr>
          <a:xfrm>
            <a:off x="4562856"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I check correctness, accounting behavior, and access control.</a:t>
            </a:r>
          </a:p>
        </p:txBody>
      </p:sp>
      <p:sp>
        <p:nvSpPr>
          <p:cNvPr id="19" name="Rounded Rectangle 18"/>
          <p:cNvSpPr/>
          <p:nvPr/>
        </p:nvSpPr>
        <p:spPr>
          <a:xfrm>
            <a:off x="8028431" y="1591056"/>
            <a:ext cx="3429000" cy="287121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1"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03  INDEPENDENT CHECK</a:t>
            </a:r>
          </a:p>
        </p:txBody>
      </p:sp>
      <p:sp>
        <p:nvSpPr>
          <p:cNvPr id="21" name="TextBox 20"/>
          <p:cNvSpPr txBox="1"/>
          <p:nvPr/>
        </p:nvSpPr>
        <p:spPr>
          <a:xfrm>
            <a:off x="8211311"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6F46"/>
                </a:solidFill>
                <a:latin typeface="Arial"/>
              </a:rPr>
              <a:t>Verify the outcome</a:t>
            </a:r>
          </a:p>
        </p:txBody>
      </p:sp>
      <p:sp>
        <p:nvSpPr>
          <p:cNvPr id="22" name="TextBox 21"/>
          <p:cNvSpPr txBox="1"/>
          <p:nvPr/>
        </p:nvSpPr>
        <p:spPr>
          <a:xfrm>
            <a:off x="8211311"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Run tests; rerun the same tool.</a:t>
            </a:r>
          </a:p>
        </p:txBody>
      </p:sp>
      <p:sp>
        <p:nvSpPr>
          <p:cNvPr id="23" name="TextBox 22"/>
          <p:cNvSpPr txBox="1"/>
          <p:nvPr/>
        </p:nvSpPr>
        <p:spPr>
          <a:xfrm>
            <a:off x="8211311"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Compare with the saved baseline and the study target.</a:t>
            </a:r>
          </a:p>
        </p:txBody>
      </p:sp>
      <p:sp>
        <p:nvSpPr>
          <p:cNvPr id="24" name="TextBox 23"/>
          <p:cNvSpPr txBox="1"/>
          <p:nvPr/>
        </p:nvSpPr>
        <p:spPr>
          <a:xfrm>
            <a:off x="4169663"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5" name="TextBox 24"/>
          <p:cNvSpPr txBox="1"/>
          <p:nvPr/>
        </p:nvSpPr>
        <p:spPr>
          <a:xfrm>
            <a:off x="7818120"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6" name="Rounded Rectangle 25"/>
          <p:cNvSpPr/>
          <p:nvPr/>
        </p:nvSpPr>
        <p:spPr>
          <a:xfrm>
            <a:off x="768096" y="4718304"/>
            <a:ext cx="10643616" cy="62179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846320"/>
            <a:ext cx="10131552"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Concrete result: request DTO adopted; SonarQube unique issues 17 → 0.</a:t>
            </a:r>
          </a:p>
        </p:txBody>
      </p:sp>
      <p:sp>
        <p:nvSpPr>
          <p:cNvPr id="28" name="Rounded Rectangle 27"/>
          <p:cNvSpPr/>
          <p:nvPr/>
        </p:nvSpPr>
        <p:spPr>
          <a:xfrm>
            <a:off x="768096" y="5495544"/>
            <a:ext cx="10643616" cy="612648"/>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5623560"/>
            <a:ext cx="10131552" cy="33832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An AI proposal is not proof: the JMeter branch did not meet its main speed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Current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No gate conditions recorded</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52928"/>
            <a:ext cx="3438144" cy="245973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3063240"/>
            <a:ext cx="3054096" cy="630936"/>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Bugs 0 · Vulnerabilities 0</a:t>
            </a:r>
          </a:p>
        </p:txBody>
      </p:sp>
      <p:sp>
        <p:nvSpPr>
          <p:cNvPr id="23" name="TextBox 22"/>
          <p:cNvSpPr txBox="1"/>
          <p:nvPr/>
        </p:nvSpPr>
        <p:spPr>
          <a:xfrm>
            <a:off x="914400" y="3794760"/>
            <a:ext cx="3054096" cy="1271016"/>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All 17 baseline issues were legacy Code Smells. Newer impact labels can still mention Reliability or Security.</a:t>
            </a:r>
          </a:p>
        </p:txBody>
      </p:sp>
      <p:sp>
        <p:nvSpPr>
          <p:cNvPr id="24" name="Rounded Rectangle 23"/>
          <p:cNvSpPr/>
          <p:nvPr/>
        </p:nvSpPr>
        <p:spPr>
          <a:xfrm>
            <a:off x="4370832" y="2852928"/>
            <a:ext cx="3438144" cy="245973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53712" y="3063240"/>
            <a:ext cx="3054096" cy="630936"/>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Duplicated-line density 0.0%</a:t>
            </a:r>
          </a:p>
        </p:txBody>
      </p:sp>
      <p:sp>
        <p:nvSpPr>
          <p:cNvPr id="26" name="TextBox 25"/>
          <p:cNvSpPr txBox="1"/>
          <p:nvPr/>
        </p:nvSpPr>
        <p:spPr>
          <a:xfrm>
            <a:off x="4553712" y="3794760"/>
            <a:ext cx="3054096" cy="1271016"/>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SonarQube reported 0.0% for the analyzed code; that is not proof of no repeated code.</a:t>
            </a:r>
          </a:p>
        </p:txBody>
      </p:sp>
      <p:sp>
        <p:nvSpPr>
          <p:cNvPr id="27" name="Rounded Rectangle 26"/>
          <p:cNvSpPr/>
          <p:nvPr/>
        </p:nvSpPr>
        <p:spPr>
          <a:xfrm>
            <a:off x="8010144" y="2852928"/>
            <a:ext cx="3438144" cy="245973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3023" y="3063240"/>
            <a:ext cx="3054096" cy="630936"/>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Coverage: 0.1 percentage point down</a:t>
            </a:r>
          </a:p>
        </p:txBody>
      </p:sp>
      <p:sp>
        <p:nvSpPr>
          <p:cNvPr id="29" name="TextBox 28"/>
          <p:cNvSpPr txBox="1"/>
          <p:nvPr/>
        </p:nvSpPr>
        <p:spPr>
          <a:xfrm>
            <a:off x="8193023" y="3794760"/>
            <a:ext cx="3054096" cy="1271016"/>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74.4% → 74.3%. This is a small measured decrease; saved summaries do not explain its exact cause.</a:t>
            </a:r>
          </a:p>
        </p:txBody>
      </p:sp>
      <p:sp>
        <p:nvSpPr>
          <p:cNvPr id="30" name="TextBox 29"/>
          <p:cNvSpPr txBox="1"/>
          <p:nvPr/>
        </p:nvSpPr>
        <p:spPr>
          <a:xfrm>
            <a:off x="786384" y="5632704"/>
            <a:ext cx="10616184" cy="411480"/>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Impact labels overlap (Reliability 2, Security 1, Maintainability 16); complexity rose 886 → 889.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changed; gate status did not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Gate OK/OK has no recorded conditions; the measured improvement is 17 issues →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alerts cleared;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PASSIVE SCAN · BASELINE</a:t>
            </a:r>
          </a:p>
        </p:txBody>
      </p:sp>
      <p:pic>
        <p:nvPicPr>
          <p:cNvPr id="10" name="Picture 9" descr="zap-fresh-passive-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PASSIVE SCAN · AFTER FIXES</a:t>
            </a:r>
          </a:p>
        </p:txBody>
      </p:sp>
      <p:pic>
        <p:nvPicPr>
          <p:cNvPr id="13" name="Picture 12" descr="zap-fresh-passive-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6F46"/>
                </a:solidFill>
                <a:latin typeface="Arial"/>
              </a:rPr>
              <a:t>Medium 3 → 0    |    Low 6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This scan observes ordinary responses and headers. The signed-in API scan follows on slide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Signed-in API scan: Low cleared; one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and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AUTHENTICATED API SCAN · BASELINE</a:t>
            </a:r>
          </a:p>
        </p:txBody>
      </p:sp>
      <p:pic>
        <p:nvPicPr>
          <p:cNvPr id="10" name="Picture 9" descr="zap-fresh-api-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AUTHENTICATED API SCAN · AFTER FIXES</a:t>
            </a:r>
          </a:p>
        </p:txBody>
      </p:sp>
      <p:pic>
        <p:nvPicPr>
          <p:cNvPr id="13" name="Picture 12" descr="zap-fresh-api-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BE7414"/>
                </a:solidFill>
                <a:latin typeface="Arial"/>
              </a:rPr>
              <a:t>Medium 1 → 1    |    Low 3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Remaining Medium: HTTP Only Site. Configured rules passed; HTTPS needs a separate retest.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19</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22</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25</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Improved separately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Tail p95 fell; other measures were mixed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26</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27</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28</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29</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30</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31</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32</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33</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31 shows the measured performance result.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34</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43</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