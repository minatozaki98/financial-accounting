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r>
              <a:t>SHOW IF ASKED: backup slide 27 (claim-to-evidence map)</a:t>
            </a:r>
          </a:p>
          <a:p>
            <a:r>
              <a:t>APPENDIX: Appendix M</a:t>
            </a:r>
          </a:p>
          <a:p/>
          <a:p>
            <a:r>
              <a:t>SCRIPT:</a:t>
            </a:r>
          </a:p>
          <a:p>
            <a:r>
              <a:t>Good morning. I evaluate whether ChatGPT, used through Codex 5.4, can help improve an existing financial accounting API. The model suggests changes; I review and apply selected ones; SonarQube, OWASP ZAP, and JMeter show what the measured results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results are mixed: code quality improved, security has one remaining alert, and core speed missed its target.</a:t>
            </a:r>
          </a:p>
          <a:p>
            <a:r>
              <a:t>SHOW IF ASKED: backup slides 29-31 (three measured outcomes)</a:t>
            </a:r>
          </a:p>
          <a:p>
            <a:r>
              <a:t>APPENDIX: Appendices E-G and M</a:t>
            </a:r>
          </a:p>
          <a:p/>
          <a:p>
            <a:r>
              <a:t>SCRIPT:</a:t>
            </a:r>
          </a:p>
          <a:p>
            <a:r>
              <a:t>Here is the result first. SonarQube issues fell from 17 to zero. ZAP's selected checks passed, but the API scan still had one Medium alert because the local site used HTTP. JMeter response times at 100 and 500 simulated users were above our study limits. Soak and spike improved, but they are separate tests.</a:t>
            </a:r>
          </a:p>
          <a:p/>
          <a:p>
            <a:r>
              <a:t>SOURCE: Current report Table 4.5 and Appendix M.</a:t>
            </a:r>
          </a:p>
          <a:p>
            <a:r>
              <a:t>CAUTION: Do not claim that the 50, 100, or 500 VU core p95 values improved; all three increased.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29-31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29-31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All comparisons use the same accounting API.</a:t>
            </a:r>
          </a:p>
          <a:p>
            <a:r>
              <a:t>SHOW IF ASKED: backup slides 34 and 42-44 (API behavior)</a:t>
            </a:r>
          </a:p>
          <a:p>
            <a:r>
              <a:t>APPENDIX: Appendices B-D, H, and J</a:t>
            </a:r>
          </a:p>
          <a:p/>
          <a:p>
            <a:r>
              <a:t>SCRIPT:</a:t>
            </a:r>
          </a:p>
          <a:p>
            <a:r>
              <a:t>This API has login, four user roles, accounts, journal entries, reports, and an audit log. It uses a local SQL Server database. I compared a baseline with changed versions of this same API. The web screenshots later show that the app can be used; those screenshots are not JMeter performance measurements.</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28 (branch details)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one tool at a time. The exact technical references are available in Appendix A if the committee wants them.</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28 and 32-33 (source and tests)</a:t>
            </a:r>
          </a:p>
          <a:p>
            <a:r>
              <a:t>APPENDIX: Appendices A, E-G, I, and K</a:t>
            </a:r>
          </a:p>
          <a:p/>
          <a:p>
            <a:r>
              <a:t>SCRIPT:</a:t>
            </a:r>
          </a:p>
          <a:p>
            <a:r>
              <a:t>First I saved the baseline result. Next I gave Codex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next slide 9 (seed and run records)</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Next slide 9;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The seed settings and the run record agree on the dataset size.</a:t>
            </a:r>
          </a:p>
          <a:p>
            <a:r>
              <a:t>SHOW IF ASKED: backup slide 27 (evidence map)</a:t>
            </a:r>
          </a:p>
          <a:p>
            <a:r>
              <a:t>APPENDIX: Appendix H</a:t>
            </a:r>
          </a:p>
          <a:p/>
          <a:p>
            <a:r>
              <a:t>SCRIPT:</a:t>
            </a:r>
          </a:p>
          <a:p>
            <a:r>
              <a:t>I used the repository seed script to request 120 accounts, 30,000 journal entries, and at least 5,000 posted entries. The run record on the right reports those same counts. I omit the local demo credential from this excerpt. Appendix H has the fuller seed explanation.</a:t>
            </a:r>
          </a:p>
          <a:p/>
          <a:p>
            <a:r>
              <a:t>SOURCE: Appendix H; current report Tables 3.10-3.11; branch-verification.json and scripts/phase4/seed-test-data.ps1.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29-31 (results and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A proposal passes through my review and independent measurement.</a:t>
            </a:r>
          </a:p>
          <a:p>
            <a:r>
              <a:t>SHOW IF ASKED: slide 15; backup slides 32-33 (before/after code)</a:t>
            </a:r>
          </a:p>
          <a:p>
            <a:r>
              <a:t>APPENDIX: Appendices E-G, I, and K</a:t>
            </a:r>
          </a:p>
          <a:p/>
          <a:p>
            <a:r>
              <a:t>SCRIPT:</a:t>
            </a:r>
          </a:p>
          <a:p>
            <a:r>
              <a:t>Read this diagram from left to right. On the left, I start with a real tool finding and the source code needed to understand it. For example, SonarQube flagged eight controller parameters. In the middle, Codex proposes a change, but it does not decide whether that change is correct. I reviewed the request DTO for accounting behavior and access control before using it. On the right, I run focused tests and rerun the same tool on the changed branch. I compare that result with the saved baseline and the study target. SonarQube's unique issue count went from 17 to zero; JMeter did not meet its main speed target. The arrows represent checks, not automatic acceptance of an AI suggestion.</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slide 15; backup slides 32-33 (actual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measurable SonarQube improvement is 17 distinct issues to zero.</a:t>
            </a:r>
          </a:p>
          <a:p>
            <a:r>
              <a:t>SHOW IF ASKED: next slides 14-15 (scan and code proof)</a:t>
            </a:r>
          </a:p>
          <a:p>
            <a:r>
              <a:t>APPENDIX: Appendices E and L</a:t>
            </a:r>
          </a:p>
          <a:p/>
          <a:p>
            <a:r>
              <a:t>SCRIPT:</a:t>
            </a:r>
          </a:p>
          <a:p>
            <a:r>
              <a:t>SonarQube reported 17 distinct issues before the code change and zero after it. Cyclomatic complexity is a rough count of the different decision paths through code, such as branches. Its total rose from 886 to 889, a small increase; that is not an improvement. Coverage also fell slightly from 74.4 to 74.3 percent. Both gate statuses say OK, but the saved gate records list no conditions, so I rely mainly on the issue count. The reliability, security, and maintainability labels overlap and are not extra issues to add to 17.</a:t>
            </a:r>
          </a:p>
          <a:p/>
          <a:p>
            <a:r>
              <a:t>SOURCE: Next slides 14-15; backup slides 29 and 35-36; SonarQube quality-gate.json and summary.json; current report Table 4.2, Appendices E and L.</a:t>
            </a:r>
          </a:p>
          <a:p>
            <a:r>
              <a:t>CAUTION: The full report lists OK/OK; explain that the captured gate response has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Both dashboards say OK, but the issue count is the useful comparison.</a:t>
            </a:r>
          </a:p>
          <a:p>
            <a:r>
              <a:t>SHOW IF ASKED: next slide 15; backup slides 29 and 35-36</a:t>
            </a:r>
          </a:p>
          <a:p>
            <a:r>
              <a:t>APPENDIX: Appendix L, Figures L.1-L.4</a:t>
            </a:r>
          </a:p>
          <a:p/>
          <a:p>
            <a:r>
              <a:t>SCRIPT:</a:t>
            </a:r>
          </a:p>
          <a:p>
            <a:r>
              <a:t>If asked why both Quality Gates passed, point out that the saved gate files show OK with an empty list of conditions on each branch. That status therefore did not distinguish the scans. The baseline had 17 distinct issues; the changed branch had zero. Coverage moved from 74.4 to 74.3 percent, so I show that small decrease too. These are screenshots of the tool, not a new chart I made.</a:t>
            </a:r>
          </a:p>
          <a:p/>
          <a:p>
            <a:r>
              <a:t>SOURCE: Next slide 15; backup slides 29 and 35-36; Appendix L Figures L.1-L.4; sonar/baseline and remediation quality-gate.json.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These two code excerpts show what changed, but they do not stand for all 17 issues.</a:t>
            </a:r>
          </a:p>
          <a:p>
            <a:r>
              <a:t>SHOW IF ASKED: backup slide 32 (larger S107 example)</a:t>
            </a:r>
          </a:p>
          <a:p>
            <a:r>
              <a:t>APPENDIX: Appendix E, Listings E.1-E.2</a:t>
            </a:r>
          </a:p>
          <a:p/>
          <a:p>
            <a:r>
              <a:t>SCRIPT:</a:t>
            </a:r>
          </a:p>
          <a:p>
            <a:r>
              <a:t>Here are two representative before-and-after changes I reviewed. The S107 controller action passed eight query values separately; after the change it accepts one query object. The S6966 startup call changed from app.Run to await app.RunAsync. Appendix E shows fuller excerpts. The SonarQube issue lists on the preceding slide and in backup show the measured 17-to-zero result.</a:t>
            </a:r>
          </a:p>
          <a:p/>
          <a:p>
            <a:r>
              <a:t>SOURCE: Appendix E Listings E.1-E.2; backup slide 32 for the larger S107 example; Appendix L Figures L.2 and L.4 for the issue lists.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 seconds</a:t>
            </a:r>
          </a:p>
          <a:p>
            <a:r>
              <a:t>KEY MESSAGE: The passive scan improved, but it is only one view of security.</a:t>
            </a:r>
          </a:p>
          <a:p>
            <a:r>
              <a:t>SHOW IF ASKED: next slide 17 (fresh ZAP proof)</a:t>
            </a:r>
          </a:p>
          <a:p>
            <a:r>
              <a:t>APPENDIX: Appendices F and M</a:t>
            </a:r>
          </a:p>
          <a:p/>
          <a:p>
            <a:r>
              <a:t>SCRIPT:</a:t>
            </a:r>
          </a:p>
          <a:p>
            <a:r>
              <a:t>I am showing the passive scan before and after the changes. This scan observes normal responses and their headers; it does not sign in. In the upper screenshot, ZAP reports three Medium and six Low alert types. In the lower screenshot, both counts are zero. These are screenshots of report cards rendered from my current raw ZAP scan data. They are not a claim that the protected API is free of alerts. I will show that separate scan on the next slide.</a:t>
            </a:r>
          </a:p>
          <a:p/>
          <a:p>
            <a:r>
              <a:t>SOURCE: Next slide 17; backup slide 30; current report §4.3; Appendix F; fresh passive raw ZAP JSON and summaries.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The signed-in scan improved, but it did not clear every raw alert.</a:t>
            </a:r>
          </a:p>
          <a:p>
            <a:r>
              <a:t>SHOW IF ASKED: backup slide 30 (raw ZAP counts)</a:t>
            </a:r>
          </a:p>
          <a:p>
            <a:r>
              <a:t>APPENDIX: Appendix F</a:t>
            </a:r>
          </a:p>
          <a:p/>
          <a:p>
            <a:r>
              <a:t>SCRIPT:</a:t>
            </a:r>
          </a:p>
          <a:p>
            <a:r>
              <a:t>I am showing the signed-in API scan before and after the changes. Unlike the passive scan, this test signs in and exercises protected routes. Low alert types fell from three to zero, while Medium stayed at one. The remaining alert is called HTTP Only Site: my local scan target was served over HTTP. The selected security rules passed, but that pass result is different from saying every raw alert disappeared. I would need a working HTTPS endpoint and another scan before calling this Medium alert cleared. These screenshots were rendered from the current raw ZAP scan data; the raw counts and the alert are in Appendix F.</a:t>
            </a:r>
          </a:p>
          <a:p/>
          <a:p>
            <a:r>
              <a:t>SOURCE: Backup slide 30; current report §4.3; Appendix F and Appendix M; fresh API raw ZAP JSON, summaries, alert 10106.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31 and 37-41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next slides 20-21 (native 100/500 VU dashboards)</a:t>
            </a:r>
          </a:p>
          <a:p>
            <a:r>
              <a:t>APPENDIX: Appendices G, K, L, and N</a:t>
            </a:r>
          </a:p>
          <a:p/>
          <a:p>
            <a:r>
              <a:t>SCRIPT:</a:t>
            </a:r>
          </a:p>
          <a:p>
            <a:r>
              <a:t>The performance branch cached account-ledger data and stopped saving a new report snapshot on that read path. These changes were intended to reduce repeated work. JMeter measured response times, throughput, and errors. At 100 and 500 simulated users, the p95 response times were higher after the change and exceeded our study limits. CPU, memory, database-query, and cache-hit measurements were outside this study's measured scope, so I can report the slowdown but cannot identify one cause for it.</a:t>
            </a:r>
          </a:p>
          <a:p/>
          <a:p>
            <a:r>
              <a:t>SOURCE: Next slides 20-21 for native JMeter proof; backup slide 33 and Appendix G for the code; Appendix N for the measurement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100 VU, the after-fix p95 exceeded the study limit.</a:t>
            </a:r>
          </a:p>
          <a:p>
            <a:r>
              <a:t>SHOW IF ASKED: backup slide 38 (larger 100 VU dashboard)</a:t>
            </a:r>
          </a:p>
          <a:p>
            <a:r>
              <a:t>APPENDIX: Appendix L, Figures L.10 and L.15</a:t>
            </a:r>
          </a:p>
          <a:p/>
          <a:p>
            <a:r>
              <a:t>SCRIPT:</a:t>
            </a:r>
          </a:p>
          <a:p>
            <a:r>
              <a:t>These are the native JMeter statistics views for 100 VU. Point to the Total row and the 95th-percentile column. It changed from 255.9 to 1146.9 milliseconds; the study limit was 500 milliseconds. The screenshots show the measured time, while the test rule supplies the not-met judgment. They do not establish why the code ran slower.</a:t>
            </a:r>
          </a:p>
          <a:p/>
          <a:p>
            <a:r>
              <a:t>SOURCE: Appendix L Figures L.10 and L.15;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40 seconds</a:t>
            </a:r>
          </a:p>
          <a:p>
            <a:r>
              <a:t>KEY MESSAGE: At 500 VU, the after-fix p95 exceeded the study limit.</a:t>
            </a:r>
          </a:p>
          <a:p>
            <a:r>
              <a:t>SHOW IF ASKED: backup slide 39 (larger 500 VU dashboard)</a:t>
            </a:r>
          </a:p>
          <a:p>
            <a:r>
              <a:t>APPENDIX: Appendix L, Figures L.11 and L.16</a:t>
            </a:r>
          </a:p>
          <a:p/>
          <a:p>
            <a:r>
              <a:t>SCRIPT:</a:t>
            </a:r>
          </a:p>
          <a:p>
            <a:r>
              <a:t>These are the native JMeter statistics views for 500 VU. Point to the Total row and the 95th-percentile column. It changed from 106 to 1547.95 milliseconds; the study limit was 1,200 milliseconds. The screenshots show the measured time, while the test rule supplies the not-met judgment. They do not establish why the code ran slower.</a:t>
            </a:r>
          </a:p>
          <a:p/>
          <a:p>
            <a:r>
              <a:t>SOURCE: Appendix L Figures L.11 and L.16; fresh JMeter summary.json;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Exactly which measurements improved differs by test shape.</a:t>
            </a:r>
          </a:p>
          <a:p>
            <a:r>
              <a:t>SHOW IF ASKED: backup slides 31 and 40-41 (soak and spike)</a:t>
            </a:r>
          </a:p>
          <a:p>
            <a:r>
              <a:t>APPENDIX: Appendix L, Figures L.12-L.13 and L.17-L.18</a:t>
            </a:r>
          </a:p>
          <a:p/>
          <a:p>
            <a:r>
              <a:t>SCRIPT:</a:t>
            </a:r>
          </a:p>
          <a:p>
            <a:r>
              <a:t>Soak means repeated traffic over time; I look for performance getting worse as requests continue. Spike means many users arrive quickly; I look at the burst and whether response times recover afterward. In these runs, total p95 fell from 443.95 to 171 milliseconds for soak and from about 33.4 to 4.7 seconds for spike. These whole-run numbers are not direct proof of no soak drift or spike recovery. The core 50, 100, and 500 VU p95 results worsened, so I cannot claim overall performance success.</a:t>
            </a:r>
          </a:p>
          <a:p/>
          <a:p>
            <a:r>
              <a:t>SOURCE: Fresh JMeter baseline/remediation summary.json; current report §4.4; Appendix L Figures L.12-L.13 and L.17-L.18.</a:t>
            </a:r>
          </a:p>
          <a:p>
            <a:r>
              <a:t>CAUTION: Do not claim a fixed three-hour soak or exactly 100 total threads: the runner configures 100 core plus 30 report threads and has no fixed-duration scheduler.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33 and 40-41 (mixed endpoint behavior)</a:t>
            </a:r>
          </a:p>
          <a:p>
            <a:r>
              <a:t>APPENDIX: Appendix G; Table 4.4</a:t>
            </a:r>
          </a:p>
          <a:p/>
          <a:p>
            <a:r>
              <a:t>SCRIPT:</a:t>
            </a:r>
          </a:p>
          <a:p>
            <a:r>
              <a:t>The GET /reports/account-ledger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42-44 (browser views)</a:t>
            </a:r>
          </a:p>
          <a:p>
            <a:r>
              <a:t>APPENDIX: Appendix J; Figures 4.2-4.7</a:t>
            </a:r>
          </a:p>
          <a:p/>
          <a:p>
            <a:r>
              <a:t>SCRIPT:</a:t>
            </a:r>
          </a:p>
          <a:p>
            <a:r>
              <a:t>The pictures show the admin dashboard and a journal entry whose debit and credit lines balance. They help demonstrate that I can use the API through the web app. They do not show how fast the API is. For performance evidence, use backup slide 31 or the JMeter dashboards on slides 37-41.</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29-31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even though soak and spike improved. This is one API on one computer with one fresh run per branch. We did not save CPU and memory readings for those runs, so I would repeat the tests before claiming the result applies elsewhere.</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27 (where every claim is checked)</a:t>
            </a:r>
          </a:p>
          <a:p>
            <a:r>
              <a:t>APPENDIX: Appendices A, M, and N</a:t>
            </a:r>
          </a:p>
          <a:p/>
          <a:p>
            <a:r>
              <a:t>SCRIPT:</a:t>
            </a:r>
          </a:p>
          <a:p>
            <a:r>
              <a:t>Codex helped me propose code changes. I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Configured gate PASS does not mean every raw API Medium alert cleared.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my performance attempt: cache ledger data and avoid a report snapshot write on this read path. This proves the change was made, not that it made the API faster. For speed numbers, open backup slide 31 and dashboards 38-39.</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This long steady soak test had a lower total p95 after the change: 443.95 to 171 milliseconds. That is an improvement for this test only. It does not change the unmet 100- and 500-user core targets on slide 31.</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This sudden spike test had a lower total p95 after the change: 33401.8 to 4730.85 milliseconds. That is an improvement for this test only. It does not change the unmet 100- and 500-user core targets on slide 31.</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I can use the application and see its accounting screens. They do not measure speed. For JMeter response times, open backup slide 31 or dashboards 37-41.</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I can use the application and see its accounting screens. They do not measure speed. For JMeter response times, open backup slide 31 or dashboards 37-41.</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I can use the application and see its accounting screens. They do not measure speed. For JMeter response times, open backup slide 31 or dashboards 37-41.</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Target not met</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predefined core performance target, despite lower soak and spike p95 values.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study tested one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Code before the changes</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Compared with the same baseline</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each changed branch with the same starting code—one tool at a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I review, run tests, and rerun the same tool</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The next slide shows the seed settings and recorded counts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the 120-account count comes from</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H; Tables 3.10-3.11; branch-verification.json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sp>
        <p:nvSpPr>
          <p:cNvPr id="9" name="Rounded Rectangle 8"/>
          <p:cNvSpPr/>
          <p:nvPr/>
        </p:nvSpPr>
        <p:spPr>
          <a:xfrm>
            <a:off x="731520"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444752"/>
            <a:ext cx="5166360" cy="4206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Seed script settings</a:t>
            </a:r>
          </a:p>
        </p:txBody>
      </p:sp>
      <p:sp>
        <p:nvSpPr>
          <p:cNvPr id="12" name="TextBox 11"/>
          <p:cNvSpPr txBox="1"/>
          <p:nvPr/>
        </p:nvSpPr>
        <p:spPr>
          <a:xfrm>
            <a:off x="987552" y="2212848"/>
            <a:ext cx="4663440" cy="384048"/>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Courier New"/>
              </a:rPr>
              <a:t>scripts/phase4/seed-test-data.ps1</a:t>
            </a:r>
          </a:p>
        </p:txBody>
      </p:sp>
      <p:sp>
        <p:nvSpPr>
          <p:cNvPr id="13" name="TextBox 12"/>
          <p:cNvSpPr txBox="1"/>
          <p:nvPr/>
        </p:nvSpPr>
        <p:spPr>
          <a:xfrm>
            <a:off x="987552" y="2788920"/>
            <a:ext cx="4645152" cy="1947672"/>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AccountCount = 120
JournalEntryCount = 30000
MinimumPostedEntries = 5000</a:t>
            </a:r>
          </a:p>
        </p:txBody>
      </p:sp>
      <p:sp>
        <p:nvSpPr>
          <p:cNvPr id="14" name="TextBox 13"/>
          <p:cNvSpPr txBox="1"/>
          <p:nvPr/>
        </p:nvSpPr>
        <p:spPr>
          <a:xfrm>
            <a:off x="6510528" y="1746504"/>
            <a:ext cx="4663440" cy="36576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Recorded in the run</a:t>
            </a:r>
          </a:p>
        </p:txBody>
      </p:sp>
      <p:sp>
        <p:nvSpPr>
          <p:cNvPr id="15" name="TextBox 14"/>
          <p:cNvSpPr txBox="1"/>
          <p:nvPr/>
        </p:nvSpPr>
        <p:spPr>
          <a:xfrm>
            <a:off x="6510528" y="2212848"/>
            <a:ext cx="4663440" cy="640080"/>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Courier New"/>
              </a:rPr>
              <a:t>docs/appendix/verification-runs/research/branch-verification.json</a:t>
            </a:r>
          </a:p>
        </p:txBody>
      </p:sp>
      <p:sp>
        <p:nvSpPr>
          <p:cNvPr id="16" name="TextBox 15"/>
          <p:cNvSpPr txBox="1"/>
          <p:nvPr/>
        </p:nvSpPr>
        <p:spPr>
          <a:xfrm>
            <a:off x="6510528" y="2880360"/>
            <a:ext cx="4645152" cy="1856231"/>
          </a:xfrm>
          <a:prstGeom prst="rect">
            <a:avLst/>
          </a:prstGeom>
          <a:noFill/>
        </p:spPr>
        <p:txBody>
          <a:bodyPr wrap="square" lIns="18288" rIns="18288" tIns="18288" bIns="18288" anchor="t">
            <a:spAutoFit/>
          </a:bodyPr>
          <a:lstStyle/>
          <a:p>
            <a:pPr algn="l">
              <a:spcBef>
                <a:spcPts val="0"/>
              </a:spcBef>
              <a:spcAft>
                <a:spcPts val="0"/>
              </a:spcAft>
            </a:pPr>
            <a:r>
              <a:rPr sz="1900" b="0">
                <a:solidFill>
                  <a:srgbClr val="252B33"/>
                </a:solidFill>
                <a:latin typeface="Courier New"/>
              </a:rPr>
              <a:t>accounts: 120
journalEntries: 30,000
postedEntries: 5,000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sp>
        <p:nvSpPr>
          <p:cNvPr id="9" name="Rounded Rectangle 8"/>
          <p:cNvSpPr/>
          <p:nvPr/>
        </p:nvSpPr>
        <p:spPr>
          <a:xfrm>
            <a:off x="731520" y="1591056"/>
            <a:ext cx="3429000" cy="287121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0F676D"/>
                </a:solidFill>
                <a:latin typeface="Arial"/>
              </a:rPr>
              <a:t>01  INPUT</a:t>
            </a:r>
          </a:p>
        </p:txBody>
      </p:sp>
      <p:sp>
        <p:nvSpPr>
          <p:cNvPr id="11" name="TextBox 10"/>
          <p:cNvSpPr txBox="1"/>
          <p:nvPr/>
        </p:nvSpPr>
        <p:spPr>
          <a:xfrm>
            <a:off x="914400"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Start with evidence</a:t>
            </a:r>
          </a:p>
        </p:txBody>
      </p:sp>
      <p:sp>
        <p:nvSpPr>
          <p:cNvPr id="12" name="TextBox 11"/>
          <p:cNvSpPr txBox="1"/>
          <p:nvPr/>
        </p:nvSpPr>
        <p:spPr>
          <a:xfrm>
            <a:off x="914400"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Tool finding + relevant code</a:t>
            </a:r>
          </a:p>
        </p:txBody>
      </p:sp>
      <p:sp>
        <p:nvSpPr>
          <p:cNvPr id="13" name="TextBox 12"/>
          <p:cNvSpPr txBox="1"/>
          <p:nvPr/>
        </p:nvSpPr>
        <p:spPr>
          <a:xfrm>
            <a:off x="914400"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Example: SonarQube flags eight controller parameters.</a:t>
            </a:r>
          </a:p>
        </p:txBody>
      </p:sp>
      <p:sp>
        <p:nvSpPr>
          <p:cNvPr id="14" name="Rounded Rectangle 13"/>
          <p:cNvSpPr/>
          <p:nvPr/>
        </p:nvSpPr>
        <p:spPr>
          <a:xfrm>
            <a:off x="4379976" y="1591056"/>
            <a:ext cx="3429000" cy="2871216"/>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466C"/>
                </a:solidFill>
                <a:latin typeface="Arial"/>
              </a:rPr>
              <a:t>02  HUMAN DECISION</a:t>
            </a:r>
          </a:p>
        </p:txBody>
      </p:sp>
      <p:sp>
        <p:nvSpPr>
          <p:cNvPr id="16" name="TextBox 15"/>
          <p:cNvSpPr txBox="1"/>
          <p:nvPr/>
        </p:nvSpPr>
        <p:spPr>
          <a:xfrm>
            <a:off x="4562856"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466C"/>
                </a:solidFill>
                <a:latin typeface="Arial"/>
              </a:rPr>
              <a:t>Review the proposed fix</a:t>
            </a:r>
          </a:p>
        </p:txBody>
      </p:sp>
      <p:sp>
        <p:nvSpPr>
          <p:cNvPr id="17" name="TextBox 16"/>
          <p:cNvSpPr txBox="1"/>
          <p:nvPr/>
        </p:nvSpPr>
        <p:spPr>
          <a:xfrm>
            <a:off x="4562856"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Codex suggests; I decide.</a:t>
            </a:r>
          </a:p>
        </p:txBody>
      </p:sp>
      <p:sp>
        <p:nvSpPr>
          <p:cNvPr id="18" name="TextBox 17"/>
          <p:cNvSpPr txBox="1"/>
          <p:nvPr/>
        </p:nvSpPr>
        <p:spPr>
          <a:xfrm>
            <a:off x="4562856"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I check correctness, accounting behavior, and access control.</a:t>
            </a:r>
          </a:p>
        </p:txBody>
      </p:sp>
      <p:sp>
        <p:nvSpPr>
          <p:cNvPr id="19" name="Rounded Rectangle 18"/>
          <p:cNvSpPr/>
          <p:nvPr/>
        </p:nvSpPr>
        <p:spPr>
          <a:xfrm>
            <a:off x="8028431" y="1591056"/>
            <a:ext cx="3429000" cy="287121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1" y="1810512"/>
            <a:ext cx="3044952" cy="256032"/>
          </a:xfrm>
          <a:prstGeom prst="rect">
            <a:avLst/>
          </a:prstGeom>
          <a:noFill/>
        </p:spPr>
        <p:txBody>
          <a:bodyPr wrap="square" lIns="18288" rIns="18288" tIns="18288" bIns="18288" anchor="ctr">
            <a:spAutoFit/>
          </a:bodyPr>
          <a:lstStyle/>
          <a:p>
            <a:pPr algn="l">
              <a:spcBef>
                <a:spcPts val="0"/>
              </a:spcBef>
              <a:spcAft>
                <a:spcPts val="0"/>
              </a:spcAft>
            </a:pPr>
            <a:r>
              <a:rPr sz="1400" b="1">
                <a:solidFill>
                  <a:srgbClr val="246F46"/>
                </a:solidFill>
                <a:latin typeface="Arial"/>
              </a:rPr>
              <a:t>03  INDEPENDENT CHECK</a:t>
            </a:r>
          </a:p>
        </p:txBody>
      </p:sp>
      <p:sp>
        <p:nvSpPr>
          <p:cNvPr id="21" name="TextBox 20"/>
          <p:cNvSpPr txBox="1"/>
          <p:nvPr/>
        </p:nvSpPr>
        <p:spPr>
          <a:xfrm>
            <a:off x="8211311" y="2203704"/>
            <a:ext cx="3044952" cy="694944"/>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246F46"/>
                </a:solidFill>
                <a:latin typeface="Arial"/>
              </a:rPr>
              <a:t>Verify the outcome</a:t>
            </a:r>
          </a:p>
        </p:txBody>
      </p:sp>
      <p:sp>
        <p:nvSpPr>
          <p:cNvPr id="22" name="TextBox 21"/>
          <p:cNvSpPr txBox="1"/>
          <p:nvPr/>
        </p:nvSpPr>
        <p:spPr>
          <a:xfrm>
            <a:off x="8211311" y="2935224"/>
            <a:ext cx="3044952" cy="457200"/>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52B33"/>
                </a:solidFill>
                <a:latin typeface="Arial"/>
              </a:rPr>
              <a:t>Run tests; rerun the same tool.</a:t>
            </a:r>
          </a:p>
        </p:txBody>
      </p:sp>
      <p:sp>
        <p:nvSpPr>
          <p:cNvPr id="23" name="TextBox 22"/>
          <p:cNvSpPr txBox="1"/>
          <p:nvPr/>
        </p:nvSpPr>
        <p:spPr>
          <a:xfrm>
            <a:off x="8211311" y="3529584"/>
            <a:ext cx="3044952" cy="65836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252B33"/>
                </a:solidFill>
                <a:latin typeface="Arial"/>
              </a:rPr>
              <a:t>Compare with the saved baseline and the study target.</a:t>
            </a:r>
          </a:p>
        </p:txBody>
      </p:sp>
      <p:sp>
        <p:nvSpPr>
          <p:cNvPr id="24" name="TextBox 23"/>
          <p:cNvSpPr txBox="1"/>
          <p:nvPr/>
        </p:nvSpPr>
        <p:spPr>
          <a:xfrm>
            <a:off x="4169663"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5" name="TextBox 24"/>
          <p:cNvSpPr txBox="1"/>
          <p:nvPr/>
        </p:nvSpPr>
        <p:spPr>
          <a:xfrm>
            <a:off x="7818120" y="2788920"/>
            <a:ext cx="201168" cy="384048"/>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5B6874"/>
                </a:solidFill>
                <a:latin typeface="Arial"/>
              </a:rPr>
              <a:t>→</a:t>
            </a:r>
          </a:p>
        </p:txBody>
      </p:sp>
      <p:sp>
        <p:nvSpPr>
          <p:cNvPr id="26" name="Rounded Rectangle 25"/>
          <p:cNvSpPr/>
          <p:nvPr/>
        </p:nvSpPr>
        <p:spPr>
          <a:xfrm>
            <a:off x="768096" y="4718304"/>
            <a:ext cx="10643616" cy="62179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846320"/>
            <a:ext cx="10131552"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Concrete result: request DTO adopted; SonarQube unique issues 17 → 0.</a:t>
            </a:r>
          </a:p>
        </p:txBody>
      </p:sp>
      <p:sp>
        <p:nvSpPr>
          <p:cNvPr id="28" name="Rounded Rectangle 27"/>
          <p:cNvSpPr/>
          <p:nvPr/>
        </p:nvSpPr>
        <p:spPr>
          <a:xfrm>
            <a:off x="768096" y="5495544"/>
            <a:ext cx="10643616" cy="612648"/>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4128" y="5623560"/>
            <a:ext cx="10131552" cy="338328"/>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An AI proposal is not proof: the JMeter branch did not meet its main speed target.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branches changed different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12</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No gate conditions recorded</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57600"/>
            <a:ext cx="9948672" cy="758952"/>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The 17 findings had overlapping impacts: Reliability 2, Security 1, Maintainability 16. Complexity rose 886 → 889; duplication stayed 0.0%.</a:t>
            </a:r>
          </a:p>
        </p:txBody>
      </p:sp>
      <p:sp>
        <p:nvSpPr>
          <p:cNvPr id="24" name="TextBox 23"/>
          <p:cNvSpPr txBox="1"/>
          <p:nvPr/>
        </p:nvSpPr>
        <p:spPr>
          <a:xfrm>
            <a:off x="996696" y="4480560"/>
            <a:ext cx="9948672" cy="402336"/>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Cyclomatic complexity counts possible decision paths through code; a higher count can need more tests.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changed; gate status did not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14</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Gate OK/OK has no recorded conditions; the measured improvement is 17 issues → 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Two SonarQube fixes in source code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E, Listings E.1-E.2</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15</a:t>
            </a:r>
          </a:p>
        </p:txBody>
      </p:sp>
      <p:sp>
        <p:nvSpPr>
          <p:cNvPr id="9" name="Rounded Rectangle 8"/>
          <p:cNvSpPr/>
          <p:nvPr/>
        </p:nvSpPr>
        <p:spPr>
          <a:xfrm>
            <a:off x="731520"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08176"/>
            <a:ext cx="5212080" cy="44714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3373D"/>
                </a:solidFill>
                <a:latin typeface="Arial"/>
              </a:rPr>
              <a:t>BEFORE · shared baseline</a:t>
            </a:r>
          </a:p>
        </p:txBody>
      </p:sp>
      <p:sp>
        <p:nvSpPr>
          <p:cNvPr id="12" name="TextBox 11"/>
          <p:cNvSpPr txBox="1"/>
          <p:nvPr/>
        </p:nvSpPr>
        <p:spPr>
          <a:xfrm>
            <a:off x="6464808" y="1664208"/>
            <a:ext cx="4700016" cy="34747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6F46"/>
                </a:solidFill>
                <a:latin typeface="Arial"/>
              </a:rPr>
              <a:t>AFTER · SonarQube branch</a:t>
            </a:r>
          </a:p>
        </p:txBody>
      </p:sp>
      <p:sp>
        <p:nvSpPr>
          <p:cNvPr id="13" name="TextBox 12"/>
          <p:cNvSpPr txBox="1"/>
          <p:nvPr/>
        </p:nvSpPr>
        <p:spPr>
          <a:xfrm>
            <a:off x="960120"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eight query inputs</a:t>
            </a:r>
          </a:p>
        </p:txBody>
      </p:sp>
      <p:sp>
        <p:nvSpPr>
          <p:cNvPr id="14" name="TextBox 13"/>
          <p:cNvSpPr txBox="1"/>
          <p:nvPr/>
        </p:nvSpPr>
        <p:spPr>
          <a:xfrm>
            <a:off x="6464808" y="2176272"/>
            <a:ext cx="4700016" cy="31089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S107: one query DTO</a:t>
            </a:r>
          </a:p>
        </p:txBody>
      </p:sp>
      <p:sp>
        <p:nvSpPr>
          <p:cNvPr id="15" name="TextBox 14"/>
          <p:cNvSpPr txBox="1"/>
          <p:nvPr/>
        </p:nvSpPr>
        <p:spPr>
          <a:xfrm>
            <a:off x="960120"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from, to, status, accountId,
  search, page, pageSize, sort
)</a:t>
            </a:r>
          </a:p>
        </p:txBody>
      </p:sp>
      <p:sp>
        <p:nvSpPr>
          <p:cNvPr id="16" name="TextBox 15"/>
          <p:cNvSpPr txBox="1"/>
          <p:nvPr/>
        </p:nvSpPr>
        <p:spPr>
          <a:xfrm>
            <a:off x="6464808" y="2615184"/>
            <a:ext cx="4690872" cy="1572768"/>
          </a:xfrm>
          <a:prstGeom prst="rect">
            <a:avLst/>
          </a:prstGeom>
          <a:noFill/>
        </p:spPr>
        <p:txBody>
          <a:bodyPr wrap="square" lIns="18288" rIns="18288" tIns="18288" bIns="18288" anchor="t">
            <a:spAutoFit/>
          </a:bodyPr>
          <a:lstStyle/>
          <a:p>
            <a:pPr algn="l">
              <a:spcBef>
                <a:spcPts val="0"/>
              </a:spcBef>
              <a:spcAft>
                <a:spcPts val="0"/>
              </a:spcAft>
            </a:pPr>
            <a:r>
              <a:rPr sz="1700" b="0">
                <a:solidFill>
                  <a:srgbClr val="252B33"/>
                </a:solidFill>
                <a:latin typeface="Courier New"/>
              </a:rPr>
              <a:t>GetPaged(
  JournalEntryQueryDto query
)</a:t>
            </a:r>
          </a:p>
        </p:txBody>
      </p:sp>
      <p:sp>
        <p:nvSpPr>
          <p:cNvPr id="17" name="TextBox 16"/>
          <p:cNvSpPr txBox="1"/>
          <p:nvPr/>
        </p:nvSpPr>
        <p:spPr>
          <a:xfrm>
            <a:off x="960120"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host startup</a:t>
            </a:r>
          </a:p>
        </p:txBody>
      </p:sp>
      <p:sp>
        <p:nvSpPr>
          <p:cNvPr id="18" name="TextBox 17"/>
          <p:cNvSpPr txBox="1"/>
          <p:nvPr/>
        </p:nvSpPr>
        <p:spPr>
          <a:xfrm>
            <a:off x="6464808" y="4443984"/>
            <a:ext cx="4700016" cy="28346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5B6874"/>
                </a:solidFill>
                <a:latin typeface="Arial"/>
              </a:rPr>
              <a:t>S6966: async host startup</a:t>
            </a:r>
          </a:p>
        </p:txBody>
      </p:sp>
      <p:sp>
        <p:nvSpPr>
          <p:cNvPr id="19" name="TextBox 18"/>
          <p:cNvSpPr txBox="1"/>
          <p:nvPr/>
        </p:nvSpPr>
        <p:spPr>
          <a:xfrm>
            <a:off x="960120"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app.Run();</a:t>
            </a:r>
          </a:p>
        </p:txBody>
      </p:sp>
      <p:sp>
        <p:nvSpPr>
          <p:cNvPr id="20" name="TextBox 19"/>
          <p:cNvSpPr txBox="1"/>
          <p:nvPr/>
        </p:nvSpPr>
        <p:spPr>
          <a:xfrm>
            <a:off x="6464808" y="4882896"/>
            <a:ext cx="4690872" cy="502920"/>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Courier New"/>
              </a:rPr>
              <a:t>await app.RunAsync();</a:t>
            </a:r>
          </a:p>
        </p:txBody>
      </p:sp>
      <p:sp>
        <p:nvSpPr>
          <p:cNvPr id="21" name="TextBox 20"/>
          <p:cNvSpPr txBox="1"/>
          <p:nvPr/>
        </p:nvSpPr>
        <p:spPr>
          <a:xfrm>
            <a:off x="768096" y="5925312"/>
            <a:ext cx="10698480" cy="347472"/>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246F46"/>
                </a:solidFill>
                <a:latin typeface="Arial"/>
              </a:rPr>
              <a:t>These are representative changes, not all 17 issue fixes; the full excerpts are in Appendix 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alerts cleared;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16</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PASSIVE SCAN · BASELINE</a:t>
            </a:r>
          </a:p>
        </p:txBody>
      </p:sp>
      <p:pic>
        <p:nvPicPr>
          <p:cNvPr id="10" name="Picture 9" descr="zap-fresh-passive-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PASSIVE SCAN · AFTER FIXES</a:t>
            </a:r>
          </a:p>
        </p:txBody>
      </p:sp>
      <p:pic>
        <p:nvPicPr>
          <p:cNvPr id="13" name="Picture 12" descr="zap-fresh-passive-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6F46"/>
                </a:solidFill>
                <a:latin typeface="Arial"/>
              </a:rPr>
              <a:t>Medium 3 → 0    |    Low 6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This scan observes ordinary responses and headers. The signed-in API scan follows on slide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Signed-in API scan: Low cleared; one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ZAP raw scan JSON and alert 10106;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sp>
        <p:nvSpPr>
          <p:cNvPr id="9" name="TextBox 8"/>
          <p:cNvSpPr txBox="1"/>
          <p:nvPr/>
        </p:nvSpPr>
        <p:spPr>
          <a:xfrm>
            <a:off x="758952" y="1298448"/>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AUTHENTICATED API SCAN · BASELINE</a:t>
            </a:r>
          </a:p>
        </p:txBody>
      </p:sp>
      <p:pic>
        <p:nvPicPr>
          <p:cNvPr id="10" name="Picture 9" descr="zap-fresh-api-before-summary.png"/>
          <p:cNvPicPr>
            <a:picLocks noChangeAspect="1"/>
          </p:cNvPicPr>
          <p:nvPr/>
        </p:nvPicPr>
        <p:blipFill>
          <a:blip r:embed="rId2"/>
          <a:stretch>
            <a:fillRect/>
          </a:stretch>
        </p:blipFill>
        <p:spPr>
          <a:xfrm>
            <a:off x="784374" y="1636776"/>
            <a:ext cx="10611059" cy="804672"/>
          </a:xfrm>
          <a:prstGeom prst="rect">
            <a:avLst/>
          </a:prstGeom>
        </p:spPr>
      </p:pic>
      <p:sp>
        <p:nvSpPr>
          <p:cNvPr id="11" name="Rectangle 10"/>
          <p:cNvSpPr/>
          <p:nvPr/>
        </p:nvSpPr>
        <p:spPr>
          <a:xfrm>
            <a:off x="784374" y="1636776"/>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706624"/>
            <a:ext cx="10698480" cy="26517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AUTHENTICATED API SCAN · AFTER FIXES</a:t>
            </a:r>
          </a:p>
        </p:txBody>
      </p:sp>
      <p:pic>
        <p:nvPicPr>
          <p:cNvPr id="13" name="Picture 12" descr="zap-fresh-api-after-summary.png"/>
          <p:cNvPicPr>
            <a:picLocks noChangeAspect="1"/>
          </p:cNvPicPr>
          <p:nvPr/>
        </p:nvPicPr>
        <p:blipFill>
          <a:blip r:embed="rId3"/>
          <a:stretch>
            <a:fillRect/>
          </a:stretch>
        </p:blipFill>
        <p:spPr>
          <a:xfrm>
            <a:off x="784374" y="3035808"/>
            <a:ext cx="10611059" cy="804672"/>
          </a:xfrm>
          <a:prstGeom prst="rect">
            <a:avLst/>
          </a:prstGeom>
        </p:spPr>
      </p:pic>
      <p:sp>
        <p:nvSpPr>
          <p:cNvPr id="14" name="Rectangle 13"/>
          <p:cNvSpPr/>
          <p:nvPr/>
        </p:nvSpPr>
        <p:spPr>
          <a:xfrm>
            <a:off x="784374" y="3035808"/>
            <a:ext cx="10611059" cy="804672"/>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3995928"/>
            <a:ext cx="10643616" cy="329184"/>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Severity-card screenshots rendered from the current ZAP scan JSON.</a:t>
            </a:r>
          </a:p>
        </p:txBody>
      </p:sp>
      <p:sp>
        <p:nvSpPr>
          <p:cNvPr id="16" name="Rounded Rectangle 15"/>
          <p:cNvSpPr/>
          <p:nvPr/>
        </p:nvSpPr>
        <p:spPr>
          <a:xfrm>
            <a:off x="768096" y="4507992"/>
            <a:ext cx="10643616" cy="1408176"/>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4700016"/>
            <a:ext cx="10168128" cy="438912"/>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BE7414"/>
                </a:solidFill>
                <a:latin typeface="Arial"/>
              </a:rPr>
              <a:t>Medium 1 → 1    |    Low 3 → 0</a:t>
            </a:r>
          </a:p>
        </p:txBody>
      </p:sp>
      <p:sp>
        <p:nvSpPr>
          <p:cNvPr id="18" name="TextBox 17"/>
          <p:cNvSpPr txBox="1"/>
          <p:nvPr/>
        </p:nvSpPr>
        <p:spPr>
          <a:xfrm>
            <a:off x="1005840" y="5340096"/>
            <a:ext cx="10131552" cy="36576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252B33"/>
                </a:solidFill>
                <a:latin typeface="Arial"/>
              </a:rPr>
              <a:t>Remaining Medium: HTTP Only Site. Configured rules passed; HTTPS needs a separate retest.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19</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20</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1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255.9 → 1146.9 ms; study limit 500 ms — target not met.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native dashboard proof</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21</a:t>
            </a:r>
          </a:p>
        </p:txBody>
      </p:sp>
      <p:sp>
        <p:nvSpPr>
          <p:cNvPr id="9" name="TextBox 8"/>
          <p:cNvSpPr txBox="1"/>
          <p:nvPr/>
        </p:nvSpPr>
        <p:spPr>
          <a:xfrm>
            <a:off x="80467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71016"/>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AFTER FIXES</a:t>
            </a:r>
          </a:p>
        </p:txBody>
      </p:sp>
      <p:pic>
        <p:nvPicPr>
          <p:cNvPr id="11" name="Picture 10" descr="jmeter-baseline-p500-dashboard.png"/>
          <p:cNvPicPr>
            <a:picLocks noChangeAspect="1"/>
          </p:cNvPicPr>
          <p:nvPr/>
        </p:nvPicPr>
        <p:blipFill>
          <a:blip r:embed="rId2"/>
          <a:stretch>
            <a:fillRect/>
          </a:stretch>
        </p:blipFill>
        <p:spPr>
          <a:xfrm>
            <a:off x="786384" y="2160734"/>
            <a:ext cx="5157216" cy="2627970"/>
          </a:xfrm>
          <a:prstGeom prst="rect">
            <a:avLst/>
          </a:prstGeom>
        </p:spPr>
      </p:pic>
      <p:sp>
        <p:nvSpPr>
          <p:cNvPr id="12" name="Rectangle 11"/>
          <p:cNvSpPr/>
          <p:nvPr/>
        </p:nvSpPr>
        <p:spPr>
          <a:xfrm>
            <a:off x="786384" y="216073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13722"/>
            <a:ext cx="5157216" cy="2721994"/>
          </a:xfrm>
          <a:prstGeom prst="rect">
            <a:avLst/>
          </a:prstGeom>
        </p:spPr>
      </p:pic>
      <p:sp>
        <p:nvSpPr>
          <p:cNvPr id="14" name="Rectangle 13"/>
          <p:cNvSpPr/>
          <p:nvPr/>
        </p:nvSpPr>
        <p:spPr>
          <a:xfrm>
            <a:off x="6236208" y="211372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68112"/>
            <a:ext cx="10643616" cy="640080"/>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32120"/>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TOTAL row, 95th pct: 106 → 1547.95 ms; study limit 1,200 ms — target not met.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Soak/spike p95 fell; core p95 rose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22</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TextBox 12"/>
          <p:cNvSpPr txBox="1"/>
          <p:nvPr/>
        </p:nvSpPr>
        <p:spPr>
          <a:xfrm>
            <a:off x="1005840"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lower; average time and throughput worse</a:t>
            </a:r>
          </a:p>
        </p:txBody>
      </p:sp>
      <p:sp>
        <p:nvSpPr>
          <p:cNvPr id="14" name="Rounded Rectangle 13"/>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6" name="TextBox 15"/>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7" name="TextBox 16"/>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8" name="TextBox 17"/>
          <p:cNvSpPr txBox="1"/>
          <p:nvPr/>
        </p:nvSpPr>
        <p:spPr>
          <a:xfrm>
            <a:off x="6528816" y="4059936"/>
            <a:ext cx="4617720" cy="612648"/>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p99 and average time lower; throughput higher</a:t>
            </a:r>
          </a:p>
        </p:txBody>
      </p:sp>
      <p:sp>
        <p:nvSpPr>
          <p:cNvPr id="19" name="TextBox 18"/>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Core 50, 100, and 500 VU p95 all worsened; these separate gains do not reverse that result.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GET /reports/account-ledger behaved differently</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23</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25</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Soak/spike p95</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Improved separately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Tail p95 fell; other measures were mixed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26</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lower soak and spike p95.</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fresh run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27</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Appendices F and M</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28</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29</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30</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31</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32</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33</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31 shows the measured performance result.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34</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40</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41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43</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44</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