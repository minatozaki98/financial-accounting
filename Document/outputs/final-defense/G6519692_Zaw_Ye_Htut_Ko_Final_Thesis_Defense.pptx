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45 seconds</a:t>
            </a:r>
          </a:p>
          <a:p>
            <a:r>
              <a:t>KEY MESSAGE: This is an evidence-based evaluation of ChatGPT as an advisor.</a:t>
            </a:r>
          </a:p>
          <a:p>
            <a:r>
              <a:t>SHOW IF ASKED: backup slide 27 (claim-to-evidence map)</a:t>
            </a:r>
          </a:p>
          <a:p>
            <a:r>
              <a:t>APPENDIX: Appendix M</a:t>
            </a:r>
          </a:p>
          <a:p/>
          <a:p>
            <a:r>
              <a:t>SCRIPT:</a:t>
            </a:r>
          </a:p>
          <a:p>
            <a:r>
              <a:t>Good morning. I evaluate whether ChatGPT can help improve an existing financial accounting API. The assistant suggests changes; I review and apply selected ones; SonarQube, OWASP ZAP, and JMeter show what the measured results support.</a:t>
            </a:r>
          </a:p>
          <a:p/>
          <a:p>
            <a:r>
              <a:t>SOURCE: Current full report title page and Abstract.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55 seconds</a:t>
            </a:r>
          </a:p>
          <a:p>
            <a:r>
              <a:t>KEY MESSAGE: The opening question is whether reviewed AI advice withstands measurement.</a:t>
            </a:r>
          </a:p>
          <a:p>
            <a:r>
              <a:t>SHOW IF ASKED: next slides 3-7 (problem and method)</a:t>
            </a:r>
          </a:p>
          <a:p>
            <a:r>
              <a:t>APPENDIX: Appendices A and M</a:t>
            </a:r>
          </a:p>
          <a:p/>
          <a:p>
            <a:r>
              <a:t>SCRIPT:</a:t>
            </a:r>
          </a:p>
          <a:p>
            <a:r>
              <a:t>Before I show any result, I want to define the question. ChatGPT can suggest a code change that looks reasonable, but that does not mean the accounting API is better. I use one existing API, review each candidate change myself, run functional tests, and compare independent tool measurements with a saved baseline. I will explain the problem and the method first, then let the results answer whether the suggestions helped.</a:t>
            </a:r>
          </a:p>
          <a:p/>
          <a:p>
            <a:r>
              <a:t>SOURCE: Current report §§1.1-1.5 and Chapter 3; next slides 3-7; Appendices A and 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60 seconds</a:t>
            </a:r>
          </a:p>
          <a:p>
            <a:r>
              <a:t>KEY MESSAGE: Code, security, and speed need different checks.</a:t>
            </a:r>
          </a:p>
          <a:p>
            <a:r>
              <a:t>SHOW IF ASKED: backup slides 29-31 (the three risks)</a:t>
            </a:r>
          </a:p>
          <a:p>
            <a:r>
              <a:t>APPENDIX: Appendices E-G</a:t>
            </a:r>
          </a:p>
          <a:p/>
          <a:p>
            <a:r>
              <a:t>SCRIPT:</a:t>
            </a:r>
          </a:p>
          <a:p>
            <a:r>
              <a:t>A program can have confusing code, unsafe web settings, and slow requests at the same time. One tool cannot check all three. I used SonarQube to read code, ZAP to test the running API, and JMeter to send load. I also ran tests to check that accounting behavior still worked.</a:t>
            </a:r>
          </a:p>
          <a:p/>
          <a:p>
            <a:r>
              <a:t>SOURCE: Current report Chapter 1 and §3.1.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65 seconds</a:t>
            </a:r>
          </a:p>
          <a:p>
            <a:r>
              <a:t>KEY MESSAGE: I ask one measurable question for each tool.</a:t>
            </a:r>
          </a:p>
          <a:p>
            <a:r>
              <a:t>SHOW IF ASKED: backup slides 29-31 (one answer per tool)</a:t>
            </a:r>
          </a:p>
          <a:p>
            <a:r>
              <a:t>APPENDIX: Appendix M</a:t>
            </a:r>
          </a:p>
          <a:p/>
          <a:p>
            <a:r>
              <a:t>SCRIPT:</a:t>
            </a:r>
          </a:p>
          <a:p>
            <a:r>
              <a:t>First, did the code warnings decrease, and did coverage or complexity get worse? Second, did security alerts decrease, and what remained? Third, did the API stay within the response-time limits at the three different user counts? I answer each question with the tool's before-and-after result, not with an AI opinion.</a:t>
            </a:r>
          </a:p>
          <a:p/>
          <a:p>
            <a:r>
              <a:t>SOURCE: Current report §1.5 and Table 4.1.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75 seconds</a:t>
            </a:r>
          </a:p>
          <a:p>
            <a:r>
              <a:t>KEY MESSAGE: This is an applied single-case evaluation, not a new algorithm.</a:t>
            </a:r>
          </a:p>
          <a:p>
            <a:r>
              <a:t>SHOW IF ASKED: backup slides 34 and 42-44 (API behavior)</a:t>
            </a:r>
          </a:p>
          <a:p>
            <a:r>
              <a:t>APPENDIX: Appendices B-D, H, and J</a:t>
            </a:r>
          </a:p>
          <a:p/>
          <a:p>
            <a:r>
              <a:t>SCRIPT:</a:t>
            </a:r>
          </a:p>
          <a:p>
            <a:r>
              <a:t>This is applied research: I study one existing financial accounting API and ask what happens when ChatGPT helps me address measured problems. I am not inventing a new algorithm or a scoring matrix. Why ChatGPT rather than Claude or Copilot? ChatGPT is widely used and recognizable, making it a relevant case to examine. Claude and Copilot can also analyze code and suggest changes. I held ChatGPT fixed as the one assistant so I could trace findings, suggestions, my review, and independent results in depth. I am not comparing AI assistants, and I cannot claim ChatGPT is better or uniquely capable. I also would not call it the first AI coding tool. I review the proposed edits; tests and the three independent tools judge the outcomes.</a:t>
            </a:r>
          </a:p>
          <a:p/>
          <a:p>
            <a:r>
              <a:t>SOURCE: Current report §§1.6 and 3.1-3.3, Table 3.3 and §3.6; OpenAI adoption study: https://openai.com/business/guides-and-resources/chatgpt-usage-and-adoption-patterns-at-work/ ; Claude Code overview: https://code.claude.com/docs/en/overview ; GitHub Copilot GA: https://github.blog/news-insights/product-news/github-copilot-is-generally-available-to-all-developers/ .</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Each tool's change has its own branch.</a:t>
            </a:r>
          </a:p>
          <a:p>
            <a:r>
              <a:t>SHOW IF ASKED: backup slide 28 (branch details)</a:t>
            </a:r>
          </a:p>
          <a:p>
            <a:r>
              <a:t>APPENDIX: Appendix A</a:t>
            </a:r>
          </a:p>
          <a:p/>
          <a:p>
            <a:r>
              <a:t>SCRIPT:</a:t>
            </a:r>
          </a:p>
          <a:p>
            <a:r>
              <a:t>I used one saved baseline version as the starting point. I put the code-quality, security, and performance changes on separate branches. That lets me compare each changed version with the same starting code, one tool at a time. The exact technical references are available in Appendix A if the committee wants them.</a:t>
            </a:r>
          </a:p>
          <a:p/>
          <a:p>
            <a:r>
              <a:t>SOURCE: Current report Appendix A and Table 3.1.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A suggestion must be checked before it becomes a result.</a:t>
            </a:r>
          </a:p>
          <a:p>
            <a:r>
              <a:t>SHOW IF ASKED: backup slides 28 and 32-33 (source and tests)</a:t>
            </a:r>
          </a:p>
          <a:p>
            <a:r>
              <a:t>APPENDIX: Appendices A, E-G, I, and K</a:t>
            </a:r>
          </a:p>
          <a:p/>
          <a:p>
            <a:r>
              <a:t>SCRIPT:</a:t>
            </a:r>
          </a:p>
          <a:p>
            <a:r>
              <a:t>First I saved the baseline result. Next I gave ChatGPT a specific tool warning and the relevant code. Then I reviewed the suggested edit, ran tests, and ran the same tool again. Finally I compared the new number with the baseline and the study rule. A patch that looks good is not automatically a success.</a:t>
            </a:r>
          </a:p>
          <a:p/>
          <a:p>
            <a:r>
              <a:t>SOURCE: Current report §3.1.1 and Figures 3.1-3.4.</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60 seconds</a:t>
            </a:r>
          </a:p>
          <a:p>
            <a:r>
              <a:t>KEY MESSAGE: The 120 accounts are seeded test data, not customer records.</a:t>
            </a:r>
          </a:p>
          <a:p>
            <a:r>
              <a:t>SHOW IF ASKED: next slide 9 (seed and run records)</a:t>
            </a:r>
          </a:p>
          <a:p>
            <a:r>
              <a:t>APPENDIX: Appendix H; Tables 3.10-3.11</a:t>
            </a:r>
          </a:p>
          <a:p/>
          <a:p>
            <a:r>
              <a:t>SCRIPT:</a:t>
            </a:r>
          </a:p>
          <a:p>
            <a:r>
              <a:t>The test scripts created 120 accounts and 30,000 journal entries. At least 5,000 entries were posted, so the report endpoints had data to process. This is not a screenshot of 120 individual accounts: the count is recorded in the run record. We used one local computer and one fresh run per branch, so the result is limited to this setup.</a:t>
            </a:r>
          </a:p>
          <a:p/>
          <a:p>
            <a:r>
              <a:t>SOURCE: Next slide 9; branch-verification.json dataset counts; current report Tables 3.10-3.11 and Appendix 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40 seconds</a:t>
            </a:r>
          </a:p>
          <a:p>
            <a:r>
              <a:t>KEY MESSAGE: The seed settings and the run record agree on the dataset size.</a:t>
            </a:r>
          </a:p>
          <a:p>
            <a:r>
              <a:t>SHOW IF ASKED: backup slide 27 (evidence map)</a:t>
            </a:r>
          </a:p>
          <a:p>
            <a:r>
              <a:t>APPENDIX: Appendix H</a:t>
            </a:r>
          </a:p>
          <a:p/>
          <a:p>
            <a:r>
              <a:t>SCRIPT:</a:t>
            </a:r>
          </a:p>
          <a:p>
            <a:r>
              <a:t>I used the repository seed script to request 120 accounts, 30,000 journal entries, and at least 5,000 posted entries. The run record on the right reports those same counts. I omit the local demo credential from this excerpt. Appendix H has the fuller seed explanation.</a:t>
            </a:r>
          </a:p>
          <a:p/>
          <a:p>
            <a:r>
              <a:t>SOURCE: Appendix H; current report Tables 3.10-3.11; branch-verification.json and scripts/phase4/seed-test-data.ps1.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Each tool has a rule, but the measured numbers still matter.</a:t>
            </a:r>
          </a:p>
          <a:p>
            <a:r>
              <a:t>SHOW IF ASKED: backup slides 29-31 (results and rules)</a:t>
            </a:r>
          </a:p>
          <a:p>
            <a:r>
              <a:t>APPENDIX: Appendices K and M</a:t>
            </a:r>
          </a:p>
          <a:p/>
          <a:p>
            <a:r>
              <a:t>SCRIPT:</a:t>
            </a:r>
          </a:p>
          <a:p>
            <a:r>
              <a:t>I named 100 simulated users the peak scenario and 500 the heavier-load scenario in the test plan. This was not a measured peak from real customers. The study set p95 targets of 500 milliseconds and 1,200 milliseconds respectively. Those numbers are study choices, not universal standards. I compare the after-fix result with each target and still report the actual time, so the committee can see more than a pass/fail label.</a:t>
            </a:r>
          </a:p>
          <a:p/>
          <a:p>
            <a:r>
              <a:t>SOURCE: Current report Table 4.1 and §4.1; Document/JMETER_ZAP_TEST_PLAN.md §4.6.</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80 seconds</a:t>
            </a:r>
          </a:p>
          <a:p>
            <a:r>
              <a:t>KEY MESSAGE: A proposal passes through my review and independent measurement.</a:t>
            </a:r>
          </a:p>
          <a:p>
            <a:r>
              <a:t>SHOW IF ASKED: slide 15; backup slides 32-33 (before/after code)</a:t>
            </a:r>
          </a:p>
          <a:p>
            <a:r>
              <a:t>APPENDIX: Appendices E-G, I, and K</a:t>
            </a:r>
          </a:p>
          <a:p/>
          <a:p>
            <a:r>
              <a:t>SCRIPT:</a:t>
            </a:r>
          </a:p>
          <a:p>
            <a:r>
              <a:t>Read this diagram from left to right. On the left, I start with a real tool finding and the source code needed to understand it. For example, SonarQube flagged eight controller parameters. In the middle, ChatGPT proposes a change, but it does not decide whether that change is correct. I reviewed the request DTO for accounting behavior and access control before using it. On the right, I run focused tests and rerun the same tool on the changed branch. I compare that result with the saved baseline and the study target. SonarQube's unique issue count went from 17 to zero; JMeter did not meet its main speed target. The arrows represent checks, not automatic acceptance of an AI suggestion.</a:t>
            </a:r>
          </a:p>
          <a:p/>
          <a:p>
            <a:r>
              <a:t>SOURCE: Current report §§3.1.3-3.1.4, Appendices I and 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The three branches changed different parts of the API.</a:t>
            </a:r>
          </a:p>
          <a:p>
            <a:r>
              <a:t>SHOW IF ASKED: slide 15; backup slides 32-33 (actual changes)</a:t>
            </a:r>
          </a:p>
          <a:p>
            <a:r>
              <a:t>APPENDIX: Appendices E-G</a:t>
            </a:r>
          </a:p>
          <a:p/>
          <a:p>
            <a:r>
              <a:t>SCRIPT:</a:t>
            </a:r>
          </a:p>
          <a:p>
            <a:r>
              <a:t>For code quality, I replaced eight controller parameters with one request object. For security, I put security headers before Swagger. For performance, I added ledger caching and stopped saving a new report snapshot on that read path. These are the code changes I made; the next slides show whether the measurements improved.</a:t>
            </a:r>
          </a:p>
          <a:p/>
          <a:p>
            <a:r>
              <a:t>SOURCE: Current report Table 4.3 and Appendices E-G.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85 seconds</a:t>
            </a:r>
          </a:p>
          <a:p>
            <a:r>
              <a:t>KEY MESSAGE: The targeted 17 findings were resolved; other metrics are controls, not improvements.</a:t>
            </a:r>
          </a:p>
          <a:p>
            <a:r>
              <a:t>SHOW IF ASKED: next slides 14-15 (scan and code proof)</a:t>
            </a:r>
          </a:p>
          <a:p>
            <a:r>
              <a:t>APPENDIX: Appendices E and L</a:t>
            </a:r>
          </a:p>
          <a:p/>
          <a:p>
            <a:r>
              <a:t>SCRIPT:</a:t>
            </a:r>
          </a:p>
          <a:p>
            <a:r>
              <a:t>The main result is 17 distinct SonarQube issues in the baseline and zero after the reviewed fixes. In the legacy issue-type field, all 17 were classified as code smells. I ran tests and repeated the scan on the isolated code-quality branch. The right-hand metrics are controls, not gains: coverage stayed close to baseline at 74.4 versus 74.3 percent; legacy Bugs and Vulnerabilities stayed at zero; duplicated-line density stayed at 0.0 percent; the Quality Gate stayed OK; and complexity rose slightly from 886 to 889. This supports targeted maintainability remediation with adjacent measures monitored. I do not claim the zero Bug or Vulnerability count proves the running API is secure—that is why I test security separately with ZAP. Cyclomatic complexity roughly counts decision paths through code. If asked why newer Reliability and Security impacts appeared, those labels overlap on the same legacy code-smell issues. The saved coverage summary lacks the underlying counts, so I cannot identify the exact cause of the 0.1 percentage-point change.</a:t>
            </a:r>
          </a:p>
          <a:p/>
          <a:p>
            <a:r>
              <a:t>SOURCE: Next slides 14-15; backup slides 29 and 35-36; SonarQube issues.json, measures.json and quality-gate.json; current report Table 4.2, Appendices E and L.</a:t>
            </a:r>
          </a:p>
          <a:p>
            <a:r>
              <a:t>CAUTION: Do not call the baseline zeros an improvement or treat Quality Gate OK/OK as evidence of issue closure; its captured condition list is empty.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60 seconds</a:t>
            </a:r>
          </a:p>
          <a:p>
            <a:r>
              <a:t>KEY MESSAGE: The saved dashboard views corroborate the issue-count change.</a:t>
            </a:r>
          </a:p>
          <a:p>
            <a:r>
              <a:t>SHOW IF ASKED: next slide 15; backup slides 29 and 35-36</a:t>
            </a:r>
          </a:p>
          <a:p>
            <a:r>
              <a:t>APPENDIX: Appendix L, Figures L.1-L.4</a:t>
            </a:r>
          </a:p>
          <a:p/>
          <a:p>
            <a:r>
              <a:t>SCRIPT:</a:t>
            </a:r>
          </a:p>
          <a:p>
            <a:r>
              <a:t>I now point to the two actual SonarQube dashboard captures. The baseline scan reports 17 unique issues; the code-quality branch reports zero. The Quality Gate reads OK in both, so I use the issue count—not a change in gate status—as the evidence of remediation. Slide 15 shows representative source-code changes behind this result, and Appendix L has larger dashboard views.</a:t>
            </a:r>
          </a:p>
          <a:p/>
          <a:p>
            <a:r>
              <a:t>SOURCE: Next slide 15; backup slides 29 and 35-36; Appendix L Figures L.1-L.4; sonar/baseline and remediation issues.json and quality-gate.json.</a:t>
            </a:r>
          </a:p>
          <a:p>
            <a:r>
              <a:t>CAUTION: The saved Quality Gate responses contain no conditions; do not describe this as a failed-to-passed gate.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45 seconds</a:t>
            </a:r>
          </a:p>
          <a:p>
            <a:r>
              <a:t>KEY MESSAGE: These two code excerpts show what changed, but they do not stand for all 17 issues.</a:t>
            </a:r>
          </a:p>
          <a:p>
            <a:r>
              <a:t>SHOW IF ASKED: backup slide 32 (larger S107 example)</a:t>
            </a:r>
          </a:p>
          <a:p>
            <a:r>
              <a:t>APPENDIX: Appendix E, Listings E.1-E.2</a:t>
            </a:r>
          </a:p>
          <a:p/>
          <a:p>
            <a:r>
              <a:t>SCRIPT:</a:t>
            </a:r>
          </a:p>
          <a:p>
            <a:r>
              <a:t>Here are two representative before-and-after changes I reviewed. The S107 controller action passed eight query values separately; after the change it accepts one query object. The S6966 startup call changed from app.Run to await app.RunAsync. Appendix E shows fuller excerpts. The SonarQube issue lists on the preceding slide and in backup show the measured 17-to-zero result.</a:t>
            </a:r>
          </a:p>
          <a:p/>
          <a:p>
            <a:r>
              <a:t>SOURCE: Appendix E Listings E.1-E.2; backup slide 32 for the larger S107 example; Appendix L Figures L.2 and L.4 for the issue lists.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55 seconds</a:t>
            </a:r>
          </a:p>
          <a:p>
            <a:r>
              <a:t>KEY MESSAGE: The passive scan improved, but it is only one view of security.</a:t>
            </a:r>
          </a:p>
          <a:p>
            <a:r>
              <a:t>SHOW IF ASKED: next slide 17 (fresh ZAP proof)</a:t>
            </a:r>
          </a:p>
          <a:p>
            <a:r>
              <a:t>APPENDIX: Appendices F and M</a:t>
            </a:r>
          </a:p>
          <a:p/>
          <a:p>
            <a:r>
              <a:t>SCRIPT:</a:t>
            </a:r>
          </a:p>
          <a:p>
            <a:r>
              <a:t>I am showing the passive scan before and after the changes. This scan observes normal responses and their headers; it does not sign in. In the upper screenshot, ZAP reports three Medium and six Low alert types. In the lower screenshot, both counts are zero. These are screenshots of report cards rendered from my current raw ZAP scan data. They are not a claim that the protected API is free of alerts. I will show that separate scan on the next slide.</a:t>
            </a:r>
          </a:p>
          <a:p/>
          <a:p>
            <a:r>
              <a:t>SOURCE: Next slide 17; backup slide 30; current report §4.3; Appendix F; fresh passive raw ZAP JSON and summaries.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65 seconds</a:t>
            </a:r>
          </a:p>
          <a:p>
            <a:r>
              <a:t>KEY MESSAGE: The signed-in scan improved, but it did not clear every raw alert.</a:t>
            </a:r>
          </a:p>
          <a:p>
            <a:r>
              <a:t>SHOW IF ASKED: backup slide 30 (raw ZAP counts)</a:t>
            </a:r>
          </a:p>
          <a:p>
            <a:r>
              <a:t>APPENDIX: Appendix F</a:t>
            </a:r>
          </a:p>
          <a:p/>
          <a:p>
            <a:r>
              <a:t>SCRIPT:</a:t>
            </a:r>
          </a:p>
          <a:p>
            <a:r>
              <a:t>I am showing the signed-in API scan before and after the changes. Unlike the passive scan, this test signs in and exercises protected routes. Low alert types fell from three to zero, while Medium stayed at one. The remaining alert is called HTTP Only Site: my local scan target was served over HTTP. The selected security rules passed, but that pass result is different from saying every raw alert disappeared. I would need a working HTTPS endpoint and another scan before calling this Medium alert cleared. These screenshots were rendered from the current raw ZAP scan data; the raw counts and the alert are in Appendix F.</a:t>
            </a:r>
          </a:p>
          <a:p/>
          <a:p>
            <a:r>
              <a:t>SOURCE: Backup slide 30; current report §4.3; Appendix F and Appendix M; fresh API raw ZAP JSON, summaries, alert 10106.</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60 seconds</a:t>
            </a:r>
          </a:p>
          <a:p>
            <a:r>
              <a:t>KEY MESSAGE: User count and response-time percentile are different things.</a:t>
            </a:r>
          </a:p>
          <a:p>
            <a:r>
              <a:t>SHOW IF ASKED: backup slides 31 and 37-41 (JMeter profiles)</a:t>
            </a:r>
          </a:p>
          <a:p>
            <a:r>
              <a:t>APPENDIX: Appendices K and L</a:t>
            </a:r>
          </a:p>
          <a:p/>
          <a:p>
            <a:r>
              <a:t>SCRIPT:</a:t>
            </a:r>
          </a:p>
          <a:p>
            <a:r>
              <a:t>VU means simulated users. The 50, 100, and 500 VU tests use different user counts; 100 VU is only the planned peak scenario, not a measured customer peak. Soak keeps traffic going for a long time. Spike sends a sudden burst. p95 is a time in milliseconds: 95 percent of requests finish at or below it. Soak and spike are extra tests; they do not replace the three core user-count checks.</a:t>
            </a:r>
          </a:p>
          <a:p/>
          <a:p>
            <a:r>
              <a:t>SOURCE: Current report §§3.8 and 4.4, Appendix 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KEY MESSAGE: The code changes did not meet the core speed target; the precise cause is unknown.</a:t>
            </a:r>
          </a:p>
          <a:p>
            <a:r>
              <a:t>SHOW IF ASKED: next slides 20-21 (native 100/500 VU dashboards)</a:t>
            </a:r>
          </a:p>
          <a:p>
            <a:r>
              <a:t>APPENDIX: Appendices G, K, L, and N</a:t>
            </a:r>
          </a:p>
          <a:p/>
          <a:p>
            <a:r>
              <a:t>SCRIPT:</a:t>
            </a:r>
          </a:p>
          <a:p>
            <a:r>
              <a:t>The performance branch cached account-ledger data and stopped saving a new report snapshot on that read path. These changes were intended to reduce repeated work. JMeter measured response times, throughput, and errors. At 100 and 500 simulated users, the p95 response times were higher after the change and exceeded our study limits. CPU, memory, database-query, and cache-hit measurements were outside this study's measured scope, so I can report the slowdown but cannot identify one cause for it.</a:t>
            </a:r>
          </a:p>
          <a:p/>
          <a:p>
            <a:r>
              <a:t>SOURCE: Next slides 20-21 for native JMeter proof; backup slide 33 and Appendix G for the code; Appendix N for the measurement limits.</a:t>
            </a:r>
          </a:p>
          <a:p>
            <a:r>
              <a:t>CAUTION: Do not say caching or the host caused the slowdown; the evidence does not isolate either cause.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40 seconds</a:t>
            </a:r>
          </a:p>
          <a:p>
            <a:r>
              <a:t>KEY MESSAGE: At 100 VU, the after-fix p95 exceeded the study limit.</a:t>
            </a:r>
          </a:p>
          <a:p>
            <a:r>
              <a:t>SHOW IF ASKED: backup slide 38 (larger 100 VU dashboard)</a:t>
            </a:r>
          </a:p>
          <a:p>
            <a:r>
              <a:t>APPENDIX: Appendix L, Figures L.10 and L.15</a:t>
            </a:r>
          </a:p>
          <a:p/>
          <a:p>
            <a:r>
              <a:t>SCRIPT:</a:t>
            </a:r>
          </a:p>
          <a:p>
            <a:r>
              <a:t>These are the native JMeter statistics views for 100 VU. Point to the Total row and the 95th-percentile column. It changed from 255.9 to 1146.9 milliseconds; the study limit was 500 milliseconds. The screenshots show the measured time, while the test rule supplies the not-met judgment. They do not establish why the code ran slower.</a:t>
            </a:r>
          </a:p>
          <a:p/>
          <a:p>
            <a:r>
              <a:t>SOURCE: Appendix L Figures L.10 and L.15; fresh JMeter summary.json; Document/JMETER_ZAP_TEST_PLAN.md §4.6.</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40 seconds</a:t>
            </a:r>
          </a:p>
          <a:p>
            <a:r>
              <a:t>KEY MESSAGE: At 500 VU, the after-fix p95 exceeded the study limit.</a:t>
            </a:r>
          </a:p>
          <a:p>
            <a:r>
              <a:t>SHOW IF ASKED: backup slide 39 (larger 500 VU dashboard)</a:t>
            </a:r>
          </a:p>
          <a:p>
            <a:r>
              <a:t>APPENDIX: Appendix L, Figures L.11 and L.16</a:t>
            </a:r>
          </a:p>
          <a:p/>
          <a:p>
            <a:r>
              <a:t>SCRIPT:</a:t>
            </a:r>
          </a:p>
          <a:p>
            <a:r>
              <a:t>These are the native JMeter statistics views for 500 VU. Point to the Total row and the 95th-percentile column. It changed from 106 to 1547.95 milliseconds; the study limit was 1,200 milliseconds. The screenshots show the measured time, while the test rule supplies the not-met judgment. They do not establish why the code ran slower.</a:t>
            </a:r>
          </a:p>
          <a:p/>
          <a:p>
            <a:r>
              <a:t>SOURCE: Appendix L Figures L.11 and L.16; fresh JMeter summary.json; Document/JMETER_ZAP_TEST_PLAN.md §4.6.</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75 seconds</a:t>
            </a:r>
          </a:p>
          <a:p>
            <a:r>
              <a:t>KEY MESSAGE: Exactly which measurements improved differs by test shape.</a:t>
            </a:r>
          </a:p>
          <a:p>
            <a:r>
              <a:t>SHOW IF ASKED: backup slides 31 and 40-41 (soak and spike)</a:t>
            </a:r>
          </a:p>
          <a:p>
            <a:r>
              <a:t>APPENDIX: Appendix L, Figures L.12-L.13 and L.17-L.18</a:t>
            </a:r>
          </a:p>
          <a:p/>
          <a:p>
            <a:r>
              <a:t>SCRIPT:</a:t>
            </a:r>
          </a:p>
          <a:p>
            <a:r>
              <a:t>Soak means repeated traffic over time; I look for performance getting worse as requests continue. Spike means many users arrive quickly; I look at the burst and whether response times recover afterward. In these runs, total p95 fell from 443.95 to 171 milliseconds for soak and from about 33.4 to 4.7 seconds for spike. These whole-run numbers are not direct proof of no soak drift or spike recovery. The core 50, 100, and 500 VU p95 results worsened, so I cannot claim overall performance success.</a:t>
            </a:r>
          </a:p>
          <a:p/>
          <a:p>
            <a:r>
              <a:t>SOURCE: Fresh JMeter baseline/remediation summary.json; current report §4.4; Appendix L Figures L.12-L.13 and L.17-L.18.</a:t>
            </a:r>
          </a:p>
          <a:p>
            <a:r>
              <a:t>CAUTION: Do not claim a fixed three-hour soak or exactly 100 total threads: the runner configures 100 core plus 30 report threads and has no fixed-duration scheduler.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One report endpoint improved in one test and slowed in another.</a:t>
            </a:r>
          </a:p>
          <a:p>
            <a:r>
              <a:t>SHOW IF ASKED: backup slides 33 and 40-41 (mixed endpoint behavior)</a:t>
            </a:r>
          </a:p>
          <a:p>
            <a:r>
              <a:t>APPENDIX: Appendix G; Table 4.4</a:t>
            </a:r>
          </a:p>
          <a:p/>
          <a:p>
            <a:r>
              <a:t>SCRIPT:</a:t>
            </a:r>
          </a:p>
          <a:p>
            <a:r>
              <a:t>The GET /reports/account-ledger endpoint got slower during the long soak test: p95 rose from about 742 to 3,826 milliseconds. During the sudden spike test it improved, from about 50.3 seconds to 12.9 seconds. This does not tell us why. It shows that I cannot claim every report request became faster under every workload.</a:t>
            </a:r>
          </a:p>
          <a:p/>
          <a:p>
            <a:r>
              <a:t>SOURCE: Current report Table 4.4 and Appendix 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These are app screens, not speed-test results.</a:t>
            </a:r>
          </a:p>
          <a:p>
            <a:r>
              <a:t>SHOW IF ASKED: backup slides 42-44 (browser views)</a:t>
            </a:r>
          </a:p>
          <a:p>
            <a:r>
              <a:t>APPENDIX: Appendix J; Figures 4.2-4.7</a:t>
            </a:r>
          </a:p>
          <a:p/>
          <a:p>
            <a:r>
              <a:t>SCRIPT:</a:t>
            </a:r>
          </a:p>
          <a:p>
            <a:r>
              <a:t>The pictures show the admin dashboard and a journal entry whose debit and credit lines balance. They help demonstrate that I can use the API through the web app. They do not show how fast the API is. For performance evidence, use backup slide 31 or the JMeter dashboards on slides 37-41.</a:t>
            </a:r>
          </a:p>
          <a:p/>
          <a:p>
            <a:r>
              <a:t>SOURCE: Current report §4.6 and Figures 4.2-4.7.</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80 seconds</a:t>
            </a:r>
          </a:p>
          <a:p>
            <a:r>
              <a:t>KEY MESSAGE: The study does not support a blanket claim that everything improved.</a:t>
            </a:r>
          </a:p>
          <a:p>
            <a:r>
              <a:t>SHOW IF ASKED: backup slides 29-31 (outcome details)</a:t>
            </a:r>
          </a:p>
          <a:p>
            <a:r>
              <a:t>APPENDIX: Appendices M and N</a:t>
            </a:r>
          </a:p>
          <a:p/>
          <a:p>
            <a:r>
              <a:t>SCRIPT:</a:t>
            </a:r>
          </a:p>
          <a:p>
            <a:r>
              <a:t>Code warnings fell from 17 to zero, although coverage fell a little and complexity rose. ZAP's selected checks passed, but the local HTTP alert stayed. JMeter missed the main 100- and 500-user speed targets even though soak and spike improved. This is one API on one computer with one fresh run per branch. We did not save CPU and memory readings for those runs, so I would repeat the tests before claiming the result applies elsewhere.</a:t>
            </a:r>
          </a:p>
          <a:p/>
          <a:p>
            <a:r>
              <a:t>SOURCE: Current report Table 4.5 and Appendix 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80 seconds</a:t>
            </a:r>
          </a:p>
          <a:p>
            <a:r>
              <a:t>KEY MESSAGE: The contribution is a way to check AI suggestions, including when they do not work.</a:t>
            </a:r>
          </a:p>
          <a:p>
            <a:r>
              <a:t>SHOW IF ASKED: backup slide 27 (where every claim is checked)</a:t>
            </a:r>
          </a:p>
          <a:p>
            <a:r>
              <a:t>APPENDIX: Appendices A, M, and N</a:t>
            </a:r>
          </a:p>
          <a:p/>
          <a:p>
            <a:r>
              <a:t>SCRIPT:</a:t>
            </a:r>
          </a:p>
          <a:p>
            <a:r>
              <a:t>This was an applied case study, not a new algorithm, scoring matrix, or comparison of AI assistants. ChatGPT helped me propose code changes. I reviewed them, and the original tools measured the results. Code warnings reached zero and selected security checks passed, but the main performance target was not met. My contribution is the traceable process and this honest mixed result, not a claim that ChatGPT always improves an API. Thank you; I welcome questions.</a:t>
            </a:r>
          </a:p>
          <a:p/>
          <a:p>
            <a:r>
              <a:t>SOURCE: Current report Chapter 5 and Appendices A-N.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evidence map.</a:t>
            </a:r>
          </a:p>
          <a:p/>
          <a:p>
            <a:r>
              <a:t>SCRIPT:</a:t>
            </a:r>
          </a:p>
          <a:p>
            <a:r>
              <a:t>Start with the claim in the left column. The middle column names the raw result file; the right column names the report section. The first row confirms the 120 seeded accounts used by the tests.</a:t>
            </a:r>
          </a:p>
          <a:p/>
          <a:p>
            <a:r>
              <a:t>SOURCE: branch-verification.json dataset counts; current report Appendices A-N.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branch provenance.</a:t>
            </a:r>
          </a:p>
          <a:p/>
          <a:p>
            <a:r>
              <a:t>SCRIPT:</a:t>
            </a:r>
          </a:p>
          <a:p>
            <a:r>
              <a:t>Open this slide if asked for proof. Point to the relevant number or code change, then name the source shown on the slide.</a:t>
            </a:r>
          </a:p>
          <a:p/>
          <a:p>
            <a:r>
              <a:t>SOURCE: Current report Appendix A and Table 3.1.</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full fresh SonarQube metrics.</a:t>
            </a:r>
          </a:p>
          <a:p/>
          <a:p>
            <a:r>
              <a:t>SCRIPT:</a:t>
            </a:r>
          </a:p>
          <a:p>
            <a:r>
              <a:t>Point to Total unique issues: 17 before, zero after. The gate status is OK on both, but no gate conditions were saved, so do not use that status alone to claim improvement. Coverage slipped by 0.1 percentage point.</a:t>
            </a:r>
          </a:p>
          <a:p/>
          <a:p>
            <a:r>
              <a:t>SOURCE: Current report Table 4.2; fresh SonarQube summary.json and quality-gate.json.</a:t>
            </a:r>
          </a:p>
          <a:p>
            <a:r>
              <a:t>CAUTION: * MQR impacts overlap; do not sum them as unique issues. Both saved gate files have an empty conditions list.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full fresh ZAP outcomes.</a:t>
            </a:r>
          </a:p>
          <a:p/>
          <a:p>
            <a:r>
              <a:t>SCRIPT:</a:t>
            </a:r>
          </a:p>
          <a:p>
            <a:r>
              <a:t>Point to the Auth API after-fix row: Medium is still one, while Low is zero. The Medium is HTTP Only Site because the local scan used HTTP. The configured rule gate passed, but this raw alert was not cleared; an HTTPS retest is needed.</a:t>
            </a:r>
          </a:p>
          <a:p/>
          <a:p>
            <a:r>
              <a:t>SOURCE: Current report §4.3 and fresh ZAP summary.json.</a:t>
            </a:r>
          </a:p>
          <a:p>
            <a:r>
              <a:t>CAUTION: Configured gate PASS does not mean every raw API Medium alert cleared.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full fresh JMeter matrix.</a:t>
            </a:r>
          </a:p>
          <a:p/>
          <a:p>
            <a:r>
              <a:t>SCRIPT:</a:t>
            </a:r>
          </a:p>
          <a:p>
            <a:r>
              <a:t>Point to the 100- and 500-VU rows. Their after-fix p95 values are higher than before and exceed the study limits, so the core target was not met. Soak and spike have lower p95 after the fix, but those are separate tests.</a:t>
            </a:r>
          </a:p>
          <a:p/>
          <a:p>
            <a:r>
              <a:t>SOURCE: Fresh JMeter baseline/remediation summary.json and current report §4.4.</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S107 controller DTO change.</a:t>
            </a:r>
          </a:p>
          <a:p/>
          <a:p>
            <a:r>
              <a:t>SCRIPT:</a:t>
            </a:r>
          </a:p>
          <a:p>
            <a:r>
              <a:t>Open this slide if asked for proof. Point to the relevant number or code change, then name the source shown on the slide.</a:t>
            </a:r>
          </a:p>
          <a:p/>
          <a:p>
            <a:r>
              <a:t>SOURCE: Current report Listing E.1, Table 4.3, Appendix 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security and performance source paths.</a:t>
            </a:r>
          </a:p>
          <a:p/>
          <a:p>
            <a:r>
              <a:t>SCRIPT:</a:t>
            </a:r>
          </a:p>
          <a:p>
            <a:r>
              <a:t>The left side shows the security-header change. The right side shows my performance attempt: cache ledger data and avoid a report snapshot write on this read path. This proves the change was made, not that it made the API faster. For speed numbers, open backup slide 31 and dashboards 38-39.</a:t>
            </a:r>
          </a:p>
          <a:p/>
          <a:p>
            <a:r>
              <a:t>SOURCE: Current report Appendices F and G.</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authorization and accounting evidence.</a:t>
            </a:r>
          </a:p>
          <a:p/>
          <a:p>
            <a:r>
              <a:t>SCRIPT:</a:t>
            </a:r>
          </a:p>
          <a:p>
            <a:r>
              <a:t>Open this slide if asked for proof. Point to the relevant number or code change, then name the source shown on the slide.</a:t>
            </a:r>
          </a:p>
          <a:p/>
          <a:p>
            <a:r>
              <a:t>SOURCE: Current report Appendices C, D, I and Figures 4.2-4.7.</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SonarQube overview · baseline vs remediation.</a:t>
            </a:r>
          </a:p>
          <a:p/>
          <a:p>
            <a:r>
              <a:t>SCRIPT:</a:t>
            </a:r>
          </a:p>
          <a:p>
            <a:r>
              <a:t>The two current screenshots show different issue counts: 17 before and zero after. Both show Quality Gate OK, but the saved gate files contain no conditions. Do not present OK/OK as the evidence of improvement; use the issue counts and disclose that coverage fell slightly.</a:t>
            </a:r>
          </a:p>
          <a:p/>
          <a:p>
            <a:r>
              <a:t>SOURCE: Appendix L Figures L.1 and L.3</a:t>
            </a:r>
          </a:p>
          <a:p>
            <a:r>
              <a:t>CAUTION: Capture classification: fresh-reproduction. Baseline origin/baseline-v0.1 @ 7a0469d9, run 20260922-183352; remediation origin/baseline-sonarqube-v1 @ a2279bcb, run 20260922-183352.</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SonarQube issues · baseline vs remediation.</a:t>
            </a:r>
          </a:p>
          <a:p/>
          <a:p>
            <a:r>
              <a:t>SCRIPT:</a:t>
            </a:r>
          </a:p>
          <a:p>
            <a:r>
              <a:t>Point to the issue list: the baseline has 17 distinct findings and the changed branch has zero. These are the direct issue-count views; the gate status is separate.</a:t>
            </a:r>
          </a:p>
          <a:p/>
          <a:p>
            <a:r>
              <a:t>SOURCE: Appendix L Figures L.2 and L.4</a:t>
            </a:r>
          </a:p>
          <a:p>
            <a:r>
              <a:t>CAUTION: Capture classification: fresh-reproduction. Baseline origin/baseline-v0.1 @ 7a0469d9, run 20260922-183352; remediation origin/baseline-sonarqube-v1 @ a2279bcb, run 20260922-183352.</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50 VU · baseline vs remediation.</a:t>
            </a:r>
          </a:p>
          <a:p/>
          <a:p>
            <a:r>
              <a:t>SCRIPT:</a:t>
            </a:r>
          </a:p>
          <a:p>
            <a:r>
              <a:t>At 50 simulated users, total p95 rose from 33 to 199.9 milliseconds. It is slower after the code change, even though it stayed below this study's 300-millisecond limit.</a:t>
            </a:r>
          </a:p>
          <a:p/>
          <a:p>
            <a:r>
              <a:t>SOURCE: Appendix L Figures L.9 and L.14;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100 VU · baseline vs remediation.</a:t>
            </a:r>
          </a:p>
          <a:p/>
          <a:p>
            <a:r>
              <a:t>SCRIPT:</a:t>
            </a:r>
          </a:p>
          <a:p>
            <a:r>
              <a:t>In the Total row, find the 95th-percentile response time. At 100 VU, it rose from 255.9 to 1146.9 milliseconds. The after-fix value is above this study's 500-millisecond limit, so the core target was not met. This is a measurement, not proof of what caused the slowdown.</a:t>
            </a:r>
          </a:p>
          <a:p/>
          <a:p>
            <a:r>
              <a:t>SOURCE: Appendix L Figures L.10 and L.15;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500 VU · baseline vs remediation.</a:t>
            </a:r>
          </a:p>
          <a:p/>
          <a:p>
            <a:r>
              <a:t>SCRIPT:</a:t>
            </a:r>
          </a:p>
          <a:p>
            <a:r>
              <a:t>In the Total row, find the 95th-percentile response time. At 500 VU, it rose from 106 to 1547.95 milliseconds. The after-fix value is above this study's 1200-millisecond limit, so the core target was not met. This is a measurement, not proof of what caused the slowdown.</a:t>
            </a:r>
          </a:p>
          <a:p/>
          <a:p>
            <a:r>
              <a:t>SOURCE: Appendix L Figures L.11 and L.16;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soak · baseline vs remediation.</a:t>
            </a:r>
          </a:p>
          <a:p/>
          <a:p>
            <a:r>
              <a:t>SCRIPT:</a:t>
            </a:r>
          </a:p>
          <a:p>
            <a:r>
              <a:t>This long steady soak test had a lower total p95 after the change: 443.95 to 171 milliseconds. That is an improvement for this test only. It does not change the unmet 100- and 500-user core targets on slide 31.</a:t>
            </a:r>
          </a:p>
          <a:p/>
          <a:p>
            <a:r>
              <a:t>SOURCE: Appendix L Figures L.12 and L.17;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spike · baseline vs remediation.</a:t>
            </a:r>
          </a:p>
          <a:p/>
          <a:p>
            <a:r>
              <a:t>SCRIPT:</a:t>
            </a:r>
          </a:p>
          <a:p>
            <a:r>
              <a:t>This sudden spike test had a lower total p95 after the change: 33401.8 to 4730.85 milliseconds. That is an improvement for this test only. It does not change the unmet 100- and 500-user core targets on slide 31.</a:t>
            </a:r>
          </a:p>
          <a:p/>
          <a:p>
            <a:r>
              <a:t>SOURCE: Appendix L Figures L.13 and L.18;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App screens—not load-test data.</a:t>
            </a:r>
          </a:p>
          <a:p/>
          <a:p>
            <a:r>
              <a:t>SCRIPT:</a:t>
            </a:r>
          </a:p>
          <a:p>
            <a:r>
              <a:t>These pictures show that I can use the application and see its accounting screens. They do not measure speed. For JMeter response times, open backup slide 31 or dashboards 37-41.</a:t>
            </a:r>
          </a:p>
          <a:p/>
          <a:p>
            <a:r>
              <a:t>SOURCE: Current report Figures 4.2 and 4.3</a:t>
            </a:r>
          </a:p>
          <a:p>
            <a:r>
              <a:t>CAUTION: These are browser workflow captures; visible live application counts are not JMeter benchmark metrics.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Application: audit and role restrictions.</a:t>
            </a:r>
          </a:p>
          <a:p/>
          <a:p>
            <a:r>
              <a:t>SCRIPT:</a:t>
            </a:r>
          </a:p>
          <a:p>
            <a:r>
              <a:t>These pictures show that I can use the application and see its accounting screens. They do not measure speed. For JMeter response times, open backup slide 31 or dashboards 37-41.</a:t>
            </a:r>
          </a:p>
          <a:p/>
          <a:p>
            <a:r>
              <a:t>SOURCE: Current report Figures 4.4 and 4.5</a:t>
            </a:r>
          </a:p>
          <a:p>
            <a:r>
              <a:t>CAUTION: These are browser workflow captures; visible live application counts are not JMeter benchmark metrics.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Application: evidence and balanced journal lines.</a:t>
            </a:r>
          </a:p>
          <a:p/>
          <a:p>
            <a:r>
              <a:t>SCRIPT:</a:t>
            </a:r>
          </a:p>
          <a:p>
            <a:r>
              <a:t>These pictures show that I can use the application and see its accounting screens. They do not measure speed. For JMeter response times, open backup slide 31 or dashboards 37-41.</a:t>
            </a:r>
          </a:p>
          <a:p/>
          <a:p>
            <a:r>
              <a:t>SOURCE: Current report Figures 4.6 and 4.7</a:t>
            </a:r>
          </a:p>
          <a:p>
            <a:r>
              <a:t>CAUTION: These are browser workflow captures; visible live application counts are not JMeter benchmark metrics.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21.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12.png"/><Relationship Id="rId4" Type="http://schemas.openxmlformats.org/officeDocument/2006/relationships/notesSlide" Target="../notesSlides/notesSlide4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02920"/>
            <a:ext cx="10789920" cy="292608"/>
          </a:xfrm>
          <a:prstGeom prst="rect">
            <a:avLst/>
          </a:prstGeom>
          <a:noFill/>
        </p:spPr>
        <p:txBody>
          <a:bodyPr wrap="square" lIns="18288" rIns="18288" tIns="18288" bIns="18288" anchor="ctr">
            <a:spAutoFit/>
          </a:bodyPr>
          <a:lstStyle/>
          <a:p>
            <a:pPr algn="l">
              <a:spcBef>
                <a:spcPts val="0"/>
              </a:spcBef>
              <a:spcAft>
                <a:spcPts val="0"/>
              </a:spcAft>
            </a:pPr>
            <a:r>
              <a:rPr sz="1500" b="1">
                <a:solidFill>
                  <a:srgbClr val="0F676D"/>
                </a:solidFill>
                <a:latin typeface="Arial"/>
              </a:rPr>
              <a:t>FINAL THESIS DEFENSE</a:t>
            </a:r>
          </a:p>
        </p:txBody>
      </p:sp>
      <p:sp>
        <p:nvSpPr>
          <p:cNvPr id="4" name="TextBox 3"/>
          <p:cNvSpPr txBox="1"/>
          <p:nvPr/>
        </p:nvSpPr>
        <p:spPr>
          <a:xfrm>
            <a:off x="658368" y="1115568"/>
            <a:ext cx="10771632" cy="1920240"/>
          </a:xfrm>
          <a:prstGeom prst="rect">
            <a:avLst/>
          </a:prstGeom>
          <a:noFill/>
        </p:spPr>
        <p:txBody>
          <a:bodyPr wrap="square" lIns="18288" rIns="18288" tIns="18288" bIns="18288" anchor="t">
            <a:spAutoFit/>
          </a:bodyPr>
          <a:lstStyle/>
          <a:p>
            <a:pPr algn="l">
              <a:spcBef>
                <a:spcPts val="0"/>
              </a:spcBef>
              <a:spcAft>
                <a:spcPts val="0"/>
              </a:spcAft>
            </a:pPr>
            <a:r>
              <a:rPr sz="3100" b="1">
                <a:solidFill>
                  <a:srgbClr val="252B33"/>
                </a:solidFill>
                <a:latin typeface="Arial"/>
              </a:rPr>
              <a:t>Evaluating ChatGPT for Security, Performance, and Code-Quality Improvement of a Financial Accounting REST API: A Branch-Isolated Baseline Study</a:t>
            </a:r>
          </a:p>
        </p:txBody>
      </p:sp>
      <p:cxnSp>
        <p:nvCxnSpPr>
          <p:cNvPr id="5" name="Connector 4"/>
          <p:cNvCxnSpPr/>
          <p:nvPr/>
        </p:nvCxnSpPr>
        <p:spPr>
          <a:xfrm>
            <a:off x="658368" y="3246120"/>
            <a:ext cx="10789920" cy="0"/>
          </a:xfrm>
          <a:prstGeom prst="line">
            <a:avLst/>
          </a:prstGeom>
          <a:ln w="25400">
            <a:solidFill>
              <a:srgbClr val="0F676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58368" y="3593592"/>
            <a:ext cx="8686800" cy="411480"/>
          </a:xfrm>
          <a:prstGeom prst="rect">
            <a:avLst/>
          </a:prstGeom>
          <a:noFill/>
        </p:spPr>
        <p:txBody>
          <a:bodyPr wrap="square" lIns="18288" rIns="18288" tIns="18288" bIns="18288" anchor="ctr">
            <a:spAutoFit/>
          </a:bodyPr>
          <a:lstStyle/>
          <a:p>
            <a:pPr algn="l">
              <a:spcBef>
                <a:spcPts val="0"/>
              </a:spcBef>
              <a:spcAft>
                <a:spcPts val="0"/>
              </a:spcAft>
            </a:pPr>
            <a:r>
              <a:rPr sz="2300" b="1">
                <a:solidFill>
                  <a:srgbClr val="252B33"/>
                </a:solidFill>
                <a:latin typeface="Arial"/>
              </a:rPr>
              <a:t>Zaw Ye Htut Ko  |  G6519692</a:t>
            </a:r>
          </a:p>
        </p:txBody>
      </p:sp>
      <p:sp>
        <p:nvSpPr>
          <p:cNvPr id="7" name="TextBox 6"/>
          <p:cNvSpPr txBox="1"/>
          <p:nvPr/>
        </p:nvSpPr>
        <p:spPr>
          <a:xfrm>
            <a:off x="658368" y="4133087"/>
            <a:ext cx="10332720" cy="320040"/>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5B6874"/>
                </a:solidFill>
                <a:latin typeface="Arial"/>
              </a:rPr>
              <a:t>Master of Science in Information Technology  |  Assumption University</a:t>
            </a:r>
          </a:p>
        </p:txBody>
      </p:sp>
      <p:sp>
        <p:nvSpPr>
          <p:cNvPr id="8" name="TextBox 7"/>
          <p:cNvSpPr txBox="1"/>
          <p:nvPr/>
        </p:nvSpPr>
        <p:spPr>
          <a:xfrm>
            <a:off x="658368" y="4617720"/>
            <a:ext cx="9966960" cy="310896"/>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5B6874"/>
                </a:solidFill>
                <a:latin typeface="Arial"/>
              </a:rPr>
              <a:t>Advisor: Asst. Prof. Dr. Darun Kesrarat</a:t>
            </a:r>
          </a:p>
        </p:txBody>
      </p:sp>
      <p:sp>
        <p:nvSpPr>
          <p:cNvPr id="9" name="Rounded Rectangle 8"/>
          <p:cNvSpPr/>
          <p:nvPr/>
        </p:nvSpPr>
        <p:spPr>
          <a:xfrm>
            <a:off x="658368" y="5669280"/>
            <a:ext cx="10771632" cy="603504"/>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5760720"/>
            <a:ext cx="10332720" cy="393192"/>
          </a:xfrm>
          <a:prstGeom prst="rect">
            <a:avLst/>
          </a:prstGeom>
          <a:noFill/>
        </p:spPr>
        <p:txBody>
          <a:bodyPr wrap="square" lIns="18288" rIns="18288" tIns="18288" bIns="18288" anchor="ctr">
            <a:spAutoFit/>
          </a:bodyPr>
          <a:lstStyle/>
          <a:p>
            <a:pPr algn="l">
              <a:spcBef>
                <a:spcPts val="0"/>
              </a:spcBef>
              <a:spcAft>
                <a:spcPts val="0"/>
              </a:spcAft>
            </a:pPr>
            <a:r>
              <a:rPr sz="1900" b="1">
                <a:solidFill>
                  <a:srgbClr val="0F676D"/>
                </a:solidFill>
                <a:latin typeface="Arial"/>
              </a:rPr>
              <a:t>One existing API · one shared baseline · three independent measurements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OPENING</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When is an AI suggestion an improvement?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§§1.1-1.5 and Chapter 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2</a:t>
            </a:r>
          </a:p>
        </p:txBody>
      </p:sp>
      <p:sp>
        <p:nvSpPr>
          <p:cNvPr id="9" name="Rounded Rectangle 8"/>
          <p:cNvSpPr/>
          <p:nvPr/>
        </p:nvSpPr>
        <p:spPr>
          <a:xfrm>
            <a:off x="731520" y="1417320"/>
            <a:ext cx="10716768" cy="155448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1636776"/>
            <a:ext cx="10131552" cy="448056"/>
          </a:xfrm>
          <a:prstGeom prst="rect">
            <a:avLst/>
          </a:prstGeom>
          <a:noFill/>
        </p:spPr>
        <p:txBody>
          <a:bodyPr wrap="square" lIns="18288" rIns="18288" tIns="18288" bIns="18288" anchor="ctr">
            <a:spAutoFit/>
          </a:bodyPr>
          <a:lstStyle/>
          <a:p>
            <a:pPr algn="l">
              <a:spcBef>
                <a:spcPts val="0"/>
              </a:spcBef>
              <a:spcAft>
                <a:spcPts val="0"/>
              </a:spcAft>
            </a:pPr>
            <a:r>
              <a:rPr sz="2700" b="1">
                <a:solidFill>
                  <a:srgbClr val="252B33"/>
                </a:solidFill>
                <a:latin typeface="Arial"/>
              </a:rPr>
              <a:t>A plausible code change is not enough for a financial API.</a:t>
            </a:r>
          </a:p>
        </p:txBody>
      </p:sp>
      <p:sp>
        <p:nvSpPr>
          <p:cNvPr id="11" name="TextBox 10"/>
          <p:cNvSpPr txBox="1"/>
          <p:nvPr/>
        </p:nvSpPr>
        <p:spPr>
          <a:xfrm>
            <a:off x="1033271" y="2258568"/>
            <a:ext cx="10131552" cy="448056"/>
          </a:xfrm>
          <a:prstGeom prst="rect">
            <a:avLst/>
          </a:prstGeom>
          <a:noFill/>
        </p:spPr>
        <p:txBody>
          <a:bodyPr wrap="square" lIns="18288" rIns="18288" tIns="18288" bIns="18288" anchor="ctr">
            <a:spAutoFit/>
          </a:bodyPr>
          <a:lstStyle/>
          <a:p>
            <a:pPr algn="l">
              <a:spcBef>
                <a:spcPts val="0"/>
              </a:spcBef>
              <a:spcAft>
                <a:spcPts val="0"/>
              </a:spcAft>
            </a:pPr>
            <a:r>
              <a:rPr sz="1900" b="0">
                <a:solidFill>
                  <a:srgbClr val="0F676D"/>
                </a:solidFill>
                <a:latin typeface="Arial"/>
              </a:rPr>
              <a:t>The question is whether a reviewed ChatGPT suggestion survives functional and independent tool checks.</a:t>
            </a:r>
          </a:p>
        </p:txBody>
      </p:sp>
      <p:sp>
        <p:nvSpPr>
          <p:cNvPr id="12" name="Rounded Rectangle 11"/>
          <p:cNvSpPr/>
          <p:nvPr/>
        </p:nvSpPr>
        <p:spPr>
          <a:xfrm>
            <a:off x="731520" y="3410712"/>
            <a:ext cx="3438144" cy="2020824"/>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3666744"/>
            <a:ext cx="466344" cy="320040"/>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01</a:t>
            </a:r>
          </a:p>
        </p:txBody>
      </p:sp>
      <p:sp>
        <p:nvSpPr>
          <p:cNvPr id="14" name="TextBox 13"/>
          <p:cNvSpPr txBox="1"/>
          <p:nvPr/>
        </p:nvSpPr>
        <p:spPr>
          <a:xfrm>
            <a:off x="941832" y="4105656"/>
            <a:ext cx="2999232" cy="393192"/>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24466C"/>
                </a:solidFill>
                <a:latin typeface="Arial"/>
              </a:rPr>
              <a:t>Existing system</a:t>
            </a:r>
          </a:p>
        </p:txBody>
      </p:sp>
      <p:sp>
        <p:nvSpPr>
          <p:cNvPr id="15" name="TextBox 14"/>
          <p:cNvSpPr txBox="1"/>
          <p:nvPr/>
        </p:nvSpPr>
        <p:spPr>
          <a:xfrm>
            <a:off x="941832" y="4663440"/>
            <a:ext cx="2999232" cy="557784"/>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252B33"/>
                </a:solidFill>
                <a:latin typeface="Arial"/>
              </a:rPr>
              <a:t>One accounting API with real routes and roles</a:t>
            </a:r>
          </a:p>
        </p:txBody>
      </p:sp>
      <p:sp>
        <p:nvSpPr>
          <p:cNvPr id="16" name="Rounded Rectangle 15"/>
          <p:cNvSpPr/>
          <p:nvPr/>
        </p:nvSpPr>
        <p:spPr>
          <a:xfrm>
            <a:off x="4370832" y="3410712"/>
            <a:ext cx="3438144" cy="2020824"/>
          </a:xfrm>
          <a:prstGeom prst="roundRect">
            <a:avLst/>
          </a:prstGeom>
          <a:solidFill>
            <a:srgbClr val="E7F6F6"/>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1144" y="3666744"/>
            <a:ext cx="466344" cy="320040"/>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0F676D"/>
                </a:solidFill>
                <a:latin typeface="Arial"/>
              </a:rPr>
              <a:t>02</a:t>
            </a:r>
          </a:p>
        </p:txBody>
      </p:sp>
      <p:sp>
        <p:nvSpPr>
          <p:cNvPr id="18" name="TextBox 17"/>
          <p:cNvSpPr txBox="1"/>
          <p:nvPr/>
        </p:nvSpPr>
        <p:spPr>
          <a:xfrm>
            <a:off x="4581144" y="4105656"/>
            <a:ext cx="2999232" cy="393192"/>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0F676D"/>
                </a:solidFill>
                <a:latin typeface="Arial"/>
              </a:rPr>
              <a:t>Human review</a:t>
            </a:r>
          </a:p>
        </p:txBody>
      </p:sp>
      <p:sp>
        <p:nvSpPr>
          <p:cNvPr id="19" name="TextBox 18"/>
          <p:cNvSpPr txBox="1"/>
          <p:nvPr/>
        </p:nvSpPr>
        <p:spPr>
          <a:xfrm>
            <a:off x="4581144" y="4663440"/>
            <a:ext cx="2999232" cy="557784"/>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252B33"/>
                </a:solidFill>
                <a:latin typeface="Arial"/>
              </a:rPr>
              <a:t>I accept or reject each proposed change</a:t>
            </a:r>
          </a:p>
        </p:txBody>
      </p:sp>
      <p:sp>
        <p:nvSpPr>
          <p:cNvPr id="20" name="Rounded Rectangle 19"/>
          <p:cNvSpPr/>
          <p:nvPr/>
        </p:nvSpPr>
        <p:spPr>
          <a:xfrm>
            <a:off x="8010144" y="3410712"/>
            <a:ext cx="3438144" cy="2020824"/>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0456" y="3666744"/>
            <a:ext cx="466344" cy="320040"/>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03</a:t>
            </a:r>
          </a:p>
        </p:txBody>
      </p:sp>
      <p:sp>
        <p:nvSpPr>
          <p:cNvPr id="22" name="TextBox 21"/>
          <p:cNvSpPr txBox="1"/>
          <p:nvPr/>
        </p:nvSpPr>
        <p:spPr>
          <a:xfrm>
            <a:off x="8220456" y="4105656"/>
            <a:ext cx="2999232" cy="393192"/>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246F46"/>
                </a:solidFill>
                <a:latin typeface="Arial"/>
              </a:rPr>
              <a:t>Independent checks</a:t>
            </a:r>
          </a:p>
        </p:txBody>
      </p:sp>
      <p:sp>
        <p:nvSpPr>
          <p:cNvPr id="23" name="TextBox 22"/>
          <p:cNvSpPr txBox="1"/>
          <p:nvPr/>
        </p:nvSpPr>
        <p:spPr>
          <a:xfrm>
            <a:off x="8220456" y="4663440"/>
            <a:ext cx="2999232" cy="557784"/>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252B33"/>
                </a:solidFill>
                <a:latin typeface="Arial"/>
              </a:rPr>
              <a:t>Tests, SonarQube, ZAP, and JMeter</a:t>
            </a:r>
          </a:p>
        </p:txBody>
      </p:sp>
      <p:sp>
        <p:nvSpPr>
          <p:cNvPr id="24" name="TextBox 23"/>
          <p:cNvSpPr txBox="1"/>
          <p:nvPr/>
        </p:nvSpPr>
        <p:spPr>
          <a:xfrm>
            <a:off x="786384" y="5779008"/>
            <a:ext cx="10607040" cy="384048"/>
          </a:xfrm>
          <a:prstGeom prst="rect">
            <a:avLst/>
          </a:prstGeom>
          <a:noFill/>
        </p:spPr>
        <p:txBody>
          <a:bodyPr wrap="square" lIns="18288" rIns="18288" tIns="18288" bIns="18288" anchor="ctr">
            <a:spAutoFit/>
          </a:bodyPr>
          <a:lstStyle/>
          <a:p>
            <a:pPr algn="l">
              <a:spcBef>
                <a:spcPts val="0"/>
              </a:spcBef>
              <a:spcAft>
                <a:spcPts val="0"/>
              </a:spcAft>
            </a:pPr>
            <a:r>
              <a:rPr sz="1900" b="1">
                <a:solidFill>
                  <a:srgbClr val="0F676D"/>
                </a:solidFill>
                <a:latin typeface="Arial"/>
              </a:rPr>
              <a:t>The measurements—not the assistant's confidence—will answer the question.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PROBLEM</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One financial API has three different risks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§§1.1-1.4 and §3.1</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3</a:t>
            </a:r>
          </a:p>
        </p:txBody>
      </p:sp>
      <p:sp>
        <p:nvSpPr>
          <p:cNvPr id="9" name="Rounded Rectangle 8"/>
          <p:cNvSpPr/>
          <p:nvPr/>
        </p:nvSpPr>
        <p:spPr>
          <a:xfrm>
            <a:off x="713232" y="1572768"/>
            <a:ext cx="3456432" cy="3337560"/>
          </a:xfrm>
          <a:prstGeom prst="roundRect">
            <a:avLst/>
          </a:prstGeom>
          <a:solidFill>
            <a:srgbClr val="E7F6F6"/>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572768"/>
            <a:ext cx="91440" cy="333756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1920240"/>
            <a:ext cx="2971800" cy="45720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0F676D"/>
                </a:solidFill>
                <a:latin typeface="Arial"/>
              </a:rPr>
              <a:t>Maintainability</a:t>
            </a:r>
          </a:p>
        </p:txBody>
      </p:sp>
      <p:sp>
        <p:nvSpPr>
          <p:cNvPr id="12" name="TextBox 11"/>
          <p:cNvSpPr txBox="1"/>
          <p:nvPr/>
        </p:nvSpPr>
        <p:spPr>
          <a:xfrm>
            <a:off x="941832" y="2688336"/>
            <a:ext cx="2926080" cy="1572768"/>
          </a:xfrm>
          <a:prstGeom prst="rect">
            <a:avLst/>
          </a:prstGeom>
          <a:noFill/>
        </p:spPr>
        <p:txBody>
          <a:bodyPr wrap="square" lIns="18288" rIns="18288" tIns="18288" bIns="18288" anchor="ctr">
            <a:spAutoFit/>
          </a:bodyPr>
          <a:lstStyle/>
          <a:p>
            <a:pPr algn="l">
              <a:spcBef>
                <a:spcPts val="0"/>
              </a:spcBef>
              <a:spcAft>
                <a:spcPts val="0"/>
              </a:spcAft>
            </a:pPr>
            <a:r>
              <a:rPr sz="2100" b="0">
                <a:solidFill>
                  <a:srgbClr val="252B33"/>
                </a:solidFill>
                <a:latin typeface="Arial"/>
              </a:rPr>
              <a:t>Code smells, complex controller signatures, and repeated logic</a:t>
            </a:r>
          </a:p>
        </p:txBody>
      </p:sp>
      <p:sp>
        <p:nvSpPr>
          <p:cNvPr id="13" name="Rounded Rectangle 12"/>
          <p:cNvSpPr/>
          <p:nvPr/>
        </p:nvSpPr>
        <p:spPr>
          <a:xfrm>
            <a:off x="4370832" y="1572768"/>
            <a:ext cx="3456432" cy="3337560"/>
          </a:xfrm>
          <a:prstGeom prst="roundRect">
            <a:avLst/>
          </a:prstGeom>
          <a:solidFill>
            <a:srgbClr val="FDEFF0"/>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0832" y="1572768"/>
            <a:ext cx="91440" cy="333756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99432" y="1920240"/>
            <a:ext cx="2971800" cy="45720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B3373D"/>
                </a:solidFill>
                <a:latin typeface="Arial"/>
              </a:rPr>
              <a:t>Security</a:t>
            </a:r>
          </a:p>
        </p:txBody>
      </p:sp>
      <p:sp>
        <p:nvSpPr>
          <p:cNvPr id="16" name="TextBox 15"/>
          <p:cNvSpPr txBox="1"/>
          <p:nvPr/>
        </p:nvSpPr>
        <p:spPr>
          <a:xfrm>
            <a:off x="4599432" y="2688336"/>
            <a:ext cx="2926080" cy="1572768"/>
          </a:xfrm>
          <a:prstGeom prst="rect">
            <a:avLst/>
          </a:prstGeom>
          <a:noFill/>
        </p:spPr>
        <p:txBody>
          <a:bodyPr wrap="square" lIns="18288" rIns="18288" tIns="18288" bIns="18288" anchor="ctr">
            <a:spAutoFit/>
          </a:bodyPr>
          <a:lstStyle/>
          <a:p>
            <a:pPr algn="l">
              <a:spcBef>
                <a:spcPts val="0"/>
              </a:spcBef>
              <a:spcAft>
                <a:spcPts val="0"/>
              </a:spcAft>
            </a:pPr>
            <a:r>
              <a:rPr sz="2100" b="0">
                <a:solidFill>
                  <a:srgbClr val="252B33"/>
                </a:solidFill>
                <a:latin typeface="Arial"/>
              </a:rPr>
              <a:t>Headers, authorization boundaries, and scanner observations</a:t>
            </a:r>
          </a:p>
        </p:txBody>
      </p:sp>
      <p:sp>
        <p:nvSpPr>
          <p:cNvPr id="17" name="Rounded Rectangle 16"/>
          <p:cNvSpPr/>
          <p:nvPr/>
        </p:nvSpPr>
        <p:spPr>
          <a:xfrm>
            <a:off x="8028431" y="1572768"/>
            <a:ext cx="3456432" cy="3337560"/>
          </a:xfrm>
          <a:prstGeom prst="roundRect">
            <a:avLst/>
          </a:prstGeom>
          <a:solidFill>
            <a:srgbClr val="FFF6E7"/>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28431" y="1572768"/>
            <a:ext cx="91440" cy="333756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57031" y="1920240"/>
            <a:ext cx="2971800" cy="45720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BE7414"/>
                </a:solidFill>
                <a:latin typeface="Arial"/>
              </a:rPr>
              <a:t>Performance</a:t>
            </a:r>
          </a:p>
        </p:txBody>
      </p:sp>
      <p:sp>
        <p:nvSpPr>
          <p:cNvPr id="20" name="TextBox 19"/>
          <p:cNvSpPr txBox="1"/>
          <p:nvPr/>
        </p:nvSpPr>
        <p:spPr>
          <a:xfrm>
            <a:off x="8257031" y="2688336"/>
            <a:ext cx="2926080" cy="1572768"/>
          </a:xfrm>
          <a:prstGeom prst="rect">
            <a:avLst/>
          </a:prstGeom>
          <a:noFill/>
        </p:spPr>
        <p:txBody>
          <a:bodyPr wrap="square" lIns="18288" rIns="18288" tIns="18288" bIns="18288" anchor="ctr">
            <a:spAutoFit/>
          </a:bodyPr>
          <a:lstStyle/>
          <a:p>
            <a:pPr algn="l">
              <a:spcBef>
                <a:spcPts val="0"/>
              </a:spcBef>
              <a:spcAft>
                <a:spcPts val="0"/>
              </a:spcAft>
            </a:pPr>
            <a:r>
              <a:rPr sz="2100" b="0">
                <a:solidFill>
                  <a:srgbClr val="252B33"/>
                </a:solidFill>
                <a:latin typeface="Arial"/>
              </a:rPr>
              <a:t>Tail latency, throughput, errors, and sustained load</a:t>
            </a:r>
          </a:p>
        </p:txBody>
      </p:sp>
      <p:sp>
        <p:nvSpPr>
          <p:cNvPr id="21" name="TextBox 20"/>
          <p:cNvSpPr txBox="1"/>
          <p:nvPr/>
        </p:nvSpPr>
        <p:spPr>
          <a:xfrm>
            <a:off x="713232" y="5340096"/>
            <a:ext cx="10789920" cy="50292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252B33"/>
                </a:solidFill>
                <a:latin typeface="Arial"/>
              </a:rPr>
              <a:t>No one scanner can stand in for all three dimensions.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PROBLEM</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Three questions, three independent answers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§1.5 and Table 4.1</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4</a:t>
            </a:r>
          </a:p>
        </p:txBody>
      </p:sp>
      <p:sp>
        <p:nvSpPr>
          <p:cNvPr id="9" name="Rounded Rectangle 8"/>
          <p:cNvSpPr/>
          <p:nvPr/>
        </p:nvSpPr>
        <p:spPr>
          <a:xfrm>
            <a:off x="731520" y="1408176"/>
            <a:ext cx="10725912" cy="1216152"/>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408176"/>
            <a:ext cx="1188720" cy="1216152"/>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7824" y="1773936"/>
            <a:ext cx="877824" cy="402336"/>
          </a:xfrm>
          <a:prstGeom prst="rect">
            <a:avLst/>
          </a:prstGeom>
          <a:noFill/>
        </p:spPr>
        <p:txBody>
          <a:bodyPr wrap="square" lIns="18288" rIns="18288" tIns="18288" bIns="18288" anchor="ctr">
            <a:spAutoFit/>
          </a:bodyPr>
          <a:lstStyle/>
          <a:p>
            <a:pPr algn="ctr">
              <a:spcBef>
                <a:spcPts val="0"/>
              </a:spcBef>
              <a:spcAft>
                <a:spcPts val="0"/>
              </a:spcAft>
            </a:pPr>
            <a:r>
              <a:rPr sz="2400" b="1">
                <a:solidFill>
                  <a:srgbClr val="FFFFFF"/>
                </a:solidFill>
                <a:latin typeface="Arial"/>
              </a:rPr>
              <a:t>RQ1</a:t>
            </a:r>
          </a:p>
        </p:txBody>
      </p:sp>
      <p:sp>
        <p:nvSpPr>
          <p:cNvPr id="12" name="TextBox 11"/>
          <p:cNvSpPr txBox="1"/>
          <p:nvPr/>
        </p:nvSpPr>
        <p:spPr>
          <a:xfrm>
            <a:off x="2176272" y="1627632"/>
            <a:ext cx="8961120" cy="768096"/>
          </a:xfrm>
          <a:prstGeom prst="rect">
            <a:avLst/>
          </a:prstGeom>
          <a:noFill/>
        </p:spPr>
        <p:txBody>
          <a:bodyPr wrap="square" lIns="18288" rIns="18288" tIns="18288" bIns="18288" anchor="ctr">
            <a:spAutoFit/>
          </a:bodyPr>
          <a:lstStyle/>
          <a:p>
            <a:pPr algn="l">
              <a:spcBef>
                <a:spcPts val="0"/>
              </a:spcBef>
              <a:spcAft>
                <a:spcPts val="0"/>
              </a:spcAft>
            </a:pPr>
            <a:r>
              <a:rPr sz="2200" b="0">
                <a:solidFill>
                  <a:srgbClr val="252B33"/>
                </a:solidFill>
                <a:latin typeface="Arial"/>
              </a:rPr>
              <a:t>Can static issues be closed without material control-metric regression?</a:t>
            </a:r>
          </a:p>
        </p:txBody>
      </p:sp>
      <p:sp>
        <p:nvSpPr>
          <p:cNvPr id="13" name="Rounded Rectangle 12"/>
          <p:cNvSpPr/>
          <p:nvPr/>
        </p:nvSpPr>
        <p:spPr>
          <a:xfrm>
            <a:off x="731520" y="2889504"/>
            <a:ext cx="10725912" cy="1216152"/>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1520" y="2889504"/>
            <a:ext cx="1188720" cy="1216152"/>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7824" y="3255264"/>
            <a:ext cx="877824" cy="402336"/>
          </a:xfrm>
          <a:prstGeom prst="rect">
            <a:avLst/>
          </a:prstGeom>
          <a:noFill/>
        </p:spPr>
        <p:txBody>
          <a:bodyPr wrap="square" lIns="18288" rIns="18288" tIns="18288" bIns="18288" anchor="ctr">
            <a:spAutoFit/>
          </a:bodyPr>
          <a:lstStyle/>
          <a:p>
            <a:pPr algn="ctr">
              <a:spcBef>
                <a:spcPts val="0"/>
              </a:spcBef>
              <a:spcAft>
                <a:spcPts val="0"/>
              </a:spcAft>
            </a:pPr>
            <a:r>
              <a:rPr sz="2400" b="1">
                <a:solidFill>
                  <a:srgbClr val="FFFFFF"/>
                </a:solidFill>
                <a:latin typeface="Arial"/>
              </a:rPr>
              <a:t>RQ2</a:t>
            </a:r>
          </a:p>
        </p:txBody>
      </p:sp>
      <p:sp>
        <p:nvSpPr>
          <p:cNvPr id="16" name="TextBox 15"/>
          <p:cNvSpPr txBox="1"/>
          <p:nvPr/>
        </p:nvSpPr>
        <p:spPr>
          <a:xfrm>
            <a:off x="2176272" y="3108960"/>
            <a:ext cx="8961120" cy="768096"/>
          </a:xfrm>
          <a:prstGeom prst="rect">
            <a:avLst/>
          </a:prstGeom>
          <a:noFill/>
        </p:spPr>
        <p:txBody>
          <a:bodyPr wrap="square" lIns="18288" rIns="18288" tIns="18288" bIns="18288" anchor="ctr">
            <a:spAutoFit/>
          </a:bodyPr>
          <a:lstStyle/>
          <a:p>
            <a:pPr algn="l">
              <a:spcBef>
                <a:spcPts val="0"/>
              </a:spcBef>
              <a:spcAft>
                <a:spcPts val="0"/>
              </a:spcAft>
            </a:pPr>
            <a:r>
              <a:rPr sz="2200" b="0">
                <a:solidFill>
                  <a:srgbClr val="252B33"/>
                </a:solidFill>
                <a:latin typeface="Arial"/>
              </a:rPr>
              <a:t>Can configured security alerts be cleared and residual raw alerts disclosed?</a:t>
            </a:r>
          </a:p>
        </p:txBody>
      </p:sp>
      <p:sp>
        <p:nvSpPr>
          <p:cNvPr id="17" name="Rounded Rectangle 16"/>
          <p:cNvSpPr/>
          <p:nvPr/>
        </p:nvSpPr>
        <p:spPr>
          <a:xfrm>
            <a:off x="731520" y="4370832"/>
            <a:ext cx="10725912" cy="1216152"/>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1520" y="4370832"/>
            <a:ext cx="1188720" cy="1216152"/>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7824" y="4736592"/>
            <a:ext cx="877824" cy="402336"/>
          </a:xfrm>
          <a:prstGeom prst="rect">
            <a:avLst/>
          </a:prstGeom>
          <a:noFill/>
        </p:spPr>
        <p:txBody>
          <a:bodyPr wrap="square" lIns="18288" rIns="18288" tIns="18288" bIns="18288" anchor="ctr">
            <a:spAutoFit/>
          </a:bodyPr>
          <a:lstStyle/>
          <a:p>
            <a:pPr algn="ctr">
              <a:spcBef>
                <a:spcPts val="0"/>
              </a:spcBef>
              <a:spcAft>
                <a:spcPts val="0"/>
              </a:spcAft>
            </a:pPr>
            <a:r>
              <a:rPr sz="2400" b="1">
                <a:solidFill>
                  <a:srgbClr val="FFFFFF"/>
                </a:solidFill>
                <a:latin typeface="Arial"/>
              </a:rPr>
              <a:t>RQ3</a:t>
            </a:r>
          </a:p>
        </p:txBody>
      </p:sp>
      <p:sp>
        <p:nvSpPr>
          <p:cNvPr id="20" name="TextBox 19"/>
          <p:cNvSpPr txBox="1"/>
          <p:nvPr/>
        </p:nvSpPr>
        <p:spPr>
          <a:xfrm>
            <a:off x="2176272" y="4590288"/>
            <a:ext cx="8961120" cy="768096"/>
          </a:xfrm>
          <a:prstGeom prst="rect">
            <a:avLst/>
          </a:prstGeom>
          <a:noFill/>
        </p:spPr>
        <p:txBody>
          <a:bodyPr wrap="square" lIns="18288" rIns="18288" tIns="18288" bIns="18288" anchor="ctr">
            <a:spAutoFit/>
          </a:bodyPr>
          <a:lstStyle/>
          <a:p>
            <a:pPr algn="l">
              <a:spcBef>
                <a:spcPts val="0"/>
              </a:spcBef>
              <a:spcAft>
                <a:spcPts val="0"/>
              </a:spcAft>
            </a:pPr>
            <a:r>
              <a:rPr sz="2200" b="0">
                <a:solidFill>
                  <a:srgbClr val="252B33"/>
                </a:solidFill>
                <a:latin typeface="Arial"/>
              </a:rPr>
              <a:t>Can latency targets pass under core load as well as stress profiles?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An applied case study of one existing API</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§§1.6 and 3.1-3.3; OpenAI adoption study</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5</a:t>
            </a:r>
          </a:p>
        </p:txBody>
      </p:sp>
      <p:sp>
        <p:nvSpPr>
          <p:cNvPr id="9" name="Rounded Rectangle 8"/>
          <p:cNvSpPr/>
          <p:nvPr/>
        </p:nvSpPr>
        <p:spPr>
          <a:xfrm>
            <a:off x="731520" y="1481328"/>
            <a:ext cx="3438144" cy="3593592"/>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1737360"/>
            <a:ext cx="3017520" cy="256032"/>
          </a:xfrm>
          <a:prstGeom prst="rect">
            <a:avLst/>
          </a:prstGeom>
          <a:noFill/>
        </p:spPr>
        <p:txBody>
          <a:bodyPr wrap="square" lIns="18288" rIns="18288" tIns="18288" bIns="18288" anchor="ctr">
            <a:spAutoFit/>
          </a:bodyPr>
          <a:lstStyle/>
          <a:p>
            <a:pPr algn="l">
              <a:spcBef>
                <a:spcPts val="0"/>
              </a:spcBef>
              <a:spcAft>
                <a:spcPts val="0"/>
              </a:spcAft>
            </a:pPr>
            <a:r>
              <a:rPr sz="1400" b="1">
                <a:solidFill>
                  <a:srgbClr val="24466C"/>
                </a:solidFill>
                <a:latin typeface="Arial"/>
              </a:rPr>
              <a:t>WHAT I STUDIED</a:t>
            </a:r>
          </a:p>
        </p:txBody>
      </p:sp>
      <p:sp>
        <p:nvSpPr>
          <p:cNvPr id="11" name="TextBox 10"/>
          <p:cNvSpPr txBox="1"/>
          <p:nvPr/>
        </p:nvSpPr>
        <p:spPr>
          <a:xfrm>
            <a:off x="932688" y="2212848"/>
            <a:ext cx="3017520" cy="530352"/>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24466C"/>
                </a:solidFill>
                <a:latin typeface="Arial"/>
              </a:rPr>
              <a:t>Applied case study</a:t>
            </a:r>
          </a:p>
        </p:txBody>
      </p:sp>
      <p:sp>
        <p:nvSpPr>
          <p:cNvPr id="12" name="TextBox 11"/>
          <p:cNvSpPr txBox="1"/>
          <p:nvPr/>
        </p:nvSpPr>
        <p:spPr>
          <a:xfrm>
            <a:off x="932688" y="2944368"/>
            <a:ext cx="3017520" cy="1746504"/>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One ASP.NET Core financial API with accounts, journal entries, reports, and four user roles.</a:t>
            </a:r>
          </a:p>
        </p:txBody>
      </p:sp>
      <p:sp>
        <p:nvSpPr>
          <p:cNvPr id="13" name="Rounded Rectangle 12"/>
          <p:cNvSpPr/>
          <p:nvPr/>
        </p:nvSpPr>
        <p:spPr>
          <a:xfrm>
            <a:off x="4370832" y="1481328"/>
            <a:ext cx="3438144" cy="3593592"/>
          </a:xfrm>
          <a:prstGeom prst="roundRect">
            <a:avLst/>
          </a:prstGeom>
          <a:solidFill>
            <a:srgbClr val="E7F6F6"/>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0" y="1737360"/>
            <a:ext cx="3017520" cy="256032"/>
          </a:xfrm>
          <a:prstGeom prst="rect">
            <a:avLst/>
          </a:prstGeom>
          <a:noFill/>
        </p:spPr>
        <p:txBody>
          <a:bodyPr wrap="square" lIns="18288" rIns="18288" tIns="18288" bIns="18288" anchor="ctr">
            <a:spAutoFit/>
          </a:bodyPr>
          <a:lstStyle/>
          <a:p>
            <a:pPr algn="l">
              <a:spcBef>
                <a:spcPts val="0"/>
              </a:spcBef>
              <a:spcAft>
                <a:spcPts val="0"/>
              </a:spcAft>
            </a:pPr>
            <a:r>
              <a:rPr sz="1400" b="1">
                <a:solidFill>
                  <a:srgbClr val="0F676D"/>
                </a:solidFill>
                <a:latin typeface="Arial"/>
              </a:rPr>
              <a:t>WHY THIS ASSISTANT</a:t>
            </a:r>
          </a:p>
        </p:txBody>
      </p:sp>
      <p:sp>
        <p:nvSpPr>
          <p:cNvPr id="15" name="TextBox 14"/>
          <p:cNvSpPr txBox="1"/>
          <p:nvPr/>
        </p:nvSpPr>
        <p:spPr>
          <a:xfrm>
            <a:off x="4572000" y="2212848"/>
            <a:ext cx="3017520" cy="530352"/>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0F676D"/>
                </a:solidFill>
                <a:latin typeface="Arial"/>
              </a:rPr>
              <a:t>Why ChatGPT?</a:t>
            </a:r>
          </a:p>
        </p:txBody>
      </p:sp>
      <p:sp>
        <p:nvSpPr>
          <p:cNvPr id="16" name="TextBox 15"/>
          <p:cNvSpPr txBox="1"/>
          <p:nvPr/>
        </p:nvSpPr>
        <p:spPr>
          <a:xfrm>
            <a:off x="4572000" y="2944368"/>
            <a:ext cx="3017520" cy="1746504"/>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ChatGPT is widely used and recognizable. It is one case to study deeply—not uniquely capable of coding fixes.</a:t>
            </a:r>
          </a:p>
        </p:txBody>
      </p:sp>
      <p:sp>
        <p:nvSpPr>
          <p:cNvPr id="17" name="Rounded Rectangle 16"/>
          <p:cNvSpPr/>
          <p:nvPr/>
        </p:nvSpPr>
        <p:spPr>
          <a:xfrm>
            <a:off x="8010144" y="1481328"/>
            <a:ext cx="3438144" cy="3593592"/>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1312" y="1737360"/>
            <a:ext cx="3017520" cy="256032"/>
          </a:xfrm>
          <a:prstGeom prst="rect">
            <a:avLst/>
          </a:prstGeom>
          <a:noFill/>
        </p:spPr>
        <p:txBody>
          <a:bodyPr wrap="square" lIns="18288" rIns="18288" tIns="18288" bIns="18288" anchor="ctr">
            <a:spAutoFit/>
          </a:bodyPr>
          <a:lstStyle/>
          <a:p>
            <a:pPr algn="l">
              <a:spcBef>
                <a:spcPts val="0"/>
              </a:spcBef>
              <a:spcAft>
                <a:spcPts val="0"/>
              </a:spcAft>
            </a:pPr>
            <a:r>
              <a:rPr sz="1400" b="1">
                <a:solidFill>
                  <a:srgbClr val="246F46"/>
                </a:solidFill>
                <a:latin typeface="Arial"/>
              </a:rPr>
              <a:t>HOW I JUDGED IT</a:t>
            </a:r>
          </a:p>
        </p:txBody>
      </p:sp>
      <p:sp>
        <p:nvSpPr>
          <p:cNvPr id="19" name="TextBox 18"/>
          <p:cNvSpPr txBox="1"/>
          <p:nvPr/>
        </p:nvSpPr>
        <p:spPr>
          <a:xfrm>
            <a:off x="8211312" y="2212848"/>
            <a:ext cx="3017520" cy="530352"/>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246F46"/>
                </a:solidFill>
                <a:latin typeface="Arial"/>
              </a:rPr>
              <a:t>Measured comparison</a:t>
            </a:r>
          </a:p>
        </p:txBody>
      </p:sp>
      <p:sp>
        <p:nvSpPr>
          <p:cNvPr id="20" name="TextBox 19"/>
          <p:cNvSpPr txBox="1"/>
          <p:nvPr/>
        </p:nvSpPr>
        <p:spPr>
          <a:xfrm>
            <a:off x="8211312" y="2944368"/>
            <a:ext cx="3017520" cy="1746504"/>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One baseline and isolated branches; tests, SonarQube, ZAP, and JMeter judge the changes.</a:t>
            </a:r>
          </a:p>
        </p:txBody>
      </p:sp>
      <p:sp>
        <p:nvSpPr>
          <p:cNvPr id="21" name="Rounded Rectangle 20"/>
          <p:cNvSpPr/>
          <p:nvPr/>
        </p:nvSpPr>
        <p:spPr>
          <a:xfrm>
            <a:off x="768096" y="5376672"/>
            <a:ext cx="10643616" cy="68580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9264" y="5522976"/>
            <a:ext cx="10241280" cy="384048"/>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0F676D"/>
                </a:solidFill>
                <a:latin typeface="Arial"/>
              </a:rPr>
              <a:t>Contribution: evidence-backed AI-assisted remediation—not a new algorithm, matrix, or model comparison.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Every remediation branch starts from one baseline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3.1 and Appendix A</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6</a:t>
            </a:r>
          </a:p>
        </p:txBody>
      </p:sp>
      <p:sp>
        <p:nvSpPr>
          <p:cNvPr id="9" name="Rounded Rectangle 8"/>
          <p:cNvSpPr/>
          <p:nvPr/>
        </p:nvSpPr>
        <p:spPr>
          <a:xfrm>
            <a:off x="4251960" y="1325880"/>
            <a:ext cx="3685032" cy="1115568"/>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16552" y="1435607"/>
            <a:ext cx="3355848"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COMMON STARTING POINT</a:t>
            </a:r>
          </a:p>
        </p:txBody>
      </p:sp>
      <p:sp>
        <p:nvSpPr>
          <p:cNvPr id="11" name="TextBox 10"/>
          <p:cNvSpPr txBox="1"/>
          <p:nvPr/>
        </p:nvSpPr>
        <p:spPr>
          <a:xfrm>
            <a:off x="4416552" y="1682495"/>
            <a:ext cx="3355848"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466C"/>
                </a:solidFill>
                <a:latin typeface="Arial"/>
              </a:rPr>
              <a:t>baseline-v0.1</a:t>
            </a:r>
          </a:p>
        </p:txBody>
      </p:sp>
      <p:sp>
        <p:nvSpPr>
          <p:cNvPr id="12" name="TextBox 11"/>
          <p:cNvSpPr txBox="1"/>
          <p:nvPr/>
        </p:nvSpPr>
        <p:spPr>
          <a:xfrm>
            <a:off x="4416552" y="2176272"/>
            <a:ext cx="3355848"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Code before the changes</a:t>
            </a:r>
          </a:p>
        </p:txBody>
      </p:sp>
      <p:cxnSp>
        <p:nvCxnSpPr>
          <p:cNvPr id="13" name="Connector 12"/>
          <p:cNvCxnSpPr/>
          <p:nvPr/>
        </p:nvCxnSpPr>
        <p:spPr>
          <a:xfrm flipH="1">
            <a:off x="2468880" y="2450592"/>
            <a:ext cx="3630168" cy="566928"/>
          </a:xfrm>
          <a:prstGeom prst="line">
            <a:avLst/>
          </a:prstGeom>
          <a:ln w="25400">
            <a:solidFill>
              <a:srgbClr val="0F676D"/>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31520" y="3054096"/>
            <a:ext cx="3474720" cy="19202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20" y="3054096"/>
            <a:ext cx="91440" cy="192024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3319272"/>
            <a:ext cx="3035808" cy="384048"/>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0F676D"/>
                </a:solidFill>
                <a:latin typeface="Arial"/>
              </a:rPr>
              <a:t>SonarQube</a:t>
            </a:r>
          </a:p>
        </p:txBody>
      </p:sp>
      <p:sp>
        <p:nvSpPr>
          <p:cNvPr id="17" name="TextBox 16"/>
          <p:cNvSpPr txBox="1"/>
          <p:nvPr/>
        </p:nvSpPr>
        <p:spPr>
          <a:xfrm>
            <a:off x="932688" y="3822191"/>
            <a:ext cx="3035808" cy="347472"/>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52B33"/>
                </a:solidFill>
                <a:latin typeface="Arial"/>
              </a:rPr>
              <a:t>baseline-sonarqube-v1</a:t>
            </a:r>
          </a:p>
        </p:txBody>
      </p:sp>
      <p:sp>
        <p:nvSpPr>
          <p:cNvPr id="18" name="TextBox 17"/>
          <p:cNvSpPr txBox="1"/>
          <p:nvPr/>
        </p:nvSpPr>
        <p:spPr>
          <a:xfrm>
            <a:off x="932688" y="4334256"/>
            <a:ext cx="3035808" cy="256032"/>
          </a:xfrm>
          <a:prstGeom prst="rect">
            <a:avLst/>
          </a:prstGeom>
          <a:noFill/>
        </p:spPr>
        <p:txBody>
          <a:bodyPr wrap="square" lIns="18288" rIns="18288" tIns="18288" bIns="18288" anchor="ctr">
            <a:spAutoFit/>
          </a:bodyPr>
          <a:lstStyle/>
          <a:p>
            <a:pPr algn="l">
              <a:spcBef>
                <a:spcPts val="0"/>
              </a:spcBef>
              <a:spcAft>
                <a:spcPts val="0"/>
              </a:spcAft>
            </a:pPr>
            <a:r>
              <a:rPr sz="1300" b="0">
                <a:solidFill>
                  <a:srgbClr val="5B6874"/>
                </a:solidFill>
                <a:latin typeface="Arial"/>
              </a:rPr>
              <a:t>Compared with the same baseline</a:t>
            </a:r>
          </a:p>
        </p:txBody>
      </p:sp>
      <p:cxnSp>
        <p:nvCxnSpPr>
          <p:cNvPr id="19" name="Connector 18"/>
          <p:cNvCxnSpPr/>
          <p:nvPr/>
        </p:nvCxnSpPr>
        <p:spPr>
          <a:xfrm>
            <a:off x="6099048" y="2450592"/>
            <a:ext cx="9144" cy="566928"/>
          </a:xfrm>
          <a:prstGeom prst="line">
            <a:avLst/>
          </a:prstGeom>
          <a:ln w="25400">
            <a:solidFill>
              <a:srgbClr val="B3373D"/>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370832" y="3054096"/>
            <a:ext cx="3474720" cy="19202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370832" y="3054096"/>
            <a:ext cx="91440" cy="192024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0" y="3319272"/>
            <a:ext cx="3035808" cy="384048"/>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B3373D"/>
                </a:solidFill>
                <a:latin typeface="Arial"/>
              </a:rPr>
              <a:t>OWASP ZAP</a:t>
            </a:r>
          </a:p>
        </p:txBody>
      </p:sp>
      <p:sp>
        <p:nvSpPr>
          <p:cNvPr id="23" name="TextBox 22"/>
          <p:cNvSpPr txBox="1"/>
          <p:nvPr/>
        </p:nvSpPr>
        <p:spPr>
          <a:xfrm>
            <a:off x="4572000" y="3822191"/>
            <a:ext cx="3035808" cy="347472"/>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52B33"/>
                </a:solidFill>
                <a:latin typeface="Arial"/>
              </a:rPr>
              <a:t>baseline-zap-v1</a:t>
            </a:r>
          </a:p>
        </p:txBody>
      </p:sp>
      <p:sp>
        <p:nvSpPr>
          <p:cNvPr id="24" name="TextBox 23"/>
          <p:cNvSpPr txBox="1"/>
          <p:nvPr/>
        </p:nvSpPr>
        <p:spPr>
          <a:xfrm>
            <a:off x="4572000" y="4334256"/>
            <a:ext cx="3035808" cy="256032"/>
          </a:xfrm>
          <a:prstGeom prst="rect">
            <a:avLst/>
          </a:prstGeom>
          <a:noFill/>
        </p:spPr>
        <p:txBody>
          <a:bodyPr wrap="square" lIns="18288" rIns="18288" tIns="18288" bIns="18288" anchor="ctr">
            <a:spAutoFit/>
          </a:bodyPr>
          <a:lstStyle/>
          <a:p>
            <a:pPr algn="l">
              <a:spcBef>
                <a:spcPts val="0"/>
              </a:spcBef>
              <a:spcAft>
                <a:spcPts val="0"/>
              </a:spcAft>
            </a:pPr>
            <a:r>
              <a:rPr sz="1300" b="0">
                <a:solidFill>
                  <a:srgbClr val="5B6874"/>
                </a:solidFill>
                <a:latin typeface="Arial"/>
              </a:rPr>
              <a:t>Compared with the same baseline</a:t>
            </a:r>
          </a:p>
        </p:txBody>
      </p:sp>
      <p:cxnSp>
        <p:nvCxnSpPr>
          <p:cNvPr id="25" name="Connector 24"/>
          <p:cNvCxnSpPr/>
          <p:nvPr/>
        </p:nvCxnSpPr>
        <p:spPr>
          <a:xfrm>
            <a:off x="6099048" y="2450592"/>
            <a:ext cx="3648456" cy="566928"/>
          </a:xfrm>
          <a:prstGeom prst="line">
            <a:avLst/>
          </a:prstGeom>
          <a:ln w="25400">
            <a:solidFill>
              <a:srgbClr val="BE7414"/>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8010144" y="3054096"/>
            <a:ext cx="3474720" cy="19202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10144" y="3054096"/>
            <a:ext cx="91440" cy="192024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11312" y="3319272"/>
            <a:ext cx="3035808" cy="384048"/>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BE7414"/>
                </a:solidFill>
                <a:latin typeface="Arial"/>
              </a:rPr>
              <a:t>JMeter</a:t>
            </a:r>
          </a:p>
        </p:txBody>
      </p:sp>
      <p:sp>
        <p:nvSpPr>
          <p:cNvPr id="29" name="TextBox 28"/>
          <p:cNvSpPr txBox="1"/>
          <p:nvPr/>
        </p:nvSpPr>
        <p:spPr>
          <a:xfrm>
            <a:off x="8211312" y="3822191"/>
            <a:ext cx="3035808" cy="347472"/>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52B33"/>
                </a:solidFill>
                <a:latin typeface="Arial"/>
              </a:rPr>
              <a:t>baseline-jmeter-v1</a:t>
            </a:r>
          </a:p>
        </p:txBody>
      </p:sp>
      <p:sp>
        <p:nvSpPr>
          <p:cNvPr id="30" name="TextBox 29"/>
          <p:cNvSpPr txBox="1"/>
          <p:nvPr/>
        </p:nvSpPr>
        <p:spPr>
          <a:xfrm>
            <a:off x="8211312" y="4334256"/>
            <a:ext cx="3035808" cy="256032"/>
          </a:xfrm>
          <a:prstGeom prst="rect">
            <a:avLst/>
          </a:prstGeom>
          <a:noFill/>
        </p:spPr>
        <p:txBody>
          <a:bodyPr wrap="square" lIns="18288" rIns="18288" tIns="18288" bIns="18288" anchor="ctr">
            <a:spAutoFit/>
          </a:bodyPr>
          <a:lstStyle/>
          <a:p>
            <a:pPr algn="l">
              <a:spcBef>
                <a:spcPts val="0"/>
              </a:spcBef>
              <a:spcAft>
                <a:spcPts val="0"/>
              </a:spcAft>
            </a:pPr>
            <a:r>
              <a:rPr sz="1300" b="0">
                <a:solidFill>
                  <a:srgbClr val="5B6874"/>
                </a:solidFill>
                <a:latin typeface="Arial"/>
              </a:rPr>
              <a:t>Compared with the same baseline</a:t>
            </a:r>
          </a:p>
        </p:txBody>
      </p:sp>
      <p:sp>
        <p:nvSpPr>
          <p:cNvPr id="31" name="TextBox 30"/>
          <p:cNvSpPr txBox="1"/>
          <p:nvPr/>
        </p:nvSpPr>
        <p:spPr>
          <a:xfrm>
            <a:off x="731520" y="5449824"/>
            <a:ext cx="10789920" cy="457200"/>
          </a:xfrm>
          <a:prstGeom prst="rect">
            <a:avLst/>
          </a:prstGeom>
          <a:noFill/>
        </p:spPr>
        <p:txBody>
          <a:bodyPr wrap="square" lIns="18288" rIns="18288" tIns="18288" bIns="18288" anchor="ctr">
            <a:spAutoFit/>
          </a:bodyPr>
          <a:lstStyle/>
          <a:p>
            <a:pPr algn="l">
              <a:spcBef>
                <a:spcPts val="0"/>
              </a:spcBef>
              <a:spcAft>
                <a:spcPts val="0"/>
              </a:spcAft>
            </a:pPr>
            <a:r>
              <a:rPr sz="1900" b="0">
                <a:solidFill>
                  <a:srgbClr val="252B33"/>
                </a:solidFill>
                <a:latin typeface="Arial"/>
              </a:rPr>
              <a:t>Compare each changed branch with the same starting code—one tool at a time.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Four phases turn suggestions into evidence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§3.1.1; Figures 3.1-3.4</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7</a:t>
            </a:r>
          </a:p>
        </p:txBody>
      </p:sp>
      <p:sp>
        <p:nvSpPr>
          <p:cNvPr id="9" name="Rounded Rectangle 8"/>
          <p:cNvSpPr/>
          <p:nvPr/>
        </p:nvSpPr>
        <p:spPr>
          <a:xfrm>
            <a:off x="694944" y="1673352"/>
            <a:ext cx="2660904" cy="333756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731520" cy="521207"/>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0F676D"/>
                </a:solidFill>
                <a:latin typeface="Arial"/>
              </a:rPr>
              <a:t>01</a:t>
            </a:r>
          </a:p>
        </p:txBody>
      </p:sp>
      <p:sp>
        <p:nvSpPr>
          <p:cNvPr id="11" name="TextBox 10"/>
          <p:cNvSpPr txBox="1"/>
          <p:nvPr/>
        </p:nvSpPr>
        <p:spPr>
          <a:xfrm>
            <a:off x="877824" y="2660904"/>
            <a:ext cx="2267712" cy="64008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252B33"/>
                </a:solidFill>
                <a:latin typeface="Arial"/>
              </a:rPr>
              <a:t>Capture baseline</a:t>
            </a:r>
          </a:p>
        </p:txBody>
      </p:sp>
      <p:sp>
        <p:nvSpPr>
          <p:cNvPr id="12" name="TextBox 11"/>
          <p:cNvSpPr txBox="1"/>
          <p:nvPr/>
        </p:nvSpPr>
        <p:spPr>
          <a:xfrm>
            <a:off x="877824" y="3547872"/>
            <a:ext cx="2267712" cy="1060704"/>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Freeze code, dataset, and raw tool output</a:t>
            </a:r>
          </a:p>
        </p:txBody>
      </p:sp>
      <p:sp>
        <p:nvSpPr>
          <p:cNvPr id="13" name="Rounded Rectangle 12"/>
          <p:cNvSpPr/>
          <p:nvPr/>
        </p:nvSpPr>
        <p:spPr>
          <a:xfrm>
            <a:off x="3557015" y="1673352"/>
            <a:ext cx="2660904" cy="333756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39896" y="1901952"/>
            <a:ext cx="731520" cy="521207"/>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0F676D"/>
                </a:solidFill>
                <a:latin typeface="Arial"/>
              </a:rPr>
              <a:t>02</a:t>
            </a:r>
          </a:p>
        </p:txBody>
      </p:sp>
      <p:sp>
        <p:nvSpPr>
          <p:cNvPr id="15" name="TextBox 14"/>
          <p:cNvSpPr txBox="1"/>
          <p:nvPr/>
        </p:nvSpPr>
        <p:spPr>
          <a:xfrm>
            <a:off x="3739896" y="2660904"/>
            <a:ext cx="2267712" cy="64008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252B33"/>
                </a:solidFill>
                <a:latin typeface="Arial"/>
              </a:rPr>
              <a:t>Propose bounded fix</a:t>
            </a:r>
          </a:p>
        </p:txBody>
      </p:sp>
      <p:sp>
        <p:nvSpPr>
          <p:cNvPr id="16" name="TextBox 15"/>
          <p:cNvSpPr txBox="1"/>
          <p:nvPr/>
        </p:nvSpPr>
        <p:spPr>
          <a:xfrm>
            <a:off x="3739896" y="3547872"/>
            <a:ext cx="2267712" cy="1060704"/>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Give ChatGPT the finding, source context, and constraints</a:t>
            </a:r>
          </a:p>
        </p:txBody>
      </p:sp>
      <p:sp>
        <p:nvSpPr>
          <p:cNvPr id="17" name="Rounded Rectangle 16"/>
          <p:cNvSpPr/>
          <p:nvPr/>
        </p:nvSpPr>
        <p:spPr>
          <a:xfrm>
            <a:off x="6419088" y="1673352"/>
            <a:ext cx="2660904" cy="333756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01968" y="1901952"/>
            <a:ext cx="731520" cy="521207"/>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0F676D"/>
                </a:solidFill>
                <a:latin typeface="Arial"/>
              </a:rPr>
              <a:t>03</a:t>
            </a:r>
          </a:p>
        </p:txBody>
      </p:sp>
      <p:sp>
        <p:nvSpPr>
          <p:cNvPr id="19" name="TextBox 18"/>
          <p:cNvSpPr txBox="1"/>
          <p:nvPr/>
        </p:nvSpPr>
        <p:spPr>
          <a:xfrm>
            <a:off x="6601968" y="2660904"/>
            <a:ext cx="2267712" cy="64008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252B33"/>
                </a:solidFill>
                <a:latin typeface="Arial"/>
              </a:rPr>
              <a:t>Review and re-test</a:t>
            </a:r>
          </a:p>
        </p:txBody>
      </p:sp>
      <p:sp>
        <p:nvSpPr>
          <p:cNvPr id="20" name="TextBox 19"/>
          <p:cNvSpPr txBox="1"/>
          <p:nvPr/>
        </p:nvSpPr>
        <p:spPr>
          <a:xfrm>
            <a:off x="6601968" y="3547872"/>
            <a:ext cx="2267712" cy="1060704"/>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I review, run tests, and rerun the same tool</a:t>
            </a:r>
          </a:p>
        </p:txBody>
      </p:sp>
      <p:sp>
        <p:nvSpPr>
          <p:cNvPr id="21" name="Rounded Rectangle 20"/>
          <p:cNvSpPr/>
          <p:nvPr/>
        </p:nvSpPr>
        <p:spPr>
          <a:xfrm>
            <a:off x="9281160" y="1673352"/>
            <a:ext cx="2660904" cy="333756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464040" y="1901952"/>
            <a:ext cx="731520" cy="521207"/>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0F676D"/>
                </a:solidFill>
                <a:latin typeface="Arial"/>
              </a:rPr>
              <a:t>04</a:t>
            </a:r>
          </a:p>
        </p:txBody>
      </p:sp>
      <p:sp>
        <p:nvSpPr>
          <p:cNvPr id="23" name="TextBox 22"/>
          <p:cNvSpPr txBox="1"/>
          <p:nvPr/>
        </p:nvSpPr>
        <p:spPr>
          <a:xfrm>
            <a:off x="9464040" y="2660904"/>
            <a:ext cx="2267712" cy="64008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252B33"/>
                </a:solidFill>
                <a:latin typeface="Arial"/>
              </a:rPr>
              <a:t>Compare and report</a:t>
            </a:r>
          </a:p>
        </p:txBody>
      </p:sp>
      <p:sp>
        <p:nvSpPr>
          <p:cNvPr id="24" name="TextBox 23"/>
          <p:cNvSpPr txBox="1"/>
          <p:nvPr/>
        </p:nvSpPr>
        <p:spPr>
          <a:xfrm>
            <a:off x="9464040" y="3547872"/>
            <a:ext cx="2267712" cy="1060704"/>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Apply gates; disclose residuals and unmet targets</a:t>
            </a:r>
          </a:p>
        </p:txBody>
      </p:sp>
      <p:sp>
        <p:nvSpPr>
          <p:cNvPr id="25" name="TextBox 24"/>
          <p:cNvSpPr txBox="1"/>
          <p:nvPr/>
        </p:nvSpPr>
        <p:spPr>
          <a:xfrm>
            <a:off x="713232" y="5468112"/>
            <a:ext cx="10789920" cy="457200"/>
          </a:xfrm>
          <a:prstGeom prst="rect">
            <a:avLst/>
          </a:prstGeom>
          <a:noFill/>
        </p:spPr>
        <p:txBody>
          <a:bodyPr wrap="square" lIns="18288" rIns="18288" tIns="18288" bIns="18288" anchor="ctr">
            <a:spAutoFit/>
          </a:bodyPr>
          <a:lstStyle/>
          <a:p>
            <a:pPr algn="l">
              <a:spcBef>
                <a:spcPts val="0"/>
              </a:spcBef>
              <a:spcAft>
                <a:spcPts val="0"/>
              </a:spcAft>
            </a:pPr>
            <a:r>
              <a:rPr sz="2300" b="1">
                <a:solidFill>
                  <a:srgbClr val="0F676D"/>
                </a:solidFill>
                <a:latin typeface="Arial"/>
              </a:rPr>
              <a:t>The model does not approve its own output.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One local setup and a seeded dataset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Tables 3.2 and 3.11; Appendix H</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8</a:t>
            </a:r>
          </a:p>
        </p:txBody>
      </p:sp>
      <p:sp>
        <p:nvSpPr>
          <p:cNvPr id="9" name="Rounded Rectangle 8"/>
          <p:cNvSpPr/>
          <p:nvPr/>
        </p:nvSpPr>
        <p:spPr>
          <a:xfrm>
            <a:off x="713232" y="1444752"/>
            <a:ext cx="3447288" cy="1115568"/>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554480"/>
            <a:ext cx="3118104"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ACCOUNTS</a:t>
            </a:r>
          </a:p>
        </p:txBody>
      </p:sp>
      <p:sp>
        <p:nvSpPr>
          <p:cNvPr id="11" name="TextBox 10"/>
          <p:cNvSpPr txBox="1"/>
          <p:nvPr/>
        </p:nvSpPr>
        <p:spPr>
          <a:xfrm>
            <a:off x="877824" y="1801368"/>
            <a:ext cx="3118104"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466C"/>
                </a:solidFill>
                <a:latin typeface="Arial"/>
              </a:rPr>
              <a:t>120</a:t>
            </a:r>
          </a:p>
        </p:txBody>
      </p:sp>
      <p:sp>
        <p:nvSpPr>
          <p:cNvPr id="12" name="TextBox 11"/>
          <p:cNvSpPr txBox="1"/>
          <p:nvPr/>
        </p:nvSpPr>
        <p:spPr>
          <a:xfrm>
            <a:off x="877824" y="2295144"/>
            <a:ext cx="3118104"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Seeded count in run record</a:t>
            </a:r>
          </a:p>
        </p:txBody>
      </p:sp>
      <p:sp>
        <p:nvSpPr>
          <p:cNvPr id="13" name="Rounded Rectangle 12"/>
          <p:cNvSpPr/>
          <p:nvPr/>
        </p:nvSpPr>
        <p:spPr>
          <a:xfrm>
            <a:off x="4370832" y="1444752"/>
            <a:ext cx="3447288" cy="1115568"/>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35424" y="1554480"/>
            <a:ext cx="3118104"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JOURNAL ENTRIES</a:t>
            </a:r>
          </a:p>
        </p:txBody>
      </p:sp>
      <p:sp>
        <p:nvSpPr>
          <p:cNvPr id="15" name="TextBox 14"/>
          <p:cNvSpPr txBox="1"/>
          <p:nvPr/>
        </p:nvSpPr>
        <p:spPr>
          <a:xfrm>
            <a:off x="4535424" y="1801368"/>
            <a:ext cx="3118104"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466C"/>
                </a:solidFill>
                <a:latin typeface="Arial"/>
              </a:rPr>
              <a:t>30,000</a:t>
            </a:r>
          </a:p>
        </p:txBody>
      </p:sp>
      <p:sp>
        <p:nvSpPr>
          <p:cNvPr id="16" name="TextBox 15"/>
          <p:cNvSpPr txBox="1"/>
          <p:nvPr/>
        </p:nvSpPr>
        <p:spPr>
          <a:xfrm>
            <a:off x="4535424" y="2295144"/>
            <a:ext cx="3118104"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At least 5,000 posted</a:t>
            </a:r>
          </a:p>
        </p:txBody>
      </p:sp>
      <p:sp>
        <p:nvSpPr>
          <p:cNvPr id="17" name="Rounded Rectangle 16"/>
          <p:cNvSpPr/>
          <p:nvPr/>
        </p:nvSpPr>
        <p:spPr>
          <a:xfrm>
            <a:off x="8028431" y="1444752"/>
            <a:ext cx="3447288" cy="1115568"/>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93023" y="1554480"/>
            <a:ext cx="3118104"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TEST HOST</a:t>
            </a:r>
          </a:p>
        </p:txBody>
      </p:sp>
      <p:sp>
        <p:nvSpPr>
          <p:cNvPr id="19" name="TextBox 18"/>
          <p:cNvSpPr txBox="1"/>
          <p:nvPr/>
        </p:nvSpPr>
        <p:spPr>
          <a:xfrm>
            <a:off x="8193023" y="1796281"/>
            <a:ext cx="3118104" cy="421654"/>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466C"/>
                </a:solidFill>
                <a:latin typeface="Arial"/>
              </a:rPr>
              <a:t>Local </a:t>
            </a:r>
          </a:p>
        </p:txBody>
      </p:sp>
      <p:sp>
        <p:nvSpPr>
          <p:cNvPr id="20" name="TextBox 19"/>
          <p:cNvSpPr txBox="1"/>
          <p:nvPr/>
        </p:nvSpPr>
        <p:spPr>
          <a:xfrm>
            <a:off x="8193023" y="2295144"/>
            <a:ext cx="3118104"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.NET 8 · local SQL Server</a:t>
            </a:r>
          </a:p>
        </p:txBody>
      </p:sp>
      <p:sp>
        <p:nvSpPr>
          <p:cNvPr id="21" name="Rounded Rectangle 20"/>
          <p:cNvSpPr/>
          <p:nvPr/>
        </p:nvSpPr>
        <p:spPr>
          <a:xfrm>
            <a:off x="713232" y="2990088"/>
            <a:ext cx="10762488" cy="224028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9264" y="3264408"/>
            <a:ext cx="10104120" cy="384048"/>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0F676D"/>
                </a:solidFill>
                <a:latin typeface="Arial"/>
              </a:rPr>
              <a:t>Tool versions in the fresh reproduction</a:t>
            </a:r>
          </a:p>
        </p:txBody>
      </p:sp>
      <p:sp>
        <p:nvSpPr>
          <p:cNvPr id="23" name="TextBox 22"/>
          <p:cNvSpPr txBox="1"/>
          <p:nvPr/>
        </p:nvSpPr>
        <p:spPr>
          <a:xfrm>
            <a:off x="969264" y="3858768"/>
            <a:ext cx="10094976" cy="54864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252B33"/>
                </a:solidFill>
                <a:latin typeface="Arial"/>
              </a:rPr>
              <a:t>SonarQube 26.7     |     OWASP ZAP 2.17     |     Apache JMeter 5.5</a:t>
            </a:r>
          </a:p>
        </p:txBody>
      </p:sp>
      <p:sp>
        <p:nvSpPr>
          <p:cNvPr id="24" name="TextBox 23"/>
          <p:cNvSpPr txBox="1"/>
          <p:nvPr/>
        </p:nvSpPr>
        <p:spPr>
          <a:xfrm>
            <a:off x="969264" y="4599432"/>
            <a:ext cx="10094976" cy="320040"/>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The next slide shows the seed settings and recorded counts (Appendix 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Where the 120-account count comes from</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H; Tables 3.10-3.11; branch-verification.json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9</a:t>
            </a:r>
          </a:p>
        </p:txBody>
      </p:sp>
      <p:sp>
        <p:nvSpPr>
          <p:cNvPr id="9" name="Rounded Rectangle 8"/>
          <p:cNvSpPr/>
          <p:nvPr/>
        </p:nvSpPr>
        <p:spPr>
          <a:xfrm>
            <a:off x="731520" y="1444752"/>
            <a:ext cx="5166360" cy="42062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54496" y="1444752"/>
            <a:ext cx="5166360" cy="42062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7552" y="1746504"/>
            <a:ext cx="4663440" cy="365760"/>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0F676D"/>
                </a:solidFill>
                <a:latin typeface="Arial"/>
              </a:rPr>
              <a:t>Seed script settings</a:t>
            </a:r>
          </a:p>
        </p:txBody>
      </p:sp>
      <p:sp>
        <p:nvSpPr>
          <p:cNvPr id="12" name="TextBox 11"/>
          <p:cNvSpPr txBox="1"/>
          <p:nvPr/>
        </p:nvSpPr>
        <p:spPr>
          <a:xfrm>
            <a:off x="987552" y="2212848"/>
            <a:ext cx="4663440" cy="384048"/>
          </a:xfrm>
          <a:prstGeom prst="rect">
            <a:avLst/>
          </a:prstGeom>
          <a:noFill/>
        </p:spPr>
        <p:txBody>
          <a:bodyPr wrap="square" lIns="18288" rIns="18288" tIns="18288" bIns="18288" anchor="ctr">
            <a:spAutoFit/>
          </a:bodyPr>
          <a:lstStyle/>
          <a:p>
            <a:pPr algn="l">
              <a:spcBef>
                <a:spcPts val="0"/>
              </a:spcBef>
              <a:spcAft>
                <a:spcPts val="0"/>
              </a:spcAft>
            </a:pPr>
            <a:r>
              <a:rPr sz="1500" b="0">
                <a:solidFill>
                  <a:srgbClr val="5B6874"/>
                </a:solidFill>
                <a:latin typeface="Courier New"/>
              </a:rPr>
              <a:t>scripts/phase4/seed-test-data.ps1</a:t>
            </a:r>
          </a:p>
        </p:txBody>
      </p:sp>
      <p:sp>
        <p:nvSpPr>
          <p:cNvPr id="13" name="TextBox 12"/>
          <p:cNvSpPr txBox="1"/>
          <p:nvPr/>
        </p:nvSpPr>
        <p:spPr>
          <a:xfrm>
            <a:off x="987552" y="2788920"/>
            <a:ext cx="4645152" cy="1947672"/>
          </a:xfrm>
          <a:prstGeom prst="rect">
            <a:avLst/>
          </a:prstGeom>
          <a:noFill/>
        </p:spPr>
        <p:txBody>
          <a:bodyPr wrap="square" lIns="18288" rIns="18288" tIns="18288" bIns="18288" anchor="t">
            <a:spAutoFit/>
          </a:bodyPr>
          <a:lstStyle/>
          <a:p>
            <a:pPr algn="l">
              <a:spcBef>
                <a:spcPts val="0"/>
              </a:spcBef>
              <a:spcAft>
                <a:spcPts val="0"/>
              </a:spcAft>
            </a:pPr>
            <a:r>
              <a:rPr sz="1900" b="0">
                <a:solidFill>
                  <a:srgbClr val="252B33"/>
                </a:solidFill>
                <a:latin typeface="Courier New"/>
              </a:rPr>
              <a:t>AccountCount = 120
JournalEntryCount = 30000
MinimumPostedEntries = 5000</a:t>
            </a:r>
          </a:p>
        </p:txBody>
      </p:sp>
      <p:sp>
        <p:nvSpPr>
          <p:cNvPr id="14" name="TextBox 13"/>
          <p:cNvSpPr txBox="1"/>
          <p:nvPr/>
        </p:nvSpPr>
        <p:spPr>
          <a:xfrm>
            <a:off x="6510528" y="1746504"/>
            <a:ext cx="4663440" cy="365760"/>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0F676D"/>
                </a:solidFill>
                <a:latin typeface="Arial"/>
              </a:rPr>
              <a:t>Recorded in the run</a:t>
            </a:r>
          </a:p>
        </p:txBody>
      </p:sp>
      <p:sp>
        <p:nvSpPr>
          <p:cNvPr id="15" name="TextBox 14"/>
          <p:cNvSpPr txBox="1"/>
          <p:nvPr/>
        </p:nvSpPr>
        <p:spPr>
          <a:xfrm>
            <a:off x="6510528" y="2212848"/>
            <a:ext cx="4663440" cy="640080"/>
          </a:xfrm>
          <a:prstGeom prst="rect">
            <a:avLst/>
          </a:prstGeom>
          <a:noFill/>
        </p:spPr>
        <p:txBody>
          <a:bodyPr wrap="square" lIns="18288" rIns="18288" tIns="18288" bIns="18288" anchor="ctr">
            <a:spAutoFit/>
          </a:bodyPr>
          <a:lstStyle/>
          <a:p>
            <a:pPr algn="l">
              <a:spcBef>
                <a:spcPts val="0"/>
              </a:spcBef>
              <a:spcAft>
                <a:spcPts val="0"/>
              </a:spcAft>
            </a:pPr>
            <a:r>
              <a:rPr sz="1300" b="0">
                <a:solidFill>
                  <a:srgbClr val="5B6874"/>
                </a:solidFill>
                <a:latin typeface="Courier New"/>
              </a:rPr>
              <a:t>docs/appendix/verification-runs/research/branch-verification.json</a:t>
            </a:r>
          </a:p>
        </p:txBody>
      </p:sp>
      <p:sp>
        <p:nvSpPr>
          <p:cNvPr id="16" name="TextBox 15"/>
          <p:cNvSpPr txBox="1"/>
          <p:nvPr/>
        </p:nvSpPr>
        <p:spPr>
          <a:xfrm>
            <a:off x="6510528" y="2880360"/>
            <a:ext cx="4645152" cy="1856231"/>
          </a:xfrm>
          <a:prstGeom prst="rect">
            <a:avLst/>
          </a:prstGeom>
          <a:noFill/>
        </p:spPr>
        <p:txBody>
          <a:bodyPr wrap="square" lIns="18288" rIns="18288" tIns="18288" bIns="18288" anchor="t">
            <a:spAutoFit/>
          </a:bodyPr>
          <a:lstStyle/>
          <a:p>
            <a:pPr algn="l">
              <a:spcBef>
                <a:spcPts val="0"/>
              </a:spcBef>
              <a:spcAft>
                <a:spcPts val="0"/>
              </a:spcAft>
            </a:pPr>
            <a:r>
              <a:rPr sz="1900" b="0">
                <a:solidFill>
                  <a:srgbClr val="252B33"/>
                </a:solidFill>
                <a:latin typeface="Courier New"/>
              </a:rPr>
              <a:t>accounts: 120
journalEntries: 30,000
postedEntries: 5,000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Outcomes were judged by tool-specific measures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4.1 and §4.1</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10</a:t>
            </a:r>
          </a:p>
        </p:txBody>
      </p:sp>
      <p:graphicFrame>
        <p:nvGraphicFramePr>
          <p:cNvPr id="9" name="Table 8"/>
          <p:cNvGraphicFramePr>
            <a:graphicFrameLocks noGrp="1"/>
          </p:cNvGraphicFramePr>
          <p:nvPr/>
        </p:nvGraphicFramePr>
        <p:xfrm>
          <a:off x="731520" y="1444752"/>
          <a:ext cx="10716767" cy="3474720"/>
        </p:xfrm>
        <a:graphic>
          <a:graphicData uri="http://schemas.openxmlformats.org/drawingml/2006/table">
            <a:tbl>
              <a:tblPr firstRow="1" bandRow="1">
                <a:tableStyleId>{5C22544A-7EE6-4342-B048-85BDC9FD1C3A}</a:tableStyleId>
              </a:tblPr>
              <a:tblGrid>
                <a:gridCol w="2250521"/>
                <a:gridCol w="4822545"/>
                <a:gridCol w="3643701"/>
              </a:tblGrid>
              <a:tr h="694944">
                <a:tc>
                  <a:txBody>
                    <a:bodyPr/>
                    <a:lstStyle/>
                    <a:p>
                      <a:pPr algn="l">
                        <a:spcAft>
                          <a:spcPts val="0"/>
                        </a:spcAft>
                      </a:pPr>
                      <a:r>
                        <a:rPr sz="1700" b="1">
                          <a:solidFill>
                            <a:srgbClr val="FFFFFF"/>
                          </a:solidFill>
                          <a:latin typeface="Arial"/>
                        </a:rPr>
                        <a:t>Area</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Primary decision</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Control metric</a:t>
                      </a:r>
                    </a:p>
                  </a:txBody>
                  <a:tcPr marL="109728" marR="91440" marT="36576" marB="36576">
                    <a:solidFill>
                      <a:srgbClr val="252B33"/>
                    </a:solidFill>
                  </a:tcPr>
                </a:tc>
              </a:tr>
              <a:tr h="694944">
                <a:tc>
                  <a:txBody>
                    <a:bodyPr/>
                    <a:lstStyle/>
                    <a:p>
                      <a:pPr algn="l">
                        <a:spcAft>
                          <a:spcPts val="0"/>
                        </a:spcAft>
                      </a:pPr>
                      <a:r>
                        <a:rPr sz="1700" b="0">
                          <a:solidFill>
                            <a:srgbClr val="252B33"/>
                          </a:solidFill>
                          <a:latin typeface="Arial"/>
                        </a:rPr>
                        <a:t>SonarQube</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Compare unique issues; show gate status</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Coverage and complexity disclosed</a:t>
                      </a:r>
                    </a:p>
                  </a:txBody>
                  <a:tcPr marL="109728" marR="91440" marT="36576" marB="36576">
                    <a:solidFill>
                      <a:srgbClr val="FFFFFF"/>
                    </a:solidFill>
                  </a:tcPr>
                </a:tc>
              </a:tr>
              <a:tr h="694944">
                <a:tc>
                  <a:txBody>
                    <a:bodyPr/>
                    <a:lstStyle/>
                    <a:p>
                      <a:pPr algn="l">
                        <a:spcAft>
                          <a:spcPts val="0"/>
                        </a:spcAft>
                      </a:pPr>
                      <a:r>
                        <a:rPr sz="1700" b="0">
                          <a:solidFill>
                            <a:srgbClr val="252B33"/>
                          </a:solidFill>
                          <a:latin typeface="Arial"/>
                        </a:rPr>
                        <a:t>OWASP ZAP</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Configured-rule gate; report raw alerts</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Residual HTTP-only observation disclosed</a:t>
                      </a:r>
                    </a:p>
                  </a:txBody>
                  <a:tcPr marL="109728" marR="91440" marT="36576" marB="36576">
                    <a:solidFill>
                      <a:srgbClr val="F7F9FC"/>
                    </a:solidFill>
                  </a:tcPr>
                </a:tc>
              </a:tr>
              <a:tr h="694944">
                <a:tc>
                  <a:txBody>
                    <a:bodyPr/>
                    <a:lstStyle/>
                    <a:p>
                      <a:pPr algn="l">
                        <a:spcAft>
                          <a:spcPts val="0"/>
                        </a:spcAft>
                      </a:pPr>
                      <a:r>
                        <a:rPr sz="1700" b="0">
                          <a:solidFill>
                            <a:srgbClr val="252B33"/>
                          </a:solidFill>
                          <a:latin typeface="Arial"/>
                        </a:rPr>
                        <a:t>JMeter</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50/100/500 VU core gate</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100 VU ≤500 ms; 500 VU ≤1200 ms</a:t>
                      </a:r>
                    </a:p>
                  </a:txBody>
                  <a:tcPr marL="109728" marR="91440" marT="36576" marB="36576">
                    <a:solidFill>
                      <a:srgbClr val="FFFFFF"/>
                    </a:solidFill>
                  </a:tcPr>
                </a:tc>
              </a:tr>
              <a:tr h="694944">
                <a:tc>
                  <a:txBody>
                    <a:bodyPr/>
                    <a:lstStyle/>
                    <a:p>
                      <a:pPr algn="l">
                        <a:spcAft>
                          <a:spcPts val="0"/>
                        </a:spcAft>
                      </a:pPr>
                      <a:r>
                        <a:rPr sz="1700" b="0">
                          <a:solidFill>
                            <a:srgbClr val="252B33"/>
                          </a:solidFill>
                          <a:latin typeface="Arial"/>
                        </a:rPr>
                        <a:t>Regression</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Focused tests and role checks</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Accounting and authorization preserved</a:t>
                      </a:r>
                    </a:p>
                  </a:txBody>
                  <a:tcPr marL="109728" marR="91440" marT="36576" marB="36576">
                    <a:solidFill>
                      <a:srgbClr val="F7F9FC"/>
                    </a:solidFill>
                  </a:tcPr>
                </a:tc>
              </a:tr>
            </a:tbl>
          </a:graphicData>
        </a:graphic>
      </p:graphicFrame>
      <p:sp>
        <p:nvSpPr>
          <p:cNvPr id="10" name="Rounded Rectangle 9"/>
          <p:cNvSpPr/>
          <p:nvPr/>
        </p:nvSpPr>
        <p:spPr>
          <a:xfrm>
            <a:off x="731520" y="5138928"/>
            <a:ext cx="10716768" cy="877824"/>
          </a:xfrm>
          <a:prstGeom prst="round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5266944"/>
            <a:ext cx="10222992" cy="640080"/>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BE7414"/>
                </a:solidFill>
                <a:latin typeface="Arial"/>
              </a:rPr>
              <a:t>Study scenarios: 100 VU = planned peak; 500 VU = heavier load. These are not measured production traffic.</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From a tool warning to a measured result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§§3.1.3-3.1.4; Appendices I and K</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11</a:t>
            </a:r>
          </a:p>
        </p:txBody>
      </p:sp>
      <p:sp>
        <p:nvSpPr>
          <p:cNvPr id="9" name="Rounded Rectangle 8"/>
          <p:cNvSpPr/>
          <p:nvPr/>
        </p:nvSpPr>
        <p:spPr>
          <a:xfrm>
            <a:off x="731520" y="1591056"/>
            <a:ext cx="3429000" cy="2871216"/>
          </a:xfrm>
          <a:prstGeom prst="roundRect">
            <a:avLst/>
          </a:prstGeom>
          <a:solidFill>
            <a:srgbClr val="E7F6F6"/>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1810512"/>
            <a:ext cx="3044952" cy="256032"/>
          </a:xfrm>
          <a:prstGeom prst="rect">
            <a:avLst/>
          </a:prstGeom>
          <a:noFill/>
        </p:spPr>
        <p:txBody>
          <a:bodyPr wrap="square" lIns="18288" rIns="18288" tIns="18288" bIns="18288" anchor="ctr">
            <a:spAutoFit/>
          </a:bodyPr>
          <a:lstStyle/>
          <a:p>
            <a:pPr algn="l">
              <a:spcBef>
                <a:spcPts val="0"/>
              </a:spcBef>
              <a:spcAft>
                <a:spcPts val="0"/>
              </a:spcAft>
            </a:pPr>
            <a:r>
              <a:rPr sz="1400" b="1">
                <a:solidFill>
                  <a:srgbClr val="0F676D"/>
                </a:solidFill>
                <a:latin typeface="Arial"/>
              </a:rPr>
              <a:t>01  INPUT</a:t>
            </a:r>
          </a:p>
        </p:txBody>
      </p:sp>
      <p:sp>
        <p:nvSpPr>
          <p:cNvPr id="11" name="TextBox 10"/>
          <p:cNvSpPr txBox="1"/>
          <p:nvPr/>
        </p:nvSpPr>
        <p:spPr>
          <a:xfrm>
            <a:off x="914400" y="2203704"/>
            <a:ext cx="3044952" cy="694944"/>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0F676D"/>
                </a:solidFill>
                <a:latin typeface="Arial"/>
              </a:rPr>
              <a:t>Start with evidence</a:t>
            </a:r>
          </a:p>
        </p:txBody>
      </p:sp>
      <p:sp>
        <p:nvSpPr>
          <p:cNvPr id="12" name="TextBox 11"/>
          <p:cNvSpPr txBox="1"/>
          <p:nvPr/>
        </p:nvSpPr>
        <p:spPr>
          <a:xfrm>
            <a:off x="914400" y="2935224"/>
            <a:ext cx="3044952" cy="457200"/>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52B33"/>
                </a:solidFill>
                <a:latin typeface="Arial"/>
              </a:rPr>
              <a:t>Tool finding + relevant code</a:t>
            </a:r>
          </a:p>
        </p:txBody>
      </p:sp>
      <p:sp>
        <p:nvSpPr>
          <p:cNvPr id="13" name="TextBox 12"/>
          <p:cNvSpPr txBox="1"/>
          <p:nvPr/>
        </p:nvSpPr>
        <p:spPr>
          <a:xfrm>
            <a:off x="914400" y="3529584"/>
            <a:ext cx="3044952" cy="658368"/>
          </a:xfrm>
          <a:prstGeom prst="rect">
            <a:avLst/>
          </a:prstGeom>
          <a:noFill/>
        </p:spPr>
        <p:txBody>
          <a:bodyPr wrap="square" lIns="18288" rIns="18288" tIns="18288" bIns="18288" anchor="ctr">
            <a:spAutoFit/>
          </a:bodyPr>
          <a:lstStyle/>
          <a:p>
            <a:pPr algn="l">
              <a:spcBef>
                <a:spcPts val="0"/>
              </a:spcBef>
              <a:spcAft>
                <a:spcPts val="0"/>
              </a:spcAft>
            </a:pPr>
            <a:r>
              <a:rPr sz="1600" b="0">
                <a:solidFill>
                  <a:srgbClr val="252B33"/>
                </a:solidFill>
                <a:latin typeface="Arial"/>
              </a:rPr>
              <a:t>Example: SonarQube flags eight controller parameters.</a:t>
            </a:r>
          </a:p>
        </p:txBody>
      </p:sp>
      <p:sp>
        <p:nvSpPr>
          <p:cNvPr id="14" name="Rounded Rectangle 13"/>
          <p:cNvSpPr/>
          <p:nvPr/>
        </p:nvSpPr>
        <p:spPr>
          <a:xfrm>
            <a:off x="4379976" y="1591056"/>
            <a:ext cx="3429000" cy="2871216"/>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62856" y="1810512"/>
            <a:ext cx="3044952" cy="256032"/>
          </a:xfrm>
          <a:prstGeom prst="rect">
            <a:avLst/>
          </a:prstGeom>
          <a:noFill/>
        </p:spPr>
        <p:txBody>
          <a:bodyPr wrap="square" lIns="18288" rIns="18288" tIns="18288" bIns="18288" anchor="ctr">
            <a:spAutoFit/>
          </a:bodyPr>
          <a:lstStyle/>
          <a:p>
            <a:pPr algn="l">
              <a:spcBef>
                <a:spcPts val="0"/>
              </a:spcBef>
              <a:spcAft>
                <a:spcPts val="0"/>
              </a:spcAft>
            </a:pPr>
            <a:r>
              <a:rPr sz="1400" b="1">
                <a:solidFill>
                  <a:srgbClr val="24466C"/>
                </a:solidFill>
                <a:latin typeface="Arial"/>
              </a:rPr>
              <a:t>02  HUMAN DECISION</a:t>
            </a:r>
          </a:p>
        </p:txBody>
      </p:sp>
      <p:sp>
        <p:nvSpPr>
          <p:cNvPr id="16" name="TextBox 15"/>
          <p:cNvSpPr txBox="1"/>
          <p:nvPr/>
        </p:nvSpPr>
        <p:spPr>
          <a:xfrm>
            <a:off x="4562856" y="2203704"/>
            <a:ext cx="3044952" cy="694944"/>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24466C"/>
                </a:solidFill>
                <a:latin typeface="Arial"/>
              </a:rPr>
              <a:t>Review the proposed fix</a:t>
            </a:r>
          </a:p>
        </p:txBody>
      </p:sp>
      <p:sp>
        <p:nvSpPr>
          <p:cNvPr id="17" name="TextBox 16"/>
          <p:cNvSpPr txBox="1"/>
          <p:nvPr/>
        </p:nvSpPr>
        <p:spPr>
          <a:xfrm>
            <a:off x="4562856" y="2935224"/>
            <a:ext cx="3044952" cy="457200"/>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52B33"/>
                </a:solidFill>
                <a:latin typeface="Arial"/>
              </a:rPr>
              <a:t>ChatGPT suggests; I decide.</a:t>
            </a:r>
          </a:p>
        </p:txBody>
      </p:sp>
      <p:sp>
        <p:nvSpPr>
          <p:cNvPr id="18" name="TextBox 17"/>
          <p:cNvSpPr txBox="1"/>
          <p:nvPr/>
        </p:nvSpPr>
        <p:spPr>
          <a:xfrm>
            <a:off x="4562856" y="3529584"/>
            <a:ext cx="3044952" cy="658368"/>
          </a:xfrm>
          <a:prstGeom prst="rect">
            <a:avLst/>
          </a:prstGeom>
          <a:noFill/>
        </p:spPr>
        <p:txBody>
          <a:bodyPr wrap="square" lIns="18288" rIns="18288" tIns="18288" bIns="18288" anchor="ctr">
            <a:spAutoFit/>
          </a:bodyPr>
          <a:lstStyle/>
          <a:p>
            <a:pPr algn="l">
              <a:spcBef>
                <a:spcPts val="0"/>
              </a:spcBef>
              <a:spcAft>
                <a:spcPts val="0"/>
              </a:spcAft>
            </a:pPr>
            <a:r>
              <a:rPr sz="1600" b="0">
                <a:solidFill>
                  <a:srgbClr val="252B33"/>
                </a:solidFill>
                <a:latin typeface="Arial"/>
              </a:rPr>
              <a:t>I check correctness, accounting behavior, and access control.</a:t>
            </a:r>
          </a:p>
        </p:txBody>
      </p:sp>
      <p:sp>
        <p:nvSpPr>
          <p:cNvPr id="19" name="Rounded Rectangle 18"/>
          <p:cNvSpPr/>
          <p:nvPr/>
        </p:nvSpPr>
        <p:spPr>
          <a:xfrm>
            <a:off x="8028431" y="1591056"/>
            <a:ext cx="3429000" cy="2871216"/>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11311" y="1810512"/>
            <a:ext cx="3044952" cy="256032"/>
          </a:xfrm>
          <a:prstGeom prst="rect">
            <a:avLst/>
          </a:prstGeom>
          <a:noFill/>
        </p:spPr>
        <p:txBody>
          <a:bodyPr wrap="square" lIns="18288" rIns="18288" tIns="18288" bIns="18288" anchor="ctr">
            <a:spAutoFit/>
          </a:bodyPr>
          <a:lstStyle/>
          <a:p>
            <a:pPr algn="l">
              <a:spcBef>
                <a:spcPts val="0"/>
              </a:spcBef>
              <a:spcAft>
                <a:spcPts val="0"/>
              </a:spcAft>
            </a:pPr>
            <a:r>
              <a:rPr sz="1400" b="1">
                <a:solidFill>
                  <a:srgbClr val="246F46"/>
                </a:solidFill>
                <a:latin typeface="Arial"/>
              </a:rPr>
              <a:t>03  INDEPENDENT CHECK</a:t>
            </a:r>
          </a:p>
        </p:txBody>
      </p:sp>
      <p:sp>
        <p:nvSpPr>
          <p:cNvPr id="21" name="TextBox 20"/>
          <p:cNvSpPr txBox="1"/>
          <p:nvPr/>
        </p:nvSpPr>
        <p:spPr>
          <a:xfrm>
            <a:off x="8211311" y="2203704"/>
            <a:ext cx="3044952" cy="694944"/>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246F46"/>
                </a:solidFill>
                <a:latin typeface="Arial"/>
              </a:rPr>
              <a:t>Verify the outcome</a:t>
            </a:r>
          </a:p>
        </p:txBody>
      </p:sp>
      <p:sp>
        <p:nvSpPr>
          <p:cNvPr id="22" name="TextBox 21"/>
          <p:cNvSpPr txBox="1"/>
          <p:nvPr/>
        </p:nvSpPr>
        <p:spPr>
          <a:xfrm>
            <a:off x="8211311" y="2935224"/>
            <a:ext cx="3044952" cy="457200"/>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52B33"/>
                </a:solidFill>
                <a:latin typeface="Arial"/>
              </a:rPr>
              <a:t>Run tests; rerun the same tool.</a:t>
            </a:r>
          </a:p>
        </p:txBody>
      </p:sp>
      <p:sp>
        <p:nvSpPr>
          <p:cNvPr id="23" name="TextBox 22"/>
          <p:cNvSpPr txBox="1"/>
          <p:nvPr/>
        </p:nvSpPr>
        <p:spPr>
          <a:xfrm>
            <a:off x="8211311" y="3529584"/>
            <a:ext cx="3044952" cy="658368"/>
          </a:xfrm>
          <a:prstGeom prst="rect">
            <a:avLst/>
          </a:prstGeom>
          <a:noFill/>
        </p:spPr>
        <p:txBody>
          <a:bodyPr wrap="square" lIns="18288" rIns="18288" tIns="18288" bIns="18288" anchor="ctr">
            <a:spAutoFit/>
          </a:bodyPr>
          <a:lstStyle/>
          <a:p>
            <a:pPr algn="l">
              <a:spcBef>
                <a:spcPts val="0"/>
              </a:spcBef>
              <a:spcAft>
                <a:spcPts val="0"/>
              </a:spcAft>
            </a:pPr>
            <a:r>
              <a:rPr sz="1600" b="0">
                <a:solidFill>
                  <a:srgbClr val="252B33"/>
                </a:solidFill>
                <a:latin typeface="Arial"/>
              </a:rPr>
              <a:t>Compare with the saved baseline and the study target.</a:t>
            </a:r>
          </a:p>
        </p:txBody>
      </p:sp>
      <p:sp>
        <p:nvSpPr>
          <p:cNvPr id="24" name="TextBox 23"/>
          <p:cNvSpPr txBox="1"/>
          <p:nvPr/>
        </p:nvSpPr>
        <p:spPr>
          <a:xfrm>
            <a:off x="4169663" y="2788920"/>
            <a:ext cx="201168" cy="384048"/>
          </a:xfrm>
          <a:prstGeom prst="rect">
            <a:avLst/>
          </a:prstGeom>
          <a:noFill/>
        </p:spPr>
        <p:txBody>
          <a:bodyPr wrap="square" lIns="18288" rIns="18288" tIns="18288" bIns="18288" anchor="ctr">
            <a:spAutoFit/>
          </a:bodyPr>
          <a:lstStyle/>
          <a:p>
            <a:pPr algn="l">
              <a:spcBef>
                <a:spcPts val="0"/>
              </a:spcBef>
              <a:spcAft>
                <a:spcPts val="0"/>
              </a:spcAft>
            </a:pPr>
            <a:r>
              <a:rPr sz="2600" b="1">
                <a:solidFill>
                  <a:srgbClr val="5B6874"/>
                </a:solidFill>
                <a:latin typeface="Arial"/>
              </a:rPr>
              <a:t>→</a:t>
            </a:r>
          </a:p>
        </p:txBody>
      </p:sp>
      <p:sp>
        <p:nvSpPr>
          <p:cNvPr id="25" name="TextBox 24"/>
          <p:cNvSpPr txBox="1"/>
          <p:nvPr/>
        </p:nvSpPr>
        <p:spPr>
          <a:xfrm>
            <a:off x="7818120" y="2788920"/>
            <a:ext cx="201168" cy="384048"/>
          </a:xfrm>
          <a:prstGeom prst="rect">
            <a:avLst/>
          </a:prstGeom>
          <a:noFill/>
        </p:spPr>
        <p:txBody>
          <a:bodyPr wrap="square" lIns="18288" rIns="18288" tIns="18288" bIns="18288" anchor="ctr">
            <a:spAutoFit/>
          </a:bodyPr>
          <a:lstStyle/>
          <a:p>
            <a:pPr algn="l">
              <a:spcBef>
                <a:spcPts val="0"/>
              </a:spcBef>
              <a:spcAft>
                <a:spcPts val="0"/>
              </a:spcAft>
            </a:pPr>
            <a:r>
              <a:rPr sz="2600" b="1">
                <a:solidFill>
                  <a:srgbClr val="5B6874"/>
                </a:solidFill>
                <a:latin typeface="Arial"/>
              </a:rPr>
              <a:t>→</a:t>
            </a:r>
          </a:p>
        </p:txBody>
      </p:sp>
      <p:sp>
        <p:nvSpPr>
          <p:cNvPr id="26" name="Rounded Rectangle 25"/>
          <p:cNvSpPr/>
          <p:nvPr/>
        </p:nvSpPr>
        <p:spPr>
          <a:xfrm>
            <a:off x="768096" y="4718304"/>
            <a:ext cx="10643616" cy="621792"/>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4128" y="4846320"/>
            <a:ext cx="10131552" cy="347472"/>
          </a:xfrm>
          <a:prstGeom prst="rect">
            <a:avLst/>
          </a:prstGeom>
          <a:noFill/>
        </p:spPr>
        <p:txBody>
          <a:bodyPr wrap="square" lIns="18288" rIns="18288" tIns="18288" bIns="18288" anchor="ctr">
            <a:spAutoFit/>
          </a:bodyPr>
          <a:lstStyle/>
          <a:p>
            <a:pPr algn="l">
              <a:spcBef>
                <a:spcPts val="0"/>
              </a:spcBef>
              <a:spcAft>
                <a:spcPts val="0"/>
              </a:spcAft>
            </a:pPr>
            <a:r>
              <a:rPr sz="1900" b="1">
                <a:solidFill>
                  <a:srgbClr val="0F676D"/>
                </a:solidFill>
                <a:latin typeface="Arial"/>
              </a:rPr>
              <a:t>Concrete result: request DTO adopted; SonarQube unique issues 17 → 0.</a:t>
            </a:r>
          </a:p>
        </p:txBody>
      </p:sp>
      <p:sp>
        <p:nvSpPr>
          <p:cNvPr id="28" name="Rounded Rectangle 27"/>
          <p:cNvSpPr/>
          <p:nvPr/>
        </p:nvSpPr>
        <p:spPr>
          <a:xfrm>
            <a:off x="768096" y="5495544"/>
            <a:ext cx="10643616" cy="612648"/>
          </a:xfrm>
          <a:prstGeom prst="round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24128" y="5623560"/>
            <a:ext cx="10131552" cy="338328"/>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BE7414"/>
                </a:solidFill>
                <a:latin typeface="Arial"/>
              </a:rPr>
              <a:t>An AI proposal is not proof: the JMeter branch did not meet its main speed target.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three branches changed different code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4.3; Appendices E-G</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12</a:t>
            </a:r>
          </a:p>
        </p:txBody>
      </p:sp>
      <p:graphicFrame>
        <p:nvGraphicFramePr>
          <p:cNvPr id="9" name="Table 8"/>
          <p:cNvGraphicFramePr>
            <a:graphicFrameLocks noGrp="1"/>
          </p:cNvGraphicFramePr>
          <p:nvPr/>
        </p:nvGraphicFramePr>
        <p:xfrm>
          <a:off x="731520" y="1508760"/>
          <a:ext cx="10716767" cy="3273552"/>
        </p:xfrm>
        <a:graphic>
          <a:graphicData uri="http://schemas.openxmlformats.org/drawingml/2006/table">
            <a:tbl>
              <a:tblPr firstRow="1" bandRow="1">
                <a:tableStyleId>{5C22544A-7EE6-4342-B048-85BDC9FD1C3A}</a:tableStyleId>
              </a:tblPr>
              <a:tblGrid>
                <a:gridCol w="2143353"/>
                <a:gridCol w="4608210"/>
                <a:gridCol w="3965204"/>
              </a:tblGrid>
              <a:tr h="818388">
                <a:tc>
                  <a:txBody>
                    <a:bodyPr/>
                    <a:lstStyle/>
                    <a:p>
                      <a:pPr algn="l">
                        <a:spcAft>
                          <a:spcPts val="0"/>
                        </a:spcAft>
                      </a:pPr>
                      <a:r>
                        <a:rPr sz="1800" b="1">
                          <a:solidFill>
                            <a:srgbClr val="FFFFFF"/>
                          </a:solidFill>
                          <a:latin typeface="Arial"/>
                        </a:rPr>
                        <a:t>Track</a:t>
                      </a:r>
                    </a:p>
                  </a:txBody>
                  <a:tcPr marL="109728" marR="91440" marT="36576" marB="36576">
                    <a:solidFill>
                      <a:srgbClr val="252B33"/>
                    </a:solidFill>
                  </a:tcPr>
                </a:tc>
                <a:tc>
                  <a:txBody>
                    <a:bodyPr/>
                    <a:lstStyle/>
                    <a:p>
                      <a:pPr algn="l">
                        <a:spcAft>
                          <a:spcPts val="0"/>
                        </a:spcAft>
                      </a:pPr>
                      <a:r>
                        <a:rPr sz="1800" b="1">
                          <a:solidFill>
                            <a:srgbClr val="FFFFFF"/>
                          </a:solidFill>
                          <a:latin typeface="Arial"/>
                        </a:rPr>
                        <a:t>Representative change</a:t>
                      </a:r>
                    </a:p>
                  </a:txBody>
                  <a:tcPr marL="109728" marR="91440" marT="36576" marB="36576">
                    <a:solidFill>
                      <a:srgbClr val="252B33"/>
                    </a:solidFill>
                  </a:tcPr>
                </a:tc>
                <a:tc>
                  <a:txBody>
                    <a:bodyPr/>
                    <a:lstStyle/>
                    <a:p>
                      <a:pPr algn="l">
                        <a:spcAft>
                          <a:spcPts val="0"/>
                        </a:spcAft>
                      </a:pPr>
                      <a:r>
                        <a:rPr sz="1800" b="1">
                          <a:solidFill>
                            <a:srgbClr val="FFFFFF"/>
                          </a:solidFill>
                          <a:latin typeface="Arial"/>
                        </a:rPr>
                        <a:t>What it was meant to address</a:t>
                      </a:r>
                    </a:p>
                  </a:txBody>
                  <a:tcPr marL="109728" marR="91440" marT="36576" marB="36576">
                    <a:solidFill>
                      <a:srgbClr val="252B33"/>
                    </a:solidFill>
                  </a:tcPr>
                </a:tc>
              </a:tr>
              <a:tr h="818388">
                <a:tc>
                  <a:txBody>
                    <a:bodyPr/>
                    <a:lstStyle/>
                    <a:p>
                      <a:pPr algn="l">
                        <a:spcAft>
                          <a:spcPts val="0"/>
                        </a:spcAft>
                      </a:pPr>
                      <a:r>
                        <a:rPr sz="1800" b="0">
                          <a:solidFill>
                            <a:srgbClr val="252B33"/>
                          </a:solidFill>
                          <a:latin typeface="Arial"/>
                        </a:rPr>
                        <a:t>SonarQube</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Eight query parameters → JournalEntryQueryDto</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Controller maintainability finding S107</a:t>
                      </a:r>
                    </a:p>
                  </a:txBody>
                  <a:tcPr marL="109728" marR="91440" marT="36576" marB="36576">
                    <a:solidFill>
                      <a:srgbClr val="FFFFFF"/>
                    </a:solidFill>
                  </a:tcPr>
                </a:tc>
              </a:tr>
              <a:tr h="818388">
                <a:tc>
                  <a:txBody>
                    <a:bodyPr/>
                    <a:lstStyle/>
                    <a:p>
                      <a:pPr algn="l">
                        <a:spcAft>
                          <a:spcPts val="0"/>
                        </a:spcAft>
                      </a:pPr>
                      <a:r>
                        <a:rPr sz="1800" b="0">
                          <a:solidFill>
                            <a:srgbClr val="252B33"/>
                          </a:solidFill>
                          <a:latin typeface="Arial"/>
                        </a:rPr>
                        <a:t>ZAP</a:t>
                      </a:r>
                    </a:p>
                  </a:txBody>
                  <a:tcPr marL="109728" marR="91440" marT="36576" marB="36576">
                    <a:solidFill>
                      <a:srgbClr val="F7F9FC"/>
                    </a:solidFill>
                  </a:tcPr>
                </a:tc>
                <a:tc>
                  <a:txBody>
                    <a:bodyPr/>
                    <a:lstStyle/>
                    <a:p>
                      <a:pPr algn="l">
                        <a:spcAft>
                          <a:spcPts val="0"/>
                        </a:spcAft>
                      </a:pPr>
                      <a:r>
                        <a:rPr sz="1800" b="0">
                          <a:solidFill>
                            <a:srgbClr val="252B33"/>
                          </a:solidFill>
                          <a:latin typeface="Arial"/>
                        </a:rPr>
                        <a:t>SecurityHeadersMiddleware before Swagger</a:t>
                      </a:r>
                    </a:p>
                  </a:txBody>
                  <a:tcPr marL="109728" marR="91440" marT="36576" marB="36576">
                    <a:solidFill>
                      <a:srgbClr val="F7F9FC"/>
                    </a:solidFill>
                  </a:tcPr>
                </a:tc>
                <a:tc>
                  <a:txBody>
                    <a:bodyPr/>
                    <a:lstStyle/>
                    <a:p>
                      <a:pPr algn="l">
                        <a:spcAft>
                          <a:spcPts val="0"/>
                        </a:spcAft>
                      </a:pPr>
                      <a:r>
                        <a:rPr sz="1800" b="0">
                          <a:solidFill>
                            <a:srgbClr val="252B33"/>
                          </a:solidFill>
                          <a:latin typeface="Arial"/>
                        </a:rPr>
                        <a:t>Browser-facing security headers</a:t>
                      </a:r>
                    </a:p>
                  </a:txBody>
                  <a:tcPr marL="109728" marR="91440" marT="36576" marB="36576">
                    <a:solidFill>
                      <a:srgbClr val="F7F9FC"/>
                    </a:solidFill>
                  </a:tcPr>
                </a:tc>
              </a:tr>
              <a:tr h="818388">
                <a:tc>
                  <a:txBody>
                    <a:bodyPr/>
                    <a:lstStyle/>
                    <a:p>
                      <a:pPr algn="l">
                        <a:spcAft>
                          <a:spcPts val="0"/>
                        </a:spcAft>
                      </a:pPr>
                      <a:r>
                        <a:rPr sz="1800" b="0">
                          <a:solidFill>
                            <a:srgbClr val="252B33"/>
                          </a:solidFill>
                          <a:latin typeface="Arial"/>
                        </a:rPr>
                        <a:t>JMeter</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Cache ledger data; avoid repeated report snapshot writes</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Reduce repeated report and database work</a:t>
                      </a:r>
                    </a:p>
                  </a:txBody>
                  <a:tcPr marL="109728" marR="91440" marT="36576" marB="36576">
                    <a:solidFill>
                      <a:srgbClr val="FFFFFF"/>
                    </a:solidFill>
                  </a:tcPr>
                </a:tc>
              </a:tr>
            </a:tbl>
          </a:graphicData>
        </a:graphic>
      </p:graphicFrame>
      <p:sp>
        <p:nvSpPr>
          <p:cNvPr id="10" name="TextBox 9"/>
          <p:cNvSpPr txBox="1"/>
          <p:nvPr/>
        </p:nvSpPr>
        <p:spPr>
          <a:xfrm>
            <a:off x="758952" y="5166360"/>
            <a:ext cx="10716768" cy="45720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0F676D"/>
                </a:solidFill>
                <a:latin typeface="Arial"/>
              </a:rPr>
              <a:t>Mechanism and measured outcome are shown separately on the next slides.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SonarQube: 17 findings closed</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§4.2; Table 4.2; Figures L.1-L.4</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13</a:t>
            </a:r>
          </a:p>
        </p:txBody>
      </p:sp>
      <p:sp>
        <p:nvSpPr>
          <p:cNvPr id="9" name="Rounded Rectangle 8"/>
          <p:cNvSpPr/>
          <p:nvPr/>
        </p:nvSpPr>
        <p:spPr>
          <a:xfrm>
            <a:off x="731520" y="1417320"/>
            <a:ext cx="5001768" cy="4251960"/>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1719072"/>
            <a:ext cx="4416552" cy="292608"/>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6F46"/>
                </a:solidFill>
                <a:latin typeface="Arial"/>
              </a:rPr>
              <a:t>PRIMARY OUTCOME</a:t>
            </a:r>
          </a:p>
        </p:txBody>
      </p:sp>
      <p:sp>
        <p:nvSpPr>
          <p:cNvPr id="11" name="TextBox 10"/>
          <p:cNvSpPr txBox="1"/>
          <p:nvPr/>
        </p:nvSpPr>
        <p:spPr>
          <a:xfrm>
            <a:off x="1005840" y="2212848"/>
            <a:ext cx="4434840" cy="923544"/>
          </a:xfrm>
          <a:prstGeom prst="rect">
            <a:avLst/>
          </a:prstGeom>
          <a:noFill/>
        </p:spPr>
        <p:txBody>
          <a:bodyPr wrap="square" lIns="18288" rIns="18288" tIns="18288" bIns="18288" anchor="ctr">
            <a:spAutoFit/>
          </a:bodyPr>
          <a:lstStyle/>
          <a:p>
            <a:pPr algn="l">
              <a:spcBef>
                <a:spcPts val="0"/>
              </a:spcBef>
              <a:spcAft>
                <a:spcPts val="0"/>
              </a:spcAft>
            </a:pPr>
            <a:r>
              <a:rPr sz="5300" b="1">
                <a:solidFill>
                  <a:srgbClr val="246F46"/>
                </a:solidFill>
                <a:latin typeface="Arial"/>
              </a:rPr>
              <a:t>17 → 0</a:t>
            </a:r>
          </a:p>
        </p:txBody>
      </p:sp>
      <p:sp>
        <p:nvSpPr>
          <p:cNvPr id="12" name="TextBox 11"/>
          <p:cNvSpPr txBox="1"/>
          <p:nvPr/>
        </p:nvSpPr>
        <p:spPr>
          <a:xfrm>
            <a:off x="1024128" y="3209544"/>
            <a:ext cx="4361688" cy="420624"/>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246F46"/>
                </a:solidFill>
                <a:latin typeface="Arial"/>
              </a:rPr>
              <a:t>unique SonarQube issues</a:t>
            </a:r>
          </a:p>
        </p:txBody>
      </p:sp>
      <p:sp>
        <p:nvSpPr>
          <p:cNvPr id="13" name="TextBox 12"/>
          <p:cNvSpPr txBox="1"/>
          <p:nvPr/>
        </p:nvSpPr>
        <p:spPr>
          <a:xfrm>
            <a:off x="1024128" y="3931920"/>
            <a:ext cx="4325112" cy="621792"/>
          </a:xfrm>
          <a:prstGeom prst="rect">
            <a:avLst/>
          </a:prstGeom>
          <a:noFill/>
        </p:spPr>
        <p:txBody>
          <a:bodyPr wrap="square" lIns="18288" rIns="18288" tIns="18288" bIns="18288" anchor="ctr">
            <a:spAutoFit/>
          </a:bodyPr>
          <a:lstStyle/>
          <a:p>
            <a:pPr algn="l">
              <a:spcBef>
                <a:spcPts val="0"/>
              </a:spcBef>
              <a:spcAft>
                <a:spcPts val="0"/>
              </a:spcAft>
            </a:pPr>
            <a:r>
              <a:rPr sz="1900" b="0">
                <a:solidFill>
                  <a:srgbClr val="252B33"/>
                </a:solidFill>
                <a:latin typeface="Arial"/>
              </a:rPr>
              <a:t>All 17 baseline issues were legacy Code Smells.</a:t>
            </a:r>
          </a:p>
        </p:txBody>
      </p:sp>
      <p:sp>
        <p:nvSpPr>
          <p:cNvPr id="14" name="TextBox 13"/>
          <p:cNvSpPr txBox="1"/>
          <p:nvPr/>
        </p:nvSpPr>
        <p:spPr>
          <a:xfrm>
            <a:off x="1024128" y="4754880"/>
            <a:ext cx="4325112" cy="685800"/>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Example fix: eight controller parameters → one request DTO.</a:t>
            </a:r>
          </a:p>
        </p:txBody>
      </p:sp>
      <p:sp>
        <p:nvSpPr>
          <p:cNvPr id="15" name="Rounded Rectangle 14"/>
          <p:cNvSpPr/>
          <p:nvPr/>
        </p:nvSpPr>
        <p:spPr>
          <a:xfrm>
            <a:off x="5961888" y="1417320"/>
            <a:ext cx="5486400" cy="425196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36208" y="1719072"/>
            <a:ext cx="4910328" cy="31089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0F676D"/>
                </a:solidFill>
                <a:latin typeface="Arial"/>
              </a:rPr>
              <a:t>CONTROLS MONITORED</a:t>
            </a:r>
          </a:p>
        </p:txBody>
      </p:sp>
      <p:sp>
        <p:nvSpPr>
          <p:cNvPr id="17" name="TextBox 16"/>
          <p:cNvSpPr txBox="1"/>
          <p:nvPr/>
        </p:nvSpPr>
        <p:spPr>
          <a:xfrm>
            <a:off x="6236208" y="2212848"/>
            <a:ext cx="4901184" cy="393192"/>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Coverage 74.4% → 74.3% (−0.1 pp)</a:t>
            </a:r>
          </a:p>
        </p:txBody>
      </p:sp>
      <p:cxnSp>
        <p:nvCxnSpPr>
          <p:cNvPr id="18" name="Connector 17"/>
          <p:cNvCxnSpPr/>
          <p:nvPr/>
        </p:nvCxnSpPr>
        <p:spPr>
          <a:xfrm>
            <a:off x="6236208" y="2743200"/>
            <a:ext cx="4901184"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236208" y="2871215"/>
            <a:ext cx="4901184" cy="393192"/>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Bugs / Vulnerabilities 0 / 0 → 0 / 0</a:t>
            </a:r>
          </a:p>
        </p:txBody>
      </p:sp>
      <p:cxnSp>
        <p:nvCxnSpPr>
          <p:cNvPr id="20" name="Connector 19"/>
          <p:cNvCxnSpPr/>
          <p:nvPr/>
        </p:nvCxnSpPr>
        <p:spPr>
          <a:xfrm>
            <a:off x="6236208" y="3401568"/>
            <a:ext cx="4901184"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236208" y="3529584"/>
            <a:ext cx="4901184" cy="393192"/>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Duplicate density 0.0% → 0.0%</a:t>
            </a:r>
          </a:p>
        </p:txBody>
      </p:sp>
      <p:cxnSp>
        <p:nvCxnSpPr>
          <p:cNvPr id="22" name="Connector 21"/>
          <p:cNvCxnSpPr/>
          <p:nvPr/>
        </p:nvCxnSpPr>
        <p:spPr>
          <a:xfrm>
            <a:off x="6236208" y="4059935"/>
            <a:ext cx="4901184"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236208" y="4187952"/>
            <a:ext cx="4901184" cy="393192"/>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Quality Gate OK → OK</a:t>
            </a:r>
          </a:p>
        </p:txBody>
      </p:sp>
      <p:cxnSp>
        <p:nvCxnSpPr>
          <p:cNvPr id="24" name="Connector 23"/>
          <p:cNvCxnSpPr/>
          <p:nvPr/>
        </p:nvCxnSpPr>
        <p:spPr>
          <a:xfrm>
            <a:off x="6236208" y="4718304"/>
            <a:ext cx="4901184"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236208" y="4846320"/>
            <a:ext cx="4901184" cy="393192"/>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Complexity 886 → 889</a:t>
            </a:r>
          </a:p>
        </p:txBody>
      </p:sp>
      <p:sp>
        <p:nvSpPr>
          <p:cNvPr id="26" name="Rounded Rectangle 25"/>
          <p:cNvSpPr/>
          <p:nvPr/>
        </p:nvSpPr>
        <p:spPr>
          <a:xfrm>
            <a:off x="768096" y="5824728"/>
            <a:ext cx="10643616" cy="448056"/>
          </a:xfrm>
          <a:prstGeom prst="roundRect">
            <a:avLst/>
          </a:prstGeom>
          <a:solidFill>
            <a:srgbClr val="E8F7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8408" y="5879592"/>
            <a:ext cx="10222992" cy="320040"/>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The targeted gain is issue closure; adjacent quality measures stayed close to baseline.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SonarQube dashboards confirm 17 → 0</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capture · Appendix L, Figures L.1 and L.3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14</a:t>
            </a:r>
          </a:p>
        </p:txBody>
      </p:sp>
      <p:sp>
        <p:nvSpPr>
          <p:cNvPr id="9" name="TextBox 8"/>
          <p:cNvSpPr txBox="1"/>
          <p:nvPr/>
        </p:nvSpPr>
        <p:spPr>
          <a:xfrm>
            <a:off x="804672" y="1298448"/>
            <a:ext cx="5138928" cy="347472"/>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 · commit 7a0469d9</a:t>
            </a:r>
          </a:p>
        </p:txBody>
      </p:sp>
      <p:sp>
        <p:nvSpPr>
          <p:cNvPr id="10" name="TextBox 9"/>
          <p:cNvSpPr txBox="1"/>
          <p:nvPr/>
        </p:nvSpPr>
        <p:spPr>
          <a:xfrm>
            <a:off x="6236208" y="1298448"/>
            <a:ext cx="5138928" cy="347472"/>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Remediation · commit a2279bcb</a:t>
            </a:r>
          </a:p>
        </p:txBody>
      </p:sp>
      <p:pic>
        <p:nvPicPr>
          <p:cNvPr id="11" name="Picture 10" descr="sonarqube-baseline-overview.png"/>
          <p:cNvPicPr>
            <a:picLocks noChangeAspect="1"/>
          </p:cNvPicPr>
          <p:nvPr/>
        </p:nvPicPr>
        <p:blipFill>
          <a:blip r:embed="rId2"/>
          <a:stretch>
            <a:fillRect/>
          </a:stretch>
        </p:blipFill>
        <p:spPr>
          <a:xfrm>
            <a:off x="825703" y="1719072"/>
            <a:ext cx="5069433" cy="3520440"/>
          </a:xfrm>
          <a:prstGeom prst="rect">
            <a:avLst/>
          </a:prstGeom>
        </p:spPr>
      </p:pic>
      <p:sp>
        <p:nvSpPr>
          <p:cNvPr id="12" name="Rectangle 11"/>
          <p:cNvSpPr/>
          <p:nvPr/>
        </p:nvSpPr>
        <p:spPr>
          <a:xfrm>
            <a:off x="825703" y="1719072"/>
            <a:ext cx="5069433" cy="352044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onarqube-remediation-overview.png"/>
          <p:cNvPicPr>
            <a:picLocks noChangeAspect="1"/>
          </p:cNvPicPr>
          <p:nvPr/>
        </p:nvPicPr>
        <p:blipFill>
          <a:blip r:embed="rId3"/>
          <a:stretch>
            <a:fillRect/>
          </a:stretch>
        </p:blipFill>
        <p:spPr>
          <a:xfrm>
            <a:off x="6275527" y="1719072"/>
            <a:ext cx="5069433" cy="3520440"/>
          </a:xfrm>
          <a:prstGeom prst="rect">
            <a:avLst/>
          </a:prstGeom>
        </p:spPr>
      </p:pic>
      <p:sp>
        <p:nvSpPr>
          <p:cNvPr id="14" name="Rectangle 13"/>
          <p:cNvSpPr/>
          <p:nvPr/>
        </p:nvSpPr>
        <p:spPr>
          <a:xfrm>
            <a:off x="6275527" y="1719072"/>
            <a:ext cx="5069433" cy="352044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13248"/>
            <a:ext cx="10643616" cy="685800"/>
          </a:xfrm>
          <a:prstGeom prst="roundRect">
            <a:avLst/>
          </a:prstGeom>
          <a:solidFill>
            <a:srgbClr val="E8F7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78408" y="5495544"/>
            <a:ext cx="10232136" cy="502920"/>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6F46"/>
                </a:solidFill>
                <a:latin typeface="Arial"/>
              </a:rPr>
              <a:t>17 unique issues → 0; Quality Gate remained OK on both branches.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Two SonarQube fixes in source code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E, Listings E.1-E.2</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15</a:t>
            </a:r>
          </a:p>
        </p:txBody>
      </p:sp>
      <p:sp>
        <p:nvSpPr>
          <p:cNvPr id="9" name="Rounded Rectangle 8"/>
          <p:cNvSpPr/>
          <p:nvPr/>
        </p:nvSpPr>
        <p:spPr>
          <a:xfrm>
            <a:off x="731520" y="1408176"/>
            <a:ext cx="5212080" cy="4471416"/>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36208" y="1408176"/>
            <a:ext cx="5212080" cy="4471416"/>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1664208"/>
            <a:ext cx="4700016" cy="347472"/>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B3373D"/>
                </a:solidFill>
                <a:latin typeface="Arial"/>
              </a:rPr>
              <a:t>BEFORE · shared baseline</a:t>
            </a:r>
          </a:p>
        </p:txBody>
      </p:sp>
      <p:sp>
        <p:nvSpPr>
          <p:cNvPr id="12" name="TextBox 11"/>
          <p:cNvSpPr txBox="1"/>
          <p:nvPr/>
        </p:nvSpPr>
        <p:spPr>
          <a:xfrm>
            <a:off x="6464808" y="1664208"/>
            <a:ext cx="4700016" cy="347472"/>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246F46"/>
                </a:solidFill>
                <a:latin typeface="Arial"/>
              </a:rPr>
              <a:t>AFTER · SonarQube branch</a:t>
            </a:r>
          </a:p>
        </p:txBody>
      </p:sp>
      <p:sp>
        <p:nvSpPr>
          <p:cNvPr id="13" name="TextBox 12"/>
          <p:cNvSpPr txBox="1"/>
          <p:nvPr/>
        </p:nvSpPr>
        <p:spPr>
          <a:xfrm>
            <a:off x="960120" y="2176272"/>
            <a:ext cx="4700016" cy="31089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5B6874"/>
                </a:solidFill>
                <a:latin typeface="Arial"/>
              </a:rPr>
              <a:t>S107: eight query inputs</a:t>
            </a:r>
          </a:p>
        </p:txBody>
      </p:sp>
      <p:sp>
        <p:nvSpPr>
          <p:cNvPr id="14" name="TextBox 13"/>
          <p:cNvSpPr txBox="1"/>
          <p:nvPr/>
        </p:nvSpPr>
        <p:spPr>
          <a:xfrm>
            <a:off x="6464808" y="2176272"/>
            <a:ext cx="4700016" cy="31089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5B6874"/>
                </a:solidFill>
                <a:latin typeface="Arial"/>
              </a:rPr>
              <a:t>S107: one query DTO</a:t>
            </a:r>
          </a:p>
        </p:txBody>
      </p:sp>
      <p:sp>
        <p:nvSpPr>
          <p:cNvPr id="15" name="TextBox 14"/>
          <p:cNvSpPr txBox="1"/>
          <p:nvPr/>
        </p:nvSpPr>
        <p:spPr>
          <a:xfrm>
            <a:off x="960120" y="2615184"/>
            <a:ext cx="4690872" cy="1572768"/>
          </a:xfrm>
          <a:prstGeom prst="rect">
            <a:avLst/>
          </a:prstGeom>
          <a:noFill/>
        </p:spPr>
        <p:txBody>
          <a:bodyPr wrap="square" lIns="18288" rIns="18288" tIns="18288" bIns="18288" anchor="t">
            <a:spAutoFit/>
          </a:bodyPr>
          <a:lstStyle/>
          <a:p>
            <a:pPr algn="l">
              <a:spcBef>
                <a:spcPts val="0"/>
              </a:spcBef>
              <a:spcAft>
                <a:spcPts val="0"/>
              </a:spcAft>
            </a:pPr>
            <a:r>
              <a:rPr sz="1700" b="0">
                <a:solidFill>
                  <a:srgbClr val="252B33"/>
                </a:solidFill>
                <a:latin typeface="Courier New"/>
              </a:rPr>
              <a:t>GetPaged(
  from, to, status, accountId,
  search, page, pageSize, sort
)</a:t>
            </a:r>
          </a:p>
        </p:txBody>
      </p:sp>
      <p:sp>
        <p:nvSpPr>
          <p:cNvPr id="16" name="TextBox 15"/>
          <p:cNvSpPr txBox="1"/>
          <p:nvPr/>
        </p:nvSpPr>
        <p:spPr>
          <a:xfrm>
            <a:off x="6464808" y="2615184"/>
            <a:ext cx="4690872" cy="1572768"/>
          </a:xfrm>
          <a:prstGeom prst="rect">
            <a:avLst/>
          </a:prstGeom>
          <a:noFill/>
        </p:spPr>
        <p:txBody>
          <a:bodyPr wrap="square" lIns="18288" rIns="18288" tIns="18288" bIns="18288" anchor="t">
            <a:spAutoFit/>
          </a:bodyPr>
          <a:lstStyle/>
          <a:p>
            <a:pPr algn="l">
              <a:spcBef>
                <a:spcPts val="0"/>
              </a:spcBef>
              <a:spcAft>
                <a:spcPts val="0"/>
              </a:spcAft>
            </a:pPr>
            <a:r>
              <a:rPr sz="1700" b="0">
                <a:solidFill>
                  <a:srgbClr val="252B33"/>
                </a:solidFill>
                <a:latin typeface="Courier New"/>
              </a:rPr>
              <a:t>GetPaged(
  JournalEntryQueryDto query
)</a:t>
            </a:r>
          </a:p>
        </p:txBody>
      </p:sp>
      <p:sp>
        <p:nvSpPr>
          <p:cNvPr id="17" name="TextBox 16"/>
          <p:cNvSpPr txBox="1"/>
          <p:nvPr/>
        </p:nvSpPr>
        <p:spPr>
          <a:xfrm>
            <a:off x="960120" y="4443984"/>
            <a:ext cx="4700016" cy="283464"/>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5B6874"/>
                </a:solidFill>
                <a:latin typeface="Arial"/>
              </a:rPr>
              <a:t>S6966: host startup</a:t>
            </a:r>
          </a:p>
        </p:txBody>
      </p:sp>
      <p:sp>
        <p:nvSpPr>
          <p:cNvPr id="18" name="TextBox 17"/>
          <p:cNvSpPr txBox="1"/>
          <p:nvPr/>
        </p:nvSpPr>
        <p:spPr>
          <a:xfrm>
            <a:off x="6464808" y="4443984"/>
            <a:ext cx="4700016" cy="283464"/>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5B6874"/>
                </a:solidFill>
                <a:latin typeface="Arial"/>
              </a:rPr>
              <a:t>S6966: async host startup</a:t>
            </a:r>
          </a:p>
        </p:txBody>
      </p:sp>
      <p:sp>
        <p:nvSpPr>
          <p:cNvPr id="19" name="TextBox 18"/>
          <p:cNvSpPr txBox="1"/>
          <p:nvPr/>
        </p:nvSpPr>
        <p:spPr>
          <a:xfrm>
            <a:off x="960120" y="4882896"/>
            <a:ext cx="4690872" cy="502920"/>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Courier New"/>
              </a:rPr>
              <a:t>app.Run();</a:t>
            </a:r>
          </a:p>
        </p:txBody>
      </p:sp>
      <p:sp>
        <p:nvSpPr>
          <p:cNvPr id="20" name="TextBox 19"/>
          <p:cNvSpPr txBox="1"/>
          <p:nvPr/>
        </p:nvSpPr>
        <p:spPr>
          <a:xfrm>
            <a:off x="6464808" y="4882896"/>
            <a:ext cx="4690872" cy="502920"/>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Courier New"/>
              </a:rPr>
              <a:t>await app.RunAsync();</a:t>
            </a:r>
          </a:p>
        </p:txBody>
      </p:sp>
      <p:sp>
        <p:nvSpPr>
          <p:cNvPr id="21" name="TextBox 20"/>
          <p:cNvSpPr txBox="1"/>
          <p:nvPr/>
        </p:nvSpPr>
        <p:spPr>
          <a:xfrm>
            <a:off x="768096" y="5925312"/>
            <a:ext cx="10698480" cy="347472"/>
          </a:xfrm>
          <a:prstGeom prst="rect">
            <a:avLst/>
          </a:prstGeom>
          <a:noFill/>
        </p:spPr>
        <p:txBody>
          <a:bodyPr wrap="square" lIns="18288" rIns="18288" tIns="18288" bIns="18288" anchor="ctr">
            <a:spAutoFit/>
          </a:bodyPr>
          <a:lstStyle/>
          <a:p>
            <a:pPr algn="l">
              <a:spcBef>
                <a:spcPts val="0"/>
              </a:spcBef>
              <a:spcAft>
                <a:spcPts val="0"/>
              </a:spcAft>
            </a:pPr>
            <a:r>
              <a:rPr sz="1500" b="1">
                <a:solidFill>
                  <a:srgbClr val="246F46"/>
                </a:solidFill>
                <a:latin typeface="Arial"/>
              </a:rPr>
              <a:t>These are representative changes, not all 17 issue fixes; the full excerpts are in Appendix 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ZAP passive alerts cleared; raw API Medium remains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§4.3; ZAP raw scan JSON; Appendix F</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16</a:t>
            </a:r>
          </a:p>
        </p:txBody>
      </p:sp>
      <p:sp>
        <p:nvSpPr>
          <p:cNvPr id="9" name="TextBox 8"/>
          <p:cNvSpPr txBox="1"/>
          <p:nvPr/>
        </p:nvSpPr>
        <p:spPr>
          <a:xfrm>
            <a:off x="758952" y="1298448"/>
            <a:ext cx="10698480" cy="26517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PASSIVE SCAN · BASELINE</a:t>
            </a:r>
          </a:p>
        </p:txBody>
      </p:sp>
      <p:pic>
        <p:nvPicPr>
          <p:cNvPr id="10" name="Picture 9" descr="zap-fresh-passive-before-summary.png"/>
          <p:cNvPicPr>
            <a:picLocks noChangeAspect="1"/>
          </p:cNvPicPr>
          <p:nvPr/>
        </p:nvPicPr>
        <p:blipFill>
          <a:blip r:embed="rId2"/>
          <a:stretch>
            <a:fillRect/>
          </a:stretch>
        </p:blipFill>
        <p:spPr>
          <a:xfrm>
            <a:off x="784374" y="1636776"/>
            <a:ext cx="10611059" cy="804672"/>
          </a:xfrm>
          <a:prstGeom prst="rect">
            <a:avLst/>
          </a:prstGeom>
        </p:spPr>
      </p:pic>
      <p:sp>
        <p:nvSpPr>
          <p:cNvPr id="11" name="Rectangle 10"/>
          <p:cNvSpPr/>
          <p:nvPr/>
        </p:nvSpPr>
        <p:spPr>
          <a:xfrm>
            <a:off x="784374" y="1636776"/>
            <a:ext cx="10611059" cy="804672"/>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2706624"/>
            <a:ext cx="10698480" cy="26517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PASSIVE SCAN · AFTER FIXES</a:t>
            </a:r>
          </a:p>
        </p:txBody>
      </p:sp>
      <p:pic>
        <p:nvPicPr>
          <p:cNvPr id="13" name="Picture 12" descr="zap-fresh-passive-after-summary.png"/>
          <p:cNvPicPr>
            <a:picLocks noChangeAspect="1"/>
          </p:cNvPicPr>
          <p:nvPr/>
        </p:nvPicPr>
        <p:blipFill>
          <a:blip r:embed="rId3"/>
          <a:stretch>
            <a:fillRect/>
          </a:stretch>
        </p:blipFill>
        <p:spPr>
          <a:xfrm>
            <a:off x="784374" y="3035808"/>
            <a:ext cx="10611059" cy="804672"/>
          </a:xfrm>
          <a:prstGeom prst="rect">
            <a:avLst/>
          </a:prstGeom>
        </p:spPr>
      </p:pic>
      <p:sp>
        <p:nvSpPr>
          <p:cNvPr id="14" name="Rectangle 13"/>
          <p:cNvSpPr/>
          <p:nvPr/>
        </p:nvSpPr>
        <p:spPr>
          <a:xfrm>
            <a:off x="784374" y="3035808"/>
            <a:ext cx="10611059" cy="804672"/>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8096" y="3995928"/>
            <a:ext cx="10643616" cy="329184"/>
          </a:xfrm>
          <a:prstGeom prst="rect">
            <a:avLst/>
          </a:prstGeom>
          <a:noFill/>
        </p:spPr>
        <p:txBody>
          <a:bodyPr wrap="square" lIns="18288" rIns="18288" tIns="18288" bIns="18288" anchor="ctr">
            <a:spAutoFit/>
          </a:bodyPr>
          <a:lstStyle/>
          <a:p>
            <a:pPr algn="l">
              <a:spcBef>
                <a:spcPts val="0"/>
              </a:spcBef>
              <a:spcAft>
                <a:spcPts val="0"/>
              </a:spcAft>
            </a:pPr>
            <a:r>
              <a:rPr sz="1500" b="0">
                <a:solidFill>
                  <a:srgbClr val="5B6874"/>
                </a:solidFill>
                <a:latin typeface="Arial"/>
              </a:rPr>
              <a:t>Severity-card screenshots rendered from the current ZAP scan JSON.</a:t>
            </a:r>
          </a:p>
        </p:txBody>
      </p:sp>
      <p:sp>
        <p:nvSpPr>
          <p:cNvPr id="16" name="Rounded Rectangle 15"/>
          <p:cNvSpPr/>
          <p:nvPr/>
        </p:nvSpPr>
        <p:spPr>
          <a:xfrm>
            <a:off x="768096" y="4507992"/>
            <a:ext cx="10643616" cy="1408176"/>
          </a:xfrm>
          <a:prstGeom prst="roundRect">
            <a:avLst/>
          </a:prstGeom>
          <a:solidFill>
            <a:srgbClr val="E8F7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4700016"/>
            <a:ext cx="10168128" cy="438912"/>
          </a:xfrm>
          <a:prstGeom prst="rect">
            <a:avLst/>
          </a:prstGeom>
          <a:noFill/>
        </p:spPr>
        <p:txBody>
          <a:bodyPr wrap="square" lIns="18288" rIns="18288" tIns="18288" bIns="18288" anchor="ctr">
            <a:spAutoFit/>
          </a:bodyPr>
          <a:lstStyle/>
          <a:p>
            <a:pPr algn="l">
              <a:spcBef>
                <a:spcPts val="0"/>
              </a:spcBef>
              <a:spcAft>
                <a:spcPts val="0"/>
              </a:spcAft>
            </a:pPr>
            <a:r>
              <a:rPr sz="2700" b="1">
                <a:solidFill>
                  <a:srgbClr val="246F46"/>
                </a:solidFill>
                <a:latin typeface="Arial"/>
              </a:rPr>
              <a:t>Medium 3 → 0    |    Low 6 → 0</a:t>
            </a:r>
          </a:p>
        </p:txBody>
      </p:sp>
      <p:sp>
        <p:nvSpPr>
          <p:cNvPr id="18" name="TextBox 17"/>
          <p:cNvSpPr txBox="1"/>
          <p:nvPr/>
        </p:nvSpPr>
        <p:spPr>
          <a:xfrm>
            <a:off x="1005840" y="5340096"/>
            <a:ext cx="10131552" cy="365760"/>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252B33"/>
                </a:solidFill>
                <a:latin typeface="Arial"/>
              </a:rPr>
              <a:t>This scan observes ordinary responses and headers. The signed-in API scan follows on slide 17.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Signed-in API scan: Low cleared; one Medium remains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§4.3; ZAP raw scan JSON and alert 10106; Appendix F</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17</a:t>
            </a:r>
          </a:p>
        </p:txBody>
      </p:sp>
      <p:sp>
        <p:nvSpPr>
          <p:cNvPr id="9" name="TextBox 8"/>
          <p:cNvSpPr txBox="1"/>
          <p:nvPr/>
        </p:nvSpPr>
        <p:spPr>
          <a:xfrm>
            <a:off x="758952" y="1298448"/>
            <a:ext cx="10698480" cy="26517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AUTHENTICATED API SCAN · BASELINE</a:t>
            </a:r>
          </a:p>
        </p:txBody>
      </p:sp>
      <p:pic>
        <p:nvPicPr>
          <p:cNvPr id="10" name="Picture 9" descr="zap-fresh-api-before-summary.png"/>
          <p:cNvPicPr>
            <a:picLocks noChangeAspect="1"/>
          </p:cNvPicPr>
          <p:nvPr/>
        </p:nvPicPr>
        <p:blipFill>
          <a:blip r:embed="rId2"/>
          <a:stretch>
            <a:fillRect/>
          </a:stretch>
        </p:blipFill>
        <p:spPr>
          <a:xfrm>
            <a:off x="784374" y="1636776"/>
            <a:ext cx="10611059" cy="804672"/>
          </a:xfrm>
          <a:prstGeom prst="rect">
            <a:avLst/>
          </a:prstGeom>
        </p:spPr>
      </p:pic>
      <p:sp>
        <p:nvSpPr>
          <p:cNvPr id="11" name="Rectangle 10"/>
          <p:cNvSpPr/>
          <p:nvPr/>
        </p:nvSpPr>
        <p:spPr>
          <a:xfrm>
            <a:off x="784374" y="1636776"/>
            <a:ext cx="10611059" cy="804672"/>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2706624"/>
            <a:ext cx="10698480" cy="26517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AUTHENTICATED API SCAN · AFTER FIXES</a:t>
            </a:r>
          </a:p>
        </p:txBody>
      </p:sp>
      <p:pic>
        <p:nvPicPr>
          <p:cNvPr id="13" name="Picture 12" descr="zap-fresh-api-after-summary.png"/>
          <p:cNvPicPr>
            <a:picLocks noChangeAspect="1"/>
          </p:cNvPicPr>
          <p:nvPr/>
        </p:nvPicPr>
        <p:blipFill>
          <a:blip r:embed="rId3"/>
          <a:stretch>
            <a:fillRect/>
          </a:stretch>
        </p:blipFill>
        <p:spPr>
          <a:xfrm>
            <a:off x="784374" y="3035808"/>
            <a:ext cx="10611059" cy="804672"/>
          </a:xfrm>
          <a:prstGeom prst="rect">
            <a:avLst/>
          </a:prstGeom>
        </p:spPr>
      </p:pic>
      <p:sp>
        <p:nvSpPr>
          <p:cNvPr id="14" name="Rectangle 13"/>
          <p:cNvSpPr/>
          <p:nvPr/>
        </p:nvSpPr>
        <p:spPr>
          <a:xfrm>
            <a:off x="784374" y="3035808"/>
            <a:ext cx="10611059" cy="804672"/>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8096" y="3995928"/>
            <a:ext cx="10643616" cy="329184"/>
          </a:xfrm>
          <a:prstGeom prst="rect">
            <a:avLst/>
          </a:prstGeom>
          <a:noFill/>
        </p:spPr>
        <p:txBody>
          <a:bodyPr wrap="square" lIns="18288" rIns="18288" tIns="18288" bIns="18288" anchor="ctr">
            <a:spAutoFit/>
          </a:bodyPr>
          <a:lstStyle/>
          <a:p>
            <a:pPr algn="l">
              <a:spcBef>
                <a:spcPts val="0"/>
              </a:spcBef>
              <a:spcAft>
                <a:spcPts val="0"/>
              </a:spcAft>
            </a:pPr>
            <a:r>
              <a:rPr sz="1500" b="0">
                <a:solidFill>
                  <a:srgbClr val="5B6874"/>
                </a:solidFill>
                <a:latin typeface="Arial"/>
              </a:rPr>
              <a:t>Severity-card screenshots rendered from the current ZAP scan JSON.</a:t>
            </a:r>
          </a:p>
        </p:txBody>
      </p:sp>
      <p:sp>
        <p:nvSpPr>
          <p:cNvPr id="16" name="Rounded Rectangle 15"/>
          <p:cNvSpPr/>
          <p:nvPr/>
        </p:nvSpPr>
        <p:spPr>
          <a:xfrm>
            <a:off x="768096" y="4507992"/>
            <a:ext cx="10643616" cy="1408176"/>
          </a:xfrm>
          <a:prstGeom prst="round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4700016"/>
            <a:ext cx="10168128" cy="438912"/>
          </a:xfrm>
          <a:prstGeom prst="rect">
            <a:avLst/>
          </a:prstGeom>
          <a:noFill/>
        </p:spPr>
        <p:txBody>
          <a:bodyPr wrap="square" lIns="18288" rIns="18288" tIns="18288" bIns="18288" anchor="ctr">
            <a:spAutoFit/>
          </a:bodyPr>
          <a:lstStyle/>
          <a:p>
            <a:pPr algn="l">
              <a:spcBef>
                <a:spcPts val="0"/>
              </a:spcBef>
              <a:spcAft>
                <a:spcPts val="0"/>
              </a:spcAft>
            </a:pPr>
            <a:r>
              <a:rPr sz="2700" b="1">
                <a:solidFill>
                  <a:srgbClr val="BE7414"/>
                </a:solidFill>
                <a:latin typeface="Arial"/>
              </a:rPr>
              <a:t>Medium 1 → 1    |    Low 3 → 0</a:t>
            </a:r>
          </a:p>
        </p:txBody>
      </p:sp>
      <p:sp>
        <p:nvSpPr>
          <p:cNvPr id="18" name="TextBox 17"/>
          <p:cNvSpPr txBox="1"/>
          <p:nvPr/>
        </p:nvSpPr>
        <p:spPr>
          <a:xfrm>
            <a:off x="1005840" y="5340096"/>
            <a:ext cx="10131552" cy="365760"/>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252B33"/>
                </a:solidFill>
                <a:latin typeface="Arial"/>
              </a:rPr>
              <a:t>Remaining Medium: HTTP Only Site. Configured rules passed; HTTPS needs a separate retest.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tested three user counts, plus soak and spike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§§3.8 and 4.4; Appendix K</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18</a:t>
            </a:r>
          </a:p>
        </p:txBody>
      </p:sp>
      <p:sp>
        <p:nvSpPr>
          <p:cNvPr id="9" name="Rounded Rectangle 8"/>
          <p:cNvSpPr/>
          <p:nvPr/>
        </p:nvSpPr>
        <p:spPr>
          <a:xfrm>
            <a:off x="713232"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50 VU</a:t>
            </a:r>
          </a:p>
        </p:txBody>
      </p:sp>
      <p:sp>
        <p:nvSpPr>
          <p:cNvPr id="11" name="TextBox 10"/>
          <p:cNvSpPr txBox="1"/>
          <p:nvPr/>
        </p:nvSpPr>
        <p:spPr>
          <a:xfrm>
            <a:off x="877824"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50 users</a:t>
            </a:r>
          </a:p>
        </p:txBody>
      </p:sp>
      <p:sp>
        <p:nvSpPr>
          <p:cNvPr id="12" name="TextBox 11"/>
          <p:cNvSpPr txBox="1"/>
          <p:nvPr/>
        </p:nvSpPr>
        <p:spPr>
          <a:xfrm>
            <a:off x="859536"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Normal scenario</a:t>
            </a:r>
          </a:p>
        </p:txBody>
      </p:sp>
      <p:sp>
        <p:nvSpPr>
          <p:cNvPr id="13" name="Rounded Rectangle 12"/>
          <p:cNvSpPr/>
          <p:nvPr/>
        </p:nvSpPr>
        <p:spPr>
          <a:xfrm>
            <a:off x="2990088"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154680"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100 VU</a:t>
            </a:r>
          </a:p>
        </p:txBody>
      </p:sp>
      <p:sp>
        <p:nvSpPr>
          <p:cNvPr id="15" name="TextBox 14"/>
          <p:cNvSpPr txBox="1"/>
          <p:nvPr/>
        </p:nvSpPr>
        <p:spPr>
          <a:xfrm>
            <a:off x="3154680"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100 users</a:t>
            </a:r>
          </a:p>
        </p:txBody>
      </p:sp>
      <p:sp>
        <p:nvSpPr>
          <p:cNvPr id="16" name="TextBox 15"/>
          <p:cNvSpPr txBox="1"/>
          <p:nvPr/>
        </p:nvSpPr>
        <p:spPr>
          <a:xfrm>
            <a:off x="3136392"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Planned peak scenario</a:t>
            </a:r>
          </a:p>
        </p:txBody>
      </p:sp>
      <p:sp>
        <p:nvSpPr>
          <p:cNvPr id="17" name="Rounded Rectangle 16"/>
          <p:cNvSpPr/>
          <p:nvPr/>
        </p:nvSpPr>
        <p:spPr>
          <a:xfrm>
            <a:off x="5266944"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31536"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500 VU</a:t>
            </a:r>
          </a:p>
        </p:txBody>
      </p:sp>
      <p:sp>
        <p:nvSpPr>
          <p:cNvPr id="19" name="TextBox 18"/>
          <p:cNvSpPr txBox="1"/>
          <p:nvPr/>
        </p:nvSpPr>
        <p:spPr>
          <a:xfrm>
            <a:off x="5431536"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500 users</a:t>
            </a:r>
          </a:p>
        </p:txBody>
      </p:sp>
      <p:sp>
        <p:nvSpPr>
          <p:cNvPr id="20" name="TextBox 19"/>
          <p:cNvSpPr txBox="1"/>
          <p:nvPr/>
        </p:nvSpPr>
        <p:spPr>
          <a:xfrm>
            <a:off x="5413248"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Heavier-load scenario</a:t>
            </a:r>
          </a:p>
        </p:txBody>
      </p:sp>
      <p:sp>
        <p:nvSpPr>
          <p:cNvPr id="21" name="Rounded Rectangle 20"/>
          <p:cNvSpPr/>
          <p:nvPr/>
        </p:nvSpPr>
        <p:spPr>
          <a:xfrm>
            <a:off x="7543800"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08392"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SOAK</a:t>
            </a:r>
          </a:p>
        </p:txBody>
      </p:sp>
      <p:sp>
        <p:nvSpPr>
          <p:cNvPr id="23" name="TextBox 22"/>
          <p:cNvSpPr txBox="1"/>
          <p:nvPr/>
        </p:nvSpPr>
        <p:spPr>
          <a:xfrm>
            <a:off x="7708392"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steady</a:t>
            </a:r>
          </a:p>
        </p:txBody>
      </p:sp>
      <p:sp>
        <p:nvSpPr>
          <p:cNvPr id="24" name="TextBox 23"/>
          <p:cNvSpPr txBox="1"/>
          <p:nvPr/>
        </p:nvSpPr>
        <p:spPr>
          <a:xfrm>
            <a:off x="7690104"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Long-running test</a:t>
            </a:r>
          </a:p>
        </p:txBody>
      </p:sp>
      <p:sp>
        <p:nvSpPr>
          <p:cNvPr id="25" name="Rounded Rectangle 24"/>
          <p:cNvSpPr/>
          <p:nvPr/>
        </p:nvSpPr>
        <p:spPr>
          <a:xfrm>
            <a:off x="9820656"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985248"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SPIKE</a:t>
            </a:r>
          </a:p>
        </p:txBody>
      </p:sp>
      <p:sp>
        <p:nvSpPr>
          <p:cNvPr id="27" name="TextBox 26"/>
          <p:cNvSpPr txBox="1"/>
          <p:nvPr/>
        </p:nvSpPr>
        <p:spPr>
          <a:xfrm>
            <a:off x="9985248"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burst</a:t>
            </a:r>
          </a:p>
        </p:txBody>
      </p:sp>
      <p:sp>
        <p:nvSpPr>
          <p:cNvPr id="28" name="TextBox 27"/>
          <p:cNvSpPr txBox="1"/>
          <p:nvPr/>
        </p:nvSpPr>
        <p:spPr>
          <a:xfrm>
            <a:off x="9966960"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Sudden-load test</a:t>
            </a:r>
          </a:p>
        </p:txBody>
      </p:sp>
      <p:sp>
        <p:nvSpPr>
          <p:cNvPr id="29" name="TextBox 28"/>
          <p:cNvSpPr txBox="1"/>
          <p:nvPr/>
        </p:nvSpPr>
        <p:spPr>
          <a:xfrm>
            <a:off x="749808" y="4892040"/>
            <a:ext cx="10771632" cy="594360"/>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BE7414"/>
                </a:solidFill>
                <a:latin typeface="Arial"/>
              </a:rPr>
              <a:t>VU means simulated users; p95 is the time within which 95% of requests finish.</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Core performance target was not met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§4.4; Table 4.5;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19</a:t>
            </a:r>
          </a:p>
        </p:txBody>
      </p:sp>
      <p:graphicFrame>
        <p:nvGraphicFramePr>
          <p:cNvPr id="9" name="Table 8"/>
          <p:cNvGraphicFramePr>
            <a:graphicFrameLocks noGrp="1"/>
          </p:cNvGraphicFramePr>
          <p:nvPr/>
        </p:nvGraphicFramePr>
        <p:xfrm>
          <a:off x="731520" y="1417320"/>
          <a:ext cx="10716766" cy="3108960"/>
        </p:xfrm>
        <a:graphic>
          <a:graphicData uri="http://schemas.openxmlformats.org/drawingml/2006/table">
            <a:tbl>
              <a:tblPr firstRow="1" bandRow="1">
                <a:tableStyleId>{5C22544A-7EE6-4342-B048-85BDC9FD1C3A}</a:tableStyleId>
              </a:tblPr>
              <a:tblGrid>
                <a:gridCol w="2036185"/>
                <a:gridCol w="2572024"/>
                <a:gridCol w="2572024"/>
                <a:gridCol w="3536533"/>
              </a:tblGrid>
              <a:tr h="777240">
                <a:tc>
                  <a:txBody>
                    <a:bodyPr/>
                    <a:lstStyle/>
                    <a:p>
                      <a:pPr algn="l">
                        <a:spcAft>
                          <a:spcPts val="0"/>
                        </a:spcAft>
                      </a:pPr>
                      <a:r>
                        <a:rPr sz="2000" b="1">
                          <a:solidFill>
                            <a:srgbClr val="FFFFFF"/>
                          </a:solidFill>
                          <a:latin typeface="Arial"/>
                        </a:rPr>
                        <a:t>Profile</a:t>
                      </a:r>
                    </a:p>
                  </a:txBody>
                  <a:tcPr marL="109728" marR="91440" marT="36576" marB="36576">
                    <a:solidFill>
                      <a:srgbClr val="252B33"/>
                    </a:solidFill>
                  </a:tcPr>
                </a:tc>
                <a:tc>
                  <a:txBody>
                    <a:bodyPr/>
                    <a:lstStyle/>
                    <a:p>
                      <a:pPr algn="l">
                        <a:spcAft>
                          <a:spcPts val="0"/>
                        </a:spcAft>
                      </a:pPr>
                      <a:r>
                        <a:rPr sz="2000" b="1">
                          <a:solidFill>
                            <a:srgbClr val="FFFFFF"/>
                          </a:solidFill>
                          <a:latin typeface="Arial"/>
                        </a:rPr>
                        <a:t>Baseline p95</a:t>
                      </a:r>
                    </a:p>
                  </a:txBody>
                  <a:tcPr marL="109728" marR="91440" marT="36576" marB="36576">
                    <a:solidFill>
                      <a:srgbClr val="252B33"/>
                    </a:solidFill>
                  </a:tcPr>
                </a:tc>
                <a:tc>
                  <a:txBody>
                    <a:bodyPr/>
                    <a:lstStyle/>
                    <a:p>
                      <a:pPr algn="l">
                        <a:spcAft>
                          <a:spcPts val="0"/>
                        </a:spcAft>
                      </a:pPr>
                      <a:r>
                        <a:rPr sz="2000" b="1">
                          <a:solidFill>
                            <a:srgbClr val="FFFFFF"/>
                          </a:solidFill>
                          <a:latin typeface="Arial"/>
                        </a:rPr>
                        <a:t>After p95</a:t>
                      </a:r>
                    </a:p>
                  </a:txBody>
                  <a:tcPr marL="109728" marR="91440" marT="36576" marB="36576">
                    <a:solidFill>
                      <a:srgbClr val="252B33"/>
                    </a:solidFill>
                  </a:tcPr>
                </a:tc>
                <a:tc>
                  <a:txBody>
                    <a:bodyPr/>
                    <a:lstStyle/>
                    <a:p>
                      <a:pPr algn="l">
                        <a:spcAft>
                          <a:spcPts val="0"/>
                        </a:spcAft>
                      </a:pPr>
                      <a:r>
                        <a:rPr sz="2000" b="1">
                          <a:solidFill>
                            <a:srgbClr val="FFFFFF"/>
                          </a:solidFill>
                          <a:latin typeface="Arial"/>
                        </a:rPr>
                        <a:t>Fresh judgment</a:t>
                      </a:r>
                    </a:p>
                  </a:txBody>
                  <a:tcPr marL="109728" marR="91440" marT="36576" marB="36576">
                    <a:solidFill>
                      <a:srgbClr val="252B33"/>
                    </a:solidFill>
                  </a:tcPr>
                </a:tc>
              </a:tr>
              <a:tr h="777240">
                <a:tc>
                  <a:txBody>
                    <a:bodyPr/>
                    <a:lstStyle/>
                    <a:p>
                      <a:pPr algn="l">
                        <a:spcAft>
                          <a:spcPts val="0"/>
                        </a:spcAft>
                      </a:pPr>
                      <a:r>
                        <a:rPr sz="2000" b="0">
                          <a:solidFill>
                            <a:srgbClr val="252B33"/>
                          </a:solidFill>
                          <a:latin typeface="Arial"/>
                        </a:rPr>
                        <a:t>50 VU</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33 ms</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199.9 ms</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Slower after fixes</a:t>
                      </a:r>
                    </a:p>
                  </a:txBody>
                  <a:tcPr marL="109728" marR="91440" marT="36576" marB="36576">
                    <a:solidFill>
                      <a:srgbClr val="FFFFFF"/>
                    </a:solidFill>
                  </a:tcPr>
                </a:tc>
              </a:tr>
              <a:tr h="777240">
                <a:tc>
                  <a:txBody>
                    <a:bodyPr/>
                    <a:lstStyle/>
                    <a:p>
                      <a:pPr algn="l">
                        <a:spcAft>
                          <a:spcPts val="0"/>
                        </a:spcAft>
                      </a:pPr>
                      <a:r>
                        <a:rPr sz="2000" b="0">
                          <a:solidFill>
                            <a:srgbClr val="252B33"/>
                          </a:solidFill>
                          <a:latin typeface="Arial"/>
                        </a:rPr>
                        <a:t>100 VU</a:t>
                      </a:r>
                    </a:p>
                  </a:txBody>
                  <a:tcPr marL="109728" marR="91440" marT="36576" marB="36576">
                    <a:solidFill>
                      <a:srgbClr val="F7F9FC"/>
                    </a:solidFill>
                  </a:tcPr>
                </a:tc>
                <a:tc>
                  <a:txBody>
                    <a:bodyPr/>
                    <a:lstStyle/>
                    <a:p>
                      <a:pPr algn="l">
                        <a:spcAft>
                          <a:spcPts val="0"/>
                        </a:spcAft>
                      </a:pPr>
                      <a:r>
                        <a:rPr sz="2000" b="0">
                          <a:solidFill>
                            <a:srgbClr val="252B33"/>
                          </a:solidFill>
                          <a:latin typeface="Arial"/>
                        </a:rPr>
                        <a:t>255.9 ms</a:t>
                      </a:r>
                    </a:p>
                  </a:txBody>
                  <a:tcPr marL="109728" marR="91440" marT="36576" marB="36576">
                    <a:solidFill>
                      <a:srgbClr val="F7F9FC"/>
                    </a:solidFill>
                  </a:tcPr>
                </a:tc>
                <a:tc>
                  <a:txBody>
                    <a:bodyPr/>
                    <a:lstStyle/>
                    <a:p>
                      <a:pPr algn="l">
                        <a:spcAft>
                          <a:spcPts val="0"/>
                        </a:spcAft>
                      </a:pPr>
                      <a:r>
                        <a:rPr sz="2000" b="0">
                          <a:solidFill>
                            <a:srgbClr val="252B33"/>
                          </a:solidFill>
                          <a:latin typeface="Arial"/>
                        </a:rPr>
                        <a:t>1146.9 ms</a:t>
                      </a:r>
                    </a:p>
                  </a:txBody>
                  <a:tcPr marL="109728" marR="91440" marT="36576" marB="36576">
                    <a:solidFill>
                      <a:srgbClr val="F7F9FC"/>
                    </a:solidFill>
                  </a:tcPr>
                </a:tc>
                <a:tc>
                  <a:txBody>
                    <a:bodyPr/>
                    <a:lstStyle/>
                    <a:p>
                      <a:pPr algn="l">
                        <a:spcAft>
                          <a:spcPts val="0"/>
                        </a:spcAft>
                      </a:pPr>
                      <a:r>
                        <a:rPr sz="2000" b="0">
                          <a:solidFill>
                            <a:srgbClr val="252B33"/>
                          </a:solidFill>
                          <a:latin typeface="Arial"/>
                        </a:rPr>
                        <a:t>Slower after fixes</a:t>
                      </a:r>
                    </a:p>
                  </a:txBody>
                  <a:tcPr marL="109728" marR="91440" marT="36576" marB="36576">
                    <a:solidFill>
                      <a:srgbClr val="F7F9FC"/>
                    </a:solidFill>
                  </a:tcPr>
                </a:tc>
              </a:tr>
              <a:tr h="777240">
                <a:tc>
                  <a:txBody>
                    <a:bodyPr/>
                    <a:lstStyle/>
                    <a:p>
                      <a:pPr algn="l">
                        <a:spcAft>
                          <a:spcPts val="0"/>
                        </a:spcAft>
                      </a:pPr>
                      <a:r>
                        <a:rPr sz="2000" b="0">
                          <a:solidFill>
                            <a:srgbClr val="252B33"/>
                          </a:solidFill>
                          <a:latin typeface="Arial"/>
                        </a:rPr>
                        <a:t>500 VU</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106 ms</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1547.95 ms</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Slower after fixes</a:t>
                      </a:r>
                    </a:p>
                  </a:txBody>
                  <a:tcPr marL="109728" marR="91440" marT="36576" marB="36576">
                    <a:solidFill>
                      <a:srgbClr val="FFFFFF"/>
                    </a:solidFill>
                  </a:tcPr>
                </a:tc>
              </a:tr>
            </a:tbl>
          </a:graphicData>
        </a:graphic>
      </p:graphicFrame>
      <p:sp>
        <p:nvSpPr>
          <p:cNvPr id="10" name="Rounded Rectangle 9"/>
          <p:cNvSpPr/>
          <p:nvPr/>
        </p:nvSpPr>
        <p:spPr>
          <a:xfrm>
            <a:off x="731520" y="4809744"/>
            <a:ext cx="10716768" cy="978408"/>
          </a:xfrm>
          <a:prstGeom prst="roundRect">
            <a:avLst/>
          </a:prstGeom>
          <a:solidFill>
            <a:srgbClr val="FDE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4965192"/>
            <a:ext cx="10250424" cy="612648"/>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B3373D"/>
                </a:solidFill>
                <a:latin typeface="Arial"/>
              </a:rPr>
              <a:t>NOT MET: 100 VU 1,146.9 &gt; 500 ms; 500 VU 1,547.95 &gt; 1,200 ms</a:t>
            </a:r>
          </a:p>
        </p:txBody>
      </p:sp>
      <p:sp>
        <p:nvSpPr>
          <p:cNvPr id="12" name="TextBox 11"/>
          <p:cNvSpPr txBox="1"/>
          <p:nvPr/>
        </p:nvSpPr>
        <p:spPr>
          <a:xfrm>
            <a:off x="950976" y="5833872"/>
            <a:ext cx="10195560" cy="466344"/>
          </a:xfrm>
          <a:prstGeom prst="rect">
            <a:avLst/>
          </a:prstGeom>
          <a:noFill/>
        </p:spPr>
        <p:txBody>
          <a:bodyPr wrap="square" lIns="18288" rIns="18288" tIns="18288" bIns="18288" anchor="ctr">
            <a:spAutoFit/>
          </a:bodyPr>
          <a:lstStyle/>
          <a:p>
            <a:pPr algn="l">
              <a:spcBef>
                <a:spcPts val="0"/>
              </a:spcBef>
              <a:spcAft>
                <a:spcPts val="0"/>
              </a:spcAft>
            </a:pPr>
            <a:r>
              <a:rPr sz="1600" b="0">
                <a:solidFill>
                  <a:srgbClr val="5B6874"/>
                </a:solidFill>
                <a:latin typeface="Arial"/>
              </a:rPr>
              <a:t>Fixes: cache ledger data; avoid report snapshot writes. Exact cause of slowdown not isolated.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100 VU: native dashboard proof</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L.10 and L.15;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20</a:t>
            </a:r>
          </a:p>
        </p:txBody>
      </p:sp>
      <p:sp>
        <p:nvSpPr>
          <p:cNvPr id="9" name="TextBox 8"/>
          <p:cNvSpPr txBox="1"/>
          <p:nvPr/>
        </p:nvSpPr>
        <p:spPr>
          <a:xfrm>
            <a:off x="804672" y="1271016"/>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71016"/>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AFTER FIXES</a:t>
            </a:r>
          </a:p>
        </p:txBody>
      </p:sp>
      <p:pic>
        <p:nvPicPr>
          <p:cNvPr id="11" name="Picture 10" descr="jmeter-baseline-p100-dashboard.png"/>
          <p:cNvPicPr>
            <a:picLocks noChangeAspect="1"/>
          </p:cNvPicPr>
          <p:nvPr/>
        </p:nvPicPr>
        <p:blipFill>
          <a:blip r:embed="rId2"/>
          <a:stretch>
            <a:fillRect/>
          </a:stretch>
        </p:blipFill>
        <p:spPr>
          <a:xfrm>
            <a:off x="786384" y="2160734"/>
            <a:ext cx="5157216" cy="2627970"/>
          </a:xfrm>
          <a:prstGeom prst="rect">
            <a:avLst/>
          </a:prstGeom>
        </p:spPr>
      </p:pic>
      <p:sp>
        <p:nvSpPr>
          <p:cNvPr id="12" name="Rectangle 11"/>
          <p:cNvSpPr/>
          <p:nvPr/>
        </p:nvSpPr>
        <p:spPr>
          <a:xfrm>
            <a:off x="786384" y="2160734"/>
            <a:ext cx="5157216" cy="262797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p100-dashboard.png"/>
          <p:cNvPicPr>
            <a:picLocks noChangeAspect="1"/>
          </p:cNvPicPr>
          <p:nvPr/>
        </p:nvPicPr>
        <p:blipFill>
          <a:blip r:embed="rId3"/>
          <a:stretch>
            <a:fillRect/>
          </a:stretch>
        </p:blipFill>
        <p:spPr>
          <a:xfrm>
            <a:off x="6236208" y="2113722"/>
            <a:ext cx="5157216" cy="2721994"/>
          </a:xfrm>
          <a:prstGeom prst="rect">
            <a:avLst/>
          </a:prstGeom>
        </p:spPr>
      </p:pic>
      <p:sp>
        <p:nvSpPr>
          <p:cNvPr id="14" name="Rectangle 13"/>
          <p:cNvSpPr/>
          <p:nvPr/>
        </p:nvSpPr>
        <p:spPr>
          <a:xfrm>
            <a:off x="6236208" y="211372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68112"/>
            <a:ext cx="10643616" cy="640080"/>
          </a:xfrm>
          <a:prstGeom prst="roundRect">
            <a:avLst/>
          </a:prstGeom>
          <a:solidFill>
            <a:srgbClr val="FDE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32120"/>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TOTAL row, 95th pct: 255.9 → 1146.9 ms; study limit 500 ms — target not met.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500 VU: native dashboard proof</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L.11 and L.16;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21</a:t>
            </a:r>
          </a:p>
        </p:txBody>
      </p:sp>
      <p:sp>
        <p:nvSpPr>
          <p:cNvPr id="9" name="TextBox 8"/>
          <p:cNvSpPr txBox="1"/>
          <p:nvPr/>
        </p:nvSpPr>
        <p:spPr>
          <a:xfrm>
            <a:off x="804672" y="1271016"/>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71016"/>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AFTER FIXES</a:t>
            </a:r>
          </a:p>
        </p:txBody>
      </p:sp>
      <p:pic>
        <p:nvPicPr>
          <p:cNvPr id="11" name="Picture 10" descr="jmeter-baseline-p500-dashboard.png"/>
          <p:cNvPicPr>
            <a:picLocks noChangeAspect="1"/>
          </p:cNvPicPr>
          <p:nvPr/>
        </p:nvPicPr>
        <p:blipFill>
          <a:blip r:embed="rId2"/>
          <a:stretch>
            <a:fillRect/>
          </a:stretch>
        </p:blipFill>
        <p:spPr>
          <a:xfrm>
            <a:off x="786384" y="2160734"/>
            <a:ext cx="5157216" cy="2627970"/>
          </a:xfrm>
          <a:prstGeom prst="rect">
            <a:avLst/>
          </a:prstGeom>
        </p:spPr>
      </p:pic>
      <p:sp>
        <p:nvSpPr>
          <p:cNvPr id="12" name="Rectangle 11"/>
          <p:cNvSpPr/>
          <p:nvPr/>
        </p:nvSpPr>
        <p:spPr>
          <a:xfrm>
            <a:off x="786384" y="2160734"/>
            <a:ext cx="5157216" cy="262797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p500-dashboard.png"/>
          <p:cNvPicPr>
            <a:picLocks noChangeAspect="1"/>
          </p:cNvPicPr>
          <p:nvPr/>
        </p:nvPicPr>
        <p:blipFill>
          <a:blip r:embed="rId3"/>
          <a:stretch>
            <a:fillRect/>
          </a:stretch>
        </p:blipFill>
        <p:spPr>
          <a:xfrm>
            <a:off x="6236208" y="2113722"/>
            <a:ext cx="5157216" cy="2721994"/>
          </a:xfrm>
          <a:prstGeom prst="rect">
            <a:avLst/>
          </a:prstGeom>
        </p:spPr>
      </p:pic>
      <p:sp>
        <p:nvSpPr>
          <p:cNvPr id="14" name="Rectangle 13"/>
          <p:cNvSpPr/>
          <p:nvPr/>
        </p:nvSpPr>
        <p:spPr>
          <a:xfrm>
            <a:off x="6236208" y="211372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68112"/>
            <a:ext cx="10643616" cy="640080"/>
          </a:xfrm>
          <a:prstGeom prst="roundRect">
            <a:avLst/>
          </a:prstGeom>
          <a:solidFill>
            <a:srgbClr val="FDE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32120"/>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TOTAL row, 95th pct: 106 → 1547.95 ms; study limit 1,200 ms — target not met.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Soak/spike p95 fell; core p95 rose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§4.4;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22</a:t>
            </a:r>
          </a:p>
        </p:txBody>
      </p:sp>
      <p:sp>
        <p:nvSpPr>
          <p:cNvPr id="9" name="Rounded Rectangle 8"/>
          <p:cNvSpPr/>
          <p:nvPr/>
        </p:nvSpPr>
        <p:spPr>
          <a:xfrm>
            <a:off x="731520" y="1554480"/>
            <a:ext cx="5175504" cy="3401568"/>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865376"/>
            <a:ext cx="4626864" cy="292608"/>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6F46"/>
                </a:solidFill>
                <a:latin typeface="Arial"/>
              </a:rPr>
              <a:t>SOAK TOTAL p95</a:t>
            </a:r>
          </a:p>
        </p:txBody>
      </p:sp>
      <p:sp>
        <p:nvSpPr>
          <p:cNvPr id="11" name="TextBox 10"/>
          <p:cNvSpPr txBox="1"/>
          <p:nvPr/>
        </p:nvSpPr>
        <p:spPr>
          <a:xfrm>
            <a:off x="1005840" y="2450592"/>
            <a:ext cx="4617720" cy="566928"/>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246F46"/>
                </a:solidFill>
                <a:latin typeface="Arial"/>
              </a:rPr>
              <a:t>443.95 → 171 ms</a:t>
            </a:r>
          </a:p>
        </p:txBody>
      </p:sp>
      <p:sp>
        <p:nvSpPr>
          <p:cNvPr id="12" name="TextBox 11"/>
          <p:cNvSpPr txBox="1"/>
          <p:nvPr/>
        </p:nvSpPr>
        <p:spPr>
          <a:xfrm>
            <a:off x="1005840" y="3337560"/>
            <a:ext cx="4617720" cy="475488"/>
          </a:xfrm>
          <a:prstGeom prst="rect">
            <a:avLst/>
          </a:prstGeom>
          <a:noFill/>
        </p:spPr>
        <p:txBody>
          <a:bodyPr wrap="square" lIns="18288" rIns="18288" tIns="18288" bIns="18288" anchor="ctr">
            <a:spAutoFit/>
          </a:bodyPr>
          <a:lstStyle/>
          <a:p>
            <a:pPr algn="l">
              <a:spcBef>
                <a:spcPts val="0"/>
              </a:spcBef>
              <a:spcAft>
                <a:spcPts val="0"/>
              </a:spcAft>
            </a:pPr>
            <a:r>
              <a:rPr sz="2100" b="0">
                <a:solidFill>
                  <a:srgbClr val="252B33"/>
                </a:solidFill>
                <a:latin typeface="Arial"/>
              </a:rPr>
              <a:t>61% lower on the fresh run</a:t>
            </a:r>
          </a:p>
        </p:txBody>
      </p:sp>
      <p:sp>
        <p:nvSpPr>
          <p:cNvPr id="13" name="TextBox 12"/>
          <p:cNvSpPr txBox="1"/>
          <p:nvPr/>
        </p:nvSpPr>
        <p:spPr>
          <a:xfrm>
            <a:off x="1005840" y="4059936"/>
            <a:ext cx="4617720" cy="612648"/>
          </a:xfrm>
          <a:prstGeom prst="rect">
            <a:avLst/>
          </a:prstGeom>
          <a:noFill/>
        </p:spPr>
        <p:txBody>
          <a:bodyPr wrap="square" lIns="18288" rIns="18288" tIns="18288" bIns="18288" anchor="ctr">
            <a:spAutoFit/>
          </a:bodyPr>
          <a:lstStyle/>
          <a:p>
            <a:pPr algn="l">
              <a:spcBef>
                <a:spcPts val="0"/>
              </a:spcBef>
              <a:spcAft>
                <a:spcPts val="0"/>
              </a:spcAft>
            </a:pPr>
            <a:r>
              <a:rPr sz="1600" b="0">
                <a:solidFill>
                  <a:srgbClr val="5B6874"/>
                </a:solidFill>
                <a:latin typeface="Arial"/>
              </a:rPr>
              <a:t>p99 lower; average time and throughput worse</a:t>
            </a:r>
          </a:p>
        </p:txBody>
      </p:sp>
      <p:sp>
        <p:nvSpPr>
          <p:cNvPr id="14" name="Rounded Rectangle 13"/>
          <p:cNvSpPr/>
          <p:nvPr/>
        </p:nvSpPr>
        <p:spPr>
          <a:xfrm>
            <a:off x="6254496" y="1554480"/>
            <a:ext cx="5175504" cy="3401568"/>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865376"/>
            <a:ext cx="4617720" cy="292608"/>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6F46"/>
                </a:solidFill>
                <a:latin typeface="Arial"/>
              </a:rPr>
              <a:t>SPIKE TOTAL p95</a:t>
            </a:r>
          </a:p>
        </p:txBody>
      </p:sp>
      <p:sp>
        <p:nvSpPr>
          <p:cNvPr id="16" name="TextBox 15"/>
          <p:cNvSpPr txBox="1"/>
          <p:nvPr/>
        </p:nvSpPr>
        <p:spPr>
          <a:xfrm>
            <a:off x="6528816" y="2450592"/>
            <a:ext cx="4617720" cy="566928"/>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46F46"/>
                </a:solidFill>
                <a:latin typeface="Arial"/>
              </a:rPr>
              <a:t>33,402 → 4,731 ms</a:t>
            </a:r>
          </a:p>
        </p:txBody>
      </p:sp>
      <p:sp>
        <p:nvSpPr>
          <p:cNvPr id="17" name="TextBox 16"/>
          <p:cNvSpPr txBox="1"/>
          <p:nvPr/>
        </p:nvSpPr>
        <p:spPr>
          <a:xfrm>
            <a:off x="6528816" y="3337560"/>
            <a:ext cx="4617720" cy="475488"/>
          </a:xfrm>
          <a:prstGeom prst="rect">
            <a:avLst/>
          </a:prstGeom>
          <a:noFill/>
        </p:spPr>
        <p:txBody>
          <a:bodyPr wrap="square" lIns="18288" rIns="18288" tIns="18288" bIns="18288" anchor="ctr">
            <a:spAutoFit/>
          </a:bodyPr>
          <a:lstStyle/>
          <a:p>
            <a:pPr algn="l">
              <a:spcBef>
                <a:spcPts val="0"/>
              </a:spcBef>
              <a:spcAft>
                <a:spcPts val="0"/>
              </a:spcAft>
            </a:pPr>
            <a:r>
              <a:rPr sz="1900" b="0">
                <a:solidFill>
                  <a:srgbClr val="252B33"/>
                </a:solidFill>
                <a:latin typeface="Arial"/>
              </a:rPr>
              <a:t>86% lower; errors 0.4688% → 0.0%</a:t>
            </a:r>
          </a:p>
        </p:txBody>
      </p:sp>
      <p:sp>
        <p:nvSpPr>
          <p:cNvPr id="18" name="TextBox 17"/>
          <p:cNvSpPr txBox="1"/>
          <p:nvPr/>
        </p:nvSpPr>
        <p:spPr>
          <a:xfrm>
            <a:off x="6528816" y="4059936"/>
            <a:ext cx="4617720" cy="612648"/>
          </a:xfrm>
          <a:prstGeom prst="rect">
            <a:avLst/>
          </a:prstGeom>
          <a:noFill/>
        </p:spPr>
        <p:txBody>
          <a:bodyPr wrap="square" lIns="18288" rIns="18288" tIns="18288" bIns="18288" anchor="ctr">
            <a:spAutoFit/>
          </a:bodyPr>
          <a:lstStyle/>
          <a:p>
            <a:pPr algn="l">
              <a:spcBef>
                <a:spcPts val="0"/>
              </a:spcBef>
              <a:spcAft>
                <a:spcPts val="0"/>
              </a:spcAft>
            </a:pPr>
            <a:r>
              <a:rPr sz="1600" b="0">
                <a:solidFill>
                  <a:srgbClr val="5B6874"/>
                </a:solidFill>
                <a:latin typeface="Arial"/>
              </a:rPr>
              <a:t>p99 and average time lower; throughput higher</a:t>
            </a:r>
          </a:p>
        </p:txBody>
      </p:sp>
      <p:sp>
        <p:nvSpPr>
          <p:cNvPr id="19" name="TextBox 18"/>
          <p:cNvSpPr txBox="1"/>
          <p:nvPr/>
        </p:nvSpPr>
        <p:spPr>
          <a:xfrm>
            <a:off x="768096" y="5294376"/>
            <a:ext cx="10698480" cy="576072"/>
          </a:xfrm>
          <a:prstGeom prst="rect">
            <a:avLst/>
          </a:prstGeom>
          <a:noFill/>
        </p:spPr>
        <p:txBody>
          <a:bodyPr wrap="square" lIns="18288" rIns="18288" tIns="18288" bIns="18288" anchor="ctr">
            <a:spAutoFit/>
          </a:bodyPr>
          <a:lstStyle/>
          <a:p>
            <a:pPr algn="l">
              <a:spcBef>
                <a:spcPts val="0"/>
              </a:spcBef>
              <a:spcAft>
                <a:spcPts val="0"/>
              </a:spcAft>
            </a:pPr>
            <a:r>
              <a:rPr sz="1900" b="1">
                <a:solidFill>
                  <a:srgbClr val="B3373D"/>
                </a:solidFill>
                <a:latin typeface="Arial"/>
              </a:rPr>
              <a:t>Core 50, 100, and 500 VU p95 all worsened; these separate gains do not reverse that result.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GET /reports/account-ledger behaved differently</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4.4; Appendix G</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23</a:t>
            </a:r>
          </a:p>
        </p:txBody>
      </p:sp>
      <p:graphicFrame>
        <p:nvGraphicFramePr>
          <p:cNvPr id="9" name="Table 8"/>
          <p:cNvGraphicFramePr>
            <a:graphicFrameLocks noGrp="1"/>
          </p:cNvGraphicFramePr>
          <p:nvPr/>
        </p:nvGraphicFramePr>
        <p:xfrm>
          <a:off x="731520" y="1481328"/>
          <a:ext cx="10716765" cy="2322576"/>
        </p:xfrm>
        <a:graphic>
          <a:graphicData uri="http://schemas.openxmlformats.org/drawingml/2006/table">
            <a:tbl>
              <a:tblPr firstRow="1" bandRow="1">
                <a:tableStyleId>{5C22544A-7EE6-4342-B048-85BDC9FD1C3A}</a:tableStyleId>
              </a:tblPr>
              <a:tblGrid>
                <a:gridCol w="3107862"/>
                <a:gridCol w="2357688"/>
                <a:gridCol w="2357688"/>
                <a:gridCol w="2893527"/>
              </a:tblGrid>
              <a:tr h="774192">
                <a:tc>
                  <a:txBody>
                    <a:bodyPr/>
                    <a:lstStyle/>
                    <a:p>
                      <a:pPr algn="l">
                        <a:spcAft>
                          <a:spcPts val="0"/>
                        </a:spcAft>
                      </a:pPr>
                      <a:r>
                        <a:rPr sz="1900" b="1">
                          <a:solidFill>
                            <a:srgbClr val="FFFFFF"/>
                          </a:solidFill>
                          <a:latin typeface="Arial"/>
                        </a:rPr>
                        <a:t>Account-ledger profile</a:t>
                      </a:r>
                    </a:p>
                  </a:txBody>
                  <a:tcPr marL="109728" marR="91440" marT="36576" marB="36576">
                    <a:solidFill>
                      <a:srgbClr val="252B33"/>
                    </a:solidFill>
                  </a:tcPr>
                </a:tc>
                <a:tc>
                  <a:txBody>
                    <a:bodyPr/>
                    <a:lstStyle/>
                    <a:p>
                      <a:pPr algn="l">
                        <a:spcAft>
                          <a:spcPts val="0"/>
                        </a:spcAft>
                      </a:pPr>
                      <a:r>
                        <a:rPr sz="1900" b="1">
                          <a:solidFill>
                            <a:srgbClr val="FFFFFF"/>
                          </a:solidFill>
                          <a:latin typeface="Arial"/>
                        </a:rPr>
                        <a:t>Baseline p95</a:t>
                      </a:r>
                    </a:p>
                  </a:txBody>
                  <a:tcPr marL="109728" marR="91440" marT="36576" marB="36576">
                    <a:solidFill>
                      <a:srgbClr val="252B33"/>
                    </a:solidFill>
                  </a:tcPr>
                </a:tc>
                <a:tc>
                  <a:txBody>
                    <a:bodyPr/>
                    <a:lstStyle/>
                    <a:p>
                      <a:pPr algn="l">
                        <a:spcAft>
                          <a:spcPts val="0"/>
                        </a:spcAft>
                      </a:pPr>
                      <a:r>
                        <a:rPr sz="1900" b="1">
                          <a:solidFill>
                            <a:srgbClr val="FFFFFF"/>
                          </a:solidFill>
                          <a:latin typeface="Arial"/>
                        </a:rPr>
                        <a:t>After p95</a:t>
                      </a:r>
                    </a:p>
                  </a:txBody>
                  <a:tcPr marL="109728" marR="91440" marT="36576" marB="36576">
                    <a:solidFill>
                      <a:srgbClr val="252B33"/>
                    </a:solidFill>
                  </a:tcPr>
                </a:tc>
                <a:tc>
                  <a:txBody>
                    <a:bodyPr/>
                    <a:lstStyle/>
                    <a:p>
                      <a:pPr algn="l">
                        <a:spcAft>
                          <a:spcPts val="0"/>
                        </a:spcAft>
                      </a:pPr>
                      <a:r>
                        <a:rPr sz="1900" b="1">
                          <a:solidFill>
                            <a:srgbClr val="FFFFFF"/>
                          </a:solidFill>
                          <a:latin typeface="Arial"/>
                        </a:rPr>
                        <a:t>Interpretation</a:t>
                      </a:r>
                    </a:p>
                  </a:txBody>
                  <a:tcPr marL="109728" marR="91440" marT="36576" marB="36576">
                    <a:solidFill>
                      <a:srgbClr val="252B33"/>
                    </a:solidFill>
                  </a:tcPr>
                </a:tc>
              </a:tr>
              <a:tr h="774192">
                <a:tc>
                  <a:txBody>
                    <a:bodyPr/>
                    <a:lstStyle/>
                    <a:p>
                      <a:pPr algn="l">
                        <a:spcAft>
                          <a:spcPts val="0"/>
                        </a:spcAft>
                      </a:pPr>
                      <a:r>
                        <a:rPr sz="1900" b="0">
                          <a:solidFill>
                            <a:srgbClr val="252B33"/>
                          </a:solidFill>
                          <a:latin typeface="Arial"/>
                        </a:rPr>
                        <a:t>Soak</a:t>
                      </a:r>
                    </a:p>
                  </a:txBody>
                  <a:tcPr marL="109728" marR="91440" marT="36576" marB="36576">
                    <a:solidFill>
                      <a:srgbClr val="FFFFFF"/>
                    </a:solidFill>
                  </a:tcPr>
                </a:tc>
                <a:tc>
                  <a:txBody>
                    <a:bodyPr/>
                    <a:lstStyle/>
                    <a:p>
                      <a:pPr algn="l">
                        <a:spcAft>
                          <a:spcPts val="0"/>
                        </a:spcAft>
                      </a:pPr>
                      <a:r>
                        <a:rPr sz="1900" b="0">
                          <a:solidFill>
                            <a:srgbClr val="252B33"/>
                          </a:solidFill>
                          <a:latin typeface="Arial"/>
                        </a:rPr>
                        <a:t>741.95 ms</a:t>
                      </a:r>
                    </a:p>
                  </a:txBody>
                  <a:tcPr marL="109728" marR="91440" marT="36576" marB="36576">
                    <a:solidFill>
                      <a:srgbClr val="FFFFFF"/>
                    </a:solidFill>
                  </a:tcPr>
                </a:tc>
                <a:tc>
                  <a:txBody>
                    <a:bodyPr/>
                    <a:lstStyle/>
                    <a:p>
                      <a:pPr algn="l">
                        <a:spcAft>
                          <a:spcPts val="0"/>
                        </a:spcAft>
                      </a:pPr>
                      <a:r>
                        <a:rPr sz="1900" b="0">
                          <a:solidFill>
                            <a:srgbClr val="252B33"/>
                          </a:solidFill>
                          <a:latin typeface="Arial"/>
                        </a:rPr>
                        <a:t>3,825.70 ms</a:t>
                      </a:r>
                    </a:p>
                  </a:txBody>
                  <a:tcPr marL="109728" marR="91440" marT="36576" marB="36576">
                    <a:solidFill>
                      <a:srgbClr val="FFFFFF"/>
                    </a:solidFill>
                  </a:tcPr>
                </a:tc>
                <a:tc>
                  <a:txBody>
                    <a:bodyPr/>
                    <a:lstStyle/>
                    <a:p>
                      <a:pPr algn="l">
                        <a:spcAft>
                          <a:spcPts val="0"/>
                        </a:spcAft>
                      </a:pPr>
                      <a:r>
                        <a:rPr sz="1900" b="0">
                          <a:solidFill>
                            <a:srgbClr val="252B33"/>
                          </a:solidFill>
                          <a:latin typeface="Arial"/>
                        </a:rPr>
                        <a:t>Regression</a:t>
                      </a:r>
                    </a:p>
                  </a:txBody>
                  <a:tcPr marL="109728" marR="91440" marT="36576" marB="36576">
                    <a:solidFill>
                      <a:srgbClr val="FFFFFF"/>
                    </a:solidFill>
                  </a:tcPr>
                </a:tc>
              </a:tr>
              <a:tr h="774192">
                <a:tc>
                  <a:txBody>
                    <a:bodyPr/>
                    <a:lstStyle/>
                    <a:p>
                      <a:pPr algn="l">
                        <a:spcAft>
                          <a:spcPts val="0"/>
                        </a:spcAft>
                      </a:pPr>
                      <a:r>
                        <a:rPr sz="1900" b="0">
                          <a:solidFill>
                            <a:srgbClr val="252B33"/>
                          </a:solidFill>
                          <a:latin typeface="Arial"/>
                        </a:rPr>
                        <a:t>Spike</a:t>
                      </a:r>
                    </a:p>
                  </a:txBody>
                  <a:tcPr marL="109728" marR="91440" marT="36576" marB="36576">
                    <a:solidFill>
                      <a:srgbClr val="F7F9FC"/>
                    </a:solidFill>
                  </a:tcPr>
                </a:tc>
                <a:tc>
                  <a:txBody>
                    <a:bodyPr/>
                    <a:lstStyle/>
                    <a:p>
                      <a:pPr algn="l">
                        <a:spcAft>
                          <a:spcPts val="0"/>
                        </a:spcAft>
                      </a:pPr>
                      <a:r>
                        <a:rPr sz="1900" b="0">
                          <a:solidFill>
                            <a:srgbClr val="252B33"/>
                          </a:solidFill>
                          <a:latin typeface="Arial"/>
                        </a:rPr>
                        <a:t>50,288.30 ms</a:t>
                      </a:r>
                    </a:p>
                  </a:txBody>
                  <a:tcPr marL="109728" marR="91440" marT="36576" marB="36576">
                    <a:solidFill>
                      <a:srgbClr val="F7F9FC"/>
                    </a:solidFill>
                  </a:tcPr>
                </a:tc>
                <a:tc>
                  <a:txBody>
                    <a:bodyPr/>
                    <a:lstStyle/>
                    <a:p>
                      <a:pPr algn="l">
                        <a:spcAft>
                          <a:spcPts val="0"/>
                        </a:spcAft>
                      </a:pPr>
                      <a:r>
                        <a:rPr sz="1900" b="0">
                          <a:solidFill>
                            <a:srgbClr val="252B33"/>
                          </a:solidFill>
                          <a:latin typeface="Arial"/>
                        </a:rPr>
                        <a:t>12,910.20 ms</a:t>
                      </a:r>
                    </a:p>
                  </a:txBody>
                  <a:tcPr marL="109728" marR="91440" marT="36576" marB="36576">
                    <a:solidFill>
                      <a:srgbClr val="F7F9FC"/>
                    </a:solidFill>
                  </a:tcPr>
                </a:tc>
                <a:tc>
                  <a:txBody>
                    <a:bodyPr/>
                    <a:lstStyle/>
                    <a:p>
                      <a:pPr algn="l">
                        <a:spcAft>
                          <a:spcPts val="0"/>
                        </a:spcAft>
                      </a:pPr>
                      <a:r>
                        <a:rPr sz="1900" b="0">
                          <a:solidFill>
                            <a:srgbClr val="252B33"/>
                          </a:solidFill>
                          <a:latin typeface="Arial"/>
                        </a:rPr>
                        <a:t>Improvement</a:t>
                      </a:r>
                    </a:p>
                  </a:txBody>
                  <a:tcPr marL="109728" marR="91440" marT="36576" marB="36576">
                    <a:solidFill>
                      <a:srgbClr val="F7F9FC"/>
                    </a:solidFill>
                  </a:tcPr>
                </a:tc>
              </a:tr>
            </a:tbl>
          </a:graphicData>
        </a:graphic>
      </p:graphicFrame>
      <p:sp>
        <p:nvSpPr>
          <p:cNvPr id="10" name="Rounded Rectangle 9"/>
          <p:cNvSpPr/>
          <p:nvPr/>
        </p:nvSpPr>
        <p:spPr>
          <a:xfrm>
            <a:off x="731520" y="4105656"/>
            <a:ext cx="10716768" cy="157276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4325112"/>
            <a:ext cx="9966960" cy="347472"/>
          </a:xfrm>
          <a:prstGeom prst="rect">
            <a:avLst/>
          </a:prstGeom>
          <a:noFill/>
        </p:spPr>
        <p:txBody>
          <a:bodyPr wrap="square" lIns="18288" rIns="18288" tIns="18288" bIns="18288" anchor="ctr">
            <a:spAutoFit/>
          </a:bodyPr>
          <a:lstStyle/>
          <a:p>
            <a:pPr algn="l">
              <a:spcBef>
                <a:spcPts val="0"/>
              </a:spcBef>
              <a:spcAft>
                <a:spcPts val="0"/>
              </a:spcAft>
            </a:pPr>
            <a:r>
              <a:rPr sz="1900" b="1">
                <a:solidFill>
                  <a:srgbClr val="BE7414"/>
                </a:solidFill>
                <a:latin typeface="Arial"/>
              </a:rPr>
              <a:t>Why this matters</a:t>
            </a:r>
          </a:p>
        </p:txBody>
      </p:sp>
      <p:sp>
        <p:nvSpPr>
          <p:cNvPr id="12" name="TextBox 11"/>
          <p:cNvSpPr txBox="1"/>
          <p:nvPr/>
        </p:nvSpPr>
        <p:spPr>
          <a:xfrm>
            <a:off x="978408" y="4700016"/>
            <a:ext cx="9948672" cy="704088"/>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The same endpoint behaved differently under two workloads. These results do not identify one cause.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API was exercised through a role-aware client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§4.6, Figures 4.2 and 4.7</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24</a:t>
            </a:r>
          </a:p>
        </p:txBody>
      </p:sp>
      <p:pic>
        <p:nvPicPr>
          <p:cNvPr id="9" name="Picture 8" descr="02-dashboard-admin.png"/>
          <p:cNvPicPr>
            <a:picLocks noChangeAspect="1"/>
          </p:cNvPicPr>
          <p:nvPr/>
        </p:nvPicPr>
        <p:blipFill>
          <a:blip r:embed="rId2"/>
          <a:stretch>
            <a:fillRect/>
          </a:stretch>
        </p:blipFill>
        <p:spPr>
          <a:xfrm>
            <a:off x="856061" y="1490472"/>
            <a:ext cx="4990429" cy="3465576"/>
          </a:xfrm>
          <a:prstGeom prst="rect">
            <a:avLst/>
          </a:prstGeom>
        </p:spPr>
      </p:pic>
      <p:sp>
        <p:nvSpPr>
          <p:cNvPr id="10" name="Rectangle 9"/>
          <p:cNvSpPr/>
          <p:nvPr/>
        </p:nvSpPr>
        <p:spPr>
          <a:xfrm>
            <a:off x="856061" y="1490472"/>
            <a:ext cx="4990429" cy="3465576"/>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7-journal-entry-details.png"/>
          <p:cNvPicPr>
            <a:picLocks noChangeAspect="1"/>
          </p:cNvPicPr>
          <p:nvPr/>
        </p:nvPicPr>
        <p:blipFill>
          <a:blip r:embed="rId3"/>
          <a:srcRect b="60175"/>
          <a:stretch>
            <a:fillRect/>
          </a:stretch>
        </p:blipFill>
        <p:spPr>
          <a:xfrm>
            <a:off x="6351605" y="1490472"/>
            <a:ext cx="4990429" cy="3465576"/>
          </a:xfrm>
          <a:prstGeom prst="rect">
            <a:avLst/>
          </a:prstGeom>
        </p:spPr>
      </p:pic>
      <p:sp>
        <p:nvSpPr>
          <p:cNvPr id="12" name="Rectangle 11"/>
          <p:cNvSpPr/>
          <p:nvPr/>
        </p:nvSpPr>
        <p:spPr>
          <a:xfrm>
            <a:off x="6351605" y="1490472"/>
            <a:ext cx="4990429" cy="3465576"/>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5084064"/>
            <a:ext cx="5020056" cy="301752"/>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24466C"/>
                </a:solidFill>
                <a:latin typeface="Arial"/>
              </a:rPr>
              <a:t>Admin dashboard</a:t>
            </a:r>
          </a:p>
        </p:txBody>
      </p:sp>
      <p:sp>
        <p:nvSpPr>
          <p:cNvPr id="14" name="TextBox 13"/>
          <p:cNvSpPr txBox="1"/>
          <p:nvPr/>
        </p:nvSpPr>
        <p:spPr>
          <a:xfrm>
            <a:off x="6364224" y="5084064"/>
            <a:ext cx="5001768" cy="301752"/>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24466C"/>
                </a:solidFill>
                <a:latin typeface="Arial"/>
              </a:rPr>
              <a:t>Balanced journal-entry lines</a:t>
            </a:r>
          </a:p>
        </p:txBody>
      </p:sp>
      <p:sp>
        <p:nvSpPr>
          <p:cNvPr id="15" name="Rounded Rectangle 14"/>
          <p:cNvSpPr/>
          <p:nvPr/>
        </p:nvSpPr>
        <p:spPr>
          <a:xfrm>
            <a:off x="768096" y="5513832"/>
            <a:ext cx="10652760" cy="530352"/>
          </a:xfrm>
          <a:prstGeom prst="roundRect">
            <a:avLst/>
          </a:prstGeom>
          <a:solidFill>
            <a:srgbClr val="EBF3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50976" y="5577840"/>
            <a:ext cx="10232136"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These are browser workflow screenshots; their displayed counts are not benchmark metrics.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SYNTHESIS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three results are different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4.5; Appendix 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25</a:t>
            </a:r>
          </a:p>
        </p:txBody>
      </p:sp>
      <p:graphicFrame>
        <p:nvGraphicFramePr>
          <p:cNvPr id="9" name="Table 8"/>
          <p:cNvGraphicFramePr>
            <a:graphicFrameLocks noGrp="1"/>
          </p:cNvGraphicFramePr>
          <p:nvPr/>
        </p:nvGraphicFramePr>
        <p:xfrm>
          <a:off x="731520" y="1362456"/>
          <a:ext cx="10716767" cy="3767328"/>
        </p:xfrm>
        <a:graphic>
          <a:graphicData uri="http://schemas.openxmlformats.org/drawingml/2006/table">
            <a:tbl>
              <a:tblPr firstRow="1" bandRow="1">
                <a:tableStyleId>{5C22544A-7EE6-4342-B048-85BDC9FD1C3A}</a:tableStyleId>
              </a:tblPr>
              <a:tblGrid>
                <a:gridCol w="2143353"/>
                <a:gridCol w="3000695"/>
                <a:gridCol w="5572719"/>
              </a:tblGrid>
              <a:tr h="753465">
                <a:tc>
                  <a:txBody>
                    <a:bodyPr/>
                    <a:lstStyle/>
                    <a:p>
                      <a:pPr algn="l">
                        <a:spcAft>
                          <a:spcPts val="0"/>
                        </a:spcAft>
                      </a:pPr>
                      <a:r>
                        <a:rPr sz="1700" b="1">
                          <a:solidFill>
                            <a:srgbClr val="FFFFFF"/>
                          </a:solidFill>
                          <a:latin typeface="Arial"/>
                        </a:rPr>
                        <a:t>Area</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Decision</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Why</a:t>
                      </a:r>
                    </a:p>
                  </a:txBody>
                  <a:tcPr marL="109728" marR="91440" marT="36576" marB="36576">
                    <a:solidFill>
                      <a:srgbClr val="252B33"/>
                    </a:solidFill>
                  </a:tcPr>
                </a:tc>
              </a:tr>
              <a:tr h="753465">
                <a:tc>
                  <a:txBody>
                    <a:bodyPr/>
                    <a:lstStyle/>
                    <a:p>
                      <a:pPr algn="l">
                        <a:spcAft>
                          <a:spcPts val="0"/>
                        </a:spcAft>
                      </a:pPr>
                      <a:r>
                        <a:rPr sz="1700" b="0">
                          <a:solidFill>
                            <a:srgbClr val="252B33"/>
                          </a:solidFill>
                          <a:latin typeface="Arial"/>
                        </a:rPr>
                        <a:t>Code quality</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Achieved</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17 issues → 0; gate OK; small coverage/complexity regressions</a:t>
                      </a:r>
                    </a:p>
                  </a:txBody>
                  <a:tcPr marL="109728" marR="91440" marT="36576" marB="36576">
                    <a:solidFill>
                      <a:srgbClr val="FFFFFF"/>
                    </a:solidFill>
                  </a:tcPr>
                </a:tc>
              </a:tr>
              <a:tr h="753465">
                <a:tc>
                  <a:txBody>
                    <a:bodyPr/>
                    <a:lstStyle/>
                    <a:p>
                      <a:pPr algn="l">
                        <a:spcAft>
                          <a:spcPts val="0"/>
                        </a:spcAft>
                      </a:pPr>
                      <a:r>
                        <a:rPr sz="1700" b="0">
                          <a:solidFill>
                            <a:srgbClr val="252B33"/>
                          </a:solidFill>
                          <a:latin typeface="Arial"/>
                        </a:rPr>
                        <a:t>Security</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Configured gate passed</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Passive cleared; raw API Medium transport alert remains</a:t>
                      </a:r>
                    </a:p>
                  </a:txBody>
                  <a:tcPr marL="109728" marR="91440" marT="36576" marB="36576">
                    <a:solidFill>
                      <a:srgbClr val="F7F9FC"/>
                    </a:solidFill>
                  </a:tcPr>
                </a:tc>
              </a:tr>
              <a:tr h="753465">
                <a:tc>
                  <a:txBody>
                    <a:bodyPr/>
                    <a:lstStyle/>
                    <a:p>
                      <a:pPr algn="l">
                        <a:spcAft>
                          <a:spcPts val="0"/>
                        </a:spcAft>
                      </a:pPr>
                      <a:r>
                        <a:rPr sz="1700" b="0">
                          <a:solidFill>
                            <a:srgbClr val="252B33"/>
                          </a:solidFill>
                          <a:latin typeface="Arial"/>
                        </a:rPr>
                        <a:t>Core performance</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Not achieved</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100 VU and 500 VU p95 exceeded thresholds</a:t>
                      </a:r>
                    </a:p>
                  </a:txBody>
                  <a:tcPr marL="109728" marR="91440" marT="36576" marB="36576">
                    <a:solidFill>
                      <a:srgbClr val="FFFFFF"/>
                    </a:solidFill>
                  </a:tcPr>
                </a:tc>
              </a:tr>
              <a:tr h="753468">
                <a:tc>
                  <a:txBody>
                    <a:bodyPr/>
                    <a:lstStyle/>
                    <a:p>
                      <a:pPr algn="l">
                        <a:spcAft>
                          <a:spcPts val="0"/>
                        </a:spcAft>
                      </a:pPr>
                      <a:r>
                        <a:rPr sz="1700" b="0">
                          <a:solidFill>
                            <a:srgbClr val="252B33"/>
                          </a:solidFill>
                          <a:latin typeface="Arial"/>
                        </a:rPr>
                        <a:t>Soak/spike p95</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Improved separately</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Tail p95 fell; other measures were mixed</a:t>
                      </a:r>
                    </a:p>
                  </a:txBody>
                  <a:tcPr marL="109728" marR="91440" marT="36576" marB="36576">
                    <a:solidFill>
                      <a:srgbClr val="F7F9FC"/>
                    </a:solidFill>
                  </a:tcPr>
                </a:tc>
              </a:tr>
            </a:tbl>
          </a:graphicData>
        </a:graphic>
      </p:graphicFrame>
      <p:sp>
        <p:nvSpPr>
          <p:cNvPr id="10" name="TextBox 9"/>
          <p:cNvSpPr txBox="1"/>
          <p:nvPr/>
        </p:nvSpPr>
        <p:spPr>
          <a:xfrm>
            <a:off x="758952" y="5413248"/>
            <a:ext cx="10680192" cy="411480"/>
          </a:xfrm>
          <a:prstGeom prst="rect">
            <a:avLst/>
          </a:prstGeom>
          <a:noFill/>
        </p:spPr>
        <p:txBody>
          <a:bodyPr wrap="square" lIns="18288" rIns="18288" tIns="18288" bIns="18288" anchor="ctr">
            <a:spAutoFit/>
          </a:bodyPr>
          <a:lstStyle/>
          <a:p>
            <a:pPr algn="l">
              <a:spcBef>
                <a:spcPts val="0"/>
              </a:spcBef>
              <a:spcAft>
                <a:spcPts val="0"/>
              </a:spcAft>
            </a:pPr>
            <a:r>
              <a:rPr sz="1900" b="0">
                <a:solidFill>
                  <a:srgbClr val="5B6874"/>
                </a:solidFill>
                <a:latin typeface="Arial"/>
              </a:rPr>
              <a:t>Limits: one API · one host · one run per branch · CPU/RAM and service tiers not controlled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CLOSING</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strongest contribution is the traceable check-and-fix method</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Chapter 5; Appendices A-N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26</a:t>
            </a:r>
          </a:p>
        </p:txBody>
      </p:sp>
      <p:sp>
        <p:nvSpPr>
          <p:cNvPr id="9" name="Rounded Rectangle 8"/>
          <p:cNvSpPr/>
          <p:nvPr/>
        </p:nvSpPr>
        <p:spPr>
          <a:xfrm>
            <a:off x="731520" y="1380744"/>
            <a:ext cx="10716768" cy="12344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1664208"/>
            <a:ext cx="640080" cy="466344"/>
          </a:xfrm>
          <a:prstGeom prst="rect">
            <a:avLst/>
          </a:prstGeom>
          <a:noFill/>
        </p:spPr>
        <p:txBody>
          <a:bodyPr wrap="square" lIns="18288" rIns="18288" tIns="18288" bIns="18288" anchor="ctr">
            <a:spAutoFit/>
          </a:bodyPr>
          <a:lstStyle/>
          <a:p>
            <a:pPr algn="l">
              <a:spcBef>
                <a:spcPts val="0"/>
              </a:spcBef>
              <a:spcAft>
                <a:spcPts val="0"/>
              </a:spcAft>
            </a:pPr>
            <a:r>
              <a:rPr sz="2600" b="1">
                <a:solidFill>
                  <a:srgbClr val="246F46"/>
                </a:solidFill>
                <a:latin typeface="Arial"/>
              </a:rPr>
              <a:t>01</a:t>
            </a:r>
          </a:p>
        </p:txBody>
      </p:sp>
      <p:sp>
        <p:nvSpPr>
          <p:cNvPr id="11" name="TextBox 10"/>
          <p:cNvSpPr txBox="1"/>
          <p:nvPr/>
        </p:nvSpPr>
        <p:spPr>
          <a:xfrm>
            <a:off x="1783080" y="1517904"/>
            <a:ext cx="9326880" cy="393192"/>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246F46"/>
                </a:solidFill>
                <a:latin typeface="Arial"/>
              </a:rPr>
              <a:t>The model can help</a:t>
            </a:r>
          </a:p>
        </p:txBody>
      </p:sp>
      <p:sp>
        <p:nvSpPr>
          <p:cNvPr id="12" name="TextBox 11"/>
          <p:cNvSpPr txBox="1"/>
          <p:nvPr/>
        </p:nvSpPr>
        <p:spPr>
          <a:xfrm>
            <a:off x="1783080" y="2002536"/>
            <a:ext cx="9326880" cy="411480"/>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Seventeen fresh static issues closed; security rule gate passed.</a:t>
            </a:r>
          </a:p>
        </p:txBody>
      </p:sp>
      <p:sp>
        <p:nvSpPr>
          <p:cNvPr id="13" name="Rounded Rectangle 12"/>
          <p:cNvSpPr/>
          <p:nvPr/>
        </p:nvSpPr>
        <p:spPr>
          <a:xfrm>
            <a:off x="731520" y="2825496"/>
            <a:ext cx="10716768" cy="12344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3108960"/>
            <a:ext cx="640080" cy="466344"/>
          </a:xfrm>
          <a:prstGeom prst="rect">
            <a:avLst/>
          </a:prstGeom>
          <a:noFill/>
        </p:spPr>
        <p:txBody>
          <a:bodyPr wrap="square" lIns="18288" rIns="18288" tIns="18288" bIns="18288" anchor="ctr">
            <a:spAutoFit/>
          </a:bodyPr>
          <a:lstStyle/>
          <a:p>
            <a:pPr algn="l">
              <a:spcBef>
                <a:spcPts val="0"/>
              </a:spcBef>
              <a:spcAft>
                <a:spcPts val="0"/>
              </a:spcAft>
            </a:pPr>
            <a:r>
              <a:rPr sz="2600" b="1">
                <a:solidFill>
                  <a:srgbClr val="B3373D"/>
                </a:solidFill>
                <a:latin typeface="Arial"/>
              </a:rPr>
              <a:t>02</a:t>
            </a:r>
          </a:p>
        </p:txBody>
      </p:sp>
      <p:sp>
        <p:nvSpPr>
          <p:cNvPr id="15" name="TextBox 14"/>
          <p:cNvSpPr txBox="1"/>
          <p:nvPr/>
        </p:nvSpPr>
        <p:spPr>
          <a:xfrm>
            <a:off x="1783080" y="2962656"/>
            <a:ext cx="9326880" cy="393192"/>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B3373D"/>
                </a:solidFill>
                <a:latin typeface="Arial"/>
              </a:rPr>
              <a:t>Measurement can reject it</a:t>
            </a:r>
          </a:p>
        </p:txBody>
      </p:sp>
      <p:sp>
        <p:nvSpPr>
          <p:cNvPr id="16" name="TextBox 15"/>
          <p:cNvSpPr txBox="1"/>
          <p:nvPr/>
        </p:nvSpPr>
        <p:spPr>
          <a:xfrm>
            <a:off x="1783080" y="3447288"/>
            <a:ext cx="9326880" cy="411480"/>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The primary JMeter target was not met despite lower soak and spike p95.</a:t>
            </a:r>
          </a:p>
        </p:txBody>
      </p:sp>
      <p:sp>
        <p:nvSpPr>
          <p:cNvPr id="17" name="Rounded Rectangle 16"/>
          <p:cNvSpPr/>
          <p:nvPr/>
        </p:nvSpPr>
        <p:spPr>
          <a:xfrm>
            <a:off x="731520" y="4270248"/>
            <a:ext cx="10716768" cy="12344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4553712"/>
            <a:ext cx="640080" cy="466344"/>
          </a:xfrm>
          <a:prstGeom prst="rect">
            <a:avLst/>
          </a:prstGeom>
          <a:noFill/>
        </p:spPr>
        <p:txBody>
          <a:bodyPr wrap="square" lIns="18288" rIns="18288" tIns="18288" bIns="18288" anchor="ctr">
            <a:spAutoFit/>
          </a:bodyPr>
          <a:lstStyle/>
          <a:p>
            <a:pPr algn="l">
              <a:spcBef>
                <a:spcPts val="0"/>
              </a:spcBef>
              <a:spcAft>
                <a:spcPts val="0"/>
              </a:spcAft>
            </a:pPr>
            <a:r>
              <a:rPr sz="2600" b="1">
                <a:solidFill>
                  <a:srgbClr val="0F676D"/>
                </a:solidFill>
                <a:latin typeface="Arial"/>
              </a:rPr>
              <a:t>03</a:t>
            </a:r>
          </a:p>
        </p:txBody>
      </p:sp>
      <p:sp>
        <p:nvSpPr>
          <p:cNvPr id="19" name="TextBox 18"/>
          <p:cNvSpPr txBox="1"/>
          <p:nvPr/>
        </p:nvSpPr>
        <p:spPr>
          <a:xfrm>
            <a:off x="1783080" y="4407408"/>
            <a:ext cx="9326880" cy="393192"/>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0F676D"/>
                </a:solidFill>
                <a:latin typeface="Arial"/>
              </a:rPr>
              <a:t>Provenance makes it auditable</a:t>
            </a:r>
          </a:p>
        </p:txBody>
      </p:sp>
      <p:sp>
        <p:nvSpPr>
          <p:cNvPr id="20" name="TextBox 19"/>
          <p:cNvSpPr txBox="1"/>
          <p:nvPr/>
        </p:nvSpPr>
        <p:spPr>
          <a:xfrm>
            <a:off x="1783080" y="4892040"/>
            <a:ext cx="9326880" cy="411480"/>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Pinned branches, tests, dashboard captures, and raw records remain available.</a:t>
            </a:r>
          </a:p>
        </p:txBody>
      </p:sp>
      <p:sp>
        <p:nvSpPr>
          <p:cNvPr id="21" name="TextBox 20"/>
          <p:cNvSpPr txBox="1"/>
          <p:nvPr/>
        </p:nvSpPr>
        <p:spPr>
          <a:xfrm>
            <a:off x="749808" y="5815584"/>
            <a:ext cx="10716768" cy="356616"/>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0F676D"/>
                </a:solidFill>
                <a:latin typeface="Arial"/>
              </a:rPr>
              <a:t>Thank you. Questions?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Where each defense claim can be checked</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Appendices A-N and fresh run summaries</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27</a:t>
            </a:r>
          </a:p>
        </p:txBody>
      </p:sp>
      <p:graphicFrame>
        <p:nvGraphicFramePr>
          <p:cNvPr id="9" name="Table 8"/>
          <p:cNvGraphicFramePr>
            <a:graphicFrameLocks noGrp="1"/>
          </p:cNvGraphicFramePr>
          <p:nvPr/>
        </p:nvGraphicFramePr>
        <p:xfrm>
          <a:off x="731520" y="1389888"/>
          <a:ext cx="10716766" cy="4187952"/>
        </p:xfrm>
        <a:graphic>
          <a:graphicData uri="http://schemas.openxmlformats.org/drawingml/2006/table">
            <a:tbl>
              <a:tblPr firstRow="1" bandRow="1">
                <a:tableStyleId>{5C22544A-7EE6-4342-B048-85BDC9FD1C3A}</a:tableStyleId>
              </a:tblPr>
              <a:tblGrid>
                <a:gridCol w="2464856"/>
                <a:gridCol w="3215030"/>
                <a:gridCol w="5036880"/>
              </a:tblGrid>
              <a:tr h="697992">
                <a:tc>
                  <a:txBody>
                    <a:bodyPr/>
                    <a:lstStyle/>
                    <a:p>
                      <a:pPr algn="l">
                        <a:spcAft>
                          <a:spcPts val="0"/>
                        </a:spcAft>
                      </a:pPr>
                      <a:r>
                        <a:rPr sz="1600" b="1">
                          <a:solidFill>
                            <a:srgbClr val="FFFFFF"/>
                          </a:solidFill>
                          <a:latin typeface="Arial"/>
                        </a:rPr>
                        <a:t>Claim</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Machine-readable record</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Report evidence</a:t>
                      </a:r>
                    </a:p>
                  </a:txBody>
                  <a:tcPr marL="109728" marR="91440" marT="36576" marB="36576">
                    <a:solidFill>
                      <a:srgbClr val="252B33"/>
                    </a:solidFill>
                  </a:tcPr>
                </a:tc>
              </a:tr>
              <a:tr h="697992">
                <a:tc>
                  <a:txBody>
                    <a:bodyPr/>
                    <a:lstStyle/>
                    <a:p>
                      <a:pPr algn="l">
                        <a:spcAft>
                          <a:spcPts val="0"/>
                        </a:spcAft>
                      </a:pPr>
                      <a:r>
                        <a:rPr sz="1600" b="0">
                          <a:solidFill>
                            <a:srgbClr val="252B33"/>
                          </a:solidFill>
                          <a:latin typeface="Arial"/>
                        </a:rPr>
                        <a:t>Dataset: 120 accounts</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branch-verification.json</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Tables 3.10-3.11 · Appendix H</a:t>
                      </a:r>
                    </a:p>
                  </a:txBody>
                  <a:tcPr marL="109728" marR="91440" marT="36576" marB="36576">
                    <a:solidFill>
                      <a:srgbClr val="FFFFFF"/>
                    </a:solidFill>
                  </a:tcPr>
                </a:tc>
              </a:tr>
              <a:tr h="697992">
                <a:tc>
                  <a:txBody>
                    <a:bodyPr/>
                    <a:lstStyle/>
                    <a:p>
                      <a:pPr algn="l">
                        <a:spcAft>
                          <a:spcPts val="0"/>
                        </a:spcAft>
                      </a:pPr>
                      <a:r>
                        <a:rPr sz="1600" b="0">
                          <a:solidFill>
                            <a:srgbClr val="252B33"/>
                          </a:solidFill>
                          <a:latin typeface="Arial"/>
                        </a:rPr>
                        <a:t>Static issues</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sonar/*/summary.json</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Table 4.2 · Appendix E · Figures L.1-L.4</a:t>
                      </a:r>
                    </a:p>
                  </a:txBody>
                  <a:tcPr marL="109728" marR="91440" marT="36576" marB="36576">
                    <a:solidFill>
                      <a:srgbClr val="F7F9FC"/>
                    </a:solidFill>
                  </a:tcPr>
                </a:tc>
              </a:tr>
              <a:tr h="697992">
                <a:tc>
                  <a:txBody>
                    <a:bodyPr/>
                    <a:lstStyle/>
                    <a:p>
                      <a:pPr algn="l">
                        <a:spcAft>
                          <a:spcPts val="0"/>
                        </a:spcAft>
                      </a:pPr>
                      <a:r>
                        <a:rPr sz="1600" b="0">
                          <a:solidFill>
                            <a:srgbClr val="252B33"/>
                          </a:solidFill>
                          <a:latin typeface="Arial"/>
                        </a:rPr>
                        <a:t>ZAP raw/gate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zap/*/summary.json</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§4.3 · Appendices F and M</a:t>
                      </a:r>
                    </a:p>
                  </a:txBody>
                  <a:tcPr marL="109728" marR="91440" marT="36576" marB="36576">
                    <a:solidFill>
                      <a:srgbClr val="FFFFFF"/>
                    </a:solidFill>
                  </a:tcPr>
                </a:tc>
              </a:tr>
              <a:tr h="697992">
                <a:tc>
                  <a:txBody>
                    <a:bodyPr/>
                    <a:lstStyle/>
                    <a:p>
                      <a:pPr algn="l">
                        <a:spcAft>
                          <a:spcPts val="0"/>
                        </a:spcAft>
                      </a:pPr>
                      <a:r>
                        <a:rPr sz="1600" b="0">
                          <a:solidFill>
                            <a:srgbClr val="252B33"/>
                          </a:solidFill>
                          <a:latin typeface="Arial"/>
                        </a:rPr>
                        <a:t>JMeter p95/gate</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jmeter/*/summary.json</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§4.4 · Appendix G · Figures L.9-L.18</a:t>
                      </a:r>
                    </a:p>
                  </a:txBody>
                  <a:tcPr marL="109728" marR="91440" marT="36576" marB="36576">
                    <a:solidFill>
                      <a:srgbClr val="F7F9FC"/>
                    </a:solidFill>
                  </a:tcPr>
                </a:tc>
              </a:tr>
              <a:tr h="697992">
                <a:tc>
                  <a:txBody>
                    <a:bodyPr/>
                    <a:lstStyle/>
                    <a:p>
                      <a:pPr algn="l">
                        <a:spcAft>
                          <a:spcPts val="0"/>
                        </a:spcAft>
                      </a:pPr>
                      <a:r>
                        <a:rPr sz="1600" b="0">
                          <a:solidFill>
                            <a:srgbClr val="252B33"/>
                          </a:solidFill>
                          <a:latin typeface="Arial"/>
                        </a:rPr>
                        <a:t>Working API</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role/browser run records</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§4.6 · Figures 4.2-4.7</a:t>
                      </a:r>
                    </a:p>
                  </a:txBody>
                  <a:tcPr marL="109728" marR="91440" marT="36576" marB="36576">
                    <a:solidFill>
                      <a:srgbClr val="FFFFFF"/>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Exact baseline and remediation commits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Appendix A; Table 3.1</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28</a:t>
            </a:r>
          </a:p>
        </p:txBody>
      </p:sp>
      <p:graphicFrame>
        <p:nvGraphicFramePr>
          <p:cNvPr id="9" name="Table 8"/>
          <p:cNvGraphicFramePr>
            <a:graphicFrameLocks noGrp="1"/>
          </p:cNvGraphicFramePr>
          <p:nvPr/>
        </p:nvGraphicFramePr>
        <p:xfrm>
          <a:off x="731520" y="1380744"/>
          <a:ext cx="10716767" cy="4434840"/>
        </p:xfrm>
        <a:graphic>
          <a:graphicData uri="http://schemas.openxmlformats.org/drawingml/2006/table">
            <a:tbl>
              <a:tblPr firstRow="1" bandRow="1">
                <a:tableStyleId>{5C22544A-7EE6-4342-B048-85BDC9FD1C3A}</a:tableStyleId>
              </a:tblPr>
              <a:tblGrid>
                <a:gridCol w="2679192"/>
                <a:gridCol w="5036880"/>
                <a:gridCol w="3000695"/>
              </a:tblGrid>
              <a:tr h="886968">
                <a:tc>
                  <a:txBody>
                    <a:bodyPr/>
                    <a:lstStyle/>
                    <a:p>
                      <a:pPr algn="l">
                        <a:spcAft>
                          <a:spcPts val="0"/>
                        </a:spcAft>
                      </a:pPr>
                      <a:r>
                        <a:rPr sz="1700" b="1">
                          <a:solidFill>
                            <a:srgbClr val="FFFFFF"/>
                          </a:solidFill>
                          <a:latin typeface="Arial"/>
                        </a:rPr>
                        <a:t>Role</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Branch</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Tested commit</a:t>
                      </a:r>
                    </a:p>
                  </a:txBody>
                  <a:tcPr marL="109728" marR="91440" marT="36576" marB="36576">
                    <a:solidFill>
                      <a:srgbClr val="252B33"/>
                    </a:solidFill>
                  </a:tcPr>
                </a:tc>
              </a:tr>
              <a:tr h="886968">
                <a:tc>
                  <a:txBody>
                    <a:bodyPr/>
                    <a:lstStyle/>
                    <a:p>
                      <a:pPr algn="l">
                        <a:spcAft>
                          <a:spcPts val="0"/>
                        </a:spcAft>
                      </a:pPr>
                      <a:r>
                        <a:rPr sz="1700" b="0">
                          <a:solidFill>
                            <a:srgbClr val="252B33"/>
                          </a:solidFill>
                          <a:latin typeface="Arial"/>
                        </a:rPr>
                        <a:t>Shared baseline</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baseline-v0.1</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7a0469d9</a:t>
                      </a:r>
                    </a:p>
                  </a:txBody>
                  <a:tcPr marL="109728" marR="91440" marT="36576" marB="36576">
                    <a:solidFill>
                      <a:srgbClr val="FFFFFF"/>
                    </a:solidFill>
                  </a:tcPr>
                </a:tc>
              </a:tr>
              <a:tr h="886968">
                <a:tc>
                  <a:txBody>
                    <a:bodyPr/>
                    <a:lstStyle/>
                    <a:p>
                      <a:pPr algn="l">
                        <a:spcAft>
                          <a:spcPts val="0"/>
                        </a:spcAft>
                      </a:pPr>
                      <a:r>
                        <a:rPr sz="1700" b="0">
                          <a:solidFill>
                            <a:srgbClr val="252B33"/>
                          </a:solidFill>
                          <a:latin typeface="Arial"/>
                        </a:rPr>
                        <a:t>Static quality</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baseline-sonarqube-v1</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a2279bcb</a:t>
                      </a:r>
                    </a:p>
                  </a:txBody>
                  <a:tcPr marL="109728" marR="91440" marT="36576" marB="36576">
                    <a:solidFill>
                      <a:srgbClr val="F7F9FC"/>
                    </a:solidFill>
                  </a:tcPr>
                </a:tc>
              </a:tr>
              <a:tr h="886968">
                <a:tc>
                  <a:txBody>
                    <a:bodyPr/>
                    <a:lstStyle/>
                    <a:p>
                      <a:pPr algn="l">
                        <a:spcAft>
                          <a:spcPts val="0"/>
                        </a:spcAft>
                      </a:pPr>
                      <a:r>
                        <a:rPr sz="1700" b="0">
                          <a:solidFill>
                            <a:srgbClr val="252B33"/>
                          </a:solidFill>
                          <a:latin typeface="Arial"/>
                        </a:rPr>
                        <a:t>Security</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baseline-zap-v1</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5f3bd3cc</a:t>
                      </a:r>
                    </a:p>
                  </a:txBody>
                  <a:tcPr marL="109728" marR="91440" marT="36576" marB="36576">
                    <a:solidFill>
                      <a:srgbClr val="FFFFFF"/>
                    </a:solidFill>
                  </a:tcPr>
                </a:tc>
              </a:tr>
              <a:tr h="886968">
                <a:tc>
                  <a:txBody>
                    <a:bodyPr/>
                    <a:lstStyle/>
                    <a:p>
                      <a:pPr algn="l">
                        <a:spcAft>
                          <a:spcPts val="0"/>
                        </a:spcAft>
                      </a:pPr>
                      <a:r>
                        <a:rPr sz="1700" b="0">
                          <a:solidFill>
                            <a:srgbClr val="252B33"/>
                          </a:solidFill>
                          <a:latin typeface="Arial"/>
                        </a:rPr>
                        <a:t>Performance</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baseline-jmeter-v1</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78b08b62</a:t>
                      </a:r>
                    </a:p>
                  </a:txBody>
                  <a:tcPr marL="109728" marR="91440" marT="36576" marB="36576">
                    <a:solidFill>
                      <a:srgbClr val="F7F9FC"/>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Fresh SonarQube metric detail</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4.2; fresh SonarQube summaries</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29</a:t>
            </a:r>
          </a:p>
        </p:txBody>
      </p:sp>
      <p:graphicFrame>
        <p:nvGraphicFramePr>
          <p:cNvPr id="9" name="Table 8"/>
          <p:cNvGraphicFramePr>
            <a:graphicFrameLocks noGrp="1"/>
          </p:cNvGraphicFramePr>
          <p:nvPr/>
        </p:nvGraphicFramePr>
        <p:xfrm>
          <a:off x="722376" y="1280160"/>
          <a:ext cx="10744199" cy="4928616"/>
        </p:xfrm>
        <a:graphic>
          <a:graphicData uri="http://schemas.openxmlformats.org/drawingml/2006/table">
            <a:tbl>
              <a:tblPr firstRow="1" bandRow="1">
                <a:tableStyleId>{5C22544A-7EE6-4342-B048-85BDC9FD1C3A}</a:tableStyleId>
              </a:tblPr>
              <a:tblGrid>
                <a:gridCol w="3867911"/>
                <a:gridCol w="1611630"/>
                <a:gridCol w="1611630"/>
                <a:gridCol w="3653028"/>
              </a:tblGrid>
              <a:tr h="352044">
                <a:tc>
                  <a:txBody>
                    <a:bodyPr/>
                    <a:lstStyle/>
                    <a:p>
                      <a:pPr algn="l">
                        <a:spcAft>
                          <a:spcPts val="0"/>
                        </a:spcAft>
                      </a:pPr>
                      <a:r>
                        <a:rPr sz="1200" b="1">
                          <a:solidFill>
                            <a:srgbClr val="FFFFFF"/>
                          </a:solidFill>
                          <a:latin typeface="Arial"/>
                        </a:rPr>
                        <a:t>Metric</a:t>
                      </a:r>
                    </a:p>
                  </a:txBody>
                  <a:tcPr marL="109728" marR="91440" marT="36576" marB="36576">
                    <a:solidFill>
                      <a:srgbClr val="252B33"/>
                    </a:solidFill>
                  </a:tcPr>
                </a:tc>
                <a:tc>
                  <a:txBody>
                    <a:bodyPr/>
                    <a:lstStyle/>
                    <a:p>
                      <a:pPr algn="l">
                        <a:spcAft>
                          <a:spcPts val="0"/>
                        </a:spcAft>
                      </a:pPr>
                      <a:r>
                        <a:rPr sz="1200" b="1">
                          <a:solidFill>
                            <a:srgbClr val="FFFFFF"/>
                          </a:solidFill>
                          <a:latin typeface="Arial"/>
                        </a:rPr>
                        <a:t>Baseline</a:t>
                      </a:r>
                    </a:p>
                  </a:txBody>
                  <a:tcPr marL="109728" marR="91440" marT="36576" marB="36576">
                    <a:solidFill>
                      <a:srgbClr val="252B33"/>
                    </a:solidFill>
                  </a:tcPr>
                </a:tc>
                <a:tc>
                  <a:txBody>
                    <a:bodyPr/>
                    <a:lstStyle/>
                    <a:p>
                      <a:pPr algn="l">
                        <a:spcAft>
                          <a:spcPts val="0"/>
                        </a:spcAft>
                      </a:pPr>
                      <a:r>
                        <a:rPr sz="1200" b="1">
                          <a:solidFill>
                            <a:srgbClr val="FFFFFF"/>
                          </a:solidFill>
                          <a:latin typeface="Arial"/>
                        </a:rPr>
                        <a:t>After</a:t>
                      </a:r>
                    </a:p>
                  </a:txBody>
                  <a:tcPr marL="109728" marR="91440" marT="36576" marB="36576">
                    <a:solidFill>
                      <a:srgbClr val="252B33"/>
                    </a:solidFill>
                  </a:tcPr>
                </a:tc>
                <a:tc>
                  <a:txBody>
                    <a:bodyPr/>
                    <a:lstStyle/>
                    <a:p>
                      <a:pPr algn="l">
                        <a:spcAft>
                          <a:spcPts val="0"/>
                        </a:spcAft>
                      </a:pPr>
                      <a:r>
                        <a:rPr sz="1200" b="1">
                          <a:solidFill>
                            <a:srgbClr val="FFFFFF"/>
                          </a:solidFill>
                          <a:latin typeface="Arial"/>
                        </a:rPr>
                        <a:t>Meaning</a:t>
                      </a:r>
                    </a:p>
                  </a:txBody>
                  <a:tcPr marL="109728" marR="91440" marT="36576" marB="36576">
                    <a:solidFill>
                      <a:srgbClr val="252B33"/>
                    </a:solidFill>
                  </a:tcPr>
                </a:tc>
              </a:tr>
              <a:tr h="352044">
                <a:tc>
                  <a:txBody>
                    <a:bodyPr/>
                    <a:lstStyle/>
                    <a:p>
                      <a:pPr algn="l">
                        <a:spcAft>
                          <a:spcPts val="0"/>
                        </a:spcAft>
                      </a:pPr>
                      <a:r>
                        <a:rPr sz="1200" b="0">
                          <a:solidFill>
                            <a:srgbClr val="252B33"/>
                          </a:solidFill>
                          <a:latin typeface="Arial"/>
                        </a:rPr>
                        <a:t>Total unique issues</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17</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Distinct issue count</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Code smells</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17</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Legacy type</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Bugs</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Legacy type</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Vulnerabilities</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Legacy type</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Reliability impact*</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2</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Overlapping impact</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Security impact*</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1</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Overlapping impact</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Maintainability impact*</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16</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Overlapping impact</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Security hotspots</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Scanner finding</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Coverage</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74.4%</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74.3%</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Down 0.1 point</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Duplicated lines</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Unchanged</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Cyclomatic complexity</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886</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889</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Up 3</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Cognitive complexity</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165</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165</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Unchanged</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Quality Gate</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OK</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OK</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OK/OK; no conditions saved</a:t>
                      </a:r>
                    </a:p>
                  </a:txBody>
                  <a:tcPr marL="109728" marR="91440" marT="36576" marB="36576">
                    <a:solidFill>
                      <a:srgbClr val="FFFFFF"/>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Fresh ZAP raw alert counts and gate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§4.3; fresh ZAP summaries; Appendix F</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30</a:t>
            </a:r>
          </a:p>
        </p:txBody>
      </p:sp>
      <p:graphicFrame>
        <p:nvGraphicFramePr>
          <p:cNvPr id="9" name="Table 8"/>
          <p:cNvGraphicFramePr>
            <a:graphicFrameLocks noGrp="1"/>
          </p:cNvGraphicFramePr>
          <p:nvPr/>
        </p:nvGraphicFramePr>
        <p:xfrm>
          <a:off x="722376" y="1353312"/>
          <a:ext cx="10744200" cy="3822191"/>
        </p:xfrm>
        <a:graphic>
          <a:graphicData uri="http://schemas.openxmlformats.org/drawingml/2006/table">
            <a:tbl>
              <a:tblPr firstRow="1" bandRow="1">
                <a:tableStyleId>{5C22544A-7EE6-4342-B048-85BDC9FD1C3A}</a:tableStyleId>
              </a:tblPr>
              <a:tblGrid>
                <a:gridCol w="2041398"/>
                <a:gridCol w="2148840"/>
                <a:gridCol w="1074420"/>
                <a:gridCol w="1289304"/>
                <a:gridCol w="1074420"/>
                <a:gridCol w="1074420"/>
                <a:gridCol w="2041398"/>
              </a:tblGrid>
              <a:tr h="764438">
                <a:tc>
                  <a:txBody>
                    <a:bodyPr/>
                    <a:lstStyle/>
                    <a:p>
                      <a:pPr algn="l">
                        <a:spcAft>
                          <a:spcPts val="0"/>
                        </a:spcAft>
                      </a:pPr>
                      <a:r>
                        <a:rPr sz="1600" b="1">
                          <a:solidFill>
                            <a:srgbClr val="FFFFFF"/>
                          </a:solidFill>
                          <a:latin typeface="Arial"/>
                        </a:rPr>
                        <a:t>Scan</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Role</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High</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Medium</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Low</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Info</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Gate</a:t>
                      </a:r>
                    </a:p>
                  </a:txBody>
                  <a:tcPr marL="109728" marR="91440" marT="36576" marB="36576">
                    <a:solidFill>
                      <a:srgbClr val="252B33"/>
                    </a:solidFill>
                  </a:tcPr>
                </a:tc>
              </a:tr>
              <a:tr h="764438">
                <a:tc>
                  <a:txBody>
                    <a:bodyPr/>
                    <a:lstStyle/>
                    <a:p>
                      <a:pPr algn="l">
                        <a:spcAft>
                          <a:spcPts val="0"/>
                        </a:spcAft>
                      </a:pPr>
                      <a:r>
                        <a:rPr sz="1600" b="0">
                          <a:solidFill>
                            <a:srgbClr val="252B33"/>
                          </a:solidFill>
                          <a:latin typeface="Arial"/>
                        </a:rPr>
                        <a:t>Passive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baseline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3</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6</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3</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PASS</a:t>
                      </a:r>
                    </a:p>
                  </a:txBody>
                  <a:tcPr marL="109728" marR="91440" marT="36576" marB="36576">
                    <a:solidFill>
                      <a:srgbClr val="FFFFFF"/>
                    </a:solidFill>
                  </a:tcPr>
                </a:tc>
              </a:tr>
              <a:tr h="764438">
                <a:tc>
                  <a:txBody>
                    <a:bodyPr/>
                    <a:lstStyle/>
                    <a:p>
                      <a:pPr algn="l">
                        <a:spcAft>
                          <a:spcPts val="0"/>
                        </a:spcAft>
                      </a:pPr>
                      <a:r>
                        <a:rPr sz="1600" b="0">
                          <a:solidFill>
                            <a:srgbClr val="252B33"/>
                          </a:solidFill>
                          <a:latin typeface="Arial"/>
                        </a:rPr>
                        <a:t>Auth API</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baseline</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3</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5</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PASS</a:t>
                      </a:r>
                    </a:p>
                  </a:txBody>
                  <a:tcPr marL="109728" marR="91440" marT="36576" marB="36576">
                    <a:solidFill>
                      <a:srgbClr val="F7F9FC"/>
                    </a:solidFill>
                  </a:tcPr>
                </a:tc>
              </a:tr>
              <a:tr h="764438">
                <a:tc>
                  <a:txBody>
                    <a:bodyPr/>
                    <a:lstStyle/>
                    <a:p>
                      <a:pPr algn="l">
                        <a:spcAft>
                          <a:spcPts val="0"/>
                        </a:spcAft>
                      </a:pPr>
                      <a:r>
                        <a:rPr sz="1600" b="0">
                          <a:solidFill>
                            <a:srgbClr val="252B33"/>
                          </a:solidFill>
                          <a:latin typeface="Arial"/>
                        </a:rPr>
                        <a:t>Passive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remediation</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4</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PASS</a:t>
                      </a:r>
                    </a:p>
                  </a:txBody>
                  <a:tcPr marL="109728" marR="91440" marT="36576" marB="36576">
                    <a:solidFill>
                      <a:srgbClr val="FFFFFF"/>
                    </a:solidFill>
                  </a:tcPr>
                </a:tc>
              </a:tr>
              <a:tr h="764439">
                <a:tc>
                  <a:txBody>
                    <a:bodyPr/>
                    <a:lstStyle/>
                    <a:p>
                      <a:pPr algn="l">
                        <a:spcAft>
                          <a:spcPts val="0"/>
                        </a:spcAft>
                      </a:pPr>
                      <a:r>
                        <a:rPr sz="1600" b="0">
                          <a:solidFill>
                            <a:srgbClr val="252B33"/>
                          </a:solidFill>
                          <a:latin typeface="Arial"/>
                        </a:rPr>
                        <a:t>Auth API</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remediation</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5</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PASS</a:t>
                      </a:r>
                    </a:p>
                  </a:txBody>
                  <a:tcPr marL="109728" marR="91440" marT="36576" marB="36576">
                    <a:solidFill>
                      <a:srgbClr val="F7F9FC"/>
                    </a:solidFill>
                  </a:tcPr>
                </a:tc>
              </a:tr>
            </a:tbl>
          </a:graphicData>
        </a:graphic>
      </p:graphicFrame>
      <p:sp>
        <p:nvSpPr>
          <p:cNvPr id="10" name="Rounded Rectangle 9"/>
          <p:cNvSpPr/>
          <p:nvPr/>
        </p:nvSpPr>
        <p:spPr>
          <a:xfrm>
            <a:off x="758952" y="5404104"/>
            <a:ext cx="10661904" cy="576072"/>
          </a:xfrm>
          <a:prstGeom prst="round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5477256"/>
            <a:ext cx="10241280" cy="384048"/>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Raw API Medium after remediation = 1 (HTTP Only Site); configured rule gate = PASS.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Fresh JMeter profile matrix</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§4.4; fresh JMeter summaries</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31</a:t>
            </a:r>
          </a:p>
        </p:txBody>
      </p:sp>
      <p:graphicFrame>
        <p:nvGraphicFramePr>
          <p:cNvPr id="9" name="Table 8"/>
          <p:cNvGraphicFramePr>
            <a:graphicFrameLocks noGrp="1"/>
          </p:cNvGraphicFramePr>
          <p:nvPr/>
        </p:nvGraphicFramePr>
        <p:xfrm>
          <a:off x="722376" y="1399032"/>
          <a:ext cx="10744200" cy="4142232"/>
        </p:xfrm>
        <a:graphic>
          <a:graphicData uri="http://schemas.openxmlformats.org/drawingml/2006/table">
            <a:tbl>
              <a:tblPr firstRow="1" bandRow="1">
                <a:tableStyleId>{5C22544A-7EE6-4342-B048-85BDC9FD1C3A}</a:tableStyleId>
              </a:tblPr>
              <a:tblGrid>
                <a:gridCol w="1504188"/>
                <a:gridCol w="2041398"/>
                <a:gridCol w="2041398"/>
                <a:gridCol w="1826514"/>
                <a:gridCol w="1826514"/>
                <a:gridCol w="1504188"/>
              </a:tblGrid>
              <a:tr h="690372">
                <a:tc>
                  <a:txBody>
                    <a:bodyPr/>
                    <a:lstStyle/>
                    <a:p>
                      <a:pPr algn="l">
                        <a:spcAft>
                          <a:spcPts val="0"/>
                        </a:spcAft>
                      </a:pPr>
                      <a:r>
                        <a:rPr sz="1600" b="1">
                          <a:solidFill>
                            <a:srgbClr val="FFFFFF"/>
                          </a:solidFill>
                          <a:latin typeface="Arial"/>
                        </a:rPr>
                        <a:t>Profile</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Baseline p95</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After p95</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Before err</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After err</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After tx/s</a:t>
                      </a:r>
                    </a:p>
                  </a:txBody>
                  <a:tcPr marL="109728" marR="91440" marT="36576" marB="36576">
                    <a:solidFill>
                      <a:srgbClr val="252B33"/>
                    </a:solidFill>
                  </a:tcPr>
                </a:tc>
              </a:tr>
              <a:tr h="690372">
                <a:tc>
                  <a:txBody>
                    <a:bodyPr/>
                    <a:lstStyle/>
                    <a:p>
                      <a:pPr algn="l">
                        <a:spcAft>
                          <a:spcPts val="0"/>
                        </a:spcAft>
                      </a:pPr>
                      <a:r>
                        <a:rPr sz="1600" b="0">
                          <a:solidFill>
                            <a:srgbClr val="252B33"/>
                          </a:solidFill>
                          <a:latin typeface="Arial"/>
                        </a:rPr>
                        <a:t>50 VU</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33.00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199.90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52.64</a:t>
                      </a:r>
                    </a:p>
                  </a:txBody>
                  <a:tcPr marL="109728" marR="91440" marT="36576" marB="36576">
                    <a:solidFill>
                      <a:srgbClr val="FFFFFF"/>
                    </a:solidFill>
                  </a:tcPr>
                </a:tc>
              </a:tr>
              <a:tr h="690372">
                <a:tc>
                  <a:txBody>
                    <a:bodyPr/>
                    <a:lstStyle/>
                    <a:p>
                      <a:pPr algn="l">
                        <a:spcAft>
                          <a:spcPts val="0"/>
                        </a:spcAft>
                      </a:pPr>
                      <a:r>
                        <a:rPr sz="1600" b="0">
                          <a:solidFill>
                            <a:srgbClr val="252B33"/>
                          </a:solidFill>
                          <a:latin typeface="Arial"/>
                        </a:rPr>
                        <a:t>100 VU</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255.90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1,146.90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54.11</a:t>
                      </a:r>
                    </a:p>
                  </a:txBody>
                  <a:tcPr marL="109728" marR="91440" marT="36576" marB="36576">
                    <a:solidFill>
                      <a:srgbClr val="F7F9FC"/>
                    </a:solidFill>
                  </a:tcPr>
                </a:tc>
              </a:tr>
              <a:tr h="690372">
                <a:tc>
                  <a:txBody>
                    <a:bodyPr/>
                    <a:lstStyle/>
                    <a:p>
                      <a:pPr algn="l">
                        <a:spcAft>
                          <a:spcPts val="0"/>
                        </a:spcAft>
                      </a:pPr>
                      <a:r>
                        <a:rPr sz="1600" b="0">
                          <a:solidFill>
                            <a:srgbClr val="252B33"/>
                          </a:solidFill>
                          <a:latin typeface="Arial"/>
                        </a:rPr>
                        <a:t>500 VU</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106.00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1,547.95</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62.44</a:t>
                      </a:r>
                    </a:p>
                  </a:txBody>
                  <a:tcPr marL="109728" marR="91440" marT="36576" marB="36576">
                    <a:solidFill>
                      <a:srgbClr val="FFFFFF"/>
                    </a:solidFill>
                  </a:tcPr>
                </a:tc>
              </a:tr>
              <a:tr h="690372">
                <a:tc>
                  <a:txBody>
                    <a:bodyPr/>
                    <a:lstStyle/>
                    <a:p>
                      <a:pPr algn="l">
                        <a:spcAft>
                          <a:spcPts val="0"/>
                        </a:spcAft>
                      </a:pPr>
                      <a:r>
                        <a:rPr sz="1600" b="0">
                          <a:solidFill>
                            <a:srgbClr val="252B33"/>
                          </a:solidFill>
                          <a:latin typeface="Arial"/>
                        </a:rPr>
                        <a:t>soak</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443.95</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171.00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170.98</a:t>
                      </a:r>
                    </a:p>
                  </a:txBody>
                  <a:tcPr marL="109728" marR="91440" marT="36576" marB="36576">
                    <a:solidFill>
                      <a:srgbClr val="F7F9FC"/>
                    </a:solidFill>
                  </a:tcPr>
                </a:tc>
              </a:tr>
              <a:tr h="690372">
                <a:tc>
                  <a:txBody>
                    <a:bodyPr/>
                    <a:lstStyle/>
                    <a:p>
                      <a:pPr algn="l">
                        <a:spcAft>
                          <a:spcPts val="0"/>
                        </a:spcAft>
                      </a:pPr>
                      <a:r>
                        <a:rPr sz="1600" b="0">
                          <a:solidFill>
                            <a:srgbClr val="252B33"/>
                          </a:solidFill>
                          <a:latin typeface="Arial"/>
                        </a:rPr>
                        <a:t>spike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33,401.75</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4,730.85</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0.4688%</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149.90</a:t>
                      </a:r>
                    </a:p>
                  </a:txBody>
                  <a:tcPr marL="109728" marR="91440" marT="36576" marB="36576">
                    <a:solidFill>
                      <a:srgbClr val="FFFFFF"/>
                    </a:solidFill>
                  </a:tcPr>
                </a:tc>
              </a:tr>
            </a:tbl>
          </a:graphicData>
        </a:graphic>
      </p:graphicFrame>
      <p:sp>
        <p:nvSpPr>
          <p:cNvPr id="10" name="TextBox 9"/>
          <p:cNvSpPr txBox="1"/>
          <p:nvPr/>
        </p:nvSpPr>
        <p:spPr>
          <a:xfrm>
            <a:off x="758952" y="5751576"/>
            <a:ext cx="10671048" cy="374904"/>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Baseline core gate PASS; remediation core gate FAIL (100 VU and 500 VU thresholds).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S107 source: eight parameters to one DTO</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Listing E.1; Tables 3.4 and 4.3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32</a:t>
            </a:r>
          </a:p>
        </p:txBody>
      </p:sp>
      <p:sp>
        <p:nvSpPr>
          <p:cNvPr id="9" name="Rounded Rectangle 8"/>
          <p:cNvSpPr/>
          <p:nvPr/>
        </p:nvSpPr>
        <p:spPr>
          <a:xfrm>
            <a:off x="731520" y="1417320"/>
            <a:ext cx="5212080" cy="363016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36208" y="1417320"/>
            <a:ext cx="5212080" cy="363016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1627632"/>
            <a:ext cx="477316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BEFORE · baseline-v0.1</a:t>
            </a:r>
          </a:p>
        </p:txBody>
      </p:sp>
      <p:sp>
        <p:nvSpPr>
          <p:cNvPr id="12" name="TextBox 11"/>
          <p:cNvSpPr txBox="1"/>
          <p:nvPr/>
        </p:nvSpPr>
        <p:spPr>
          <a:xfrm>
            <a:off x="6446520" y="1627632"/>
            <a:ext cx="477316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AFTER · baseline-sonarqube-v1</a:t>
            </a:r>
          </a:p>
        </p:txBody>
      </p:sp>
      <p:sp>
        <p:nvSpPr>
          <p:cNvPr id="13" name="TextBox 12"/>
          <p:cNvSpPr txBox="1"/>
          <p:nvPr/>
        </p:nvSpPr>
        <p:spPr>
          <a:xfrm>
            <a:off x="941832" y="2112264"/>
            <a:ext cx="4718304" cy="2487168"/>
          </a:xfrm>
          <a:prstGeom prst="rect">
            <a:avLst/>
          </a:prstGeom>
          <a:noFill/>
        </p:spPr>
        <p:txBody>
          <a:bodyPr wrap="square" lIns="18288" rIns="18288" tIns="18288" bIns="18288" anchor="t">
            <a:spAutoFit/>
          </a:bodyPr>
          <a:lstStyle/>
          <a:p>
            <a:pPr algn="l">
              <a:spcBef>
                <a:spcPts val="0"/>
              </a:spcBef>
              <a:spcAft>
                <a:spcPts val="0"/>
              </a:spcAft>
            </a:pPr>
            <a:r>
              <a:rPr sz="1800" b="0">
                <a:solidFill>
                  <a:srgbClr val="252B33"/>
                </a:solidFill>
                <a:latin typeface="Courier New"/>
              </a:rPr>
              <a:t>GetPaged(
  from, to, status, accountId,
  search, page, pageSize, sort
)
// 8 query parameters</a:t>
            </a:r>
          </a:p>
        </p:txBody>
      </p:sp>
      <p:sp>
        <p:nvSpPr>
          <p:cNvPr id="14" name="TextBox 13"/>
          <p:cNvSpPr txBox="1"/>
          <p:nvPr/>
        </p:nvSpPr>
        <p:spPr>
          <a:xfrm>
            <a:off x="6446520" y="2112264"/>
            <a:ext cx="4709160" cy="2487168"/>
          </a:xfrm>
          <a:prstGeom prst="rect">
            <a:avLst/>
          </a:prstGeom>
          <a:noFill/>
        </p:spPr>
        <p:txBody>
          <a:bodyPr wrap="square" lIns="18288" rIns="18288" tIns="18288" bIns="18288" anchor="t">
            <a:spAutoFit/>
          </a:bodyPr>
          <a:lstStyle/>
          <a:p>
            <a:pPr algn="l">
              <a:spcBef>
                <a:spcPts val="0"/>
              </a:spcBef>
              <a:spcAft>
                <a:spcPts val="0"/>
              </a:spcAft>
            </a:pPr>
            <a:r>
              <a:rPr sz="1800" b="0">
                <a:solidFill>
                  <a:srgbClr val="252B33"/>
                </a:solidFill>
                <a:latin typeface="Courier New"/>
              </a:rPr>
              <a:t>GetPaged(
  JournalEntryQueryDto query
)
// DTO carries the query inputs</a:t>
            </a:r>
          </a:p>
        </p:txBody>
      </p:sp>
      <p:sp>
        <p:nvSpPr>
          <p:cNvPr id="15" name="TextBox 14"/>
          <p:cNvSpPr txBox="1"/>
          <p:nvPr/>
        </p:nvSpPr>
        <p:spPr>
          <a:xfrm>
            <a:off x="786384" y="5330952"/>
            <a:ext cx="10588752" cy="530352"/>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0F676D"/>
                </a:solidFill>
                <a:latin typeface="Arial"/>
              </a:rPr>
              <a:t>Measured result: fresh SonarQube issues 17 → 0; the route remains GET /journal-entries.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Source examples: security order and report persistence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Listings F.1-F.2 and G.1-G.3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33</a:t>
            </a:r>
          </a:p>
        </p:txBody>
      </p:sp>
      <p:sp>
        <p:nvSpPr>
          <p:cNvPr id="9" name="Rounded Rectangle 8"/>
          <p:cNvSpPr/>
          <p:nvPr/>
        </p:nvSpPr>
        <p:spPr>
          <a:xfrm>
            <a:off x="731520" y="1417320"/>
            <a:ext cx="5212080" cy="416052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36208" y="1417320"/>
            <a:ext cx="5212080" cy="416052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664208"/>
            <a:ext cx="4681728" cy="329184"/>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SECURITY · API/Program.cs</a:t>
            </a:r>
          </a:p>
        </p:txBody>
      </p:sp>
      <p:sp>
        <p:nvSpPr>
          <p:cNvPr id="12" name="TextBox 11"/>
          <p:cNvSpPr txBox="1"/>
          <p:nvPr/>
        </p:nvSpPr>
        <p:spPr>
          <a:xfrm>
            <a:off x="950976" y="2167128"/>
            <a:ext cx="4690872" cy="2468880"/>
          </a:xfrm>
          <a:prstGeom prst="rect">
            <a:avLst/>
          </a:prstGeom>
          <a:noFill/>
        </p:spPr>
        <p:txBody>
          <a:bodyPr wrap="square" lIns="18288" rIns="18288" tIns="18288" bIns="18288" anchor="t">
            <a:spAutoFit/>
          </a:bodyPr>
          <a:lstStyle/>
          <a:p>
            <a:pPr algn="l">
              <a:spcBef>
                <a:spcPts val="0"/>
              </a:spcBef>
              <a:spcAft>
                <a:spcPts val="0"/>
              </a:spcAft>
            </a:pPr>
            <a:r>
              <a:rPr sz="2000" b="0">
                <a:solidFill>
                  <a:srgbClr val="252B33"/>
                </a:solidFill>
                <a:latin typeface="Arial"/>
              </a:rPr>
              <a:t>SecurityHeadersMiddleware
→ before Swagger/OpenAPI
Swagger UI exposed only when the separate UI flag allows it.</a:t>
            </a:r>
          </a:p>
        </p:txBody>
      </p:sp>
      <p:sp>
        <p:nvSpPr>
          <p:cNvPr id="13" name="TextBox 12"/>
          <p:cNvSpPr txBox="1"/>
          <p:nvPr/>
        </p:nvSpPr>
        <p:spPr>
          <a:xfrm>
            <a:off x="6437376" y="1664208"/>
            <a:ext cx="4727448" cy="329184"/>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PERFORMANCE · FinancialReportService.cs</a:t>
            </a:r>
          </a:p>
        </p:txBody>
      </p:sp>
      <p:sp>
        <p:nvSpPr>
          <p:cNvPr id="14" name="TextBox 13"/>
          <p:cNvSpPr txBox="1"/>
          <p:nvPr/>
        </p:nvSpPr>
        <p:spPr>
          <a:xfrm>
            <a:off x="6437376" y="2167128"/>
            <a:ext cx="4709160" cy="2468880"/>
          </a:xfrm>
          <a:prstGeom prst="rect">
            <a:avLst/>
          </a:prstGeom>
          <a:noFill/>
        </p:spPr>
        <p:txBody>
          <a:bodyPr wrap="square" lIns="18288" rIns="18288" tIns="18288" bIns="18288" anchor="t">
            <a:spAutoFit/>
          </a:bodyPr>
          <a:lstStyle/>
          <a:p>
            <a:pPr algn="l">
              <a:spcBef>
                <a:spcPts val="0"/>
              </a:spcBef>
              <a:spcAft>
                <a:spcPts val="0"/>
              </a:spcAft>
            </a:pPr>
            <a:r>
              <a:rPr sz="2000" b="0">
                <a:solidFill>
                  <a:srgbClr val="252B33"/>
                </a:solidFill>
                <a:latin typeface="Arial"/>
              </a:rPr>
              <a:t>Cache account-ledger data
+ stop report snapshot writes on this read path
The core speed target was not met.</a:t>
            </a:r>
          </a:p>
        </p:txBody>
      </p:sp>
      <p:sp>
        <p:nvSpPr>
          <p:cNvPr id="15" name="TextBox 14"/>
          <p:cNvSpPr txBox="1"/>
          <p:nvPr/>
        </p:nvSpPr>
        <p:spPr>
          <a:xfrm>
            <a:off x="777240" y="5705856"/>
            <a:ext cx="10698480" cy="384048"/>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0F676D"/>
                </a:solidFill>
                <a:latin typeface="Arial"/>
              </a:rPr>
              <a:t>This shows what changed in code; slide 31 shows the measured performance result.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Authorization and accounting controls remained testable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Appendices C, D, I and §4.6</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34</a:t>
            </a:r>
          </a:p>
        </p:txBody>
      </p:sp>
      <p:graphicFrame>
        <p:nvGraphicFramePr>
          <p:cNvPr id="9" name="Table 8"/>
          <p:cNvGraphicFramePr>
            <a:graphicFrameLocks noGrp="1"/>
          </p:cNvGraphicFramePr>
          <p:nvPr/>
        </p:nvGraphicFramePr>
        <p:xfrm>
          <a:off x="722376" y="1371600"/>
          <a:ext cx="10744200" cy="4288536"/>
        </p:xfrm>
        <a:graphic>
          <a:graphicData uri="http://schemas.openxmlformats.org/drawingml/2006/table">
            <a:tbl>
              <a:tblPr firstRow="1" bandRow="1">
                <a:tableStyleId>{5C22544A-7EE6-4342-B048-85BDC9FD1C3A}</a:tableStyleId>
              </a:tblPr>
              <a:tblGrid>
                <a:gridCol w="2471166"/>
                <a:gridCol w="3760470"/>
                <a:gridCol w="4512564"/>
              </a:tblGrid>
              <a:tr h="857707">
                <a:tc>
                  <a:txBody>
                    <a:bodyPr/>
                    <a:lstStyle/>
                    <a:p>
                      <a:pPr algn="l">
                        <a:spcAft>
                          <a:spcPts val="0"/>
                        </a:spcAft>
                      </a:pPr>
                      <a:r>
                        <a:rPr sz="1700" b="1">
                          <a:solidFill>
                            <a:srgbClr val="FFFFFF"/>
                          </a:solidFill>
                          <a:latin typeface="Arial"/>
                        </a:rPr>
                        <a:t>Control</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Evidence path</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Expected boundary</a:t>
                      </a:r>
                    </a:p>
                  </a:txBody>
                  <a:tcPr marL="109728" marR="91440" marT="36576" marB="36576">
                    <a:solidFill>
                      <a:srgbClr val="252B33"/>
                    </a:solidFill>
                  </a:tcPr>
                </a:tc>
              </a:tr>
              <a:tr h="857707">
                <a:tc>
                  <a:txBody>
                    <a:bodyPr/>
                    <a:lstStyle/>
                    <a:p>
                      <a:pPr algn="l">
                        <a:spcAft>
                          <a:spcPts val="0"/>
                        </a:spcAft>
                      </a:pPr>
                      <a:r>
                        <a:rPr sz="1700" b="0">
                          <a:solidFill>
                            <a:srgbClr val="252B33"/>
                          </a:solidFill>
                          <a:latin typeface="Arial"/>
                        </a:rPr>
                        <a:t>JWT / roles</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Controller attributes + RBAC matrix</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Protected routes reject unauthorized roles</a:t>
                      </a:r>
                    </a:p>
                  </a:txBody>
                  <a:tcPr marL="109728" marR="91440" marT="36576" marB="36576">
                    <a:solidFill>
                      <a:srgbClr val="FFFFFF"/>
                    </a:solidFill>
                  </a:tcPr>
                </a:tc>
              </a:tr>
              <a:tr h="857707">
                <a:tc>
                  <a:txBody>
                    <a:bodyPr/>
                    <a:lstStyle/>
                    <a:p>
                      <a:pPr algn="l">
                        <a:spcAft>
                          <a:spcPts val="0"/>
                        </a:spcAft>
                      </a:pPr>
                      <a:r>
                        <a:rPr sz="1700" b="0">
                          <a:solidFill>
                            <a:srgbClr val="252B33"/>
                          </a:solidFill>
                          <a:latin typeface="Arial"/>
                        </a:rPr>
                        <a:t>Journal posting</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Balanced debit-credit source</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Closed periods and unequal totals rejected</a:t>
                      </a:r>
                    </a:p>
                  </a:txBody>
                  <a:tcPr marL="109728" marR="91440" marT="36576" marB="36576">
                    <a:solidFill>
                      <a:srgbClr val="F7F9FC"/>
                    </a:solidFill>
                  </a:tcPr>
                </a:tc>
              </a:tr>
              <a:tr h="857707">
                <a:tc>
                  <a:txBody>
                    <a:bodyPr/>
                    <a:lstStyle/>
                    <a:p>
                      <a:pPr algn="l">
                        <a:spcAft>
                          <a:spcPts val="0"/>
                        </a:spcAft>
                      </a:pPr>
                      <a:r>
                        <a:rPr sz="1700" b="0">
                          <a:solidFill>
                            <a:srgbClr val="252B33"/>
                          </a:solidFill>
                          <a:latin typeface="Arial"/>
                        </a:rPr>
                        <a:t>Audit trail</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Service + browser log view</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Actor and sensitive action recorded</a:t>
                      </a:r>
                    </a:p>
                  </a:txBody>
                  <a:tcPr marL="109728" marR="91440" marT="36576" marB="36576">
                    <a:solidFill>
                      <a:srgbClr val="FFFFFF"/>
                    </a:solidFill>
                  </a:tcPr>
                </a:tc>
              </a:tr>
              <a:tr h="857708">
                <a:tc>
                  <a:txBody>
                    <a:bodyPr/>
                    <a:lstStyle/>
                    <a:p>
                      <a:pPr algn="l">
                        <a:spcAft>
                          <a:spcPts val="0"/>
                        </a:spcAft>
                      </a:pPr>
                      <a:r>
                        <a:rPr sz="1700" b="0">
                          <a:solidFill>
                            <a:srgbClr val="252B33"/>
                          </a:solidFill>
                          <a:latin typeface="Arial"/>
                        </a:rPr>
                        <a:t>Browser roles</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Admin / Auditor screenshots</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Navigation and read-only behavior visible</a:t>
                      </a:r>
                    </a:p>
                  </a:txBody>
                  <a:tcPr marL="109728" marR="91440" marT="36576" marB="36576">
                    <a:solidFill>
                      <a:srgbClr val="F7F9FC"/>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SonarQube overview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 and L.3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35</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REMEDIATION</a:t>
            </a:r>
          </a:p>
        </p:txBody>
      </p:sp>
      <p:pic>
        <p:nvPicPr>
          <p:cNvPr id="11" name="Picture 10" descr="sonarqube-baseline-overview.png"/>
          <p:cNvPicPr>
            <a:picLocks noChangeAspect="1"/>
          </p:cNvPicPr>
          <p:nvPr/>
        </p:nvPicPr>
        <p:blipFill>
          <a:blip r:embed="rId2"/>
          <a:stretch>
            <a:fillRect/>
          </a:stretch>
        </p:blipFill>
        <p:spPr>
          <a:xfrm>
            <a:off x="786384" y="1706880"/>
            <a:ext cx="5157216" cy="3581400"/>
          </a:xfrm>
          <a:prstGeom prst="rect">
            <a:avLst/>
          </a:prstGeom>
        </p:spPr>
      </p:pic>
      <p:sp>
        <p:nvSpPr>
          <p:cNvPr id="12" name="Rectangle 11"/>
          <p:cNvSpPr/>
          <p:nvPr/>
        </p:nvSpPr>
        <p:spPr>
          <a:xfrm>
            <a:off x="786384"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onarqube-remediation-overview.png"/>
          <p:cNvPicPr>
            <a:picLocks noChangeAspect="1"/>
          </p:cNvPicPr>
          <p:nvPr/>
        </p:nvPicPr>
        <p:blipFill>
          <a:blip r:embed="rId3"/>
          <a:stretch>
            <a:fillRect/>
          </a:stretch>
        </p:blipFill>
        <p:spPr>
          <a:xfrm>
            <a:off x="6236208" y="1706880"/>
            <a:ext cx="5157216" cy="3581400"/>
          </a:xfrm>
          <a:prstGeom prst="rect">
            <a:avLst/>
          </a:prstGeom>
        </p:spPr>
      </p:pic>
      <p:sp>
        <p:nvSpPr>
          <p:cNvPr id="14" name="Rectangle 13"/>
          <p:cNvSpPr/>
          <p:nvPr/>
        </p:nvSpPr>
        <p:spPr>
          <a:xfrm>
            <a:off x="6236208"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17 issues → 0; gate OK/OK (no conditions recorded); coverage 74.4% → 74.3%.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SonarQube issues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L.2 and L.4</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36</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REMEDIATION</a:t>
            </a:r>
          </a:p>
        </p:txBody>
      </p:sp>
      <p:pic>
        <p:nvPicPr>
          <p:cNvPr id="11" name="Picture 10" descr="sonarqube-baseline-issues.png"/>
          <p:cNvPicPr>
            <a:picLocks noChangeAspect="1"/>
          </p:cNvPicPr>
          <p:nvPr/>
        </p:nvPicPr>
        <p:blipFill>
          <a:blip r:embed="rId2"/>
          <a:stretch>
            <a:fillRect/>
          </a:stretch>
        </p:blipFill>
        <p:spPr>
          <a:xfrm>
            <a:off x="786384" y="1706880"/>
            <a:ext cx="5157216" cy="3581400"/>
          </a:xfrm>
          <a:prstGeom prst="rect">
            <a:avLst/>
          </a:prstGeom>
        </p:spPr>
      </p:pic>
      <p:sp>
        <p:nvSpPr>
          <p:cNvPr id="12" name="Rectangle 11"/>
          <p:cNvSpPr/>
          <p:nvPr/>
        </p:nvSpPr>
        <p:spPr>
          <a:xfrm>
            <a:off x="786384"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onarqube-remediation-issues.png"/>
          <p:cNvPicPr>
            <a:picLocks noChangeAspect="1"/>
          </p:cNvPicPr>
          <p:nvPr/>
        </p:nvPicPr>
        <p:blipFill>
          <a:blip r:embed="rId3"/>
          <a:stretch>
            <a:fillRect/>
          </a:stretch>
        </p:blipFill>
        <p:spPr>
          <a:xfrm>
            <a:off x="6236208" y="1706880"/>
            <a:ext cx="5157216" cy="3581400"/>
          </a:xfrm>
          <a:prstGeom prst="rect">
            <a:avLst/>
          </a:prstGeom>
        </p:spPr>
      </p:pic>
      <p:sp>
        <p:nvSpPr>
          <p:cNvPr id="14" name="Rectangle 13"/>
          <p:cNvSpPr/>
          <p:nvPr/>
        </p:nvSpPr>
        <p:spPr>
          <a:xfrm>
            <a:off x="6236208"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Fresh issue-list views: 17 baseline findings and 0 after remediation.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50 VU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L.9 and L.14;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37</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p50-dashboard.png"/>
          <p:cNvPicPr>
            <a:picLocks noChangeAspect="1"/>
          </p:cNvPicPr>
          <p:nvPr/>
        </p:nvPicPr>
        <p:blipFill>
          <a:blip r:embed="rId2"/>
          <a:stretch>
            <a:fillRect/>
          </a:stretch>
        </p:blipFill>
        <p:spPr>
          <a:xfrm>
            <a:off x="786384" y="2594949"/>
            <a:ext cx="5157216" cy="1805260"/>
          </a:xfrm>
          <a:prstGeom prst="rect">
            <a:avLst/>
          </a:prstGeom>
        </p:spPr>
      </p:pic>
      <p:sp>
        <p:nvSpPr>
          <p:cNvPr id="12" name="Rectangle 11"/>
          <p:cNvSpPr/>
          <p:nvPr/>
        </p:nvSpPr>
        <p:spPr>
          <a:xfrm>
            <a:off x="786384" y="2594949"/>
            <a:ext cx="5157216" cy="180526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p50-dashboard.png"/>
          <p:cNvPicPr>
            <a:picLocks noChangeAspect="1"/>
          </p:cNvPicPr>
          <p:nvPr/>
        </p:nvPicPr>
        <p:blipFill>
          <a:blip r:embed="rId3"/>
          <a:stretch>
            <a:fillRect/>
          </a:stretch>
        </p:blipFill>
        <p:spPr>
          <a:xfrm>
            <a:off x="6236208" y="2594949"/>
            <a:ext cx="5157216" cy="1805260"/>
          </a:xfrm>
          <a:prstGeom prst="rect">
            <a:avLst/>
          </a:prstGeom>
        </p:spPr>
      </p:pic>
      <p:sp>
        <p:nvSpPr>
          <p:cNvPr id="14" name="Rectangle 13"/>
          <p:cNvSpPr/>
          <p:nvPr/>
        </p:nvSpPr>
        <p:spPr>
          <a:xfrm>
            <a:off x="6236208" y="2594949"/>
            <a:ext cx="5157216" cy="180526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33 → 199.9 ms · CORE SLOWER.</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100 VU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L.10 and L.15;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38</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p100-dashboard.png"/>
          <p:cNvPicPr>
            <a:picLocks noChangeAspect="1"/>
          </p:cNvPicPr>
          <p:nvPr/>
        </p:nvPicPr>
        <p:blipFill>
          <a:blip r:embed="rId2"/>
          <a:stretch>
            <a:fillRect/>
          </a:stretch>
        </p:blipFill>
        <p:spPr>
          <a:xfrm>
            <a:off x="786384" y="2183594"/>
            <a:ext cx="5157216" cy="2627970"/>
          </a:xfrm>
          <a:prstGeom prst="rect">
            <a:avLst/>
          </a:prstGeom>
        </p:spPr>
      </p:pic>
      <p:sp>
        <p:nvSpPr>
          <p:cNvPr id="12" name="Rectangle 11"/>
          <p:cNvSpPr/>
          <p:nvPr/>
        </p:nvSpPr>
        <p:spPr>
          <a:xfrm>
            <a:off x="786384" y="2183594"/>
            <a:ext cx="5157216" cy="262797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p100-dashboard.png"/>
          <p:cNvPicPr>
            <a:picLocks noChangeAspect="1"/>
          </p:cNvPicPr>
          <p:nvPr/>
        </p:nvPicPr>
        <p:blipFill>
          <a:blip r:embed="rId3"/>
          <a:stretch>
            <a:fillRect/>
          </a:stretch>
        </p:blipFill>
        <p:spPr>
          <a:xfrm>
            <a:off x="6236208" y="2136582"/>
            <a:ext cx="5157216" cy="2721994"/>
          </a:xfrm>
          <a:prstGeom prst="rect">
            <a:avLst/>
          </a:prstGeom>
        </p:spPr>
      </p:pic>
      <p:sp>
        <p:nvSpPr>
          <p:cNvPr id="14" name="Rectangle 13"/>
          <p:cNvSpPr/>
          <p:nvPr/>
        </p:nvSpPr>
        <p:spPr>
          <a:xfrm>
            <a:off x="6236208"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p95 255.9 → 1146.9 ms · CORE TARGET NOT MET.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500 VU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L.11 and L.16;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39</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p500-dashboard.png"/>
          <p:cNvPicPr>
            <a:picLocks noChangeAspect="1"/>
          </p:cNvPicPr>
          <p:nvPr/>
        </p:nvPicPr>
        <p:blipFill>
          <a:blip r:embed="rId2"/>
          <a:stretch>
            <a:fillRect/>
          </a:stretch>
        </p:blipFill>
        <p:spPr>
          <a:xfrm>
            <a:off x="786384" y="2183594"/>
            <a:ext cx="5157216" cy="2627970"/>
          </a:xfrm>
          <a:prstGeom prst="rect">
            <a:avLst/>
          </a:prstGeom>
        </p:spPr>
      </p:pic>
      <p:sp>
        <p:nvSpPr>
          <p:cNvPr id="12" name="Rectangle 11"/>
          <p:cNvSpPr/>
          <p:nvPr/>
        </p:nvSpPr>
        <p:spPr>
          <a:xfrm>
            <a:off x="786384" y="2183594"/>
            <a:ext cx="5157216" cy="262797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p500-dashboard.png"/>
          <p:cNvPicPr>
            <a:picLocks noChangeAspect="1"/>
          </p:cNvPicPr>
          <p:nvPr/>
        </p:nvPicPr>
        <p:blipFill>
          <a:blip r:embed="rId3"/>
          <a:stretch>
            <a:fillRect/>
          </a:stretch>
        </p:blipFill>
        <p:spPr>
          <a:xfrm>
            <a:off x="6236208" y="2136582"/>
            <a:ext cx="5157216" cy="2721994"/>
          </a:xfrm>
          <a:prstGeom prst="rect">
            <a:avLst/>
          </a:prstGeom>
        </p:spPr>
      </p:pic>
      <p:sp>
        <p:nvSpPr>
          <p:cNvPr id="14" name="Rectangle 13"/>
          <p:cNvSpPr/>
          <p:nvPr/>
        </p:nvSpPr>
        <p:spPr>
          <a:xfrm>
            <a:off x="6236208"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p95 106 → 1547.95 ms · CORE TARGET NOT MET.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soak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L.12 and L.17;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40</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soak-dashboard.png"/>
          <p:cNvPicPr>
            <a:picLocks noChangeAspect="1"/>
          </p:cNvPicPr>
          <p:nvPr/>
        </p:nvPicPr>
        <p:blipFill>
          <a:blip r:embed="rId2"/>
          <a:stretch>
            <a:fillRect/>
          </a:stretch>
        </p:blipFill>
        <p:spPr>
          <a:xfrm>
            <a:off x="786384" y="2183594"/>
            <a:ext cx="5157216" cy="2627970"/>
          </a:xfrm>
          <a:prstGeom prst="rect">
            <a:avLst/>
          </a:prstGeom>
        </p:spPr>
      </p:pic>
      <p:sp>
        <p:nvSpPr>
          <p:cNvPr id="12" name="Rectangle 11"/>
          <p:cNvSpPr/>
          <p:nvPr/>
        </p:nvSpPr>
        <p:spPr>
          <a:xfrm>
            <a:off x="786384" y="2183594"/>
            <a:ext cx="5157216" cy="262797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soak-dashboard.png"/>
          <p:cNvPicPr>
            <a:picLocks noChangeAspect="1"/>
          </p:cNvPicPr>
          <p:nvPr/>
        </p:nvPicPr>
        <p:blipFill>
          <a:blip r:embed="rId3"/>
          <a:stretch>
            <a:fillRect/>
          </a:stretch>
        </p:blipFill>
        <p:spPr>
          <a:xfrm>
            <a:off x="6236208" y="2136582"/>
            <a:ext cx="5157216" cy="2721994"/>
          </a:xfrm>
          <a:prstGeom prst="rect">
            <a:avLst/>
          </a:prstGeom>
        </p:spPr>
      </p:pic>
      <p:sp>
        <p:nvSpPr>
          <p:cNvPr id="14" name="Rectangle 13"/>
          <p:cNvSpPr/>
          <p:nvPr/>
        </p:nvSpPr>
        <p:spPr>
          <a:xfrm>
            <a:off x="6236208"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p95 443.95 → 171 ms · SOAK p95 LOWER.</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spike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L.13 and L.18;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41</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spike-dashboard.png"/>
          <p:cNvPicPr>
            <a:picLocks noChangeAspect="1"/>
          </p:cNvPicPr>
          <p:nvPr/>
        </p:nvPicPr>
        <p:blipFill>
          <a:blip r:embed="rId2"/>
          <a:stretch>
            <a:fillRect/>
          </a:stretch>
        </p:blipFill>
        <p:spPr>
          <a:xfrm>
            <a:off x="786384" y="2136582"/>
            <a:ext cx="5157216" cy="2721994"/>
          </a:xfrm>
          <a:prstGeom prst="rect">
            <a:avLst/>
          </a:prstGeom>
        </p:spPr>
      </p:pic>
      <p:sp>
        <p:nvSpPr>
          <p:cNvPr id="12" name="Rectangle 11"/>
          <p:cNvSpPr/>
          <p:nvPr/>
        </p:nvSpPr>
        <p:spPr>
          <a:xfrm>
            <a:off x="786384"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spike-dashboard.png"/>
          <p:cNvPicPr>
            <a:picLocks noChangeAspect="1"/>
          </p:cNvPicPr>
          <p:nvPr/>
        </p:nvPicPr>
        <p:blipFill>
          <a:blip r:embed="rId3"/>
          <a:stretch>
            <a:fillRect/>
          </a:stretch>
        </p:blipFill>
        <p:spPr>
          <a:xfrm>
            <a:off x="6236208" y="2136582"/>
            <a:ext cx="5157216" cy="2721994"/>
          </a:xfrm>
          <a:prstGeom prst="rect">
            <a:avLst/>
          </a:prstGeom>
        </p:spPr>
      </p:pic>
      <p:sp>
        <p:nvSpPr>
          <p:cNvPr id="14" name="Rectangle 13"/>
          <p:cNvSpPr/>
          <p:nvPr/>
        </p:nvSpPr>
        <p:spPr>
          <a:xfrm>
            <a:off x="6236208"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33401.8 → 4730.85 ms · SPIKE p95 LOWER.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 APPLICATION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App screens—not load-test data</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Figures 4.2 and 4.3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42</a:t>
            </a:r>
          </a:p>
        </p:txBody>
      </p:sp>
      <p:pic>
        <p:nvPicPr>
          <p:cNvPr id="9" name="Picture 8" descr="02-dashboard-admin.png"/>
          <p:cNvPicPr>
            <a:picLocks noChangeAspect="1"/>
          </p:cNvPicPr>
          <p:nvPr/>
        </p:nvPicPr>
        <p:blipFill>
          <a:blip r:embed="rId2"/>
          <a:stretch>
            <a:fillRect/>
          </a:stretch>
        </p:blipFill>
        <p:spPr>
          <a:xfrm>
            <a:off x="777240" y="1827149"/>
            <a:ext cx="5166360" cy="3587750"/>
          </a:xfrm>
          <a:prstGeom prst="rect">
            <a:avLst/>
          </a:prstGeom>
        </p:spPr>
      </p:pic>
      <p:sp>
        <p:nvSpPr>
          <p:cNvPr id="10" name="Rectangle 9"/>
          <p:cNvSpPr/>
          <p:nvPr/>
        </p:nvSpPr>
        <p:spPr>
          <a:xfrm>
            <a:off x="777240"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3-reports-trial-balance.png"/>
          <p:cNvPicPr>
            <a:picLocks noChangeAspect="1"/>
          </p:cNvPicPr>
          <p:nvPr/>
        </p:nvPicPr>
        <p:blipFill>
          <a:blip r:embed="rId3"/>
          <a:srcRect b="70326"/>
          <a:stretch>
            <a:fillRect/>
          </a:stretch>
        </p:blipFill>
        <p:spPr>
          <a:xfrm>
            <a:off x="6236208" y="1827149"/>
            <a:ext cx="5166360" cy="3587750"/>
          </a:xfrm>
          <a:prstGeom prst="rect">
            <a:avLst/>
          </a:prstGeom>
        </p:spPr>
      </p:pic>
      <p:sp>
        <p:nvSpPr>
          <p:cNvPr id="12" name="Rectangle 11"/>
          <p:cNvSpPr/>
          <p:nvPr/>
        </p:nvSpPr>
        <p:spPr>
          <a:xfrm>
            <a:off x="6236208"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Admin dashboard</a:t>
            </a:r>
          </a:p>
        </p:txBody>
      </p:sp>
      <p:sp>
        <p:nvSpPr>
          <p:cNvPr id="14" name="TextBox 13"/>
          <p:cNvSpPr txBox="1"/>
          <p:nvPr/>
        </p:nvSpPr>
        <p:spPr>
          <a:xfrm>
            <a:off x="6281928"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Trial-balance report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 APPLICATION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Application: audit and role restrictions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Figures 4.4 and 4.5</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43</a:t>
            </a:r>
          </a:p>
        </p:txBody>
      </p:sp>
      <p:pic>
        <p:nvPicPr>
          <p:cNvPr id="9" name="Picture 8" descr="04-audit-logs.png"/>
          <p:cNvPicPr>
            <a:picLocks noChangeAspect="1"/>
          </p:cNvPicPr>
          <p:nvPr/>
        </p:nvPicPr>
        <p:blipFill>
          <a:blip r:embed="rId2"/>
          <a:stretch>
            <a:fillRect/>
          </a:stretch>
        </p:blipFill>
        <p:spPr>
          <a:xfrm>
            <a:off x="777240" y="1827149"/>
            <a:ext cx="5166360" cy="3587750"/>
          </a:xfrm>
          <a:prstGeom prst="rect">
            <a:avLst/>
          </a:prstGeom>
        </p:spPr>
      </p:pic>
      <p:sp>
        <p:nvSpPr>
          <p:cNvPr id="10" name="Rectangle 9"/>
          <p:cNvSpPr/>
          <p:nvPr/>
        </p:nvSpPr>
        <p:spPr>
          <a:xfrm>
            <a:off x="777240"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5-auditor-role-view.png"/>
          <p:cNvPicPr>
            <a:picLocks noChangeAspect="1"/>
          </p:cNvPicPr>
          <p:nvPr/>
        </p:nvPicPr>
        <p:blipFill>
          <a:blip r:embed="rId3"/>
          <a:srcRect b="57841"/>
          <a:stretch>
            <a:fillRect/>
          </a:stretch>
        </p:blipFill>
        <p:spPr>
          <a:xfrm>
            <a:off x="6236208" y="1827149"/>
            <a:ext cx="5166360" cy="3587750"/>
          </a:xfrm>
          <a:prstGeom prst="rect">
            <a:avLst/>
          </a:prstGeom>
        </p:spPr>
      </p:pic>
      <p:sp>
        <p:nvSpPr>
          <p:cNvPr id="12" name="Rectangle 11"/>
          <p:cNvSpPr/>
          <p:nvPr/>
        </p:nvSpPr>
        <p:spPr>
          <a:xfrm>
            <a:off x="6236208"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Audit-log view</a:t>
            </a:r>
          </a:p>
        </p:txBody>
      </p:sp>
      <p:sp>
        <p:nvSpPr>
          <p:cNvPr id="14" name="TextBox 13"/>
          <p:cNvSpPr txBox="1"/>
          <p:nvPr/>
        </p:nvSpPr>
        <p:spPr>
          <a:xfrm>
            <a:off x="6281928"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Auditor navigation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 APPLICATION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Application: evidence and balanced journal lines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Figures 4.6 and 4.7</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44</a:t>
            </a:r>
          </a:p>
        </p:txBody>
      </p:sp>
      <p:pic>
        <p:nvPicPr>
          <p:cNvPr id="9" name="Picture 8" descr="06-research-evidence.png"/>
          <p:cNvPicPr>
            <a:picLocks noChangeAspect="1"/>
          </p:cNvPicPr>
          <p:nvPr/>
        </p:nvPicPr>
        <p:blipFill>
          <a:blip r:embed="rId2"/>
          <a:stretch>
            <a:fillRect/>
          </a:stretch>
        </p:blipFill>
        <p:spPr>
          <a:xfrm>
            <a:off x="777240" y="1827149"/>
            <a:ext cx="5166360" cy="3587750"/>
          </a:xfrm>
          <a:prstGeom prst="rect">
            <a:avLst/>
          </a:prstGeom>
        </p:spPr>
      </p:pic>
      <p:sp>
        <p:nvSpPr>
          <p:cNvPr id="10" name="Rectangle 9"/>
          <p:cNvSpPr/>
          <p:nvPr/>
        </p:nvSpPr>
        <p:spPr>
          <a:xfrm>
            <a:off x="777240"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7-journal-entry-details.png"/>
          <p:cNvPicPr>
            <a:picLocks noChangeAspect="1"/>
          </p:cNvPicPr>
          <p:nvPr/>
        </p:nvPicPr>
        <p:blipFill>
          <a:blip r:embed="rId3"/>
          <a:srcRect b="60175"/>
          <a:stretch>
            <a:fillRect/>
          </a:stretch>
        </p:blipFill>
        <p:spPr>
          <a:xfrm>
            <a:off x="6236208" y="1827149"/>
            <a:ext cx="5166360" cy="3587750"/>
          </a:xfrm>
          <a:prstGeom prst="rect">
            <a:avLst/>
          </a:prstGeom>
        </p:spPr>
      </p:pic>
      <p:sp>
        <p:nvSpPr>
          <p:cNvPr id="12" name="Rectangle 11"/>
          <p:cNvSpPr/>
          <p:nvPr/>
        </p:nvSpPr>
        <p:spPr>
          <a:xfrm>
            <a:off x="6236208"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Research-evidence map</a:t>
            </a:r>
          </a:p>
        </p:txBody>
      </p:sp>
      <p:sp>
        <p:nvSpPr>
          <p:cNvPr id="14" name="TextBox 13"/>
          <p:cNvSpPr txBox="1"/>
          <p:nvPr/>
        </p:nvSpPr>
        <p:spPr>
          <a:xfrm>
            <a:off x="6281928"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Expanded debit and credit lines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Final Thesis Defense - Current Fresh Results</dc:title>
  <dc:subject>Branch-isolated evidence for financial accounting API remediation</dc:subject>
  <dc:creator>Zaw Ye Htut Ko</dc:creator>
  <cp:keywords>SonarQube, OWASP ZAP, JMeter, ChatGPT, financial API</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