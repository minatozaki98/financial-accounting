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a:t>
            </a:r>
          </a:p>
          <a:p>
            <a:r>
              <a:t>KEY MESSAGE: This is an evidence-based evaluation of Codex 5.4 as an advisor.</a:t>
            </a:r>
          </a:p>
          <a:p/>
          <a:p>
            <a:r>
              <a:t>SCRIPT:</a:t>
            </a:r>
          </a:p>
          <a:p>
            <a:r>
              <a:t>Good morning. I evaluate whether ChatGPT, used through Codex 5.4, can help improve an existing financial accounting API. The model proposes changes; people review them; SonarQube, OWASP ZAP, and JMeter decide what the measured results actually support.</a:t>
            </a:r>
          </a:p>
          <a:p/>
          <a:p>
            <a:r>
              <a:t>SOURCE: Current full report title page and Abstract.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Static quality succeeded; security has a disclosed residual; core performance failed.</a:t>
            </a:r>
          </a:p>
          <a:p/>
          <a:p>
            <a:r>
              <a:t>SCRIPT:</a:t>
            </a:r>
          </a:p>
          <a:p>
            <a:r>
              <a:t>I want to give the result before the details. The fresh September reproduction reduced SonarQube issues from seventeen to zero. ZAP passed the configured rule gate, but one raw Medium HTTP-only observation remained in the authenticated scan. JMeter's primary core gate failed on p100 and p500. Improvements in soak and spike do not cancel that failure.</a:t>
            </a:r>
          </a:p>
          <a:p/>
          <a:p>
            <a:r>
              <a:t>SOURCE: Current report Table 4.5 and Appendix M.</a:t>
            </a:r>
          </a:p>
          <a:p>
            <a:r>
              <a:t>CAUTION: Do not repeat the historical claim that all core JMeter profiles improved.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three risks need different measurements.</a:t>
            </a:r>
          </a:p>
          <a:p/>
          <a:p>
            <a:r>
              <a:t>SCRIPT:</a:t>
            </a:r>
          </a:p>
          <a:p>
            <a:r>
              <a:t>A financial API can have source-code warnings, runtime security observations, and slow responses at the same time. These failures have different causes. That is why the study uses three independent tools and checks that remediation does not break the accounting behavior.</a:t>
            </a:r>
          </a:p>
          <a:p/>
          <a:p>
            <a:r>
              <a:t>SOURCE: Current report Chapter 1 and §3.1.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65 seconds</a:t>
            </a:r>
          </a:p>
          <a:p>
            <a:r>
              <a:t>KEY MESSAGE: Each research question has an acceptance rule.</a:t>
            </a:r>
          </a:p>
          <a:p/>
          <a:p>
            <a:r>
              <a:t>SCRIPT:</a:t>
            </a:r>
          </a:p>
          <a:p>
            <a:r>
              <a:t>The first question is about code quality: can the issue count fall without overlooking coverage and complexity? The second is about security: can configured scanner rules pass while raw observations remain visible? The third is about performance: do the primary load gates pass, not just selected stress profiles? These rules were used to judge the results in Chapter Four.</a:t>
            </a:r>
          </a:p>
          <a:p/>
          <a:p>
            <a:r>
              <a:t>SOURCE: Current report §1.5 and Table 4.1.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This is one nontrivial API, not a set of unrelated projects.</a:t>
            </a:r>
          </a:p>
          <a:p/>
          <a:p>
            <a:r>
              <a:t>SCRIPT:</a:t>
            </a:r>
          </a:p>
          <a:p>
            <a:r>
              <a:t>The evaluated system has accounting workflows, a SQL Server database, JWT authentication, four exact role names, protected write operations, report generation, and audit logging. The same API is measured before and after each tool-specific branch. The dashboard later in this talk is a demonstration client, not the benchmark dataset itself.</a:t>
            </a:r>
          </a:p>
          <a:p/>
          <a:p>
            <a:r>
              <a:t>SOURCE: Current report §§3.1-3.2, Table 3.3,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Branch isolation makes each before-and-after comparison traceable.</a:t>
            </a:r>
          </a:p>
          <a:p/>
          <a:p>
            <a:r>
              <a:t>SCRIPT:</a:t>
            </a:r>
          </a:p>
          <a:p>
            <a:r>
              <a:t>We froze a common baseline at commit 7a0469d9. The SonarQube, ZAP, and JMeter changes were assessed on separate refs. The exact tested commits are recorded, so a later change to a branch name cannot silently change the result. I compare each remediation branch to that same baseline, one tool at a time.</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model's suggestion is a candidate, not the result.</a:t>
            </a:r>
          </a:p>
          <a:p/>
          <a:p>
            <a:r>
              <a:t>SCRIPT:</a:t>
            </a:r>
          </a:p>
          <a:p>
            <a:r>
              <a:t>Phase one captures the baseline. Phase two supplies a tool finding, relevant code, and a narrow instruction to the model. Phase three is human review, tests, and a fresh run of the same measuring tool. Phase four compares the branch result with the baseline using the original decision rule. This prevents an attractive patch from being called successful just because it looks plausible.</a:t>
            </a:r>
          </a:p>
          <a:p/>
          <a:p>
            <a:r>
              <a:t>SOURCE: Current report §3.1.1 and Figures 3.1-3.4.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comparison uses a reproducible local setup but only one host.</a:t>
            </a:r>
          </a:p>
          <a:p/>
          <a:p>
            <a:r>
              <a:t>SCRIPT:</a:t>
            </a:r>
          </a:p>
          <a:p>
            <a:r>
              <a:t>The seeded database contains 120 accounts and thirty thousand journal entries, with at least five thousand posted entries. The benchmark used one Windows 11 host, ASP.NET Core 8, local SQL Server, and pinned tool versions. These controls help repeat the run, but one host and one fresh run per branch are still important limitations.</a:t>
            </a:r>
          </a:p>
          <a:p/>
          <a:p>
            <a:r>
              <a:t>SOURCE: Current report Tables 3.2 and 3.11, Appendix H and verification summaries.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A result is not called successful because one chart looks better.</a:t>
            </a:r>
          </a:p>
          <a:p/>
          <a:p>
            <a:r>
              <a:t>SCRIPT:</a:t>
            </a:r>
          </a:p>
          <a:p>
            <a:r>
              <a:t>Static analysis has an issue count and a Quality Gate, but coverage and complexity also matter. ZAP has a configured gate, while raw observations still have to be disclosed. JMeter has primary p50, p100, and p500 core checks; p100 must stay at or below five hundred milliseconds and p500 at or below twelve hundred. We also require tests and role behavior to stay intact.</a:t>
            </a:r>
          </a:p>
          <a:p/>
          <a:p>
            <a:r>
              <a:t>SOURCE: Current report Table 4.1 and §4.1.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model is an advisor under a human-controlled test loop.</a:t>
            </a:r>
          </a:p>
          <a:p/>
          <a:p>
            <a:r>
              <a:t>SCRIPT:</a:t>
            </a:r>
          </a:p>
          <a:p>
            <a:r>
              <a:t>The prompt contains the scanner or benchmark finding, a small relevant source excerpt, and constraints such as keeping tests and contracts intact. Codex suggests a patch. A human reviews it, the focused test suite runs, and the original tool is rerun. A patch can still fail its measured target; the JMeter result is the clearest example of that boundary.</a:t>
            </a:r>
          </a:p>
          <a:p/>
          <a:p>
            <a:r>
              <a:t>SOURCE: Current report §§3.1.3-3.1.4, Appendices I and 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Similar-looking code changes can have very different measured outcomes.</a:t>
            </a:r>
          </a:p>
          <a:p/>
          <a:p>
            <a:r>
              <a:t>SCRIPT:</a:t>
            </a:r>
          </a:p>
          <a:p>
            <a:r>
              <a:t>For maintainability, a request DTO replaced a controller action with eight query parameters. For security, header middleware moved ahead of Swagger and UI exposure was constrained. For performance, the JMeter branch added ledger caching and reduced report persistence work. These are mechanisms, not proof of success by themselves; the tool results on the next slides show what actually happened.</a:t>
            </a:r>
          </a:p>
          <a:p/>
          <a:p>
            <a:r>
              <a:t>SOURCE: Current report Table 4.3 and Appendices E-G.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fresh issue count reached zero, with small control-metric regressions disclosed.</a:t>
            </a:r>
          </a:p>
          <a:p/>
          <a:p>
            <a:r>
              <a:t>SCRIPT:</a:t>
            </a:r>
          </a:p>
          <a:p>
            <a:r>
              <a:t>SonarQube found seventeen distinct issues on the shared baseline and none on the SonarQube remediation branch. Both Quality Gates were OK. Coverage slipped from 74.4 to 74.3 percent and cyclomatic complexity rose by three, so I do not call those measures unchanged. The newer Reliability, Security, and Maintainability impact counts overlap; they are not nineteen separate issues.</a:t>
            </a:r>
          </a:p>
          <a:p/>
          <a:p>
            <a:r>
              <a:t>SOURCE: Current report Table 4.2, Appendix E, Figures L.1-L.4.</a:t>
            </a:r>
          </a:p>
          <a:p>
            <a:r>
              <a:t>CAUTION: Legacy Bugs and Vulnerabilities are both zero; the MQR Security impact is a different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tool views correspond to the pinned baseline and remediation commits.</a:t>
            </a:r>
          </a:p>
          <a:p/>
          <a:p>
            <a:r>
              <a:t>SCRIPT:</a:t>
            </a:r>
          </a:p>
          <a:p>
            <a:r>
              <a:t>These are native SonarQube captures from the fresh September reproduction, not a chart invented for the presentation. The baseline overview shows Security, Reliability, and Maintainability impacts plus 74.4 percent coverage. The remediation overview shows zero open issues and 74.3 percent coverage. Appendix L also includes the issue-list views if the committee asks for rule-level detail.</a:t>
            </a:r>
          </a:p>
          <a:p/>
          <a:p>
            <a:r>
              <a:t>SOURCE: Appendix L Figures L.1-L.4 and dashboard-capture manifest.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configured ZAP rule gate passed, but one raw Medium alert remains.</a:t>
            </a:r>
          </a:p>
          <a:p/>
          <a:p>
            <a:r>
              <a:t>SCRIPT:</a:t>
            </a:r>
          </a:p>
          <a:p>
            <a:r>
              <a:t>In the fresh passive scan, Medium went from three to zero and Low from six to zero. In the authenticated API scan, Low went from three to zero, but Medium remained one. That observation is HTTP Only Site on the local HTTP transport. The configured business-endpoint rule set passed on both branches, but I do not say every raw Medium alert was eliminated.</a:t>
            </a:r>
          </a:p>
          <a:p/>
          <a:p>
            <a:r>
              <a:t>SOURCE: Current report §4.3, fresh ZAP baseline/remediation summary.json, Appendix F.</a:t>
            </a:r>
          </a:p>
          <a:p>
            <a:r>
              <a:t>CAUTION: Do not use the older March dashboard screenshot as proof of zero fresh API Medium alerts.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A dashboard screenshot and a fresh measurement can have different provenance.</a:t>
            </a:r>
          </a:p>
          <a:p/>
          <a:p>
            <a:r>
              <a:t>SCRIPT:</a:t>
            </a:r>
          </a:p>
          <a:p>
            <a:r>
              <a:t>The side-by-side ZAP screenshots were rendered from earlier March scan reports, and I label them historical on purpose. They show the tool's native alert summary and evidence layout. The current numerical claim comes from September's machine-readable scan JSON: one raw authenticated API Medium remains. This is why the thesis separates visual captures from fresh gate judgments.</a:t>
            </a:r>
          </a:p>
          <a:p/>
          <a:p>
            <a:r>
              <a:t>SOURCE: Dashboard-capture manifest, Appendix L Figures L.7-L.8, fresh ZAP summary.json.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Stress improvements cannot stand in for the core gate.</a:t>
            </a:r>
          </a:p>
          <a:p/>
          <a:p>
            <a:r>
              <a:t>SCRIPT:</a:t>
            </a:r>
          </a:p>
          <a:p>
            <a:r>
              <a:t>The p50, p100, and p500 profiles exercise increasingly heavy core load. Soak and spike add sustained and sudden-load evidence. We report p95 latency, throughput, and errors for each. The research decision rule treats p50, p100, and p500 as primary; soak and spike are additional interpretation, not a substitute.</a:t>
            </a:r>
          </a:p>
          <a:p/>
          <a:p>
            <a:r>
              <a:t>SOURCE: Current report §§3.8 and 4.4, Appendix 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KEY MESSAGE: The primary performance criterion was not achieved.</a:t>
            </a:r>
          </a:p>
          <a:p/>
          <a:p>
            <a:r>
              <a:t>SCRIPT:</a:t>
            </a:r>
          </a:p>
          <a:p>
            <a:r>
              <a:t>All three fresh core total-p95 values increased. p50 rose from thirty-three to about two hundred milliseconds, p100 from about two hundred fifty-six to one thousand one hundred forty-seven, and p500 from one hundred six to one thousand five hundred forty-eight. Errors stayed at zero, but p100 exceeded the five-hundred-millisecond limit and p500 exceeded twelve hundred, so the remediation core gate failed.</a:t>
            </a:r>
          </a:p>
          <a:p/>
          <a:p>
            <a:r>
              <a:t>SOURCE: Fresh JMeter baseline/remediation summary.json; current report §4.4 and Table 4.5.</a:t>
            </a:r>
          </a:p>
          <a:p>
            <a:r>
              <a:t>CAUTION: Do not carry the older March core-gate PASS into this fresh result.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75 seconds</a:t>
            </a:r>
          </a:p>
          <a:p>
            <a:r>
              <a:t>KEY MESSAGE: Stress gains are real but do not reverse the failed primary gate.</a:t>
            </a:r>
          </a:p>
          <a:p/>
          <a:p>
            <a:r>
              <a:t>SCRIPT:</a:t>
            </a:r>
          </a:p>
          <a:p>
            <a:r>
              <a:t>The soak aggregate p95 fell from 443.95 to 171 milliseconds. Spike aggregate p95 fell from about 33.4 seconds to 4.73 seconds, and spike errors fell to zero. These are meaningful fresh stress-profile gains, but the core p100 and p500 gate remains failed. I therefore call performance mixed, not generally improved.</a:t>
            </a:r>
          </a:p>
          <a:p/>
          <a:p>
            <a:r>
              <a:t>SOURCE: Fresh JMeter baseline/remediation summary.json; current report §4.4.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account-ledger endpoint is a concrete counterexample to a universal speedup claim.</a:t>
            </a:r>
          </a:p>
          <a:p/>
          <a:p>
            <a:r>
              <a:t>SCRIPT:</a:t>
            </a:r>
          </a:p>
          <a:p>
            <a:r>
              <a:t>Under the fresh soak run, account-ledger p95 rose from about 742 to 3,826 milliseconds. Under spike it fell from about 50.3 seconds to 12.9 seconds. The summary report endpoints also improved under spike, but this one endpoint shows why a code mechanism or one workload cannot be generalized to all load conditions.</a:t>
            </a:r>
          </a:p>
          <a:p/>
          <a:p>
            <a:r>
              <a:t>SOURCE: Current report Table 4.4 and Appendix 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application evidence demonstrates the user-visible API path.</a:t>
            </a:r>
          </a:p>
          <a:p/>
          <a:p>
            <a:r>
              <a:t>SCRIPT:</a:t>
            </a:r>
          </a:p>
          <a:p>
            <a:r>
              <a:t>A React client signs in with JWT, shows roles, calls the accounting API, and presents reports and journal-entry lines. The dashboard and expanded journal detail shown here are captured from that workflow. They are not performance measurements, and their live displayed counts should not be confused with the fixed JMeter seed dataset. Other browser views, including auditor restrictions, are in the appendix.</a:t>
            </a:r>
          </a:p>
          <a:p/>
          <a:p>
            <a:r>
              <a:t>SOURCE: Current report §4.6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thesis supports some improvements, not a blanket success claim.</a:t>
            </a:r>
          </a:p>
          <a:p/>
          <a:p>
            <a:r>
              <a:t>SCRIPT:</a:t>
            </a:r>
          </a:p>
          <a:p>
            <a:r>
              <a:t>Code quality met its primary criterion while coverage and cyclomatic complexity had small regressions. ZAP's configured rule gate passed, but the raw HTTP-only Medium remained. JMeter core performance did not meet its gate, though stress aggregates improved. This is one API on one host with one fresh run per branch, so the results are bounded and should be replicated before broader generalization.</a:t>
            </a:r>
          </a:p>
          <a:p/>
          <a:p>
            <a:r>
              <a:t>SOURCE: Current report Table 4.5 and Appendix 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Human review and repeatable tools decide which AI suggestions count.</a:t>
            </a:r>
          </a:p>
          <a:p/>
          <a:p>
            <a:r>
              <a:t>SCRIPT:</a:t>
            </a:r>
          </a:p>
          <a:p>
            <a:r>
              <a:t>My answer is qualified. ChatGPT through Codex 5.4 helped close fresh static issues and pass the configured security gate. The same controlled workflow also showed a failed primary performance result rather than hiding it behind better stress charts. The contribution is a traceable method for asking the model to improve existing code and then allowing independent evidence to accept, limit, or reject the claim. Thank you; I welcome questions.</a:t>
            </a:r>
          </a:p>
          <a:p/>
          <a:p>
            <a:r>
              <a:t>SOURCE: Current report Chapter 5 and Appendices 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evidence map.</a:t>
            </a:r>
          </a:p>
          <a:p/>
          <a:p>
            <a:r>
              <a:t>SCRIPT:</a:t>
            </a:r>
          </a:p>
          <a:p>
            <a:r>
              <a:t>Open this slide only if the committee asks for the underlying records. Read the classification and source line before interpreting the screenshot or table.</a:t>
            </a:r>
          </a:p>
          <a:p/>
          <a:p>
            <a:r>
              <a:t>SOURCE: Current report Appendices A-N and dashboard-capture manifest.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branch provenance.</a:t>
            </a:r>
          </a:p>
          <a:p/>
          <a:p>
            <a:r>
              <a:t>SCRIPT:</a:t>
            </a:r>
          </a:p>
          <a:p>
            <a:r>
              <a:t>Open this slide only if the committee asks for the underlying records. Read the classification and source line before interpreting the screenshot or table.</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SonarQube metrics.</a:t>
            </a:r>
          </a:p>
          <a:p/>
          <a:p>
            <a:r>
              <a:t>SCRIPT:</a:t>
            </a:r>
          </a:p>
          <a:p>
            <a:r>
              <a:t>Open this slide only if the committee asks for the underlying records. Read the classification and source line before interpreting the screenshot or table.</a:t>
            </a:r>
          </a:p>
          <a:p/>
          <a:p>
            <a:r>
              <a:t>SOURCE: Current report Table 4.2; fresh SonarQube summary.json.</a:t>
            </a:r>
          </a:p>
          <a:p>
            <a:r>
              <a:t>CAUTION: * MQR impacts overlap; do not sum them as unique issues.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ZAP outcomes.</a:t>
            </a:r>
          </a:p>
          <a:p/>
          <a:p>
            <a:r>
              <a:t>SCRIPT:</a:t>
            </a:r>
          </a:p>
          <a:p>
            <a:r>
              <a:t>Open this slide only if the committee asks for the underlying records. Read the classification and source line before interpreting the screenshot or table.</a:t>
            </a:r>
          </a:p>
          <a:p/>
          <a:p>
            <a:r>
              <a:t>SOURCE: Current report §4.3 and fresh ZAP summary.json.</a:t>
            </a:r>
          </a:p>
          <a:p>
            <a:r>
              <a:t>CAUTION: Do not infer fresh zero-Medium API outcome from historical March dashboards.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JMeter matrix.</a:t>
            </a:r>
          </a:p>
          <a:p/>
          <a:p>
            <a:r>
              <a:t>SCRIPT:</a:t>
            </a:r>
          </a:p>
          <a:p>
            <a:r>
              <a:t>Open this slide only if the committee asks for the underlying records. Read the classification and source line before interpreting the screenshot or table.</a:t>
            </a:r>
          </a:p>
          <a:p/>
          <a:p>
            <a:r>
              <a:t>SOURCE: Fresh JMeter baseline/remediation summary.json and current report §4.4.</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S107 controller DTO change.</a:t>
            </a:r>
          </a:p>
          <a:p/>
          <a:p>
            <a:r>
              <a:t>SCRIPT:</a:t>
            </a:r>
          </a:p>
          <a:p>
            <a:r>
              <a:t>Open this slide only if the committee asks for the underlying records. Read the classification and source line before interpreting the screenshot or table.</a:t>
            </a:r>
          </a:p>
          <a:p/>
          <a:p>
            <a:r>
              <a:t>SOURCE: Current report Listing E.1, Table 4.3, Appendix 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security and performance source paths.</a:t>
            </a:r>
          </a:p>
          <a:p/>
          <a:p>
            <a:r>
              <a:t>SCRIPT:</a:t>
            </a:r>
          </a:p>
          <a:p>
            <a:r>
              <a:t>Open this slide only if the committee asks for the underlying records. Read the classification and source line before interpreting the screenshot or table.</a:t>
            </a:r>
          </a:p>
          <a:p/>
          <a:p>
            <a:r>
              <a:t>SOURCE: Current report Appendices F and 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authorization and accounting evidence.</a:t>
            </a:r>
          </a:p>
          <a:p/>
          <a:p>
            <a:r>
              <a:t>SCRIPT:</a:t>
            </a:r>
          </a:p>
          <a:p>
            <a:r>
              <a:t>Open this slide only if the committee asks for the underlying records. Read the classification and source line before interpreting the screenshot or table.</a:t>
            </a:r>
          </a:p>
          <a:p/>
          <a:p>
            <a:r>
              <a:t>SOURCE: Current report Appendices C, D, I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overview · baseline vs remediation.</a:t>
            </a:r>
          </a:p>
          <a:p/>
          <a:p>
            <a:r>
              <a:t>SCRIPT:</a:t>
            </a:r>
          </a:p>
          <a:p>
            <a:r>
              <a:t>Open this slide only if the committee asks for the underlying records. Read the classification and source line before interpreting the screenshot or table.</a:t>
            </a:r>
          </a:p>
          <a:p/>
          <a:p>
            <a:r>
              <a:t>SOURCE: Appendix L Figures L.1 and L.3</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issues · baseline vs remediation.</a:t>
            </a:r>
          </a:p>
          <a:p/>
          <a:p>
            <a:r>
              <a:t>SCRIPT:</a:t>
            </a:r>
          </a:p>
          <a:p>
            <a:r>
              <a:t>Open this slide only if the committee asks for the underlying records. Read the classification and source line before interpreting the screenshot or table.</a:t>
            </a:r>
          </a:p>
          <a:p/>
          <a:p>
            <a:r>
              <a:t>SOURCE: Appendix L Figures L.2 and L.4</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ZAP passive scan · historical dashboard capture.</a:t>
            </a:r>
          </a:p>
          <a:p/>
          <a:p>
            <a:r>
              <a:t>SCRIPT:</a:t>
            </a:r>
          </a:p>
          <a:p>
            <a:r>
              <a:t>Open this slide only if the committee asks for the underlying records. Read the classification and source line before interpreting the screenshot or table.</a:t>
            </a:r>
          </a:p>
          <a:p/>
          <a:p>
            <a:r>
              <a:t>SOURCE: Appendix L Figures L.5 and L.6; fresh ZAP summary.json</a:t>
            </a:r>
          </a:p>
          <a:p>
            <a:r>
              <a:t>CAUTION: Capture classification: rendered-historical. Baseline origin/baseline-v0.1 @ 7a0469d9, run 20260222-230133; remediation origin/baseline-zap-v1 @ 5f3bd3cc, run 20260324-000724.</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ZAP authenticated API · historical dashboard capture.</a:t>
            </a:r>
          </a:p>
          <a:p/>
          <a:p>
            <a:r>
              <a:t>SCRIPT:</a:t>
            </a:r>
          </a:p>
          <a:p>
            <a:r>
              <a:t>Open this slide only if the committee asks for the underlying records. Read the classification and source line before interpreting the screenshot or table.</a:t>
            </a:r>
          </a:p>
          <a:p/>
          <a:p>
            <a:r>
              <a:t>SOURCE: Appendix L Figures L.7 and L.8; fresh ZAP summary.json</a:t>
            </a:r>
          </a:p>
          <a:p>
            <a:r>
              <a:t>CAUTION: Capture classification: rendered-historical. Baseline origin/baseline-v0.1 @ 7a0469d9, run 20260222-230133; remediation origin/baseline-zap-v1 @ 5f3bd3cc, run 20260324-000856.</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p50 · baseline vs remediation.</a:t>
            </a:r>
          </a:p>
          <a:p/>
          <a:p>
            <a:r>
              <a:t>SCRIPT:</a:t>
            </a:r>
          </a:p>
          <a:p>
            <a:r>
              <a:t>Open this slide only if the committee asks for the underlying records. Read the classification and source line before interpreting the screenshot or table.</a:t>
            </a:r>
          </a:p>
          <a:p/>
          <a:p>
            <a:r>
              <a:t>SOURCE: Appendix L Figures L.9 and L.14;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p100 · baseline vs remediation.</a:t>
            </a:r>
          </a:p>
          <a:p/>
          <a:p>
            <a:r>
              <a:t>SCRIPT:</a:t>
            </a:r>
          </a:p>
          <a:p>
            <a:r>
              <a:t>Open this slide only if the committee asks for the underlying records. Read the classification and source line before interpreting the screenshot or table.</a:t>
            </a:r>
          </a:p>
          <a:p/>
          <a:p>
            <a:r>
              <a:t>SOURCE: Appendix L Figures L.10 and L.15;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p500 · baseline vs remediation.</a:t>
            </a:r>
          </a:p>
          <a:p/>
          <a:p>
            <a:r>
              <a:t>SCRIPT:</a:t>
            </a:r>
          </a:p>
          <a:p>
            <a:r>
              <a:t>Open this slide only if the committee asks for the underlying records. Read the classification and source line before interpreting the screenshot or table.</a:t>
            </a:r>
          </a:p>
          <a:p/>
          <a:p>
            <a:r>
              <a:t>SOURCE: Appendix L Figures L.11 and L.16;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soak · baseline vs remediation.</a:t>
            </a:r>
          </a:p>
          <a:p/>
          <a:p>
            <a:r>
              <a:t>SCRIPT:</a:t>
            </a:r>
          </a:p>
          <a:p>
            <a:r>
              <a:t>Open this slide only if the committee asks for the underlying records. Read the classification and source line before interpreting the screenshot or table.</a:t>
            </a:r>
          </a:p>
          <a:p/>
          <a:p>
            <a:r>
              <a:t>SOURCE: Appendix L Figures L.12 and L.17;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spike · baseline vs remediation.</a:t>
            </a:r>
          </a:p>
          <a:p/>
          <a:p>
            <a:r>
              <a:t>SCRIPT:</a:t>
            </a:r>
          </a:p>
          <a:p>
            <a:r>
              <a:t>Open this slide only if the committee asks for the underlying records. Read the classification and source line before interpreting the screenshot or table.</a:t>
            </a:r>
          </a:p>
          <a:p/>
          <a:p>
            <a:r>
              <a:t>SOURCE: Appendix L Figures L.13 and L.18;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administration and reporting.</a:t>
            </a:r>
          </a:p>
          <a:p/>
          <a:p>
            <a:r>
              <a:t>SCRIPT:</a:t>
            </a:r>
          </a:p>
          <a:p>
            <a:r>
              <a:t>Open this slide only if the committee asks for the underlying records. Read the classification and source line before interpreting the screenshot or table.</a:t>
            </a:r>
          </a:p>
          <a:p/>
          <a:p>
            <a:r>
              <a:t>SOURCE: Current report Figures 4.2 and 4.3</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audit and role restrictions.</a:t>
            </a:r>
          </a:p>
          <a:p/>
          <a:p>
            <a:r>
              <a:t>SCRIPT:</a:t>
            </a:r>
          </a:p>
          <a:p>
            <a:r>
              <a:t>Open this slide only if the committee asks for the underlying records. Read the classification and source line before interpreting the screenshot or table.</a:t>
            </a:r>
          </a:p>
          <a:p/>
          <a:p>
            <a:r>
              <a:t>SOURCE: Current report Figures 4.4 and 4.5</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evidence and balanced journal lines.</a:t>
            </a:r>
          </a:p>
          <a:p/>
          <a:p>
            <a:r>
              <a:t>SCRIPT:</a:t>
            </a:r>
          </a:p>
          <a:p>
            <a:r>
              <a:t>Open this slide only if the committee asks for the underlying records. Read the classification and source line before interpreting the screenshot or table.</a:t>
            </a:r>
          </a:p>
          <a:p/>
          <a:p>
            <a:r>
              <a:t>SOURCE: Current report Figures 4.6 and 4.7</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1.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6.png"/><Relationship Id="rId4"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02920"/>
            <a:ext cx="10789920" cy="292608"/>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0F676D"/>
                </a:solidFill>
                <a:latin typeface="Arial"/>
              </a:rPr>
              <a:t>FINAL THESIS DEFENSE</a:t>
            </a:r>
          </a:p>
        </p:txBody>
      </p:sp>
      <p:sp>
        <p:nvSpPr>
          <p:cNvPr id="4" name="TextBox 3"/>
          <p:cNvSpPr txBox="1"/>
          <p:nvPr/>
        </p:nvSpPr>
        <p:spPr>
          <a:xfrm>
            <a:off x="658368" y="1115568"/>
            <a:ext cx="10771632" cy="1920240"/>
          </a:xfrm>
          <a:prstGeom prst="rect">
            <a:avLst/>
          </a:prstGeom>
          <a:noFill/>
        </p:spPr>
        <p:txBody>
          <a:bodyPr wrap="square" lIns="18288" rIns="18288" tIns="18288" bIns="18288" anchor="t">
            <a:spAutoFit/>
          </a:bodyPr>
          <a:lstStyle/>
          <a:p>
            <a:pPr algn="l">
              <a:spcBef>
                <a:spcPts val="0"/>
              </a:spcBef>
              <a:spcAft>
                <a:spcPts val="0"/>
              </a:spcAft>
            </a:pPr>
            <a:r>
              <a:rPr sz="3100" b="1">
                <a:solidFill>
                  <a:srgbClr val="252B33"/>
                </a:solidFill>
                <a:latin typeface="Arial"/>
              </a:rPr>
              <a:t>Evaluating ChatGPT for Security, Performance, and Code-Quality Improvement of a Financial Accounting REST API: A Branch-Isolated Baseline Study</a:t>
            </a:r>
          </a:p>
        </p:txBody>
      </p:sp>
      <p:cxnSp>
        <p:nvCxnSpPr>
          <p:cNvPr id="5" name="Connector 4"/>
          <p:cNvCxnSpPr/>
          <p:nvPr/>
        </p:nvCxnSpPr>
        <p:spPr>
          <a:xfrm>
            <a:off x="658368" y="3246120"/>
            <a:ext cx="10789920" cy="0"/>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3593592"/>
            <a:ext cx="8686800" cy="41148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252B33"/>
                </a:solidFill>
                <a:latin typeface="Arial"/>
              </a:rPr>
              <a:t>Zaw Ye Htut Ko  |  G6519692</a:t>
            </a:r>
          </a:p>
        </p:txBody>
      </p:sp>
      <p:sp>
        <p:nvSpPr>
          <p:cNvPr id="7" name="TextBox 6"/>
          <p:cNvSpPr txBox="1"/>
          <p:nvPr/>
        </p:nvSpPr>
        <p:spPr>
          <a:xfrm>
            <a:off x="658368" y="4133087"/>
            <a:ext cx="10332720" cy="32004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Master of Science in Information Technology  |  Assumption University</a:t>
            </a:r>
          </a:p>
        </p:txBody>
      </p:sp>
      <p:sp>
        <p:nvSpPr>
          <p:cNvPr id="8" name="TextBox 7"/>
          <p:cNvSpPr txBox="1"/>
          <p:nvPr/>
        </p:nvSpPr>
        <p:spPr>
          <a:xfrm>
            <a:off x="658368" y="4617720"/>
            <a:ext cx="9966960" cy="310896"/>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Advisor: Asst. Prof. Dr. Darun Kesrarat</a:t>
            </a:r>
          </a:p>
        </p:txBody>
      </p:sp>
      <p:sp>
        <p:nvSpPr>
          <p:cNvPr id="9" name="Rounded Rectangle 8"/>
          <p:cNvSpPr/>
          <p:nvPr/>
        </p:nvSpPr>
        <p:spPr>
          <a:xfrm>
            <a:off x="658368" y="5669280"/>
            <a:ext cx="10771632" cy="603504"/>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760720"/>
            <a:ext cx="10332720" cy="39319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0F676D"/>
                </a:solidFill>
                <a:latin typeface="Arial"/>
              </a:rPr>
              <a:t>One existing API · one shared baseline · three independent measurements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OPENING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fresh evidence is mixed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§4.5; Table 4.5; Appendix M</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a:t>
            </a:r>
          </a:p>
        </p:txBody>
      </p:sp>
      <p:sp>
        <p:nvSpPr>
          <p:cNvPr id="9" name="Rounded Rectangle 8"/>
          <p:cNvSpPr/>
          <p:nvPr/>
        </p:nvSpPr>
        <p:spPr>
          <a:xfrm>
            <a:off x="713232" y="1426464"/>
            <a:ext cx="3456432"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STATIC QUALITY</a:t>
            </a:r>
          </a:p>
        </p:txBody>
      </p:sp>
      <p:sp>
        <p:nvSpPr>
          <p:cNvPr id="11" name="TextBox 10"/>
          <p:cNvSpPr txBox="1"/>
          <p:nvPr/>
        </p:nvSpPr>
        <p:spPr>
          <a:xfrm>
            <a:off x="877824"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17 to 0</a:t>
            </a:r>
          </a:p>
        </p:txBody>
      </p:sp>
      <p:sp>
        <p:nvSpPr>
          <p:cNvPr id="12" name="TextBox 11"/>
          <p:cNvSpPr txBox="1"/>
          <p:nvPr/>
        </p:nvSpPr>
        <p:spPr>
          <a:xfrm>
            <a:off x="877824"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Unique SonarQube issues</a:t>
            </a:r>
          </a:p>
        </p:txBody>
      </p:sp>
      <p:sp>
        <p:nvSpPr>
          <p:cNvPr id="13" name="Rounded Rectangle 12"/>
          <p:cNvSpPr/>
          <p:nvPr/>
        </p:nvSpPr>
        <p:spPr>
          <a:xfrm>
            <a:off x="4370832" y="1426464"/>
            <a:ext cx="3456432"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SECURITY</a:t>
            </a:r>
          </a:p>
        </p:txBody>
      </p:sp>
      <p:sp>
        <p:nvSpPr>
          <p:cNvPr id="15" name="TextBox 14"/>
          <p:cNvSpPr txBox="1"/>
          <p:nvPr/>
        </p:nvSpPr>
        <p:spPr>
          <a:xfrm>
            <a:off x="4535424"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Gate PASS</a:t>
            </a:r>
          </a:p>
        </p:txBody>
      </p:sp>
      <p:sp>
        <p:nvSpPr>
          <p:cNvPr id="16" name="TextBox 15"/>
          <p:cNvSpPr txBox="1"/>
          <p:nvPr/>
        </p:nvSpPr>
        <p:spPr>
          <a:xfrm>
            <a:off x="4535424"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One raw API Medium remains</a:t>
            </a:r>
          </a:p>
        </p:txBody>
      </p:sp>
      <p:sp>
        <p:nvSpPr>
          <p:cNvPr id="17" name="Rounded Rectangle 16"/>
          <p:cNvSpPr/>
          <p:nvPr/>
        </p:nvSpPr>
        <p:spPr>
          <a:xfrm>
            <a:off x="8028431" y="1426464"/>
            <a:ext cx="3456432" cy="1115568"/>
          </a:xfrm>
          <a:prstGeom prst="roundRect">
            <a:avLst/>
          </a:prstGeom>
          <a:solidFill>
            <a:srgbClr val="FDEFF0"/>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3"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PERFORMANCE</a:t>
            </a:r>
          </a:p>
        </p:txBody>
      </p:sp>
      <p:sp>
        <p:nvSpPr>
          <p:cNvPr id="19" name="TextBox 18"/>
          <p:cNvSpPr txBox="1"/>
          <p:nvPr/>
        </p:nvSpPr>
        <p:spPr>
          <a:xfrm>
            <a:off x="8193023"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3373D"/>
                </a:solidFill>
                <a:latin typeface="Arial"/>
              </a:rPr>
              <a:t>Core FAIL</a:t>
            </a:r>
          </a:p>
        </p:txBody>
      </p:sp>
      <p:sp>
        <p:nvSpPr>
          <p:cNvPr id="20" name="TextBox 19"/>
          <p:cNvSpPr txBox="1"/>
          <p:nvPr/>
        </p:nvSpPr>
        <p:spPr>
          <a:xfrm>
            <a:off x="8193023"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p100 and p500 exceed limits</a:t>
            </a:r>
          </a:p>
        </p:txBody>
      </p:sp>
      <p:sp>
        <p:nvSpPr>
          <p:cNvPr id="21" name="Rounded Rectangle 20"/>
          <p:cNvSpPr/>
          <p:nvPr/>
        </p:nvSpPr>
        <p:spPr>
          <a:xfrm>
            <a:off x="713232" y="2999232"/>
            <a:ext cx="10771632" cy="24140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3310128"/>
            <a:ext cx="9966960" cy="329184"/>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0F676D"/>
                </a:solidFill>
                <a:latin typeface="Arial"/>
              </a:rPr>
              <a:t>Defensible conclusion</a:t>
            </a:r>
          </a:p>
        </p:txBody>
      </p:sp>
      <p:sp>
        <p:nvSpPr>
          <p:cNvPr id="23" name="TextBox 22"/>
          <p:cNvSpPr txBox="1"/>
          <p:nvPr/>
        </p:nvSpPr>
        <p:spPr>
          <a:xfrm>
            <a:off x="960120" y="3749039"/>
            <a:ext cx="9966960" cy="1188720"/>
          </a:xfrm>
          <a:prstGeom prst="rect">
            <a:avLst/>
          </a:prstGeom>
          <a:noFill/>
        </p:spPr>
        <p:txBody>
          <a:bodyPr wrap="square" lIns="18288" rIns="18288" tIns="18288" bIns="18288" anchor="ctr">
            <a:spAutoFit/>
          </a:bodyPr>
          <a:lstStyle/>
          <a:p>
            <a:pPr algn="l">
              <a:spcBef>
                <a:spcPts val="0"/>
              </a:spcBef>
              <a:spcAft>
                <a:spcPts val="0"/>
              </a:spcAft>
            </a:pPr>
            <a:r>
              <a:rPr sz="2300" b="0">
                <a:solidFill>
                  <a:srgbClr val="252B33"/>
                </a:solidFill>
                <a:latin typeface="Arial"/>
              </a:rPr>
              <a:t>ChatGPT-guided remediation closed the fresh static issues and passed the configured ZAP gate. It did not meet the primary JMeter core performance gate, despite better soak and spike aggregates.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financial API has three different risks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§§1.1-1.4 and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a:t>
            </a:r>
          </a:p>
        </p:txBody>
      </p:sp>
      <p:sp>
        <p:nvSpPr>
          <p:cNvPr id="9" name="Rounded Rectangle 8"/>
          <p:cNvSpPr/>
          <p:nvPr/>
        </p:nvSpPr>
        <p:spPr>
          <a:xfrm>
            <a:off x="713232" y="1572768"/>
            <a:ext cx="3456432" cy="3337560"/>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72768"/>
            <a:ext cx="91440" cy="333756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0F676D"/>
                </a:solidFill>
                <a:latin typeface="Arial"/>
              </a:rPr>
              <a:t>Maintainability</a:t>
            </a:r>
          </a:p>
        </p:txBody>
      </p:sp>
      <p:sp>
        <p:nvSpPr>
          <p:cNvPr id="12" name="TextBox 11"/>
          <p:cNvSpPr txBox="1"/>
          <p:nvPr/>
        </p:nvSpPr>
        <p:spPr>
          <a:xfrm>
            <a:off x="9418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Code smells, complex controller signatures, and repeated logic</a:t>
            </a:r>
          </a:p>
        </p:txBody>
      </p:sp>
      <p:sp>
        <p:nvSpPr>
          <p:cNvPr id="13" name="Rounded Rectangle 12"/>
          <p:cNvSpPr/>
          <p:nvPr/>
        </p:nvSpPr>
        <p:spPr>
          <a:xfrm>
            <a:off x="4370832" y="1572768"/>
            <a:ext cx="3456432" cy="3337560"/>
          </a:xfrm>
          <a:prstGeom prst="roundRect">
            <a:avLst/>
          </a:prstGeom>
          <a:solidFill>
            <a:srgbClr val="FDEFF0"/>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0832" y="1572768"/>
            <a:ext cx="91440" cy="333756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94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Security</a:t>
            </a:r>
          </a:p>
        </p:txBody>
      </p:sp>
      <p:sp>
        <p:nvSpPr>
          <p:cNvPr id="16" name="TextBox 15"/>
          <p:cNvSpPr txBox="1"/>
          <p:nvPr/>
        </p:nvSpPr>
        <p:spPr>
          <a:xfrm>
            <a:off x="45994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Headers, authorization boundaries, and scanner observations</a:t>
            </a:r>
          </a:p>
        </p:txBody>
      </p:sp>
      <p:sp>
        <p:nvSpPr>
          <p:cNvPr id="17" name="Rounded Rectangle 16"/>
          <p:cNvSpPr/>
          <p:nvPr/>
        </p:nvSpPr>
        <p:spPr>
          <a:xfrm>
            <a:off x="8028431" y="1572768"/>
            <a:ext cx="3456432" cy="3337560"/>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28431" y="1572768"/>
            <a:ext cx="91440" cy="333756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1"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E7414"/>
                </a:solidFill>
                <a:latin typeface="Arial"/>
              </a:rPr>
              <a:t>Performance</a:t>
            </a:r>
          </a:p>
        </p:txBody>
      </p:sp>
      <p:sp>
        <p:nvSpPr>
          <p:cNvPr id="20" name="TextBox 19"/>
          <p:cNvSpPr txBox="1"/>
          <p:nvPr/>
        </p:nvSpPr>
        <p:spPr>
          <a:xfrm>
            <a:off x="8257031"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Tail latency, throughput, errors, and sustained load</a:t>
            </a:r>
          </a:p>
        </p:txBody>
      </p:sp>
      <p:sp>
        <p:nvSpPr>
          <p:cNvPr id="21" name="TextBox 20"/>
          <p:cNvSpPr txBox="1"/>
          <p:nvPr/>
        </p:nvSpPr>
        <p:spPr>
          <a:xfrm>
            <a:off x="713232" y="5340096"/>
            <a:ext cx="10789920" cy="50292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No one scanner can stand in for all three dimensions.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Three questions, three independent answers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§1.5 and Table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a:t>
            </a:r>
          </a:p>
        </p:txBody>
      </p:sp>
      <p:sp>
        <p:nvSpPr>
          <p:cNvPr id="9" name="Rounded Rectangle 8"/>
          <p:cNvSpPr/>
          <p:nvPr/>
        </p:nvSpPr>
        <p:spPr>
          <a:xfrm>
            <a:off x="731520" y="1408176"/>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408176"/>
            <a:ext cx="1188720" cy="1216152"/>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1773936"/>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RQ1</a:t>
            </a:r>
          </a:p>
        </p:txBody>
      </p:sp>
      <p:sp>
        <p:nvSpPr>
          <p:cNvPr id="12" name="TextBox 11"/>
          <p:cNvSpPr txBox="1"/>
          <p:nvPr/>
        </p:nvSpPr>
        <p:spPr>
          <a:xfrm>
            <a:off x="2176272" y="1627632"/>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static issues be closed without material control-metric regression?</a:t>
            </a:r>
          </a:p>
        </p:txBody>
      </p:sp>
      <p:sp>
        <p:nvSpPr>
          <p:cNvPr id="13" name="Rounded Rectangle 12"/>
          <p:cNvSpPr/>
          <p:nvPr/>
        </p:nvSpPr>
        <p:spPr>
          <a:xfrm>
            <a:off x="731520" y="2889504"/>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889504"/>
            <a:ext cx="1188720" cy="1216152"/>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3255264"/>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RQ2</a:t>
            </a:r>
          </a:p>
        </p:txBody>
      </p:sp>
      <p:sp>
        <p:nvSpPr>
          <p:cNvPr id="16" name="TextBox 15"/>
          <p:cNvSpPr txBox="1"/>
          <p:nvPr/>
        </p:nvSpPr>
        <p:spPr>
          <a:xfrm>
            <a:off x="2176272" y="3108960"/>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configured security alerts be cleared and residual raw alerts disclosed?</a:t>
            </a:r>
          </a:p>
        </p:txBody>
      </p:sp>
      <p:sp>
        <p:nvSpPr>
          <p:cNvPr id="17" name="Rounded Rectangle 16"/>
          <p:cNvSpPr/>
          <p:nvPr/>
        </p:nvSpPr>
        <p:spPr>
          <a:xfrm>
            <a:off x="731520" y="4370832"/>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370832"/>
            <a:ext cx="1188720" cy="1216152"/>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 y="4736592"/>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RQ3</a:t>
            </a:r>
          </a:p>
        </p:txBody>
      </p:sp>
      <p:sp>
        <p:nvSpPr>
          <p:cNvPr id="20" name="TextBox 19"/>
          <p:cNvSpPr txBox="1"/>
          <p:nvPr/>
        </p:nvSpPr>
        <p:spPr>
          <a:xfrm>
            <a:off x="2176272" y="4590288"/>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latency targets pass under core load as well as stress profiles?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unit of analysis is an existing accounting API</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§§3.1-3.2; Table 3.3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5</a:t>
            </a:r>
          </a:p>
        </p:txBody>
      </p:sp>
      <p:sp>
        <p:nvSpPr>
          <p:cNvPr id="9" name="Rounded Rectangle 8"/>
          <p:cNvSpPr/>
          <p:nvPr/>
        </p:nvSpPr>
        <p:spPr>
          <a:xfrm>
            <a:off x="731520" y="1417320"/>
            <a:ext cx="3749039" cy="4416552"/>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719072"/>
            <a:ext cx="3218688" cy="457200"/>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24466C"/>
                </a:solidFill>
                <a:latin typeface="Arial"/>
              </a:rPr>
              <a:t>ASP.NET Core 8</a:t>
            </a:r>
          </a:p>
        </p:txBody>
      </p:sp>
      <p:sp>
        <p:nvSpPr>
          <p:cNvPr id="11" name="TextBox 10"/>
          <p:cNvSpPr txBox="1"/>
          <p:nvPr/>
        </p:nvSpPr>
        <p:spPr>
          <a:xfrm>
            <a:off x="996696" y="2386584"/>
            <a:ext cx="3218688" cy="241401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SQL Server financial database
JWT authentication · RBAC
Double-entry posting · audit log</a:t>
            </a:r>
          </a:p>
        </p:txBody>
      </p:sp>
      <p:sp>
        <p:nvSpPr>
          <p:cNvPr id="12" name="TextBox 11"/>
          <p:cNvSpPr txBox="1"/>
          <p:nvPr/>
        </p:nvSpPr>
        <p:spPr>
          <a:xfrm>
            <a:off x="996696" y="5129784"/>
            <a:ext cx="3182112" cy="438912"/>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Arial"/>
              </a:rPr>
              <a:t>Four roles: Admin, FinanceManager, User, Auditor</a:t>
            </a:r>
          </a:p>
        </p:txBody>
      </p:sp>
      <p:sp>
        <p:nvSpPr>
          <p:cNvPr id="13" name="Rounded Rectangle 12"/>
          <p:cNvSpPr/>
          <p:nvPr/>
        </p:nvSpPr>
        <p:spPr>
          <a:xfrm>
            <a:off x="4681728" y="1417320"/>
            <a:ext cx="6766560" cy="44165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46904" y="1700784"/>
            <a:ext cx="6245352"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Endpoint groups exercised</a:t>
            </a:r>
          </a:p>
        </p:txBody>
      </p:sp>
      <p:sp>
        <p:nvSpPr>
          <p:cNvPr id="15" name="Rounded Rectangle 14"/>
          <p:cNvSpPr/>
          <p:nvPr/>
        </p:nvSpPr>
        <p:spPr>
          <a:xfrm>
            <a:off x="4956048" y="237744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12080" y="2267712"/>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Authentication and users</a:t>
            </a:r>
          </a:p>
        </p:txBody>
      </p:sp>
      <p:sp>
        <p:nvSpPr>
          <p:cNvPr id="17" name="Rounded Rectangle 16"/>
          <p:cNvSpPr/>
          <p:nvPr/>
        </p:nvSpPr>
        <p:spPr>
          <a:xfrm>
            <a:off x="4956048" y="301752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12080" y="2907791"/>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Accounts and periods</a:t>
            </a:r>
          </a:p>
        </p:txBody>
      </p:sp>
      <p:sp>
        <p:nvSpPr>
          <p:cNvPr id="19" name="Rounded Rectangle 18"/>
          <p:cNvSpPr/>
          <p:nvPr/>
        </p:nvSpPr>
        <p:spPr>
          <a:xfrm>
            <a:off x="4956048" y="365760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12080" y="3547872"/>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Journal entries and bulk posting</a:t>
            </a:r>
          </a:p>
        </p:txBody>
      </p:sp>
      <p:sp>
        <p:nvSpPr>
          <p:cNvPr id="21" name="Rounded Rectangle 20"/>
          <p:cNvSpPr/>
          <p:nvPr/>
        </p:nvSpPr>
        <p:spPr>
          <a:xfrm>
            <a:off x="4956048" y="429768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12080" y="4187952"/>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Financial reports</a:t>
            </a:r>
          </a:p>
        </p:txBody>
      </p:sp>
      <p:sp>
        <p:nvSpPr>
          <p:cNvPr id="23" name="Rounded Rectangle 22"/>
          <p:cNvSpPr/>
          <p:nvPr/>
        </p:nvSpPr>
        <p:spPr>
          <a:xfrm>
            <a:off x="4956048" y="4937759"/>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12080" y="4828031"/>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Audit logs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Every remediation branch starts from one baseline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3.1 and Appendix A</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6</a:t>
            </a:r>
          </a:p>
        </p:txBody>
      </p:sp>
      <p:sp>
        <p:nvSpPr>
          <p:cNvPr id="9" name="Rounded Rectangle 8"/>
          <p:cNvSpPr/>
          <p:nvPr/>
        </p:nvSpPr>
        <p:spPr>
          <a:xfrm>
            <a:off x="4251960" y="1325880"/>
            <a:ext cx="3685032"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6552" y="1435607"/>
            <a:ext cx="33558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COMMON STARTING POINT</a:t>
            </a:r>
          </a:p>
        </p:txBody>
      </p:sp>
      <p:sp>
        <p:nvSpPr>
          <p:cNvPr id="11" name="TextBox 10"/>
          <p:cNvSpPr txBox="1"/>
          <p:nvPr/>
        </p:nvSpPr>
        <p:spPr>
          <a:xfrm>
            <a:off x="4416552" y="1682495"/>
            <a:ext cx="33558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baseline-v0.1</a:t>
            </a:r>
          </a:p>
        </p:txBody>
      </p:sp>
      <p:sp>
        <p:nvSpPr>
          <p:cNvPr id="12" name="TextBox 11"/>
          <p:cNvSpPr txBox="1"/>
          <p:nvPr/>
        </p:nvSpPr>
        <p:spPr>
          <a:xfrm>
            <a:off x="4416552" y="2176272"/>
            <a:ext cx="33558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commit 7a0469d9</a:t>
            </a:r>
          </a:p>
        </p:txBody>
      </p:sp>
      <p:cxnSp>
        <p:nvCxnSpPr>
          <p:cNvPr id="13" name="Connector 12"/>
          <p:cNvCxnSpPr/>
          <p:nvPr/>
        </p:nvCxnSpPr>
        <p:spPr>
          <a:xfrm flipH="1">
            <a:off x="2468880" y="2450592"/>
            <a:ext cx="3630168" cy="566928"/>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31520"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054096"/>
            <a:ext cx="91440" cy="192024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SonarQube</a:t>
            </a:r>
          </a:p>
        </p:txBody>
      </p:sp>
      <p:sp>
        <p:nvSpPr>
          <p:cNvPr id="17" name="TextBox 16"/>
          <p:cNvSpPr txBox="1"/>
          <p:nvPr/>
        </p:nvSpPr>
        <p:spPr>
          <a:xfrm>
            <a:off x="932688"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baseline-sonarqube-v1</a:t>
            </a:r>
          </a:p>
        </p:txBody>
      </p:sp>
      <p:sp>
        <p:nvSpPr>
          <p:cNvPr id="18" name="TextBox 17"/>
          <p:cNvSpPr txBox="1"/>
          <p:nvPr/>
        </p:nvSpPr>
        <p:spPr>
          <a:xfrm>
            <a:off x="932688"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Tested commit a2279bcb</a:t>
            </a:r>
          </a:p>
        </p:txBody>
      </p:sp>
      <p:cxnSp>
        <p:nvCxnSpPr>
          <p:cNvPr id="19" name="Connector 18"/>
          <p:cNvCxnSpPr/>
          <p:nvPr/>
        </p:nvCxnSpPr>
        <p:spPr>
          <a:xfrm>
            <a:off x="6099048" y="2450592"/>
            <a:ext cx="9144" cy="566928"/>
          </a:xfrm>
          <a:prstGeom prst="line">
            <a:avLst/>
          </a:prstGeom>
          <a:ln w="25400">
            <a:solidFill>
              <a:srgbClr val="B3373D"/>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370832"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70832" y="3054096"/>
            <a:ext cx="91440" cy="192024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OWASP ZAP</a:t>
            </a:r>
          </a:p>
        </p:txBody>
      </p:sp>
      <p:sp>
        <p:nvSpPr>
          <p:cNvPr id="23" name="TextBox 22"/>
          <p:cNvSpPr txBox="1"/>
          <p:nvPr/>
        </p:nvSpPr>
        <p:spPr>
          <a:xfrm>
            <a:off x="4572000"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baseline-zap-v1</a:t>
            </a:r>
          </a:p>
        </p:txBody>
      </p:sp>
      <p:sp>
        <p:nvSpPr>
          <p:cNvPr id="24" name="TextBox 23"/>
          <p:cNvSpPr txBox="1"/>
          <p:nvPr/>
        </p:nvSpPr>
        <p:spPr>
          <a:xfrm>
            <a:off x="4572000"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Tested commit 5f3bd3cc</a:t>
            </a:r>
          </a:p>
        </p:txBody>
      </p:sp>
      <p:cxnSp>
        <p:nvCxnSpPr>
          <p:cNvPr id="25" name="Connector 24"/>
          <p:cNvCxnSpPr/>
          <p:nvPr/>
        </p:nvCxnSpPr>
        <p:spPr>
          <a:xfrm>
            <a:off x="6099048" y="2450592"/>
            <a:ext cx="3648456" cy="566928"/>
          </a:xfrm>
          <a:prstGeom prst="line">
            <a:avLst/>
          </a:prstGeom>
          <a:ln w="25400">
            <a:solidFill>
              <a:srgbClr val="BE7414"/>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010144"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10144" y="3054096"/>
            <a:ext cx="91440" cy="192024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11312"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E7414"/>
                </a:solidFill>
                <a:latin typeface="Arial"/>
              </a:rPr>
              <a:t>JMeter</a:t>
            </a:r>
          </a:p>
        </p:txBody>
      </p:sp>
      <p:sp>
        <p:nvSpPr>
          <p:cNvPr id="29" name="TextBox 28"/>
          <p:cNvSpPr txBox="1"/>
          <p:nvPr/>
        </p:nvSpPr>
        <p:spPr>
          <a:xfrm>
            <a:off x="8211312"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baseline-jmeter-v1</a:t>
            </a:r>
          </a:p>
        </p:txBody>
      </p:sp>
      <p:sp>
        <p:nvSpPr>
          <p:cNvPr id="30" name="TextBox 29"/>
          <p:cNvSpPr txBox="1"/>
          <p:nvPr/>
        </p:nvSpPr>
        <p:spPr>
          <a:xfrm>
            <a:off x="8211312"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Tested commit 78b08b62</a:t>
            </a:r>
          </a:p>
        </p:txBody>
      </p:sp>
      <p:sp>
        <p:nvSpPr>
          <p:cNvPr id="31" name="TextBox 30"/>
          <p:cNvSpPr txBox="1"/>
          <p:nvPr/>
        </p:nvSpPr>
        <p:spPr>
          <a:xfrm>
            <a:off x="731520" y="5449824"/>
            <a:ext cx="10789920" cy="45720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Compare one tool branch at a time; do not combine their deltas into one causal claim.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Four phases turn suggestions into evidence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§3.1.1; Figures 3.1-3.4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7</a:t>
            </a:r>
          </a:p>
        </p:txBody>
      </p:sp>
      <p:sp>
        <p:nvSpPr>
          <p:cNvPr id="9" name="Rounded Rectangle 8"/>
          <p:cNvSpPr/>
          <p:nvPr/>
        </p:nvSpPr>
        <p:spPr>
          <a:xfrm>
            <a:off x="694944"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01</a:t>
            </a:r>
          </a:p>
        </p:txBody>
      </p:sp>
      <p:sp>
        <p:nvSpPr>
          <p:cNvPr id="11" name="TextBox 10"/>
          <p:cNvSpPr txBox="1"/>
          <p:nvPr/>
        </p:nvSpPr>
        <p:spPr>
          <a:xfrm>
            <a:off x="877824"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Capture baseline</a:t>
            </a:r>
          </a:p>
        </p:txBody>
      </p:sp>
      <p:sp>
        <p:nvSpPr>
          <p:cNvPr id="12" name="TextBox 11"/>
          <p:cNvSpPr txBox="1"/>
          <p:nvPr/>
        </p:nvSpPr>
        <p:spPr>
          <a:xfrm>
            <a:off x="877824"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Freeze code, dataset, and raw tool output</a:t>
            </a:r>
          </a:p>
        </p:txBody>
      </p:sp>
      <p:sp>
        <p:nvSpPr>
          <p:cNvPr id="13" name="Rounded Rectangle 12"/>
          <p:cNvSpPr/>
          <p:nvPr/>
        </p:nvSpPr>
        <p:spPr>
          <a:xfrm>
            <a:off x="3557015"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39896"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02</a:t>
            </a:r>
          </a:p>
        </p:txBody>
      </p:sp>
      <p:sp>
        <p:nvSpPr>
          <p:cNvPr id="15" name="TextBox 14"/>
          <p:cNvSpPr txBox="1"/>
          <p:nvPr/>
        </p:nvSpPr>
        <p:spPr>
          <a:xfrm>
            <a:off x="3739896"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Propose bounded fix</a:t>
            </a:r>
          </a:p>
        </p:txBody>
      </p:sp>
      <p:sp>
        <p:nvSpPr>
          <p:cNvPr id="16" name="TextBox 15"/>
          <p:cNvSpPr txBox="1"/>
          <p:nvPr/>
        </p:nvSpPr>
        <p:spPr>
          <a:xfrm>
            <a:off x="3739896"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Give Codex the finding, source context, and constraints</a:t>
            </a:r>
          </a:p>
        </p:txBody>
      </p:sp>
      <p:sp>
        <p:nvSpPr>
          <p:cNvPr id="17" name="Rounded Rectangle 16"/>
          <p:cNvSpPr/>
          <p:nvPr/>
        </p:nvSpPr>
        <p:spPr>
          <a:xfrm>
            <a:off x="6419088"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01968"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03</a:t>
            </a:r>
          </a:p>
        </p:txBody>
      </p:sp>
      <p:sp>
        <p:nvSpPr>
          <p:cNvPr id="19" name="TextBox 18"/>
          <p:cNvSpPr txBox="1"/>
          <p:nvPr/>
        </p:nvSpPr>
        <p:spPr>
          <a:xfrm>
            <a:off x="6601968"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Review and re-test</a:t>
            </a:r>
          </a:p>
        </p:txBody>
      </p:sp>
      <p:sp>
        <p:nvSpPr>
          <p:cNvPr id="20" name="TextBox 19"/>
          <p:cNvSpPr txBox="1"/>
          <p:nvPr/>
        </p:nvSpPr>
        <p:spPr>
          <a:xfrm>
            <a:off x="6601968"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Human review, focused tests, same tool rerun</a:t>
            </a:r>
          </a:p>
        </p:txBody>
      </p:sp>
      <p:sp>
        <p:nvSpPr>
          <p:cNvPr id="21" name="Rounded Rectangle 20"/>
          <p:cNvSpPr/>
          <p:nvPr/>
        </p:nvSpPr>
        <p:spPr>
          <a:xfrm>
            <a:off x="9281160"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64040"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04</a:t>
            </a:r>
          </a:p>
        </p:txBody>
      </p:sp>
      <p:sp>
        <p:nvSpPr>
          <p:cNvPr id="23" name="TextBox 22"/>
          <p:cNvSpPr txBox="1"/>
          <p:nvPr/>
        </p:nvSpPr>
        <p:spPr>
          <a:xfrm>
            <a:off x="9464040"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Compare and report</a:t>
            </a:r>
          </a:p>
        </p:txBody>
      </p:sp>
      <p:sp>
        <p:nvSpPr>
          <p:cNvPr id="24" name="TextBox 23"/>
          <p:cNvSpPr txBox="1"/>
          <p:nvPr/>
        </p:nvSpPr>
        <p:spPr>
          <a:xfrm>
            <a:off x="9464040"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Apply gates; disclose residuals and failures</a:t>
            </a:r>
          </a:p>
        </p:txBody>
      </p:sp>
      <p:sp>
        <p:nvSpPr>
          <p:cNvPr id="25" name="TextBox 24"/>
          <p:cNvSpPr txBox="1"/>
          <p:nvPr/>
        </p:nvSpPr>
        <p:spPr>
          <a:xfrm>
            <a:off x="713232" y="5468112"/>
            <a:ext cx="10789920" cy="45720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0F676D"/>
                </a:solidFill>
                <a:latin typeface="Arial"/>
              </a:rPr>
              <a:t>The model does not approve its own output.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controlled environment and a seeded dataset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Tables 3.2 and 3.11; Appendix H</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8</a:t>
            </a:r>
          </a:p>
        </p:txBody>
      </p:sp>
      <p:sp>
        <p:nvSpPr>
          <p:cNvPr id="9" name="Rounded Rectangle 8"/>
          <p:cNvSpPr/>
          <p:nvPr/>
        </p:nvSpPr>
        <p:spPr>
          <a:xfrm>
            <a:off x="7132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ACCOUNTS</a:t>
            </a:r>
          </a:p>
        </p:txBody>
      </p:sp>
      <p:sp>
        <p:nvSpPr>
          <p:cNvPr id="11" name="TextBox 10"/>
          <p:cNvSpPr txBox="1"/>
          <p:nvPr/>
        </p:nvSpPr>
        <p:spPr>
          <a:xfrm>
            <a:off x="8778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120</a:t>
            </a:r>
          </a:p>
        </p:txBody>
      </p:sp>
      <p:sp>
        <p:nvSpPr>
          <p:cNvPr id="12" name="TextBox 11"/>
          <p:cNvSpPr txBox="1"/>
          <p:nvPr/>
        </p:nvSpPr>
        <p:spPr>
          <a:xfrm>
            <a:off x="8778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Deterministic seed</a:t>
            </a:r>
          </a:p>
        </p:txBody>
      </p:sp>
      <p:sp>
        <p:nvSpPr>
          <p:cNvPr id="13" name="Rounded Rectangle 12"/>
          <p:cNvSpPr/>
          <p:nvPr/>
        </p:nvSpPr>
        <p:spPr>
          <a:xfrm>
            <a:off x="43708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JOURNAL ENTRIES</a:t>
            </a:r>
          </a:p>
        </p:txBody>
      </p:sp>
      <p:sp>
        <p:nvSpPr>
          <p:cNvPr id="15" name="TextBox 14"/>
          <p:cNvSpPr txBox="1"/>
          <p:nvPr/>
        </p:nvSpPr>
        <p:spPr>
          <a:xfrm>
            <a:off x="45354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30,000</a:t>
            </a:r>
          </a:p>
        </p:txBody>
      </p:sp>
      <p:sp>
        <p:nvSpPr>
          <p:cNvPr id="16" name="TextBox 15"/>
          <p:cNvSpPr txBox="1"/>
          <p:nvPr/>
        </p:nvSpPr>
        <p:spPr>
          <a:xfrm>
            <a:off x="45354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At least 5,000 posted</a:t>
            </a:r>
          </a:p>
        </p:txBody>
      </p:sp>
      <p:sp>
        <p:nvSpPr>
          <p:cNvPr id="17" name="Rounded Rectangle 16"/>
          <p:cNvSpPr/>
          <p:nvPr/>
        </p:nvSpPr>
        <p:spPr>
          <a:xfrm>
            <a:off x="8028431"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3"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TEST HOST</a:t>
            </a:r>
          </a:p>
        </p:txBody>
      </p:sp>
      <p:sp>
        <p:nvSpPr>
          <p:cNvPr id="19" name="TextBox 18"/>
          <p:cNvSpPr txBox="1"/>
          <p:nvPr/>
        </p:nvSpPr>
        <p:spPr>
          <a:xfrm>
            <a:off x="8193023"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Windows 11</a:t>
            </a:r>
          </a:p>
        </p:txBody>
      </p:sp>
      <p:sp>
        <p:nvSpPr>
          <p:cNvPr id="20" name="TextBox 19"/>
          <p:cNvSpPr txBox="1"/>
          <p:nvPr/>
        </p:nvSpPr>
        <p:spPr>
          <a:xfrm>
            <a:off x="8193023"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.NET 8 · local SQL Server</a:t>
            </a:r>
          </a:p>
        </p:txBody>
      </p:sp>
      <p:sp>
        <p:nvSpPr>
          <p:cNvPr id="21" name="Rounded Rectangle 20"/>
          <p:cNvSpPr/>
          <p:nvPr/>
        </p:nvSpPr>
        <p:spPr>
          <a:xfrm>
            <a:off x="713232" y="2990088"/>
            <a:ext cx="10762488" cy="224028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3264408"/>
            <a:ext cx="10104120" cy="384048"/>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Tool versions in the fresh September reproduction</a:t>
            </a:r>
          </a:p>
        </p:txBody>
      </p:sp>
      <p:sp>
        <p:nvSpPr>
          <p:cNvPr id="23" name="TextBox 22"/>
          <p:cNvSpPr txBox="1"/>
          <p:nvPr/>
        </p:nvSpPr>
        <p:spPr>
          <a:xfrm>
            <a:off x="969264" y="3858768"/>
            <a:ext cx="10094976" cy="54864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SonarQube 26.7     |     OWASP ZAP 2.17     |     Apache JMeter 5.5</a:t>
            </a:r>
          </a:p>
        </p:txBody>
      </p:sp>
      <p:sp>
        <p:nvSpPr>
          <p:cNvPr id="24" name="TextBox 23"/>
          <p:cNvSpPr txBox="1"/>
          <p:nvPr/>
        </p:nvSpPr>
        <p:spPr>
          <a:xfrm>
            <a:off x="969264" y="4599432"/>
            <a:ext cx="10094976" cy="32004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A single host and one fresh run per branch limit generalization.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Success was decided by tool-specific gates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4.1 and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9</a:t>
            </a:r>
          </a:p>
        </p:txBody>
      </p:sp>
      <p:graphicFrame>
        <p:nvGraphicFramePr>
          <p:cNvPr id="9" name="Table 8"/>
          <p:cNvGraphicFramePr>
            <a:graphicFrameLocks noGrp="1"/>
          </p:cNvGraphicFramePr>
          <p:nvPr/>
        </p:nvGraphicFramePr>
        <p:xfrm>
          <a:off x="731520" y="1444752"/>
          <a:ext cx="10716767" cy="3474720"/>
        </p:xfrm>
        <a:graphic>
          <a:graphicData uri="http://schemas.openxmlformats.org/drawingml/2006/table">
            <a:tbl>
              <a:tblPr firstRow="1" bandRow="1">
                <a:tableStyleId>{5C22544A-7EE6-4342-B048-85BDC9FD1C3A}</a:tableStyleId>
              </a:tblPr>
              <a:tblGrid>
                <a:gridCol w="2250521"/>
                <a:gridCol w="4822545"/>
                <a:gridCol w="3643701"/>
              </a:tblGrid>
              <a:tr h="694944">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Primary 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Control metric</a:t>
                      </a:r>
                    </a:p>
                  </a:txBody>
                  <a:tcPr marL="109728" marR="91440" marT="36576" marB="36576">
                    <a:solidFill>
                      <a:srgbClr val="252B33"/>
                    </a:solidFill>
                  </a:tcPr>
                </a:tc>
              </a:tr>
              <a:tr h="694944">
                <a:tc>
                  <a:txBody>
                    <a:bodyPr/>
                    <a:lstStyle/>
                    <a:p>
                      <a:pPr algn="l">
                        <a:spcAft>
                          <a:spcPts val="0"/>
                        </a:spcAft>
                      </a:pPr>
                      <a:r>
                        <a:rPr sz="17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Close fresh issues; Quality Gate OK</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Coverage and complexity disclosed</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OWASP ZAP</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Configured-rule gate; report raw alerts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Residual HTTP-only observation disclosed</a:t>
                      </a:r>
                    </a:p>
                  </a:txBody>
                  <a:tcPr marL="109728" marR="91440" marT="36576" marB="36576">
                    <a:solidFill>
                      <a:srgbClr val="F7F9FC"/>
                    </a:solidFill>
                  </a:tcPr>
                </a:tc>
              </a:tr>
              <a:tr h="694944">
                <a:tc>
                  <a:txBody>
                    <a:bodyPr/>
                    <a:lstStyle/>
                    <a:p>
                      <a:pPr algn="l">
                        <a:spcAft>
                          <a:spcPts val="0"/>
                        </a:spcAft>
                      </a:pPr>
                      <a:r>
                        <a:rPr sz="17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p50/p100/p500 core gate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p100 ≤500 ms; p500 ≤1200 ms</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Regression</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Focused tests and role checks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Accounting and authorization preserved</a:t>
                      </a:r>
                    </a:p>
                  </a:txBody>
                  <a:tcPr marL="109728" marR="91440" marT="36576" marB="36576">
                    <a:solidFill>
                      <a:srgbClr val="F7F9FC"/>
                    </a:solidFill>
                  </a:tcPr>
                </a:tc>
              </a:tr>
            </a:tbl>
          </a:graphicData>
        </a:graphic>
      </p:graphicFrame>
      <p:sp>
        <p:nvSpPr>
          <p:cNvPr id="10" name="Rounded Rectangle 9"/>
          <p:cNvSpPr/>
          <p:nvPr/>
        </p:nvSpPr>
        <p:spPr>
          <a:xfrm>
            <a:off x="731520" y="5230368"/>
            <a:ext cx="10716768" cy="603504"/>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303520"/>
            <a:ext cx="10195560" cy="448056"/>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E7414"/>
                </a:solidFill>
                <a:latin typeface="Arial"/>
              </a:rPr>
              <a:t>A better stress-profile number cannot override a failed core performance gate.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Codex proposed; humans and tools decided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§§3.1.3-3.1.4; Appendices I and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10</a:t>
            </a:r>
          </a:p>
        </p:txBody>
      </p:sp>
      <p:sp>
        <p:nvSpPr>
          <p:cNvPr id="9" name="Rounded Rectangle 8"/>
          <p:cNvSpPr/>
          <p:nvPr/>
        </p:nvSpPr>
        <p:spPr>
          <a:xfrm>
            <a:off x="713232" y="2148840"/>
            <a:ext cx="1709928" cy="113385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0F676D"/>
                </a:solidFill>
                <a:latin typeface="Arial"/>
              </a:rPr>
              <a:t>Native tool finding</a:t>
            </a:r>
          </a:p>
        </p:txBody>
      </p:sp>
      <p:sp>
        <p:nvSpPr>
          <p:cNvPr id="11" name="TextBox 10"/>
          <p:cNvSpPr txBox="1"/>
          <p:nvPr/>
        </p:nvSpPr>
        <p:spPr>
          <a:xfrm>
            <a:off x="2432304"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12" name="Rounded Rectangle 11"/>
          <p:cNvSpPr/>
          <p:nvPr/>
        </p:nvSpPr>
        <p:spPr>
          <a:xfrm>
            <a:off x="2615184" y="2148840"/>
            <a:ext cx="1709928" cy="113385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34056"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0F676D"/>
                </a:solidFill>
                <a:latin typeface="Arial"/>
              </a:rPr>
              <a:t>Bounded code context</a:t>
            </a:r>
          </a:p>
        </p:txBody>
      </p:sp>
      <p:sp>
        <p:nvSpPr>
          <p:cNvPr id="14" name="TextBox 13"/>
          <p:cNvSpPr txBox="1"/>
          <p:nvPr/>
        </p:nvSpPr>
        <p:spPr>
          <a:xfrm>
            <a:off x="4334256"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15" name="Rounded Rectangle 14"/>
          <p:cNvSpPr/>
          <p:nvPr/>
        </p:nvSpPr>
        <p:spPr>
          <a:xfrm>
            <a:off x="4517136" y="2148840"/>
            <a:ext cx="1709928" cy="113385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0F676D"/>
                </a:solidFill>
                <a:latin typeface="Arial"/>
              </a:rPr>
              <a:t>Candidate patch</a:t>
            </a:r>
          </a:p>
        </p:txBody>
      </p:sp>
      <p:sp>
        <p:nvSpPr>
          <p:cNvPr id="17" name="TextBox 16"/>
          <p:cNvSpPr txBox="1"/>
          <p:nvPr/>
        </p:nvSpPr>
        <p:spPr>
          <a:xfrm>
            <a:off x="6236208"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18" name="Rounded Rectangle 17"/>
          <p:cNvSpPr/>
          <p:nvPr/>
        </p:nvSpPr>
        <p:spPr>
          <a:xfrm>
            <a:off x="6419088" y="2148840"/>
            <a:ext cx="1709928" cy="113385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60"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246F46"/>
                </a:solidFill>
                <a:latin typeface="Arial"/>
              </a:rPr>
              <a:t>Human review</a:t>
            </a:r>
          </a:p>
        </p:txBody>
      </p:sp>
      <p:sp>
        <p:nvSpPr>
          <p:cNvPr id="20" name="TextBox 19"/>
          <p:cNvSpPr txBox="1"/>
          <p:nvPr/>
        </p:nvSpPr>
        <p:spPr>
          <a:xfrm>
            <a:off x="8138160"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21" name="Rounded Rectangle 20"/>
          <p:cNvSpPr/>
          <p:nvPr/>
        </p:nvSpPr>
        <p:spPr>
          <a:xfrm>
            <a:off x="8321040" y="2148840"/>
            <a:ext cx="1709928" cy="113385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39912"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246F46"/>
                </a:solidFill>
                <a:latin typeface="Arial"/>
              </a:rPr>
              <a:t>Tests</a:t>
            </a:r>
          </a:p>
        </p:txBody>
      </p:sp>
      <p:sp>
        <p:nvSpPr>
          <p:cNvPr id="23" name="TextBox 22"/>
          <p:cNvSpPr txBox="1"/>
          <p:nvPr/>
        </p:nvSpPr>
        <p:spPr>
          <a:xfrm>
            <a:off x="10040112"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24" name="Rounded Rectangle 23"/>
          <p:cNvSpPr/>
          <p:nvPr/>
        </p:nvSpPr>
        <p:spPr>
          <a:xfrm>
            <a:off x="10222992" y="2148840"/>
            <a:ext cx="1709928" cy="113385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41864"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246F46"/>
                </a:solidFill>
                <a:latin typeface="Arial"/>
              </a:rPr>
              <a:t>Tool rerun</a:t>
            </a:r>
          </a:p>
        </p:txBody>
      </p:sp>
      <p:sp>
        <p:nvSpPr>
          <p:cNvPr id="26" name="Rounded Rectangle 25"/>
          <p:cNvSpPr/>
          <p:nvPr/>
        </p:nvSpPr>
        <p:spPr>
          <a:xfrm>
            <a:off x="1097280" y="3822191"/>
            <a:ext cx="9985248" cy="122529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08176" y="4087368"/>
            <a:ext cx="9363456" cy="704088"/>
          </a:xfrm>
          <a:prstGeom prst="rect">
            <a:avLst/>
          </a:prstGeom>
          <a:noFill/>
        </p:spPr>
        <p:txBody>
          <a:bodyPr wrap="square" lIns="18288" rIns="18288" tIns="18288" bIns="18288" anchor="ctr">
            <a:spAutoFit/>
          </a:bodyPr>
          <a:lstStyle/>
          <a:p>
            <a:pPr algn="ctr">
              <a:spcBef>
                <a:spcPts val="0"/>
              </a:spcBef>
              <a:spcAft>
                <a:spcPts val="0"/>
              </a:spcAft>
            </a:pPr>
            <a:r>
              <a:rPr sz="2200" b="1">
                <a:solidFill>
                  <a:srgbClr val="252B33"/>
                </a:solidFill>
                <a:latin typeface="Arial"/>
              </a:rPr>
              <a:t>Every accepted interpretation is linked to a branch, a tested commit, and a machine-readable run.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implemented fixes had different mechanisms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4.3; Appendices E-G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11</a:t>
            </a:r>
          </a:p>
        </p:txBody>
      </p:sp>
      <p:graphicFrame>
        <p:nvGraphicFramePr>
          <p:cNvPr id="9" name="Table 8"/>
          <p:cNvGraphicFramePr>
            <a:graphicFrameLocks noGrp="1"/>
          </p:cNvGraphicFramePr>
          <p:nvPr/>
        </p:nvGraphicFramePr>
        <p:xfrm>
          <a:off x="731520" y="1508760"/>
          <a:ext cx="10716767" cy="3273552"/>
        </p:xfrm>
        <a:graphic>
          <a:graphicData uri="http://schemas.openxmlformats.org/drawingml/2006/table">
            <a:tbl>
              <a:tblPr firstRow="1" bandRow="1">
                <a:tableStyleId>{5C22544A-7EE6-4342-B048-85BDC9FD1C3A}</a:tableStyleId>
              </a:tblPr>
              <a:tblGrid>
                <a:gridCol w="2143353"/>
                <a:gridCol w="4608210"/>
                <a:gridCol w="3965204"/>
              </a:tblGrid>
              <a:tr h="818388">
                <a:tc>
                  <a:txBody>
                    <a:bodyPr/>
                    <a:lstStyle/>
                    <a:p>
                      <a:pPr algn="l">
                        <a:spcAft>
                          <a:spcPts val="0"/>
                        </a:spcAft>
                      </a:pPr>
                      <a:r>
                        <a:rPr sz="1800" b="1">
                          <a:solidFill>
                            <a:srgbClr val="FFFFFF"/>
                          </a:solidFill>
                          <a:latin typeface="Arial"/>
                        </a:rPr>
                        <a:t>Track</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Representative change</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What it was meant to address</a:t>
                      </a:r>
                    </a:p>
                  </a:txBody>
                  <a:tcPr marL="109728" marR="91440" marT="36576" marB="36576">
                    <a:solidFill>
                      <a:srgbClr val="252B33"/>
                    </a:solidFill>
                  </a:tcPr>
                </a:tc>
              </a:tr>
              <a:tr h="818388">
                <a:tc>
                  <a:txBody>
                    <a:bodyPr/>
                    <a:lstStyle/>
                    <a:p>
                      <a:pPr algn="l">
                        <a:spcAft>
                          <a:spcPts val="0"/>
                        </a:spcAft>
                      </a:pPr>
                      <a:r>
                        <a:rPr sz="18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Eight query parameters → JournalEntryQueryDto</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Controller maintainability finding S107</a:t>
                      </a:r>
                    </a:p>
                  </a:txBody>
                  <a:tcPr marL="109728" marR="91440" marT="36576" marB="36576">
                    <a:solidFill>
                      <a:srgbClr val="FFFFFF"/>
                    </a:solidFill>
                  </a:tcPr>
                </a:tc>
              </a:tr>
              <a:tr h="818388">
                <a:tc>
                  <a:txBody>
                    <a:bodyPr/>
                    <a:lstStyle/>
                    <a:p>
                      <a:pPr algn="l">
                        <a:spcAft>
                          <a:spcPts val="0"/>
                        </a:spcAft>
                      </a:pPr>
                      <a:r>
                        <a:rPr sz="1800" b="0">
                          <a:solidFill>
                            <a:srgbClr val="252B33"/>
                          </a:solidFill>
                          <a:latin typeface="Arial"/>
                        </a:rPr>
                        <a:t>ZAP</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SecurityHeadersMiddleware before Swagger</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Browser-facing security headers</a:t>
                      </a:r>
                    </a:p>
                  </a:txBody>
                  <a:tcPr marL="109728" marR="91440" marT="36576" marB="36576">
                    <a:solidFill>
                      <a:srgbClr val="F7F9FC"/>
                    </a:solidFill>
                  </a:tcPr>
                </a:tc>
              </a:tr>
              <a:tr h="818388">
                <a:tc>
                  <a:txBody>
                    <a:bodyPr/>
                    <a:lstStyle/>
                    <a:p>
                      <a:pPr algn="l">
                        <a:spcAft>
                          <a:spcPts val="0"/>
                        </a:spcAft>
                      </a:pPr>
                      <a:r>
                        <a:rPr sz="18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Ledger caching; avoid report write amplification</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Repeated report calculation and database pressure</a:t>
                      </a:r>
                    </a:p>
                  </a:txBody>
                  <a:tcPr marL="109728" marR="91440" marT="36576" marB="36576">
                    <a:solidFill>
                      <a:srgbClr val="FFFFFF"/>
                    </a:solidFill>
                  </a:tcPr>
                </a:tc>
              </a:tr>
            </a:tbl>
          </a:graphicData>
        </a:graphic>
      </p:graphicFrame>
      <p:sp>
        <p:nvSpPr>
          <p:cNvPr id="10" name="TextBox 9"/>
          <p:cNvSpPr txBox="1"/>
          <p:nvPr/>
        </p:nvSpPr>
        <p:spPr>
          <a:xfrm>
            <a:off x="758952" y="5166360"/>
            <a:ext cx="10716768" cy="45720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0F676D"/>
                </a:solidFill>
                <a:latin typeface="Arial"/>
              </a:rPr>
              <a:t>Mechanism and measured outcome are shown separately on the next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closed all 17 fresh issues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§4.2; Table 4.2; Figures L.1-L.4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12</a:t>
            </a:r>
          </a:p>
        </p:txBody>
      </p:sp>
      <p:sp>
        <p:nvSpPr>
          <p:cNvPr id="9" name="Rounded Rectangle 8"/>
          <p:cNvSpPr/>
          <p:nvPr/>
        </p:nvSpPr>
        <p:spPr>
          <a:xfrm>
            <a:off x="731520" y="1371600"/>
            <a:ext cx="343814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UNIQUE ISSUES</a:t>
            </a:r>
          </a:p>
        </p:txBody>
      </p:sp>
      <p:sp>
        <p:nvSpPr>
          <p:cNvPr id="11" name="TextBox 10"/>
          <p:cNvSpPr txBox="1"/>
          <p:nvPr/>
        </p:nvSpPr>
        <p:spPr>
          <a:xfrm>
            <a:off x="896112"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17 → 0</a:t>
            </a:r>
          </a:p>
        </p:txBody>
      </p:sp>
      <p:sp>
        <p:nvSpPr>
          <p:cNvPr id="12" name="TextBox 11"/>
          <p:cNvSpPr txBox="1"/>
          <p:nvPr/>
        </p:nvSpPr>
        <p:spPr>
          <a:xfrm>
            <a:off x="896112"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Fresh September run</a:t>
            </a:r>
          </a:p>
        </p:txBody>
      </p:sp>
      <p:sp>
        <p:nvSpPr>
          <p:cNvPr id="13" name="Rounded Rectangle 12"/>
          <p:cNvSpPr/>
          <p:nvPr/>
        </p:nvSpPr>
        <p:spPr>
          <a:xfrm>
            <a:off x="4370832" y="1371600"/>
            <a:ext cx="343814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QUALITY GATE</a:t>
            </a:r>
          </a:p>
        </p:txBody>
      </p:sp>
      <p:sp>
        <p:nvSpPr>
          <p:cNvPr id="15" name="TextBox 14"/>
          <p:cNvSpPr txBox="1"/>
          <p:nvPr/>
        </p:nvSpPr>
        <p:spPr>
          <a:xfrm>
            <a:off x="4535424"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OK → OK</a:t>
            </a:r>
          </a:p>
        </p:txBody>
      </p:sp>
      <p:sp>
        <p:nvSpPr>
          <p:cNvPr id="16" name="TextBox 15"/>
          <p:cNvSpPr txBox="1"/>
          <p:nvPr/>
        </p:nvSpPr>
        <p:spPr>
          <a:xfrm>
            <a:off x="4535424"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Both branches pass</a:t>
            </a:r>
          </a:p>
        </p:txBody>
      </p:sp>
      <p:sp>
        <p:nvSpPr>
          <p:cNvPr id="17" name="Rounded Rectangle 16"/>
          <p:cNvSpPr/>
          <p:nvPr/>
        </p:nvSpPr>
        <p:spPr>
          <a:xfrm>
            <a:off x="8010144" y="1371600"/>
            <a:ext cx="3438144"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4736"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COVERAGE</a:t>
            </a:r>
          </a:p>
        </p:txBody>
      </p:sp>
      <p:sp>
        <p:nvSpPr>
          <p:cNvPr id="19" name="TextBox 18"/>
          <p:cNvSpPr txBox="1"/>
          <p:nvPr/>
        </p:nvSpPr>
        <p:spPr>
          <a:xfrm>
            <a:off x="8174736"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74.4 → 74.3%</a:t>
            </a:r>
          </a:p>
        </p:txBody>
      </p:sp>
      <p:sp>
        <p:nvSpPr>
          <p:cNvPr id="20" name="TextBox 19"/>
          <p:cNvSpPr txBox="1"/>
          <p:nvPr/>
        </p:nvSpPr>
        <p:spPr>
          <a:xfrm>
            <a:off x="8174736"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Down 0.1 percentage point</a:t>
            </a:r>
          </a:p>
        </p:txBody>
      </p:sp>
      <p:sp>
        <p:nvSpPr>
          <p:cNvPr id="21" name="Rounded Rectangle 20"/>
          <p:cNvSpPr/>
          <p:nvPr/>
        </p:nvSpPr>
        <p:spPr>
          <a:xfrm>
            <a:off x="731520" y="2871216"/>
            <a:ext cx="10716768" cy="21031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6696" y="3154680"/>
            <a:ext cx="9966960" cy="365760"/>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Do not add impact counts together</a:t>
            </a:r>
          </a:p>
        </p:txBody>
      </p:sp>
      <p:sp>
        <p:nvSpPr>
          <p:cNvPr id="23" name="TextBox 22"/>
          <p:cNvSpPr txBox="1"/>
          <p:nvPr/>
        </p:nvSpPr>
        <p:spPr>
          <a:xfrm>
            <a:off x="996696" y="3685032"/>
            <a:ext cx="9948672" cy="905256"/>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The 17 distinct findings carried overlapping Reliability 2, Security 1, and Maintainability 16 impacts. Cyclomatic complexity rose 886 → 889; duplication stayed 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Native SonarQube views support the metric table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Fresh Sep 22 capture · 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13</a:t>
            </a:r>
          </a:p>
        </p:txBody>
      </p:sp>
      <p:sp>
        <p:nvSpPr>
          <p:cNvPr id="9" name="TextBox 8"/>
          <p:cNvSpPr txBox="1"/>
          <p:nvPr/>
        </p:nvSpPr>
        <p:spPr>
          <a:xfrm>
            <a:off x="804672"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 · commit 7a0469d9</a:t>
            </a:r>
          </a:p>
        </p:txBody>
      </p:sp>
      <p:sp>
        <p:nvSpPr>
          <p:cNvPr id="10" name="TextBox 9"/>
          <p:cNvSpPr txBox="1"/>
          <p:nvPr/>
        </p:nvSpPr>
        <p:spPr>
          <a:xfrm>
            <a:off x="6236208"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 · commit a2279bcb</a:t>
            </a:r>
          </a:p>
        </p:txBody>
      </p:sp>
      <p:pic>
        <p:nvPicPr>
          <p:cNvPr id="11" name="Picture 10" descr="sonarqube-baseline-overview.png"/>
          <p:cNvPicPr>
            <a:picLocks noChangeAspect="1"/>
          </p:cNvPicPr>
          <p:nvPr/>
        </p:nvPicPr>
        <p:blipFill>
          <a:blip r:embed="rId2"/>
          <a:stretch>
            <a:fillRect/>
          </a:stretch>
        </p:blipFill>
        <p:spPr>
          <a:xfrm>
            <a:off x="825703" y="1719072"/>
            <a:ext cx="5069433" cy="3520440"/>
          </a:xfrm>
          <a:prstGeom prst="rect">
            <a:avLst/>
          </a:prstGeom>
        </p:spPr>
      </p:pic>
      <p:sp>
        <p:nvSpPr>
          <p:cNvPr id="12" name="Rectangle 11"/>
          <p:cNvSpPr/>
          <p:nvPr/>
        </p:nvSpPr>
        <p:spPr>
          <a:xfrm>
            <a:off x="825703"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75527" y="1719072"/>
            <a:ext cx="5069433" cy="3520440"/>
          </a:xfrm>
          <a:prstGeom prst="rect">
            <a:avLst/>
          </a:prstGeom>
        </p:spPr>
      </p:pic>
      <p:sp>
        <p:nvSpPr>
          <p:cNvPr id="14" name="Rectangle 13"/>
          <p:cNvSpPr/>
          <p:nvPr/>
        </p:nvSpPr>
        <p:spPr>
          <a:xfrm>
            <a:off x="6275527"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539496"/>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 y="5550408"/>
            <a:ext cx="10232136" cy="374904"/>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Fresh source screenshots; use Appendix L for the larger overview and issue views.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passed the configured gate; raw API Medium remains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fresh ZAP summaries;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14</a:t>
            </a:r>
          </a:p>
        </p:txBody>
      </p:sp>
      <p:graphicFrame>
        <p:nvGraphicFramePr>
          <p:cNvPr id="9" name="Table 8"/>
          <p:cNvGraphicFramePr>
            <a:graphicFrameLocks noGrp="1"/>
          </p:cNvGraphicFramePr>
          <p:nvPr/>
        </p:nvGraphicFramePr>
        <p:xfrm>
          <a:off x="731520" y="1490472"/>
          <a:ext cx="10716766" cy="2377440"/>
        </p:xfrm>
        <a:graphic>
          <a:graphicData uri="http://schemas.openxmlformats.org/drawingml/2006/table">
            <a:tbl>
              <a:tblPr firstRow="1" bandRow="1">
                <a:tableStyleId>{5C22544A-7EE6-4342-B048-85BDC9FD1C3A}</a:tableStyleId>
              </a:tblPr>
              <a:tblGrid>
                <a:gridCol w="2143353"/>
                <a:gridCol w="2464856"/>
                <a:gridCol w="2464856"/>
                <a:gridCol w="3643701"/>
              </a:tblGrid>
              <a:tr h="792480">
                <a:tc>
                  <a:txBody>
                    <a:bodyPr/>
                    <a:lstStyle/>
                    <a:p>
                      <a:pPr algn="l">
                        <a:spcAft>
                          <a:spcPts val="0"/>
                        </a:spcAft>
                      </a:pPr>
                      <a:r>
                        <a:rPr sz="1800" b="1">
                          <a:solidFill>
                            <a:srgbClr val="FFFFFF"/>
                          </a:solidFill>
                          <a:latin typeface="Arial"/>
                        </a:rPr>
                        <a:t>Fresh scan</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Baseline Medium / Low</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After Medium / Low</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Interpretation</a:t>
                      </a:r>
                    </a:p>
                  </a:txBody>
                  <a:tcPr marL="109728" marR="91440" marT="36576" marB="36576">
                    <a:solidFill>
                      <a:srgbClr val="252B33"/>
                    </a:solidFill>
                  </a:tcPr>
                </a:tc>
              </a:tr>
              <a:tr h="792480">
                <a:tc>
                  <a:txBody>
                    <a:bodyPr/>
                    <a:lstStyle/>
                    <a:p>
                      <a:pPr algn="l">
                        <a:spcAft>
                          <a:spcPts val="0"/>
                        </a:spcAft>
                      </a:pPr>
                      <a:r>
                        <a:rPr sz="18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3 / 6</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0 / 0</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Both severities cleared</a:t>
                      </a:r>
                    </a:p>
                  </a:txBody>
                  <a:tcPr marL="109728" marR="91440" marT="36576" marB="36576">
                    <a:solidFill>
                      <a:srgbClr val="FFFFFF"/>
                    </a:solidFill>
                  </a:tcPr>
                </a:tc>
              </a:tr>
              <a:tr h="792480">
                <a:tc>
                  <a:txBody>
                    <a:bodyPr/>
                    <a:lstStyle/>
                    <a:p>
                      <a:pPr algn="l">
                        <a:spcAft>
                          <a:spcPts val="0"/>
                        </a:spcAft>
                      </a:pPr>
                      <a:r>
                        <a:rPr sz="1800" b="0">
                          <a:solidFill>
                            <a:srgbClr val="252B33"/>
                          </a:solidFill>
                          <a:latin typeface="Arial"/>
                        </a:rPr>
                        <a:t>Authenticated API</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1 / 3</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1 / 0</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One raw Medium disclosed</a:t>
                      </a:r>
                    </a:p>
                  </a:txBody>
                  <a:tcPr marL="109728" marR="91440" marT="36576" marB="36576">
                    <a:solidFill>
                      <a:srgbClr val="F7F9FC"/>
                    </a:solidFill>
                  </a:tcPr>
                </a:tc>
              </a:tr>
            </a:tbl>
          </a:graphicData>
        </a:graphic>
      </p:graphicFrame>
      <p:sp>
        <p:nvSpPr>
          <p:cNvPr id="10" name="Rounded Rectangle 9"/>
          <p:cNvSpPr/>
          <p:nvPr/>
        </p:nvSpPr>
        <p:spPr>
          <a:xfrm>
            <a:off x="731520" y="4261104"/>
            <a:ext cx="517550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4370832"/>
            <a:ext cx="484632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CONFIGURED RULES</a:t>
            </a:r>
          </a:p>
        </p:txBody>
      </p:sp>
      <p:sp>
        <p:nvSpPr>
          <p:cNvPr id="12" name="TextBox 11"/>
          <p:cNvSpPr txBox="1"/>
          <p:nvPr/>
        </p:nvSpPr>
        <p:spPr>
          <a:xfrm>
            <a:off x="896112" y="4617720"/>
            <a:ext cx="484632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PASS</a:t>
            </a:r>
          </a:p>
        </p:txBody>
      </p:sp>
      <p:sp>
        <p:nvSpPr>
          <p:cNvPr id="13" name="TextBox 12"/>
          <p:cNvSpPr txBox="1"/>
          <p:nvPr/>
        </p:nvSpPr>
        <p:spPr>
          <a:xfrm>
            <a:off x="896112" y="5111496"/>
            <a:ext cx="484632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Both branches</a:t>
            </a:r>
          </a:p>
        </p:txBody>
      </p:sp>
      <p:sp>
        <p:nvSpPr>
          <p:cNvPr id="14" name="Rounded Rectangle 13"/>
          <p:cNvSpPr/>
          <p:nvPr/>
        </p:nvSpPr>
        <p:spPr>
          <a:xfrm>
            <a:off x="6263640" y="4261104"/>
            <a:ext cx="5175504"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8231" y="4370832"/>
            <a:ext cx="484632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RESIDUAL RAW ALERT</a:t>
            </a:r>
          </a:p>
        </p:txBody>
      </p:sp>
      <p:sp>
        <p:nvSpPr>
          <p:cNvPr id="16" name="TextBox 15"/>
          <p:cNvSpPr txBox="1"/>
          <p:nvPr/>
        </p:nvSpPr>
        <p:spPr>
          <a:xfrm>
            <a:off x="6428231" y="4617720"/>
            <a:ext cx="484632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HTTP Only Site</a:t>
            </a:r>
          </a:p>
        </p:txBody>
      </p:sp>
      <p:sp>
        <p:nvSpPr>
          <p:cNvPr id="17" name="TextBox 16"/>
          <p:cNvSpPr txBox="1"/>
          <p:nvPr/>
        </p:nvSpPr>
        <p:spPr>
          <a:xfrm>
            <a:off x="6428231" y="5111496"/>
            <a:ext cx="484632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Local HTTP transport · CWE-311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dashboard captures are historical visuals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L.5-L.8; fresh counts on prior slide</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15</a:t>
            </a:r>
          </a:p>
        </p:txBody>
      </p:sp>
      <p:pic>
        <p:nvPicPr>
          <p:cNvPr id="9" name="Picture 8" descr="zap-api-before-summary.png"/>
          <p:cNvPicPr>
            <a:picLocks noChangeAspect="1"/>
          </p:cNvPicPr>
          <p:nvPr/>
        </p:nvPicPr>
        <p:blipFill>
          <a:blip r:embed="rId2"/>
          <a:stretch>
            <a:fillRect/>
          </a:stretch>
        </p:blipFill>
        <p:spPr>
          <a:xfrm>
            <a:off x="812535" y="1481328"/>
            <a:ext cx="5095768" cy="3538728"/>
          </a:xfrm>
          <a:prstGeom prst="rect">
            <a:avLst/>
          </a:prstGeom>
        </p:spPr>
      </p:pic>
      <p:sp>
        <p:nvSpPr>
          <p:cNvPr id="10" name="Rectangle 9"/>
          <p:cNvSpPr/>
          <p:nvPr/>
        </p:nvSpPr>
        <p:spPr>
          <a:xfrm>
            <a:off x="812535" y="1481328"/>
            <a:ext cx="5095768" cy="3538728"/>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zap-api-after-summary.png"/>
          <p:cNvPicPr>
            <a:picLocks noChangeAspect="1"/>
          </p:cNvPicPr>
          <p:nvPr/>
        </p:nvPicPr>
        <p:blipFill>
          <a:blip r:embed="rId3"/>
          <a:stretch>
            <a:fillRect/>
          </a:stretch>
        </p:blipFill>
        <p:spPr>
          <a:xfrm>
            <a:off x="6271503" y="1481328"/>
            <a:ext cx="5095768" cy="3538728"/>
          </a:xfrm>
          <a:prstGeom prst="rect">
            <a:avLst/>
          </a:prstGeom>
        </p:spPr>
      </p:pic>
      <p:sp>
        <p:nvSpPr>
          <p:cNvPr id="12" name="Rectangle 11"/>
          <p:cNvSpPr/>
          <p:nvPr/>
        </p:nvSpPr>
        <p:spPr>
          <a:xfrm>
            <a:off x="6271503" y="1481328"/>
            <a:ext cx="5095768" cy="3538728"/>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 y="5129784"/>
            <a:ext cx="5029200" cy="29260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5B6874"/>
                </a:solidFill>
                <a:latin typeface="Arial"/>
              </a:rPr>
              <a:t>Historical API before</a:t>
            </a:r>
          </a:p>
        </p:txBody>
      </p:sp>
      <p:sp>
        <p:nvSpPr>
          <p:cNvPr id="14" name="TextBox 13"/>
          <p:cNvSpPr txBox="1"/>
          <p:nvPr/>
        </p:nvSpPr>
        <p:spPr>
          <a:xfrm>
            <a:off x="6309360" y="5129784"/>
            <a:ext cx="5029200" cy="29260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5B6874"/>
                </a:solidFill>
                <a:latin typeface="Arial"/>
              </a:rPr>
              <a:t>Historical API after</a:t>
            </a:r>
          </a:p>
        </p:txBody>
      </p:sp>
      <p:sp>
        <p:nvSpPr>
          <p:cNvPr id="15" name="Rounded Rectangle 14"/>
          <p:cNvSpPr/>
          <p:nvPr/>
        </p:nvSpPr>
        <p:spPr>
          <a:xfrm>
            <a:off x="768096" y="5577840"/>
            <a:ext cx="10652760" cy="48463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623560"/>
            <a:ext cx="10241280"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BE7414"/>
                </a:solidFill>
                <a:latin typeface="Arial"/>
              </a:rPr>
              <a:t>Fresh September JSON is authoritative: the API still has 1 raw Medium after remediation.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measured three core profiles and two stress profiles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§§3.8 and 4.4; Appendix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16</a:t>
            </a:r>
          </a:p>
        </p:txBody>
      </p:sp>
      <p:sp>
        <p:nvSpPr>
          <p:cNvPr id="9" name="Rounded Rectangle 8"/>
          <p:cNvSpPr/>
          <p:nvPr/>
        </p:nvSpPr>
        <p:spPr>
          <a:xfrm>
            <a:off x="713232"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P50</a:t>
            </a:r>
          </a:p>
        </p:txBody>
      </p:sp>
      <p:sp>
        <p:nvSpPr>
          <p:cNvPr id="11" name="TextBox 10"/>
          <p:cNvSpPr txBox="1"/>
          <p:nvPr/>
        </p:nvSpPr>
        <p:spPr>
          <a:xfrm>
            <a:off x="877824"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 users</a:t>
            </a:r>
          </a:p>
        </p:txBody>
      </p:sp>
      <p:sp>
        <p:nvSpPr>
          <p:cNvPr id="12" name="TextBox 11"/>
          <p:cNvSpPr txBox="1"/>
          <p:nvPr/>
        </p:nvSpPr>
        <p:spPr>
          <a:xfrm>
            <a:off x="859536"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Normal load</a:t>
            </a:r>
          </a:p>
        </p:txBody>
      </p:sp>
      <p:sp>
        <p:nvSpPr>
          <p:cNvPr id="13" name="Rounded Rectangle 12"/>
          <p:cNvSpPr/>
          <p:nvPr/>
        </p:nvSpPr>
        <p:spPr>
          <a:xfrm>
            <a:off x="2990088"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80"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P100</a:t>
            </a:r>
          </a:p>
        </p:txBody>
      </p:sp>
      <p:sp>
        <p:nvSpPr>
          <p:cNvPr id="15" name="TextBox 14"/>
          <p:cNvSpPr txBox="1"/>
          <p:nvPr/>
        </p:nvSpPr>
        <p:spPr>
          <a:xfrm>
            <a:off x="3154680"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100 users</a:t>
            </a:r>
          </a:p>
        </p:txBody>
      </p:sp>
      <p:sp>
        <p:nvSpPr>
          <p:cNvPr id="16" name="TextBox 15"/>
          <p:cNvSpPr txBox="1"/>
          <p:nvPr/>
        </p:nvSpPr>
        <p:spPr>
          <a:xfrm>
            <a:off x="3136392"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Higher concurrency</a:t>
            </a:r>
          </a:p>
        </p:txBody>
      </p:sp>
      <p:sp>
        <p:nvSpPr>
          <p:cNvPr id="17" name="Rounded Rectangle 16"/>
          <p:cNvSpPr/>
          <p:nvPr/>
        </p:nvSpPr>
        <p:spPr>
          <a:xfrm>
            <a:off x="5266944"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31536"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P500</a:t>
            </a:r>
          </a:p>
        </p:txBody>
      </p:sp>
      <p:sp>
        <p:nvSpPr>
          <p:cNvPr id="19" name="TextBox 18"/>
          <p:cNvSpPr txBox="1"/>
          <p:nvPr/>
        </p:nvSpPr>
        <p:spPr>
          <a:xfrm>
            <a:off x="5431536"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500 users</a:t>
            </a:r>
          </a:p>
        </p:txBody>
      </p:sp>
      <p:sp>
        <p:nvSpPr>
          <p:cNvPr id="20" name="TextBox 19"/>
          <p:cNvSpPr txBox="1"/>
          <p:nvPr/>
        </p:nvSpPr>
        <p:spPr>
          <a:xfrm>
            <a:off x="5413248"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Heavy concurrency</a:t>
            </a:r>
          </a:p>
        </p:txBody>
      </p:sp>
      <p:sp>
        <p:nvSpPr>
          <p:cNvPr id="21" name="Rounded Rectangle 20"/>
          <p:cNvSpPr/>
          <p:nvPr/>
        </p:nvSpPr>
        <p:spPr>
          <a:xfrm>
            <a:off x="7543800"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08392"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SOAK</a:t>
            </a:r>
          </a:p>
        </p:txBody>
      </p:sp>
      <p:sp>
        <p:nvSpPr>
          <p:cNvPr id="23" name="TextBox 22"/>
          <p:cNvSpPr txBox="1"/>
          <p:nvPr/>
        </p:nvSpPr>
        <p:spPr>
          <a:xfrm>
            <a:off x="7708392"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sustained</a:t>
            </a:r>
          </a:p>
        </p:txBody>
      </p:sp>
      <p:sp>
        <p:nvSpPr>
          <p:cNvPr id="24" name="TextBox 23"/>
          <p:cNvSpPr txBox="1"/>
          <p:nvPr/>
        </p:nvSpPr>
        <p:spPr>
          <a:xfrm>
            <a:off x="7690104"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Long-running behavior</a:t>
            </a:r>
          </a:p>
        </p:txBody>
      </p:sp>
      <p:sp>
        <p:nvSpPr>
          <p:cNvPr id="25" name="Rounded Rectangle 24"/>
          <p:cNvSpPr/>
          <p:nvPr/>
        </p:nvSpPr>
        <p:spPr>
          <a:xfrm>
            <a:off x="9820656"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85248"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SPIKE</a:t>
            </a:r>
          </a:p>
        </p:txBody>
      </p:sp>
      <p:sp>
        <p:nvSpPr>
          <p:cNvPr id="27" name="TextBox 26"/>
          <p:cNvSpPr txBox="1"/>
          <p:nvPr/>
        </p:nvSpPr>
        <p:spPr>
          <a:xfrm>
            <a:off x="9985248"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burst</a:t>
            </a:r>
          </a:p>
        </p:txBody>
      </p:sp>
      <p:sp>
        <p:nvSpPr>
          <p:cNvPr id="28" name="TextBox 27"/>
          <p:cNvSpPr txBox="1"/>
          <p:nvPr/>
        </p:nvSpPr>
        <p:spPr>
          <a:xfrm>
            <a:off x="9966960"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Surge and recovery</a:t>
            </a:r>
          </a:p>
        </p:txBody>
      </p:sp>
      <p:sp>
        <p:nvSpPr>
          <p:cNvPr id="29" name="TextBox 28"/>
          <p:cNvSpPr txBox="1"/>
          <p:nvPr/>
        </p:nvSpPr>
        <p:spPr>
          <a:xfrm>
            <a:off x="749808" y="4892040"/>
            <a:ext cx="10771632" cy="59436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E7414"/>
                </a:solidFill>
                <a:latin typeface="Arial"/>
              </a:rPr>
              <a:t>The core p50/p100/p500 gate is the primary performance decision.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fresh JMeter core gate failed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Table 4.5;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17</a:t>
            </a:r>
          </a:p>
        </p:txBody>
      </p:sp>
      <p:graphicFrame>
        <p:nvGraphicFramePr>
          <p:cNvPr id="9" name="Table 8"/>
          <p:cNvGraphicFramePr>
            <a:graphicFrameLocks noGrp="1"/>
          </p:cNvGraphicFramePr>
          <p:nvPr/>
        </p:nvGraphicFramePr>
        <p:xfrm>
          <a:off x="731520" y="1417320"/>
          <a:ext cx="10716766" cy="3108960"/>
        </p:xfrm>
        <a:graphic>
          <a:graphicData uri="http://schemas.openxmlformats.org/drawingml/2006/table">
            <a:tbl>
              <a:tblPr firstRow="1" bandRow="1">
                <a:tableStyleId>{5C22544A-7EE6-4342-B048-85BDC9FD1C3A}</a:tableStyleId>
              </a:tblPr>
              <a:tblGrid>
                <a:gridCol w="2036185"/>
                <a:gridCol w="2572024"/>
                <a:gridCol w="2572024"/>
                <a:gridCol w="3536533"/>
              </a:tblGrid>
              <a:tr h="777240">
                <a:tc>
                  <a:txBody>
                    <a:bodyPr/>
                    <a:lstStyle/>
                    <a:p>
                      <a:pPr algn="l">
                        <a:spcAft>
                          <a:spcPts val="0"/>
                        </a:spcAft>
                      </a:pPr>
                      <a:r>
                        <a:rPr sz="20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Fresh judgment</a:t>
                      </a:r>
                    </a:p>
                  </a:txBody>
                  <a:tcPr marL="109728" marR="91440" marT="36576" marB="36576">
                    <a:solidFill>
                      <a:srgbClr val="252B33"/>
                    </a:solidFill>
                  </a:tcPr>
                </a:tc>
              </a:tr>
              <a:tr h="777240">
                <a:tc>
                  <a:txBody>
                    <a:bodyPr/>
                    <a:lstStyle/>
                    <a:p>
                      <a:pPr algn="l">
                        <a:spcAft>
                          <a:spcPts val="0"/>
                        </a:spcAft>
                      </a:pPr>
                      <a:r>
                        <a:rPr sz="2000" b="0">
                          <a:solidFill>
                            <a:srgbClr val="252B33"/>
                          </a:solidFill>
                          <a:latin typeface="Arial"/>
                        </a:rPr>
                        <a:t>p50</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33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199.9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r h="777240">
                <a:tc>
                  <a:txBody>
                    <a:bodyPr/>
                    <a:lstStyle/>
                    <a:p>
                      <a:pPr algn="l">
                        <a:spcAft>
                          <a:spcPts val="0"/>
                        </a:spcAft>
                      </a:pPr>
                      <a:r>
                        <a:rPr sz="2000" b="0">
                          <a:solidFill>
                            <a:srgbClr val="252B33"/>
                          </a:solidFill>
                          <a:latin typeface="Arial"/>
                        </a:rPr>
                        <a:t>p100</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255.9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1146.9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7F9FC"/>
                    </a:solidFill>
                  </a:tcPr>
                </a:tc>
              </a:tr>
              <a:tr h="777240">
                <a:tc>
                  <a:txBody>
                    <a:bodyPr/>
                    <a:lstStyle/>
                    <a:p>
                      <a:pPr algn="l">
                        <a:spcAft>
                          <a:spcPts val="0"/>
                        </a:spcAft>
                      </a:pPr>
                      <a:r>
                        <a:rPr sz="2000" b="0">
                          <a:solidFill>
                            <a:srgbClr val="252B33"/>
                          </a:solidFill>
                          <a:latin typeface="Arial"/>
                        </a:rPr>
                        <a:t>p500</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106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1547.95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bl>
          </a:graphicData>
        </a:graphic>
      </p:graphicFrame>
      <p:sp>
        <p:nvSpPr>
          <p:cNvPr id="10" name="Rounded Rectangle 9"/>
          <p:cNvSpPr/>
          <p:nvPr/>
        </p:nvSpPr>
        <p:spPr>
          <a:xfrm>
            <a:off x="731520" y="4809744"/>
            <a:ext cx="10716768" cy="978408"/>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965192"/>
            <a:ext cx="10250424" cy="612648"/>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FAIL: p100 1,146.9 &gt; 500 ms; p500 1,547.95 &gt; 1,200 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Soak and spike improved, but they are secondary</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18</a:t>
            </a:r>
          </a:p>
        </p:txBody>
      </p:sp>
      <p:sp>
        <p:nvSpPr>
          <p:cNvPr id="9" name="Rounded Rectangle 8"/>
          <p:cNvSpPr/>
          <p:nvPr/>
        </p:nvSpPr>
        <p:spPr>
          <a:xfrm>
            <a:off x="731520"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865376"/>
            <a:ext cx="4626864"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SOAK TOTAL p95</a:t>
            </a:r>
          </a:p>
        </p:txBody>
      </p:sp>
      <p:sp>
        <p:nvSpPr>
          <p:cNvPr id="11" name="TextBox 10"/>
          <p:cNvSpPr txBox="1"/>
          <p:nvPr/>
        </p:nvSpPr>
        <p:spPr>
          <a:xfrm>
            <a:off x="1005840"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246F46"/>
                </a:solidFill>
                <a:latin typeface="Arial"/>
              </a:rPr>
              <a:t>443.95 → 171 ms</a:t>
            </a:r>
          </a:p>
        </p:txBody>
      </p:sp>
      <p:sp>
        <p:nvSpPr>
          <p:cNvPr id="12" name="TextBox 11"/>
          <p:cNvSpPr txBox="1"/>
          <p:nvPr/>
        </p:nvSpPr>
        <p:spPr>
          <a:xfrm>
            <a:off x="1005840"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61% lower on the fresh run</a:t>
            </a:r>
          </a:p>
        </p:txBody>
      </p:sp>
      <p:sp>
        <p:nvSpPr>
          <p:cNvPr id="13" name="Rounded Rectangle 12"/>
          <p:cNvSpPr/>
          <p:nvPr/>
        </p:nvSpPr>
        <p:spPr>
          <a:xfrm>
            <a:off x="6254496"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28816" y="1865376"/>
            <a:ext cx="4617720"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SPIKE TOTAL p95</a:t>
            </a:r>
          </a:p>
        </p:txBody>
      </p:sp>
      <p:sp>
        <p:nvSpPr>
          <p:cNvPr id="15" name="TextBox 14"/>
          <p:cNvSpPr txBox="1"/>
          <p:nvPr/>
        </p:nvSpPr>
        <p:spPr>
          <a:xfrm>
            <a:off x="6528816"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46F46"/>
                </a:solidFill>
                <a:latin typeface="Arial"/>
              </a:rPr>
              <a:t>33,402 → 4,731 ms</a:t>
            </a:r>
          </a:p>
        </p:txBody>
      </p:sp>
      <p:sp>
        <p:nvSpPr>
          <p:cNvPr id="16" name="TextBox 15"/>
          <p:cNvSpPr txBox="1"/>
          <p:nvPr/>
        </p:nvSpPr>
        <p:spPr>
          <a:xfrm>
            <a:off x="6528816"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86% lower; errors 0.4688% → 0.0%</a:t>
            </a:r>
          </a:p>
        </p:txBody>
      </p:sp>
      <p:sp>
        <p:nvSpPr>
          <p:cNvPr id="17" name="TextBox 16"/>
          <p:cNvSpPr txBox="1"/>
          <p:nvPr/>
        </p:nvSpPr>
        <p:spPr>
          <a:xfrm>
            <a:off x="768096" y="5294376"/>
            <a:ext cx="10698480" cy="576072"/>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B3373D"/>
                </a:solidFill>
                <a:latin typeface="Arial"/>
              </a:rPr>
              <a:t>The core p100 and p500 failures still determine the overall performance judgment.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endpoint improved under spike but regressed under soak</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4.4; Appendix 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19</a:t>
            </a:r>
          </a:p>
        </p:txBody>
      </p:sp>
      <p:graphicFrame>
        <p:nvGraphicFramePr>
          <p:cNvPr id="9" name="Table 8"/>
          <p:cNvGraphicFramePr>
            <a:graphicFrameLocks noGrp="1"/>
          </p:cNvGraphicFramePr>
          <p:nvPr/>
        </p:nvGraphicFramePr>
        <p:xfrm>
          <a:off x="731520" y="1481328"/>
          <a:ext cx="10716765" cy="2322576"/>
        </p:xfrm>
        <a:graphic>
          <a:graphicData uri="http://schemas.openxmlformats.org/drawingml/2006/table">
            <a:tbl>
              <a:tblPr firstRow="1" bandRow="1">
                <a:tableStyleId>{5C22544A-7EE6-4342-B048-85BDC9FD1C3A}</a:tableStyleId>
              </a:tblPr>
              <a:tblGrid>
                <a:gridCol w="3107862"/>
                <a:gridCol w="2357688"/>
                <a:gridCol w="2357688"/>
                <a:gridCol w="2893527"/>
              </a:tblGrid>
              <a:tr h="774192">
                <a:tc>
                  <a:txBody>
                    <a:bodyPr/>
                    <a:lstStyle/>
                    <a:p>
                      <a:pPr algn="l">
                        <a:spcAft>
                          <a:spcPts val="0"/>
                        </a:spcAft>
                      </a:pPr>
                      <a:r>
                        <a:rPr sz="1900" b="1">
                          <a:solidFill>
                            <a:srgbClr val="FFFFFF"/>
                          </a:solidFill>
                          <a:latin typeface="Arial"/>
                        </a:rPr>
                        <a:t>Account-ledger profile</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Interpretation</a:t>
                      </a:r>
                    </a:p>
                  </a:txBody>
                  <a:tcPr marL="109728" marR="91440" marT="36576" marB="36576">
                    <a:solidFill>
                      <a:srgbClr val="252B33"/>
                    </a:solidFill>
                  </a:tcPr>
                </a:tc>
              </a:tr>
              <a:tr h="774192">
                <a:tc>
                  <a:txBody>
                    <a:bodyPr/>
                    <a:lstStyle/>
                    <a:p>
                      <a:pPr algn="l">
                        <a:spcAft>
                          <a:spcPts val="0"/>
                        </a:spcAft>
                      </a:pPr>
                      <a:r>
                        <a:rPr sz="1900" b="0">
                          <a:solidFill>
                            <a:srgbClr val="252B33"/>
                          </a:solidFill>
                          <a:latin typeface="Arial"/>
                        </a:rPr>
                        <a:t>Soak</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741.95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3,825.70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Regression</a:t>
                      </a:r>
                    </a:p>
                  </a:txBody>
                  <a:tcPr marL="109728" marR="91440" marT="36576" marB="36576">
                    <a:solidFill>
                      <a:srgbClr val="FFFFFF"/>
                    </a:solidFill>
                  </a:tcPr>
                </a:tc>
              </a:tr>
              <a:tr h="774192">
                <a:tc>
                  <a:txBody>
                    <a:bodyPr/>
                    <a:lstStyle/>
                    <a:p>
                      <a:pPr algn="l">
                        <a:spcAft>
                          <a:spcPts val="0"/>
                        </a:spcAft>
                      </a:pPr>
                      <a:r>
                        <a:rPr sz="1900" b="0">
                          <a:solidFill>
                            <a:srgbClr val="252B33"/>
                          </a:solidFill>
                          <a:latin typeface="Arial"/>
                        </a:rPr>
                        <a:t>Spike</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50,288.30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12,910.20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Improvement</a:t>
                      </a:r>
                    </a:p>
                  </a:txBody>
                  <a:tcPr marL="109728" marR="91440" marT="36576" marB="36576">
                    <a:solidFill>
                      <a:srgbClr val="F7F9FC"/>
                    </a:solidFill>
                  </a:tcPr>
                </a:tc>
              </a:tr>
            </a:tbl>
          </a:graphicData>
        </a:graphic>
      </p:graphicFrame>
      <p:sp>
        <p:nvSpPr>
          <p:cNvPr id="10" name="Rounded Rectangle 9"/>
          <p:cNvSpPr/>
          <p:nvPr/>
        </p:nvSpPr>
        <p:spPr>
          <a:xfrm>
            <a:off x="731520" y="4105656"/>
            <a:ext cx="10716768" cy="15727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325112"/>
            <a:ext cx="9966960" cy="3474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E7414"/>
                </a:solidFill>
                <a:latin typeface="Arial"/>
              </a:rPr>
              <a:t>Why this matters</a:t>
            </a:r>
          </a:p>
        </p:txBody>
      </p:sp>
      <p:sp>
        <p:nvSpPr>
          <p:cNvPr id="12" name="TextBox 11"/>
          <p:cNvSpPr txBox="1"/>
          <p:nvPr/>
        </p:nvSpPr>
        <p:spPr>
          <a:xfrm>
            <a:off x="978408" y="4700016"/>
            <a:ext cx="9948672" cy="704088"/>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Caching and query changes can help one workload while making another worse. Endpoint results and core aggregate gates must both be read.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API was exercised through a role-aware client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§4.6, Figures 4.2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20</a:t>
            </a:r>
          </a:p>
        </p:txBody>
      </p:sp>
      <p:pic>
        <p:nvPicPr>
          <p:cNvPr id="9" name="Picture 8" descr="02-dashboard-admin.png"/>
          <p:cNvPicPr>
            <a:picLocks noChangeAspect="1"/>
          </p:cNvPicPr>
          <p:nvPr/>
        </p:nvPicPr>
        <p:blipFill>
          <a:blip r:embed="rId2"/>
          <a:stretch>
            <a:fillRect/>
          </a:stretch>
        </p:blipFill>
        <p:spPr>
          <a:xfrm>
            <a:off x="856061" y="1490472"/>
            <a:ext cx="4990429" cy="3465576"/>
          </a:xfrm>
          <a:prstGeom prst="rect">
            <a:avLst/>
          </a:prstGeom>
        </p:spPr>
      </p:pic>
      <p:sp>
        <p:nvSpPr>
          <p:cNvPr id="10" name="Rectangle 9"/>
          <p:cNvSpPr/>
          <p:nvPr/>
        </p:nvSpPr>
        <p:spPr>
          <a:xfrm>
            <a:off x="856061"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351605" y="1490472"/>
            <a:ext cx="4990429" cy="3465576"/>
          </a:xfrm>
          <a:prstGeom prst="rect">
            <a:avLst/>
          </a:prstGeom>
        </p:spPr>
      </p:pic>
      <p:sp>
        <p:nvSpPr>
          <p:cNvPr id="12" name="Rectangle 11"/>
          <p:cNvSpPr/>
          <p:nvPr/>
        </p:nvSpPr>
        <p:spPr>
          <a:xfrm>
            <a:off x="6351605"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084064"/>
            <a:ext cx="5020056"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Admin dashboard</a:t>
            </a:r>
          </a:p>
        </p:txBody>
      </p:sp>
      <p:sp>
        <p:nvSpPr>
          <p:cNvPr id="14" name="TextBox 13"/>
          <p:cNvSpPr txBox="1"/>
          <p:nvPr/>
        </p:nvSpPr>
        <p:spPr>
          <a:xfrm>
            <a:off x="6364224" y="5084064"/>
            <a:ext cx="5001768"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Balanced journal-entry lines</a:t>
            </a:r>
          </a:p>
        </p:txBody>
      </p:sp>
      <p:sp>
        <p:nvSpPr>
          <p:cNvPr id="15" name="Rounded Rectangle 14"/>
          <p:cNvSpPr/>
          <p:nvPr/>
        </p:nvSpPr>
        <p:spPr>
          <a:xfrm>
            <a:off x="768096" y="5513832"/>
            <a:ext cx="10652760" cy="530352"/>
          </a:xfrm>
          <a:prstGeom prst="round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0976" y="5577840"/>
            <a:ext cx="10232136"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These are browser workflow screenshots; their displayed counts are not benchmark metrics.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SYNTHESIS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decision is deliberately asymmetric</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4.5; Appendix 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21</a:t>
            </a:r>
          </a:p>
        </p:txBody>
      </p:sp>
      <p:graphicFrame>
        <p:nvGraphicFramePr>
          <p:cNvPr id="9" name="Table 8"/>
          <p:cNvGraphicFramePr>
            <a:graphicFrameLocks noGrp="1"/>
          </p:cNvGraphicFramePr>
          <p:nvPr/>
        </p:nvGraphicFramePr>
        <p:xfrm>
          <a:off x="731520" y="1362456"/>
          <a:ext cx="10716767" cy="3767328"/>
        </p:xfrm>
        <a:graphic>
          <a:graphicData uri="http://schemas.openxmlformats.org/drawingml/2006/table">
            <a:tbl>
              <a:tblPr firstRow="1" bandRow="1">
                <a:tableStyleId>{5C22544A-7EE6-4342-B048-85BDC9FD1C3A}</a:tableStyleId>
              </a:tblPr>
              <a:tblGrid>
                <a:gridCol w="2143353"/>
                <a:gridCol w="3000695"/>
                <a:gridCol w="5572719"/>
              </a:tblGrid>
              <a:tr h="753465">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Why</a:t>
                      </a:r>
                    </a:p>
                  </a:txBody>
                  <a:tcPr marL="109728" marR="91440" marT="36576" marB="36576">
                    <a:solidFill>
                      <a:srgbClr val="252B33"/>
                    </a:solidFill>
                  </a:tcPr>
                </a:tc>
              </a:tr>
              <a:tr h="753465">
                <a:tc>
                  <a:txBody>
                    <a:bodyPr/>
                    <a:lstStyle/>
                    <a:p>
                      <a:pPr algn="l">
                        <a:spcAft>
                          <a:spcPts val="0"/>
                        </a:spcAft>
                      </a:pPr>
                      <a:r>
                        <a:rPr sz="1700" b="0">
                          <a:solidFill>
                            <a:srgbClr val="252B33"/>
                          </a:solidFill>
                          <a:latin typeface="Arial"/>
                        </a:rPr>
                        <a:t>Code quality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17 issues → 0; gate OK; small coverage/complexity regressions</a:t>
                      </a:r>
                    </a:p>
                  </a:txBody>
                  <a:tcPr marL="109728" marR="91440" marT="36576" marB="36576">
                    <a:solidFill>
                      <a:srgbClr val="FFFFFF"/>
                    </a:solidFill>
                  </a:tcPr>
                </a:tc>
              </a:tr>
              <a:tr h="753465">
                <a:tc>
                  <a:txBody>
                    <a:bodyPr/>
                    <a:lstStyle/>
                    <a:p>
                      <a:pPr algn="l">
                        <a:spcAft>
                          <a:spcPts val="0"/>
                        </a:spcAft>
                      </a:pPr>
                      <a:r>
                        <a:rPr sz="1700" b="0">
                          <a:solidFill>
                            <a:srgbClr val="252B33"/>
                          </a:solidFill>
                          <a:latin typeface="Arial"/>
                        </a:rPr>
                        <a:t>Security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 gate passed</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Passive cleared; raw API Medium transport alert remains</a:t>
                      </a:r>
                    </a:p>
                  </a:txBody>
                  <a:tcPr marL="109728" marR="91440" marT="36576" marB="36576">
                    <a:solidFill>
                      <a:srgbClr val="F7F9FC"/>
                    </a:solidFill>
                  </a:tcPr>
                </a:tc>
              </a:tr>
              <a:tr h="753465">
                <a:tc>
                  <a:txBody>
                    <a:bodyPr/>
                    <a:lstStyle/>
                    <a:p>
                      <a:pPr algn="l">
                        <a:spcAft>
                          <a:spcPts val="0"/>
                        </a:spcAft>
                      </a:pPr>
                      <a:r>
                        <a:rPr sz="1700" b="0">
                          <a:solidFill>
                            <a:srgbClr val="252B33"/>
                          </a:solidFill>
                          <a:latin typeface="Arial"/>
                        </a:rPr>
                        <a:t>Core performance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Not 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p100 and p500 p95 exceeded thresholds</a:t>
                      </a:r>
                    </a:p>
                  </a:txBody>
                  <a:tcPr marL="109728" marR="91440" marT="36576" marB="36576">
                    <a:solidFill>
                      <a:srgbClr val="FFFFFF"/>
                    </a:solidFill>
                  </a:tcPr>
                </a:tc>
              </a:tr>
              <a:tr h="753468">
                <a:tc>
                  <a:txBody>
                    <a:bodyPr/>
                    <a:lstStyle/>
                    <a:p>
                      <a:pPr algn="l">
                        <a:spcAft>
                          <a:spcPts val="0"/>
                        </a:spcAft>
                      </a:pPr>
                      <a:r>
                        <a:rPr sz="1700" b="0">
                          <a:solidFill>
                            <a:srgbClr val="252B33"/>
                          </a:solidFill>
                          <a:latin typeface="Arial"/>
                        </a:rPr>
                        <a:t>Stress behavior</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Partially achieved</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Soak and spike aggregates improved</a:t>
                      </a:r>
                    </a:p>
                  </a:txBody>
                  <a:tcPr marL="109728" marR="91440" marT="36576" marB="36576">
                    <a:solidFill>
                      <a:srgbClr val="F7F9FC"/>
                    </a:solidFill>
                  </a:tcPr>
                </a:tc>
              </a:tr>
            </a:tbl>
          </a:graphicData>
        </a:graphic>
      </p:graphicFrame>
      <p:sp>
        <p:nvSpPr>
          <p:cNvPr id="10" name="TextBox 9"/>
          <p:cNvSpPr txBox="1"/>
          <p:nvPr/>
        </p:nvSpPr>
        <p:spPr>
          <a:xfrm>
            <a:off x="758952" y="5413248"/>
            <a:ext cx="10680192" cy="41148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5B6874"/>
                </a:solidFill>
                <a:latin typeface="Arial"/>
              </a:rPr>
              <a:t>Limits: one API · one host · one fresh run per branch · tool-specific coverage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CLOSING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strongest result is the controlled audit-to-fix method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Chapter 5; Appendices A-N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22</a:t>
            </a:r>
          </a:p>
        </p:txBody>
      </p:sp>
      <p:sp>
        <p:nvSpPr>
          <p:cNvPr id="9" name="Rounded Rectangle 8"/>
          <p:cNvSpPr/>
          <p:nvPr/>
        </p:nvSpPr>
        <p:spPr>
          <a:xfrm>
            <a:off x="731520" y="1380744"/>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664208"/>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246F46"/>
                </a:solidFill>
                <a:latin typeface="Arial"/>
              </a:rPr>
              <a:t>01</a:t>
            </a:r>
          </a:p>
        </p:txBody>
      </p:sp>
      <p:sp>
        <p:nvSpPr>
          <p:cNvPr id="11" name="TextBox 10"/>
          <p:cNvSpPr txBox="1"/>
          <p:nvPr/>
        </p:nvSpPr>
        <p:spPr>
          <a:xfrm>
            <a:off x="1783080" y="1517904"/>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246F46"/>
                </a:solidFill>
                <a:latin typeface="Arial"/>
              </a:rPr>
              <a:t>The model can help</a:t>
            </a:r>
          </a:p>
        </p:txBody>
      </p:sp>
      <p:sp>
        <p:nvSpPr>
          <p:cNvPr id="12" name="TextBox 11"/>
          <p:cNvSpPr txBox="1"/>
          <p:nvPr/>
        </p:nvSpPr>
        <p:spPr>
          <a:xfrm>
            <a:off x="1783080" y="2002536"/>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Seventeen fresh static issues closed; security rule gate passed.</a:t>
            </a:r>
          </a:p>
        </p:txBody>
      </p:sp>
      <p:sp>
        <p:nvSpPr>
          <p:cNvPr id="13" name="Rounded Rectangle 12"/>
          <p:cNvSpPr/>
          <p:nvPr/>
        </p:nvSpPr>
        <p:spPr>
          <a:xfrm>
            <a:off x="731520" y="2825496"/>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108960"/>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B3373D"/>
                </a:solidFill>
                <a:latin typeface="Arial"/>
              </a:rPr>
              <a:t>02</a:t>
            </a:r>
          </a:p>
        </p:txBody>
      </p:sp>
      <p:sp>
        <p:nvSpPr>
          <p:cNvPr id="15" name="TextBox 14"/>
          <p:cNvSpPr txBox="1"/>
          <p:nvPr/>
        </p:nvSpPr>
        <p:spPr>
          <a:xfrm>
            <a:off x="1783080" y="2962656"/>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Measurement can reject it</a:t>
            </a:r>
          </a:p>
        </p:txBody>
      </p:sp>
      <p:sp>
        <p:nvSpPr>
          <p:cNvPr id="16" name="TextBox 15"/>
          <p:cNvSpPr txBox="1"/>
          <p:nvPr/>
        </p:nvSpPr>
        <p:spPr>
          <a:xfrm>
            <a:off x="1783080" y="3447288"/>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The fresh primary JMeter core gate failed despite stress gains.</a:t>
            </a:r>
          </a:p>
        </p:txBody>
      </p:sp>
      <p:sp>
        <p:nvSpPr>
          <p:cNvPr id="17" name="Rounded Rectangle 16"/>
          <p:cNvSpPr/>
          <p:nvPr/>
        </p:nvSpPr>
        <p:spPr>
          <a:xfrm>
            <a:off x="731520" y="4270248"/>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553712"/>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0F676D"/>
                </a:solidFill>
                <a:latin typeface="Arial"/>
              </a:rPr>
              <a:t>03</a:t>
            </a:r>
          </a:p>
        </p:txBody>
      </p:sp>
      <p:sp>
        <p:nvSpPr>
          <p:cNvPr id="19" name="TextBox 18"/>
          <p:cNvSpPr txBox="1"/>
          <p:nvPr/>
        </p:nvSpPr>
        <p:spPr>
          <a:xfrm>
            <a:off x="1783080" y="4407408"/>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Provenance makes it auditable</a:t>
            </a:r>
          </a:p>
        </p:txBody>
      </p:sp>
      <p:sp>
        <p:nvSpPr>
          <p:cNvPr id="20" name="TextBox 19"/>
          <p:cNvSpPr txBox="1"/>
          <p:nvPr/>
        </p:nvSpPr>
        <p:spPr>
          <a:xfrm>
            <a:off x="1783080" y="4892040"/>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Pinned branches, tests, dashboard captures, and raw records remain available.</a:t>
            </a:r>
          </a:p>
        </p:txBody>
      </p:sp>
      <p:sp>
        <p:nvSpPr>
          <p:cNvPr id="21" name="TextBox 20"/>
          <p:cNvSpPr txBox="1"/>
          <p:nvPr/>
        </p:nvSpPr>
        <p:spPr>
          <a:xfrm>
            <a:off x="749808" y="5815584"/>
            <a:ext cx="10716768" cy="356616"/>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0F676D"/>
                </a:solidFill>
                <a:latin typeface="Arial"/>
              </a:rPr>
              <a:t>Thank you. Questions?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Where each defense claim can be checked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A-N and dashboard-capture manifest</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23</a:t>
            </a:r>
          </a:p>
        </p:txBody>
      </p:sp>
      <p:graphicFrame>
        <p:nvGraphicFramePr>
          <p:cNvPr id="9" name="Table 8"/>
          <p:cNvGraphicFramePr>
            <a:graphicFrameLocks noGrp="1"/>
          </p:cNvGraphicFramePr>
          <p:nvPr/>
        </p:nvGraphicFramePr>
        <p:xfrm>
          <a:off x="731520" y="1389888"/>
          <a:ext cx="10716766" cy="3895344"/>
        </p:xfrm>
        <a:graphic>
          <a:graphicData uri="http://schemas.openxmlformats.org/drawingml/2006/table">
            <a:tbl>
              <a:tblPr firstRow="1" bandRow="1">
                <a:tableStyleId>{5C22544A-7EE6-4342-B048-85BDC9FD1C3A}</a:tableStyleId>
              </a:tblPr>
              <a:tblGrid>
                <a:gridCol w="2464856"/>
                <a:gridCol w="3215030"/>
                <a:gridCol w="5036880"/>
              </a:tblGrid>
              <a:tr h="779068">
                <a:tc>
                  <a:txBody>
                    <a:bodyPr/>
                    <a:lstStyle/>
                    <a:p>
                      <a:pPr algn="l">
                        <a:spcAft>
                          <a:spcPts val="0"/>
                        </a:spcAft>
                      </a:pPr>
                      <a:r>
                        <a:rPr sz="1600" b="1">
                          <a:solidFill>
                            <a:srgbClr val="FFFFFF"/>
                          </a:solidFill>
                          <a:latin typeface="Arial"/>
                        </a:rPr>
                        <a:t>Claim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Machine-readable record</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Report evidence</a:t>
                      </a:r>
                    </a:p>
                  </a:txBody>
                  <a:tcPr marL="109728" marR="91440" marT="36576" marB="36576">
                    <a:solidFill>
                      <a:srgbClr val="252B33"/>
                    </a:solidFill>
                  </a:tcPr>
                </a:tc>
              </a:tr>
              <a:tr h="779068">
                <a:tc>
                  <a:txBody>
                    <a:bodyPr/>
                    <a:lstStyle/>
                    <a:p>
                      <a:pPr algn="l">
                        <a:spcAft>
                          <a:spcPts val="0"/>
                        </a:spcAft>
                      </a:pPr>
                      <a:r>
                        <a:rPr sz="1600" b="0">
                          <a:solidFill>
                            <a:srgbClr val="252B33"/>
                          </a:solidFill>
                          <a:latin typeface="Arial"/>
                        </a:rPr>
                        <a:t>Static issues</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sonar/*/summary.json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Table 4.2 · Appendix E · Figures L.1-L.4</a:t>
                      </a:r>
                    </a:p>
                  </a:txBody>
                  <a:tcPr marL="109728" marR="91440" marT="36576" marB="36576">
                    <a:solidFill>
                      <a:srgbClr val="FFFFFF"/>
                    </a:solidFill>
                  </a:tcPr>
                </a:tc>
              </a:tr>
              <a:tr h="779068">
                <a:tc>
                  <a:txBody>
                    <a:bodyPr/>
                    <a:lstStyle/>
                    <a:p>
                      <a:pPr algn="l">
                        <a:spcAft>
                          <a:spcPts val="0"/>
                        </a:spcAft>
                      </a:pPr>
                      <a:r>
                        <a:rPr sz="1600" b="0">
                          <a:solidFill>
                            <a:srgbClr val="252B33"/>
                          </a:solidFill>
                          <a:latin typeface="Arial"/>
                        </a:rPr>
                        <a:t>ZAP raw/gate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zap/*/summary.json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§4.3 · Appendix F · Figures L.5-L.8</a:t>
                      </a:r>
                    </a:p>
                  </a:txBody>
                  <a:tcPr marL="109728" marR="91440" marT="36576" marB="36576">
                    <a:solidFill>
                      <a:srgbClr val="F7F9FC"/>
                    </a:solidFill>
                  </a:tcPr>
                </a:tc>
              </a:tr>
              <a:tr h="779068">
                <a:tc>
                  <a:txBody>
                    <a:bodyPr/>
                    <a:lstStyle/>
                    <a:p>
                      <a:pPr algn="l">
                        <a:spcAft>
                          <a:spcPts val="0"/>
                        </a:spcAft>
                      </a:pPr>
                      <a:r>
                        <a:rPr sz="1600" b="0">
                          <a:solidFill>
                            <a:srgbClr val="252B33"/>
                          </a:solidFill>
                          <a:latin typeface="Arial"/>
                        </a:rPr>
                        <a:t>JMeter p95/gate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jmeter/*/summary.json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§4.4 · Appendix G · Figures L.9-L.18</a:t>
                      </a:r>
                    </a:p>
                  </a:txBody>
                  <a:tcPr marL="109728" marR="91440" marT="36576" marB="36576">
                    <a:solidFill>
                      <a:srgbClr val="FFFFFF"/>
                    </a:solidFill>
                  </a:tcPr>
                </a:tc>
              </a:tr>
              <a:tr h="779072">
                <a:tc>
                  <a:txBody>
                    <a:bodyPr/>
                    <a:lstStyle/>
                    <a:p>
                      <a:pPr algn="l">
                        <a:spcAft>
                          <a:spcPts val="0"/>
                        </a:spcAft>
                      </a:pPr>
                      <a:r>
                        <a:rPr sz="1600" b="0">
                          <a:solidFill>
                            <a:srgbClr val="252B33"/>
                          </a:solidFill>
                          <a:latin typeface="Arial"/>
                        </a:rPr>
                        <a:t>Working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role/browser run records</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§4.6 · Figures 4.2-4.7</a:t>
                      </a:r>
                    </a:p>
                  </a:txBody>
                  <a:tcPr marL="109728" marR="91440" marT="36576" marB="36576">
                    <a:solidFill>
                      <a:srgbClr val="F7F9FC"/>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Exact baseline and remediation commits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Appendix A; Table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24</a:t>
            </a:r>
          </a:p>
        </p:txBody>
      </p:sp>
      <p:graphicFrame>
        <p:nvGraphicFramePr>
          <p:cNvPr id="9" name="Table 8"/>
          <p:cNvGraphicFramePr>
            <a:graphicFrameLocks noGrp="1"/>
          </p:cNvGraphicFramePr>
          <p:nvPr/>
        </p:nvGraphicFramePr>
        <p:xfrm>
          <a:off x="731520" y="1380744"/>
          <a:ext cx="10716767" cy="4434840"/>
        </p:xfrm>
        <a:graphic>
          <a:graphicData uri="http://schemas.openxmlformats.org/drawingml/2006/table">
            <a:tbl>
              <a:tblPr firstRow="1" bandRow="1">
                <a:tableStyleId>{5C22544A-7EE6-4342-B048-85BDC9FD1C3A}</a:tableStyleId>
              </a:tblPr>
              <a:tblGrid>
                <a:gridCol w="2679192"/>
                <a:gridCol w="5036880"/>
                <a:gridCol w="3000695"/>
              </a:tblGrid>
              <a:tr h="739140">
                <a:tc>
                  <a:txBody>
                    <a:bodyPr/>
                    <a:lstStyle/>
                    <a:p>
                      <a:pPr algn="l">
                        <a:spcAft>
                          <a:spcPts val="0"/>
                        </a:spcAft>
                      </a:pPr>
                      <a:r>
                        <a:rPr sz="17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Branch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Tested commit</a:t>
                      </a:r>
                    </a:p>
                  </a:txBody>
                  <a:tcPr marL="109728" marR="91440" marT="36576" marB="36576">
                    <a:solidFill>
                      <a:srgbClr val="252B33"/>
                    </a:solidFill>
                  </a:tcPr>
                </a:tc>
              </a:tr>
              <a:tr h="739140">
                <a:tc>
                  <a:txBody>
                    <a:bodyPr/>
                    <a:lstStyle/>
                    <a:p>
                      <a:pPr algn="l">
                        <a:spcAft>
                          <a:spcPts val="0"/>
                        </a:spcAft>
                      </a:pPr>
                      <a:r>
                        <a:rPr sz="1700" b="0">
                          <a:solidFill>
                            <a:srgbClr val="252B33"/>
                          </a:solidFill>
                          <a:latin typeface="Arial"/>
                        </a:rPr>
                        <a:t>Shared baseline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baseline-v0.1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7a0469d9</a:t>
                      </a:r>
                    </a:p>
                  </a:txBody>
                  <a:tcPr marL="109728" marR="91440" marT="36576" marB="36576">
                    <a:solidFill>
                      <a:srgbClr val="FFFFFF"/>
                    </a:solidFill>
                  </a:tcPr>
                </a:tc>
              </a:tr>
              <a:tr h="739140">
                <a:tc>
                  <a:txBody>
                    <a:bodyPr/>
                    <a:lstStyle/>
                    <a:p>
                      <a:pPr algn="l">
                        <a:spcAft>
                          <a:spcPts val="0"/>
                        </a:spcAft>
                      </a:pPr>
                      <a:r>
                        <a:rPr sz="1700" b="0">
                          <a:solidFill>
                            <a:srgbClr val="252B33"/>
                          </a:solidFill>
                          <a:latin typeface="Arial"/>
                        </a:rPr>
                        <a:t>Static quality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baseline-sonarqube-v1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a2279bcb</a:t>
                      </a:r>
                    </a:p>
                  </a:txBody>
                  <a:tcPr marL="109728" marR="91440" marT="36576" marB="36576">
                    <a:solidFill>
                      <a:srgbClr val="F7F9FC"/>
                    </a:solidFill>
                  </a:tcPr>
                </a:tc>
              </a:tr>
              <a:tr h="739140">
                <a:tc>
                  <a:txBody>
                    <a:bodyPr/>
                    <a:lstStyle/>
                    <a:p>
                      <a:pPr algn="l">
                        <a:spcAft>
                          <a:spcPts val="0"/>
                        </a:spcAft>
                      </a:pPr>
                      <a:r>
                        <a:rPr sz="1700" b="0">
                          <a:solidFill>
                            <a:srgbClr val="252B33"/>
                          </a:solidFill>
                          <a:latin typeface="Arial"/>
                        </a:rPr>
                        <a:t>Security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baseline-zap-v1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5f3bd3cc</a:t>
                      </a:r>
                    </a:p>
                  </a:txBody>
                  <a:tcPr marL="109728" marR="91440" marT="36576" marB="36576">
                    <a:solidFill>
                      <a:srgbClr val="FFFFFF"/>
                    </a:solidFill>
                  </a:tcPr>
                </a:tc>
              </a:tr>
              <a:tr h="739140">
                <a:tc>
                  <a:txBody>
                    <a:bodyPr/>
                    <a:lstStyle/>
                    <a:p>
                      <a:pPr algn="l">
                        <a:spcAft>
                          <a:spcPts val="0"/>
                        </a:spcAft>
                      </a:pPr>
                      <a:r>
                        <a:rPr sz="1700" b="0">
                          <a:solidFill>
                            <a:srgbClr val="252B33"/>
                          </a:solidFill>
                          <a:latin typeface="Arial"/>
                        </a:rPr>
                        <a:t>Performance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baseline-jmeter-v1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78b08b62</a:t>
                      </a:r>
                    </a:p>
                  </a:txBody>
                  <a:tcPr marL="109728" marR="91440" marT="36576" marB="36576">
                    <a:solidFill>
                      <a:srgbClr val="F7F9FC"/>
                    </a:solidFill>
                  </a:tcPr>
                </a:tc>
              </a:tr>
              <a:tr h="739140">
                <a:tc>
                  <a:txBody>
                    <a:bodyPr/>
                    <a:lstStyle/>
                    <a:p>
                      <a:pPr algn="l">
                        <a:spcAft>
                          <a:spcPts val="0"/>
                        </a:spcAft>
                      </a:pPr>
                      <a:r>
                        <a:rPr sz="1700" b="0">
                          <a:solidFill>
                            <a:srgbClr val="252B33"/>
                          </a:solidFill>
                          <a:latin typeface="Arial"/>
                        </a:rPr>
                        <a:t>Reproduction</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codex/thesis-reproducibility-v1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efa19cea</a:t>
                      </a:r>
                    </a:p>
                  </a:txBody>
                  <a:tcPr marL="109728" marR="91440" marT="36576" marB="36576">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SonarQube metric detail</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4.2; fresh SonarQube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25</a:t>
            </a:r>
          </a:p>
        </p:txBody>
      </p:sp>
      <p:graphicFrame>
        <p:nvGraphicFramePr>
          <p:cNvPr id="9" name="Table 8"/>
          <p:cNvGraphicFramePr>
            <a:graphicFrameLocks noGrp="1"/>
          </p:cNvGraphicFramePr>
          <p:nvPr/>
        </p:nvGraphicFramePr>
        <p:xfrm>
          <a:off x="722376" y="1280160"/>
          <a:ext cx="10744199" cy="4928616"/>
        </p:xfrm>
        <a:graphic>
          <a:graphicData uri="http://schemas.openxmlformats.org/drawingml/2006/table">
            <a:tbl>
              <a:tblPr firstRow="1" bandRow="1">
                <a:tableStyleId>{5C22544A-7EE6-4342-B048-85BDC9FD1C3A}</a:tableStyleId>
              </a:tblPr>
              <a:tblGrid>
                <a:gridCol w="3867911"/>
                <a:gridCol w="1611630"/>
                <a:gridCol w="1611630"/>
                <a:gridCol w="3653028"/>
              </a:tblGrid>
              <a:tr h="352044">
                <a:tc>
                  <a:txBody>
                    <a:bodyPr/>
                    <a:lstStyle/>
                    <a:p>
                      <a:pPr algn="l">
                        <a:spcAft>
                          <a:spcPts val="0"/>
                        </a:spcAft>
                      </a:pPr>
                      <a:r>
                        <a:rPr sz="1200" b="1">
                          <a:solidFill>
                            <a:srgbClr val="FFFFFF"/>
                          </a:solidFill>
                          <a:latin typeface="Arial"/>
                        </a:rPr>
                        <a:t>Metric</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Baseline</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After</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Meaning</a:t>
                      </a:r>
                    </a:p>
                  </a:txBody>
                  <a:tcPr marL="109728" marR="91440" marT="36576" marB="36576">
                    <a:solidFill>
                      <a:srgbClr val="252B33"/>
                    </a:solidFill>
                  </a:tcPr>
                </a:tc>
              </a:tr>
              <a:tr h="352044">
                <a:tc>
                  <a:txBody>
                    <a:bodyPr/>
                    <a:lstStyle/>
                    <a:p>
                      <a:pPr algn="l">
                        <a:spcAft>
                          <a:spcPts val="0"/>
                        </a:spcAft>
                      </a:pPr>
                      <a:r>
                        <a:rPr sz="1200" b="0">
                          <a:solidFill>
                            <a:srgbClr val="252B33"/>
                          </a:solidFill>
                          <a:latin typeface="Arial"/>
                        </a:rPr>
                        <a:t>Total unique issues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17</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Distinct issue count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Code smells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17</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Bugs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Vulnerabilities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Reliability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2</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impact*</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Maintainability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hotspots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Scanner finding</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Coverage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74.4%</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74.3%</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Down 0.1 point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Duplicated lines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Cyclomatic complexity</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889</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Up 3</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Cognitive complexity</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Quality Gate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 on both</a:t>
                      </a:r>
                    </a:p>
                  </a:txBody>
                  <a:tcPr marL="109728" marR="91440" marT="36576" marB="36576">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ZAP raw alert counts and gate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fresh ZAP summaries;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26</a:t>
            </a:r>
          </a:p>
        </p:txBody>
      </p:sp>
      <p:graphicFrame>
        <p:nvGraphicFramePr>
          <p:cNvPr id="9" name="Table 8"/>
          <p:cNvGraphicFramePr>
            <a:graphicFrameLocks noGrp="1"/>
          </p:cNvGraphicFramePr>
          <p:nvPr/>
        </p:nvGraphicFramePr>
        <p:xfrm>
          <a:off x="722376" y="1353312"/>
          <a:ext cx="10744200" cy="3822191"/>
        </p:xfrm>
        <a:graphic>
          <a:graphicData uri="http://schemas.openxmlformats.org/drawingml/2006/table">
            <a:tbl>
              <a:tblPr firstRow="1" bandRow="1">
                <a:tableStyleId>{5C22544A-7EE6-4342-B048-85BDC9FD1C3A}</a:tableStyleId>
              </a:tblPr>
              <a:tblGrid>
                <a:gridCol w="2041398"/>
                <a:gridCol w="2148840"/>
                <a:gridCol w="1074420"/>
                <a:gridCol w="1289304"/>
                <a:gridCol w="1074420"/>
                <a:gridCol w="1074420"/>
                <a:gridCol w="2041398"/>
              </a:tblGrid>
              <a:tr h="764438">
                <a:tc>
                  <a:txBody>
                    <a:bodyPr/>
                    <a:lstStyle/>
                    <a:p>
                      <a:pPr algn="l">
                        <a:spcAft>
                          <a:spcPts val="0"/>
                        </a:spcAft>
                      </a:pPr>
                      <a:r>
                        <a:rPr sz="1600" b="1">
                          <a:solidFill>
                            <a:srgbClr val="FFFFFF"/>
                          </a:solidFill>
                          <a:latin typeface="Arial"/>
                        </a:rPr>
                        <a:t>Scan</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High</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Medium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Low</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Info</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Gate</a:t>
                      </a:r>
                    </a:p>
                  </a:txBody>
                  <a:tcPr marL="109728" marR="91440" marT="36576" marB="36576">
                    <a:solidFill>
                      <a:srgbClr val="252B33"/>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8">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3</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9">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bl>
          </a:graphicData>
        </a:graphic>
      </p:graphicFrame>
      <p:sp>
        <p:nvSpPr>
          <p:cNvPr id="10" name="Rounded Rectangle 9"/>
          <p:cNvSpPr/>
          <p:nvPr/>
        </p:nvSpPr>
        <p:spPr>
          <a:xfrm>
            <a:off x="758952" y="5404104"/>
            <a:ext cx="10661904" cy="57607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5477256"/>
            <a:ext cx="10241280" cy="38404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Raw API Medium after remediation = 1 (HTTP Only Site); configured rule gate = PASS.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JMeter profile matrix</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27</a:t>
            </a:r>
          </a:p>
        </p:txBody>
      </p:sp>
      <p:graphicFrame>
        <p:nvGraphicFramePr>
          <p:cNvPr id="9" name="Table 8"/>
          <p:cNvGraphicFramePr>
            <a:graphicFrameLocks noGrp="1"/>
          </p:cNvGraphicFramePr>
          <p:nvPr/>
        </p:nvGraphicFramePr>
        <p:xfrm>
          <a:off x="722376" y="1399032"/>
          <a:ext cx="10744200" cy="4142232"/>
        </p:xfrm>
        <a:graphic>
          <a:graphicData uri="http://schemas.openxmlformats.org/drawingml/2006/table">
            <a:tbl>
              <a:tblPr firstRow="1" bandRow="1">
                <a:tableStyleId>{5C22544A-7EE6-4342-B048-85BDC9FD1C3A}</a:tableStyleId>
              </a:tblPr>
              <a:tblGrid>
                <a:gridCol w="1504188"/>
                <a:gridCol w="2041398"/>
                <a:gridCol w="2041398"/>
                <a:gridCol w="1826514"/>
                <a:gridCol w="1826514"/>
                <a:gridCol w="1504188"/>
              </a:tblGrid>
              <a:tr h="690372">
                <a:tc>
                  <a:txBody>
                    <a:bodyPr/>
                    <a:lstStyle/>
                    <a:p>
                      <a:pPr algn="l">
                        <a:spcAft>
                          <a:spcPts val="0"/>
                        </a:spcAft>
                      </a:pPr>
                      <a:r>
                        <a:rPr sz="16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Before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tx/s</a:t>
                      </a:r>
                    </a:p>
                  </a:txBody>
                  <a:tcPr marL="109728" marR="91440" marT="36576" marB="36576">
                    <a:solidFill>
                      <a:srgbClr val="252B33"/>
                    </a:solidFill>
                  </a:tcPr>
                </a:tc>
              </a:tr>
              <a:tr h="690372">
                <a:tc>
                  <a:txBody>
                    <a:bodyPr/>
                    <a:lstStyle/>
                    <a:p>
                      <a:pPr algn="l">
                        <a:spcAft>
                          <a:spcPts val="0"/>
                        </a:spcAft>
                      </a:pPr>
                      <a:r>
                        <a:rPr sz="1600" b="0">
                          <a:solidFill>
                            <a:srgbClr val="252B33"/>
                          </a:solidFill>
                          <a:latin typeface="Arial"/>
                        </a:rPr>
                        <a:t>p50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199.90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52.64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p100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255.90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1,146.90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54.11</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p500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106.00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1,547.95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62.44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soak</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443.95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171.00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170.98</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spike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33,401.75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4,730.85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0.4688%</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149.90</a:t>
                      </a:r>
                    </a:p>
                  </a:txBody>
                  <a:tcPr marL="109728" marR="91440" marT="36576" marB="36576">
                    <a:solidFill>
                      <a:srgbClr val="FFFFFF"/>
                    </a:solidFill>
                  </a:tcPr>
                </a:tc>
              </a:tr>
            </a:tbl>
          </a:graphicData>
        </a:graphic>
      </p:graphicFrame>
      <p:sp>
        <p:nvSpPr>
          <p:cNvPr id="10" name="TextBox 9"/>
          <p:cNvSpPr txBox="1"/>
          <p:nvPr/>
        </p:nvSpPr>
        <p:spPr>
          <a:xfrm>
            <a:off x="758952" y="5751576"/>
            <a:ext cx="10671048" cy="37490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Baseline core gate PASS; remediation core gate FAIL (p100 and p500 thresholds).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S107 source: eight parameters to one DTO</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 E.1; Tables 3.4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28</a:t>
            </a:r>
          </a:p>
        </p:txBody>
      </p:sp>
      <p:sp>
        <p:nvSpPr>
          <p:cNvPr id="9" name="Rounded Rectangle 8"/>
          <p:cNvSpPr/>
          <p:nvPr/>
        </p:nvSpPr>
        <p:spPr>
          <a:xfrm>
            <a:off x="731520"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BEFORE · baseline-v0.1</a:t>
            </a:r>
          </a:p>
        </p:txBody>
      </p:sp>
      <p:sp>
        <p:nvSpPr>
          <p:cNvPr id="12" name="TextBox 11"/>
          <p:cNvSpPr txBox="1"/>
          <p:nvPr/>
        </p:nvSpPr>
        <p:spPr>
          <a:xfrm>
            <a:off x="6446520"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AFTER · baseline-sonarqube-v1</a:t>
            </a:r>
          </a:p>
        </p:txBody>
      </p:sp>
      <p:sp>
        <p:nvSpPr>
          <p:cNvPr id="13" name="TextBox 12"/>
          <p:cNvSpPr txBox="1"/>
          <p:nvPr/>
        </p:nvSpPr>
        <p:spPr>
          <a:xfrm>
            <a:off x="941832" y="2112264"/>
            <a:ext cx="4718304"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from, to, status, accountId,
  search, page, pageSize, sort
)
// 8 query parameters</a:t>
            </a:r>
          </a:p>
        </p:txBody>
      </p:sp>
      <p:sp>
        <p:nvSpPr>
          <p:cNvPr id="14" name="TextBox 13"/>
          <p:cNvSpPr txBox="1"/>
          <p:nvPr/>
        </p:nvSpPr>
        <p:spPr>
          <a:xfrm>
            <a:off x="6446520" y="2112264"/>
            <a:ext cx="4709160"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JournalEntryQueryDto query
)
// DTO carries the query inputs</a:t>
            </a:r>
          </a:p>
        </p:txBody>
      </p:sp>
      <p:sp>
        <p:nvSpPr>
          <p:cNvPr id="15" name="TextBox 14"/>
          <p:cNvSpPr txBox="1"/>
          <p:nvPr/>
        </p:nvSpPr>
        <p:spPr>
          <a:xfrm>
            <a:off x="786384" y="5330952"/>
            <a:ext cx="10588752" cy="5303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0F676D"/>
                </a:solidFill>
                <a:latin typeface="Arial"/>
              </a:rPr>
              <a:t>Measured result: fresh SonarQube issues 17 → 0; the route remains GET /journal-entries.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Source examples: security order and report persistence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Listings F.1-F.2 and G.1-G.3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29</a:t>
            </a:r>
          </a:p>
        </p:txBody>
      </p:sp>
      <p:sp>
        <p:nvSpPr>
          <p:cNvPr id="9" name="Rounded Rectangle 8"/>
          <p:cNvSpPr/>
          <p:nvPr/>
        </p:nvSpPr>
        <p:spPr>
          <a:xfrm>
            <a:off x="731520"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468172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SECURITY · API/Program.cs</a:t>
            </a:r>
          </a:p>
        </p:txBody>
      </p:sp>
      <p:sp>
        <p:nvSpPr>
          <p:cNvPr id="12" name="TextBox 11"/>
          <p:cNvSpPr txBox="1"/>
          <p:nvPr/>
        </p:nvSpPr>
        <p:spPr>
          <a:xfrm>
            <a:off x="950976" y="2167128"/>
            <a:ext cx="4690872"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SecurityHeadersMiddleware
→ before Swagger/OpenAPI
Swagger UI exposed only when the separate UI flag allows it.</a:t>
            </a:r>
          </a:p>
        </p:txBody>
      </p:sp>
      <p:sp>
        <p:nvSpPr>
          <p:cNvPr id="13" name="TextBox 12"/>
          <p:cNvSpPr txBox="1"/>
          <p:nvPr/>
        </p:nvSpPr>
        <p:spPr>
          <a:xfrm>
            <a:off x="6437376" y="1664208"/>
            <a:ext cx="472744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PERFORMANCE · FinancialReportService.cs</a:t>
            </a:r>
          </a:p>
        </p:txBody>
      </p:sp>
      <p:sp>
        <p:nvSpPr>
          <p:cNvPr id="14" name="TextBox 13"/>
          <p:cNvSpPr txBox="1"/>
          <p:nvPr/>
        </p:nvSpPr>
        <p:spPr>
          <a:xfrm>
            <a:off x="6437376" y="2167128"/>
            <a:ext cx="4709160"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Account-ledger payload cache
+ avoid snapshot write pressure
Fresh load behavior remains mixed; core gate FAIL.</a:t>
            </a:r>
          </a:p>
        </p:txBody>
      </p:sp>
      <p:sp>
        <p:nvSpPr>
          <p:cNvPr id="15" name="TextBox 14"/>
          <p:cNvSpPr txBox="1"/>
          <p:nvPr/>
        </p:nvSpPr>
        <p:spPr>
          <a:xfrm>
            <a:off x="777240" y="5705856"/>
            <a:ext cx="10698480" cy="38404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0F676D"/>
                </a:solidFill>
                <a:latin typeface="Arial"/>
              </a:rPr>
              <a:t>A code-level mechanism is evidence of implementation, not evidence that a load gate passed.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Authorization and accounting controls remained testable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C, D, I and §4.6</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30</a:t>
            </a:r>
          </a:p>
        </p:txBody>
      </p:sp>
      <p:graphicFrame>
        <p:nvGraphicFramePr>
          <p:cNvPr id="9" name="Table 8"/>
          <p:cNvGraphicFramePr>
            <a:graphicFrameLocks noGrp="1"/>
          </p:cNvGraphicFramePr>
          <p:nvPr/>
        </p:nvGraphicFramePr>
        <p:xfrm>
          <a:off x="722376" y="1371600"/>
          <a:ext cx="10744200" cy="4288536"/>
        </p:xfrm>
        <a:graphic>
          <a:graphicData uri="http://schemas.openxmlformats.org/drawingml/2006/table">
            <a:tbl>
              <a:tblPr firstRow="1" bandRow="1">
                <a:tableStyleId>{5C22544A-7EE6-4342-B048-85BDC9FD1C3A}</a:tableStyleId>
              </a:tblPr>
              <a:tblGrid>
                <a:gridCol w="2471166"/>
                <a:gridCol w="3760470"/>
                <a:gridCol w="4512564"/>
              </a:tblGrid>
              <a:tr h="857707">
                <a:tc>
                  <a:txBody>
                    <a:bodyPr/>
                    <a:lstStyle/>
                    <a:p>
                      <a:pPr algn="l">
                        <a:spcAft>
                          <a:spcPts val="0"/>
                        </a:spcAft>
                      </a:pPr>
                      <a:r>
                        <a:rPr sz="1700" b="1">
                          <a:solidFill>
                            <a:srgbClr val="FFFFFF"/>
                          </a:solidFill>
                          <a:latin typeface="Arial"/>
                        </a:rPr>
                        <a:t>Control</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Evidence path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Expected boundary</a:t>
                      </a:r>
                    </a:p>
                  </a:txBody>
                  <a:tcPr marL="109728" marR="91440" marT="36576" marB="36576">
                    <a:solidFill>
                      <a:srgbClr val="252B33"/>
                    </a:solidFill>
                  </a:tcPr>
                </a:tc>
              </a:tr>
              <a:tr h="857707">
                <a:tc>
                  <a:txBody>
                    <a:bodyPr/>
                    <a:lstStyle/>
                    <a:p>
                      <a:pPr algn="l">
                        <a:spcAft>
                          <a:spcPts val="0"/>
                        </a:spcAft>
                      </a:pPr>
                      <a:r>
                        <a:rPr sz="1700" b="0">
                          <a:solidFill>
                            <a:srgbClr val="252B33"/>
                          </a:solidFill>
                          <a:latin typeface="Arial"/>
                        </a:rPr>
                        <a:t>JWT / roles</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Controller attributes + RBAC matrix</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Protected routes reject unauthorized roles</a:t>
                      </a:r>
                    </a:p>
                  </a:txBody>
                  <a:tcPr marL="109728" marR="91440" marT="36576" marB="36576">
                    <a:solidFill>
                      <a:srgbClr val="FFFFFF"/>
                    </a:solidFill>
                  </a:tcPr>
                </a:tc>
              </a:tr>
              <a:tr h="857707">
                <a:tc>
                  <a:txBody>
                    <a:bodyPr/>
                    <a:lstStyle/>
                    <a:p>
                      <a:pPr algn="l">
                        <a:spcAft>
                          <a:spcPts val="0"/>
                        </a:spcAft>
                      </a:pPr>
                      <a:r>
                        <a:rPr sz="1700" b="0">
                          <a:solidFill>
                            <a:srgbClr val="252B33"/>
                          </a:solidFill>
                          <a:latin typeface="Arial"/>
                        </a:rPr>
                        <a:t>Journal posting</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Balanced debit-credit source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Closed periods and unequal totals rejected</a:t>
                      </a:r>
                    </a:p>
                  </a:txBody>
                  <a:tcPr marL="109728" marR="91440" marT="36576" marB="36576">
                    <a:solidFill>
                      <a:srgbClr val="F7F9FC"/>
                    </a:solidFill>
                  </a:tcPr>
                </a:tc>
              </a:tr>
              <a:tr h="857707">
                <a:tc>
                  <a:txBody>
                    <a:bodyPr/>
                    <a:lstStyle/>
                    <a:p>
                      <a:pPr algn="l">
                        <a:spcAft>
                          <a:spcPts val="0"/>
                        </a:spcAft>
                      </a:pPr>
                      <a:r>
                        <a:rPr sz="1700" b="0">
                          <a:solidFill>
                            <a:srgbClr val="252B33"/>
                          </a:solidFill>
                          <a:latin typeface="Arial"/>
                        </a:rPr>
                        <a:t>Audit trail</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Service + browser log view</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Actor and sensitive action recorded</a:t>
                      </a:r>
                    </a:p>
                  </a:txBody>
                  <a:tcPr marL="109728" marR="91440" marT="36576" marB="36576">
                    <a:solidFill>
                      <a:srgbClr val="FFFFFF"/>
                    </a:solidFill>
                  </a:tcPr>
                </a:tc>
              </a:tr>
              <a:tr h="857708">
                <a:tc>
                  <a:txBody>
                    <a:bodyPr/>
                    <a:lstStyle/>
                    <a:p>
                      <a:pPr algn="l">
                        <a:spcAft>
                          <a:spcPts val="0"/>
                        </a:spcAft>
                      </a:pPr>
                      <a:r>
                        <a:rPr sz="1700" b="0">
                          <a:solidFill>
                            <a:srgbClr val="252B33"/>
                          </a:solidFill>
                          <a:latin typeface="Arial"/>
                        </a:rPr>
                        <a:t>Browser roles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Admin / Auditor screenshots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Navigation and read-only behavior visible</a:t>
                      </a:r>
                    </a:p>
                  </a:txBody>
                  <a:tcPr marL="109728" marR="91440" marT="36576" marB="36576">
                    <a:solidFill>
                      <a:srgbClr val="F7F9FC"/>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overview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31</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overview.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Fresh: 17 unique issues → 0; Quality Gate OK/OK; coverage 74.4% → 74.3%.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issues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L.2 and 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32</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issues.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issues.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Fresh issue-list views: 17 baseline findings and 0 after remediation.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passive scan · historical dashboard capture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L.5 and L.6; fresh ZAP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33</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REMEDIATION</a:t>
            </a:r>
          </a:p>
        </p:txBody>
      </p:sp>
      <p:pic>
        <p:nvPicPr>
          <p:cNvPr id="11" name="Picture 10" descr="zap-baseline-before-summary.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zap-baseline-after-summary.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Historical screenshots; fresh passive result: Medium 3 / Low 6 → 0 / 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authenticated API · historical dashboard capture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L.7 and L.8; fresh ZAP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34</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REMEDIATION</a:t>
            </a:r>
          </a:p>
        </p:txBody>
      </p:sp>
      <p:pic>
        <p:nvPicPr>
          <p:cNvPr id="11" name="Picture 10" descr="zap-api-before-summary.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zap-api-after-summary.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Historical screenshots; fresh API result: Medium 1 / Low 3 → Medium 1 / Low 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p50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L.9 and L.14;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35</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dashboard.png"/>
          <p:cNvPicPr>
            <a:picLocks noChangeAspect="1"/>
          </p:cNvPicPr>
          <p:nvPr/>
        </p:nvPicPr>
        <p:blipFill>
          <a:blip r:embed="rId2"/>
          <a:stretch>
            <a:fillRect/>
          </a:stretch>
        </p:blipFill>
        <p:spPr>
          <a:xfrm>
            <a:off x="786384" y="2594949"/>
            <a:ext cx="5157216" cy="1805260"/>
          </a:xfrm>
          <a:prstGeom prst="rect">
            <a:avLst/>
          </a:prstGeom>
        </p:spPr>
      </p:pic>
      <p:sp>
        <p:nvSpPr>
          <p:cNvPr id="12" name="Rectangle 11"/>
          <p:cNvSpPr/>
          <p:nvPr/>
        </p:nvSpPr>
        <p:spPr>
          <a:xfrm>
            <a:off x="786384"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dashboard.png"/>
          <p:cNvPicPr>
            <a:picLocks noChangeAspect="1"/>
          </p:cNvPicPr>
          <p:nvPr/>
        </p:nvPicPr>
        <p:blipFill>
          <a:blip r:embed="rId3"/>
          <a:stretch>
            <a:fillRect/>
          </a:stretch>
        </p:blipFill>
        <p:spPr>
          <a:xfrm>
            <a:off x="6236208" y="2594949"/>
            <a:ext cx="5157216" cy="1805260"/>
          </a:xfrm>
          <a:prstGeom prst="rect">
            <a:avLst/>
          </a:prstGeom>
        </p:spPr>
      </p:pic>
      <p:sp>
        <p:nvSpPr>
          <p:cNvPr id="14" name="Rectangle 13"/>
          <p:cNvSpPr/>
          <p:nvPr/>
        </p:nvSpPr>
        <p:spPr>
          <a:xfrm>
            <a:off x="6236208"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 → 199.9 ms · CORE SLOWER.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p100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L.10 and L.15;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36</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1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1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p95 255.9 → 1146.9 ms · CORE FAIL.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p500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L.11 and L.16;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37</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p95 106 → 1547.95 ms · CORE FAIL.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soak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L.12 and L.17;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38</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oak-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oak-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p95 443.95 → 171 ms · STRESS GAIN.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spike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L.13 and L.18;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39</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pike-dashboard.png"/>
          <p:cNvPicPr>
            <a:picLocks noChangeAspect="1"/>
          </p:cNvPicPr>
          <p:nvPr/>
        </p:nvPicPr>
        <p:blipFill>
          <a:blip r:embed="rId2"/>
          <a:stretch>
            <a:fillRect/>
          </a:stretch>
        </p:blipFill>
        <p:spPr>
          <a:xfrm>
            <a:off x="786384" y="2136582"/>
            <a:ext cx="5157216" cy="2721994"/>
          </a:xfrm>
          <a:prstGeom prst="rect">
            <a:avLst/>
          </a:prstGeom>
        </p:spPr>
      </p:pic>
      <p:sp>
        <p:nvSpPr>
          <p:cNvPr id="12" name="Rectangle 11"/>
          <p:cNvSpPr/>
          <p:nvPr/>
        </p:nvSpPr>
        <p:spPr>
          <a:xfrm>
            <a:off x="786384"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pike-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33401.8 → 4730.85 ms · STRESS GAIN.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administration and reporting</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4.2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40</a:t>
            </a:r>
          </a:p>
        </p:txBody>
      </p:sp>
      <p:pic>
        <p:nvPicPr>
          <p:cNvPr id="9" name="Picture 8" descr="02-dashboard-admin.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3-reports-trial-balance.png"/>
          <p:cNvPicPr>
            <a:picLocks noChangeAspect="1"/>
          </p:cNvPicPr>
          <p:nvPr/>
        </p:nvPicPr>
        <p:blipFill>
          <a:blip r:embed="rId3"/>
          <a:srcRect b="70326"/>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Admin dashboard</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Trial-balance report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audit and role restrictions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4.4 and 4.5</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41</a:t>
            </a:r>
          </a:p>
        </p:txBody>
      </p:sp>
      <p:pic>
        <p:nvPicPr>
          <p:cNvPr id="9" name="Picture 8" descr="04-audit-logs.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5-auditor-role-view.png"/>
          <p:cNvPicPr>
            <a:picLocks noChangeAspect="1"/>
          </p:cNvPicPr>
          <p:nvPr/>
        </p:nvPicPr>
        <p:blipFill>
          <a:blip r:embed="rId3"/>
          <a:srcRect b="57841"/>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Audit-log view</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Auditor navigation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evidence and balanced journal lines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4.6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42</a:t>
            </a:r>
          </a:p>
        </p:txBody>
      </p:sp>
      <p:pic>
        <p:nvPicPr>
          <p:cNvPr id="9" name="Picture 8" descr="06-research-evidence.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Research-evidence map</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Expanded debit and credit lines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Final Thesis Defense - Current Fresh Results</dc:title>
  <dc:subject>Branch-isolated evidence for financial accounting API remediation</dc:subject>
  <dc:creator>Zaw Ye Htut Ko</dc:creator>
  <cp:keywords>SonarQube, OWASP ZAP, JMeter, Codex 5.4, financial API</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